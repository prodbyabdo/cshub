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7747FAE5-CA26-42B6-9AA7-860D1BBE2A96}" type="datetimeFigureOut">
              <a:rPr lang="en-US" smtClean="0"/>
              <a:t>7/13/2023</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4082A285-BEA5-4260-8131-6F85C7A087B7}" type="slidenum">
              <a:rPr lang="en-US" smtClean="0"/>
              <a:t>‹#›</a:t>
            </a:fld>
            <a:endParaRPr lang="en-US"/>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47FAE5-CA26-42B6-9AA7-860D1BBE2A96}" type="datetimeFigureOut">
              <a:rPr lang="en-US" smtClean="0"/>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47FAE5-CA26-42B6-9AA7-860D1BBE2A96}" type="datetimeFigureOut">
              <a:rPr lang="en-US" smtClean="0"/>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7747FAE5-CA26-42B6-9AA7-860D1BBE2A96}" type="datetimeFigureOut">
              <a:rPr lang="en-US" smtClean="0"/>
              <a:t>7/13/2023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82A285-BEA5-4260-8131-6F85C7A087B7}" type="slidenum">
              <a:rPr lang="en-US" smtClean="0"/>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47FAE5-CA26-42B6-9AA7-860D1BBE2A96}" type="datetimeFigureOut">
              <a:rPr lang="en-US" smtClean="0"/>
              <a:t>7/13/2023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747FAE5-CA26-42B6-9AA7-860D1BBE2A96}" type="datetimeFigureOut">
              <a:rPr lang="en-US" smtClean="0"/>
              <a:t>7/13/2023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47FAE5-CA26-42B6-9AA7-860D1BBE2A96}" type="datetimeFigureOut">
              <a:rPr lang="en-US" smtClean="0"/>
              <a:t>7/13/2023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747FAE5-CA26-42B6-9AA7-860D1BBE2A96}" type="datetimeFigureOut">
              <a:rPr lang="en-US" smtClean="0"/>
              <a:t>7/13/2023</a:t>
            </a:fld>
            <a:endParaRPr lang="en-US"/>
          </a:p>
        </p:txBody>
      </p:sp>
      <p:sp>
        <p:nvSpPr>
          <p:cNvPr id="7" name="Slide Number Placeholder 6"/>
          <p:cNvSpPr>
            <a:spLocks noGrp="1"/>
          </p:cNvSpPr>
          <p:nvPr>
            <p:ph type="sldNum" sz="quarter" idx="12"/>
          </p:nvPr>
        </p:nvSpPr>
        <p:spPr/>
        <p:txBody>
          <a:bodyPr/>
          <a:lstStyle/>
          <a:p>
            <a:fld id="{4082A285-BEA5-4260-8131-6F85C7A087B7}" type="slidenum">
              <a:rPr lang="en-US" smtClean="0"/>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47FAE5-CA26-42B6-9AA7-860D1BBE2A96}" type="datetimeFigureOut">
              <a:rPr lang="en-US" smtClean="0"/>
              <a:t>7/13/2023</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p>
        </p:txBody>
      </p:sp>
      <p:sp>
        <p:nvSpPr>
          <p:cNvPr id="7" name="Slide Number Placeholder 6"/>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47FAE5-CA26-42B6-9AA7-860D1BBE2A96}" type="datetimeFigureOut">
              <a:rPr lang="en-US" smtClean="0"/>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47FAE5-CA26-42B6-9AA7-860D1BBE2A96}" type="datetimeFigureOut">
              <a:rPr lang="en-US" smtClean="0"/>
              <a:t>7/13/2023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82A285-BEA5-4260-8131-6F85C7A087B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7747FAE5-CA26-42B6-9AA7-860D1BBE2A96}" type="datetimeFigureOut">
              <a:rPr lang="en-US" smtClean="0"/>
              <a:t>7/13/2023</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4082A285-BEA5-4260-8131-6F85C7A087B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“5”</a:t>
            </a:r>
            <a:endParaRPr lang="en-US" dirty="0"/>
          </a:p>
        </p:txBody>
      </p:sp>
      <p:sp>
        <p:nvSpPr>
          <p:cNvPr id="3" name="Subtitle 2"/>
          <p:cNvSpPr>
            <a:spLocks noGrp="1"/>
          </p:cNvSpPr>
          <p:nvPr>
            <p:ph type="subTitle" idx="1"/>
          </p:nvPr>
        </p:nvSpPr>
        <p:spPr/>
        <p:txBody>
          <a:bodyPr/>
          <a:lstStyle/>
          <a:p>
            <a:pPr lvl="0"/>
            <a:r>
              <a:rPr lang="en-US" dirty="0"/>
              <a:t>Managing social responsibility and ethics</a:t>
            </a:r>
          </a:p>
          <a:p>
            <a:endParaRPr lang="en-US" dirty="0"/>
          </a:p>
        </p:txBody>
      </p:sp>
    </p:spTree>
    <p:extLst>
      <p:ext uri="{BB962C8B-B14F-4D97-AF65-F5344CB8AC3E}">
        <p14:creationId xmlns:p14="http://schemas.microsoft.com/office/powerpoint/2010/main" val="2226976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Corporate social responsibility</a:t>
            </a:r>
            <a:endParaRPr lang="en-US" dirty="0"/>
          </a:p>
        </p:txBody>
      </p:sp>
      <p:sp>
        <p:nvSpPr>
          <p:cNvPr id="3" name="Content Placeholder 2"/>
          <p:cNvSpPr>
            <a:spLocks noGrp="1"/>
          </p:cNvSpPr>
          <p:nvPr>
            <p:ph idx="1"/>
          </p:nvPr>
        </p:nvSpPr>
        <p:spPr>
          <a:xfrm>
            <a:off x="971600" y="2323652"/>
            <a:ext cx="7344816" cy="3508977"/>
          </a:xfrm>
        </p:spPr>
        <p:txBody>
          <a:bodyPr/>
          <a:lstStyle/>
          <a:p>
            <a:pPr algn="just"/>
            <a:r>
              <a:rPr lang="en-US" dirty="0" smtClean="0"/>
              <a:t>Refers </a:t>
            </a:r>
            <a:r>
              <a:rPr lang="en-US" dirty="0"/>
              <a:t>to the approach that an organization takes in balancing its responsibilities toward different stakeholders when making legal, economic, ethical, and social </a:t>
            </a:r>
            <a:r>
              <a:rPr lang="en-US" dirty="0" smtClean="0"/>
              <a:t>decisions.</a:t>
            </a:r>
          </a:p>
          <a:p>
            <a:pPr algn="just"/>
            <a:r>
              <a:rPr lang="en-US" dirty="0"/>
              <a:t>The term social responsibility refers to the approach that an organization takes in balancing its responsibilities toward their various stakeholders.</a:t>
            </a:r>
          </a:p>
          <a:p>
            <a:pPr marL="68580" indent="0" algn="just">
              <a:buNone/>
            </a:pPr>
            <a:endParaRPr lang="en-US" dirty="0" smtClean="0"/>
          </a:p>
          <a:p>
            <a:pPr marL="68580" indent="0" algn="just">
              <a:buNone/>
            </a:pPr>
            <a:endParaRPr lang="en-US" dirty="0"/>
          </a:p>
        </p:txBody>
      </p:sp>
    </p:spTree>
    <p:extLst>
      <p:ext uri="{BB962C8B-B14F-4D97-AF65-F5344CB8AC3E}">
        <p14:creationId xmlns:p14="http://schemas.microsoft.com/office/powerpoint/2010/main" val="12911081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Corporate social responsibility </a:t>
            </a:r>
            <a:endParaRPr lang="en-US" dirty="0"/>
          </a:p>
        </p:txBody>
      </p:sp>
      <p:pic>
        <p:nvPicPr>
          <p:cNvPr id="4" name="Content Placeholder 3" descr="Five circles surround one circle in the middle, with double arrows between the middle circle and the other circles. The middle circle has an icon of a building with two people beside it, representing “The Corporation and its managers.” The first surrounding picture entails two people in business attire, labeled “Owners.” The next circle shows a person pushing a shopping cart, labeled “Customers.” The third circle shows three houses connected by a road, labeled “Communities.” The fourth circle shows a truck on a road, labeled “Suppliers.” The last circle shows two people working on an assembly line, labeled “Employee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1" y="2204864"/>
            <a:ext cx="7056784" cy="4176463"/>
          </a:xfrm>
          <a:prstGeom prst="rect">
            <a:avLst/>
          </a:prstGeom>
          <a:noFill/>
          <a:ln>
            <a:noFill/>
          </a:ln>
        </p:spPr>
      </p:pic>
    </p:spTree>
    <p:extLst>
      <p:ext uri="{BB962C8B-B14F-4D97-AF65-F5344CB8AC3E}">
        <p14:creationId xmlns:p14="http://schemas.microsoft.com/office/powerpoint/2010/main" val="2132107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92696"/>
            <a:ext cx="7024744" cy="1143000"/>
          </a:xfrm>
        </p:spPr>
        <p:txBody>
          <a:bodyPr>
            <a:normAutofit/>
          </a:bodyPr>
          <a:lstStyle/>
          <a:p>
            <a:r>
              <a:rPr lang="en-US" dirty="0" smtClean="0"/>
              <a:t>Corporate responsibility</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this model, the focus is on </a:t>
            </a:r>
            <a:r>
              <a:rPr lang="en-US" b="1" dirty="0"/>
              <a:t>managers</a:t>
            </a:r>
            <a:r>
              <a:rPr lang="en-US" dirty="0"/>
              <a:t>—not owners—as the principals involved in these relationships</a:t>
            </a:r>
            <a:r>
              <a:rPr lang="en-US" dirty="0" smtClean="0"/>
              <a:t>.</a:t>
            </a:r>
          </a:p>
          <a:p>
            <a:endParaRPr lang="en-US" dirty="0"/>
          </a:p>
          <a:p>
            <a:r>
              <a:rPr lang="en-US" dirty="0"/>
              <a:t> </a:t>
            </a:r>
            <a:r>
              <a:rPr lang="en-US" b="1" dirty="0"/>
              <a:t>Owners</a:t>
            </a:r>
            <a:r>
              <a:rPr lang="en-US" dirty="0"/>
              <a:t> or shareholders are the stakeholders who invest risk capital in the firm in expectation of a financial return. Other stakeholders include </a:t>
            </a:r>
            <a:r>
              <a:rPr lang="en-US" b="1" dirty="0"/>
              <a:t>employees</a:t>
            </a:r>
            <a:r>
              <a:rPr lang="en-US" dirty="0"/>
              <a:t>, </a:t>
            </a:r>
            <a:r>
              <a:rPr lang="en-US" b="1" dirty="0"/>
              <a:t>suppliers</a:t>
            </a:r>
            <a:r>
              <a:rPr lang="en-US" dirty="0"/>
              <a:t>, and the </a:t>
            </a:r>
            <a:r>
              <a:rPr lang="en-US" b="1" dirty="0"/>
              <a:t>communities</a:t>
            </a:r>
            <a:r>
              <a:rPr lang="en-US" dirty="0"/>
              <a:t> in which the firm does business. </a:t>
            </a:r>
            <a:endParaRPr lang="en-US" dirty="0" smtClean="0"/>
          </a:p>
        </p:txBody>
      </p:sp>
    </p:spTree>
    <p:extLst>
      <p:ext uri="{BB962C8B-B14F-4D97-AF65-F5344CB8AC3E}">
        <p14:creationId xmlns:p14="http://schemas.microsoft.com/office/powerpoint/2010/main" val="36021058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20688"/>
            <a:ext cx="7024744" cy="1143000"/>
          </a:xfrm>
        </p:spPr>
        <p:txBody>
          <a:bodyPr>
            <a:normAutofit/>
          </a:bodyPr>
          <a:lstStyle/>
          <a:p>
            <a:r>
              <a:rPr lang="en-US" dirty="0" smtClean="0"/>
              <a:t>Corporate responsibility</a:t>
            </a:r>
            <a:endParaRPr lang="en-US" dirty="0"/>
          </a:p>
        </p:txBody>
      </p:sp>
      <p:sp>
        <p:nvSpPr>
          <p:cNvPr id="6" name="Content Placeholder 5"/>
          <p:cNvSpPr>
            <a:spLocks noGrp="1"/>
          </p:cNvSpPr>
          <p:nvPr>
            <p:ph idx="1"/>
          </p:nvPr>
        </p:nvSpPr>
        <p:spPr>
          <a:xfrm>
            <a:off x="899592" y="2204864"/>
            <a:ext cx="7416824" cy="3564053"/>
          </a:xfrm>
          <a:prstGeom prst="rect">
            <a:avLst/>
          </a:prstGeom>
        </p:spPr>
        <p:txBody>
          <a:bodyPr wrap="square">
            <a:spAutoFit/>
          </a:bodyPr>
          <a:lstStyle/>
          <a:p>
            <a:r>
              <a:rPr lang="en-US" dirty="0" smtClean="0"/>
              <a:t>Proponents of this model hold that customers, who provide the firm with revenue, have a special claim on managers’ attention. </a:t>
            </a:r>
          </a:p>
          <a:p>
            <a:endParaRPr lang="en-US" dirty="0" smtClean="0"/>
          </a:p>
          <a:p>
            <a:r>
              <a:rPr lang="en-US" dirty="0" smtClean="0"/>
              <a:t>The arrows indicate the two-way nature of corporation-stakeholder relationships: All stakeholders have some claim on the firm’s resources and returns, and management’s job is to make decisions that balance these claims</a:t>
            </a:r>
            <a:endParaRPr lang="en-US" dirty="0"/>
          </a:p>
        </p:txBody>
      </p:sp>
    </p:spTree>
    <p:extLst>
      <p:ext uri="{BB962C8B-B14F-4D97-AF65-F5344CB8AC3E}">
        <p14:creationId xmlns:p14="http://schemas.microsoft.com/office/powerpoint/2010/main" val="3003628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20688"/>
            <a:ext cx="7024744" cy="1143000"/>
          </a:xfrm>
        </p:spPr>
        <p:txBody>
          <a:bodyPr>
            <a:normAutofit/>
          </a:bodyPr>
          <a:lstStyle/>
          <a:p>
            <a:r>
              <a:rPr lang="en-US" dirty="0" smtClean="0"/>
              <a:t>Corporate responsibility</a:t>
            </a:r>
            <a:endParaRPr lang="en-US" dirty="0"/>
          </a:p>
        </p:txBody>
      </p:sp>
      <p:sp>
        <p:nvSpPr>
          <p:cNvPr id="3" name="Content Placeholder 2"/>
          <p:cNvSpPr>
            <a:spLocks noGrp="1"/>
          </p:cNvSpPr>
          <p:nvPr>
            <p:ph idx="1"/>
          </p:nvPr>
        </p:nvSpPr>
        <p:spPr>
          <a:xfrm>
            <a:off x="755576" y="1844824"/>
            <a:ext cx="7704856" cy="4536504"/>
          </a:xfrm>
        </p:spPr>
        <p:txBody>
          <a:bodyPr>
            <a:normAutofit fontScale="92500" lnSpcReduction="10000"/>
          </a:bodyPr>
          <a:lstStyle/>
          <a:p>
            <a:pPr marL="68580" indent="0" algn="just">
              <a:buNone/>
            </a:pPr>
            <a:r>
              <a:rPr lang="en-US" b="1" dirty="0"/>
              <a:t>Owners</a:t>
            </a:r>
            <a:r>
              <a:rPr lang="en-US" dirty="0"/>
              <a:t> </a:t>
            </a:r>
            <a:endParaRPr lang="en-US" dirty="0" smtClean="0"/>
          </a:p>
          <a:p>
            <a:pPr algn="just"/>
            <a:r>
              <a:rPr lang="en-US" dirty="0" smtClean="0"/>
              <a:t>or </a:t>
            </a:r>
            <a:r>
              <a:rPr lang="en-US" dirty="0"/>
              <a:t>shareholders invest money in companies. In return, the people who run a company have a responsibility to increase the value of owners’ investments through profitable operations. </a:t>
            </a:r>
            <a:endParaRPr lang="en-US" dirty="0" smtClean="0"/>
          </a:p>
          <a:p>
            <a:pPr algn="just"/>
            <a:r>
              <a:rPr lang="en-US" dirty="0" smtClean="0"/>
              <a:t>Managers </a:t>
            </a:r>
            <a:r>
              <a:rPr lang="en-US" dirty="0"/>
              <a:t>also have a responsibility to provide owners (as well as other stakeholders having financial interests, such as creditors and suppliers) with accurate, reliable information about the performance of the business. </a:t>
            </a:r>
            <a:endParaRPr lang="en-US" dirty="0" smtClean="0"/>
          </a:p>
          <a:p>
            <a:pPr algn="just"/>
            <a:r>
              <a:rPr lang="en-US" dirty="0" smtClean="0"/>
              <a:t>Clearly</a:t>
            </a:r>
            <a:r>
              <a:rPr lang="en-US" dirty="0"/>
              <a:t>, this is one of the areas in which WorldCom managers fell down on the job. Upper-level management purposely deceived shareholders by presenting them with fraudulent financial statements</a:t>
            </a:r>
          </a:p>
          <a:p>
            <a:pPr algn="just"/>
            <a:endParaRPr lang="en-US" dirty="0"/>
          </a:p>
        </p:txBody>
      </p:sp>
    </p:spTree>
    <p:extLst>
      <p:ext uri="{BB962C8B-B14F-4D97-AF65-F5344CB8AC3E}">
        <p14:creationId xmlns:p14="http://schemas.microsoft.com/office/powerpoint/2010/main" val="27706004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92696"/>
            <a:ext cx="7024744" cy="1143000"/>
          </a:xfrm>
        </p:spPr>
        <p:txBody>
          <a:bodyPr>
            <a:normAutofit/>
          </a:bodyPr>
          <a:lstStyle/>
          <a:p>
            <a:r>
              <a:rPr lang="en-US" dirty="0" smtClean="0"/>
              <a:t>Corporate responsibility</a:t>
            </a:r>
            <a:endParaRPr lang="en-US" dirty="0"/>
          </a:p>
        </p:txBody>
      </p:sp>
      <p:sp>
        <p:nvSpPr>
          <p:cNvPr id="6" name="Content Placeholder 5"/>
          <p:cNvSpPr>
            <a:spLocks noGrp="1"/>
          </p:cNvSpPr>
          <p:nvPr>
            <p:ph idx="1"/>
          </p:nvPr>
        </p:nvSpPr>
        <p:spPr>
          <a:xfrm>
            <a:off x="899592" y="2204864"/>
            <a:ext cx="7416824" cy="4007251"/>
          </a:xfrm>
          <a:prstGeom prst="rect">
            <a:avLst/>
          </a:prstGeom>
        </p:spPr>
        <p:txBody>
          <a:bodyPr wrap="square">
            <a:spAutoFit/>
          </a:bodyPr>
          <a:lstStyle/>
          <a:p>
            <a:pPr marL="68580" indent="0" algn="just">
              <a:buNone/>
            </a:pPr>
            <a:r>
              <a:rPr lang="en-US" b="1" smtClean="0"/>
              <a:t>Managers</a:t>
            </a:r>
            <a:r>
              <a:rPr lang="en-US" dirty="0"/>
              <a:t> </a:t>
            </a:r>
            <a:endParaRPr lang="en-US" dirty="0" smtClean="0"/>
          </a:p>
          <a:p>
            <a:pPr algn="just"/>
            <a:r>
              <a:rPr lang="en-US" dirty="0" smtClean="0"/>
              <a:t>have </a:t>
            </a:r>
            <a:r>
              <a:rPr lang="en-US" dirty="0"/>
              <a:t>what is known as a fiduciary responsibility to owners: they’re responsible for safeguarding the company’s assets and handling its funds in a trustworthy manner. </a:t>
            </a:r>
            <a:endParaRPr lang="en-US" dirty="0" smtClean="0"/>
          </a:p>
          <a:p>
            <a:pPr algn="just"/>
            <a:endParaRPr lang="en-US" dirty="0" smtClean="0"/>
          </a:p>
          <a:p>
            <a:pPr algn="just"/>
            <a:r>
              <a:rPr lang="en-US" dirty="0" smtClean="0"/>
              <a:t>Yet </a:t>
            </a:r>
            <a:r>
              <a:rPr lang="en-US" dirty="0"/>
              <a:t>managers experience what is called the agency problem; a situation in which their best interests do not align with those of the owners who employ them. </a:t>
            </a:r>
            <a:endParaRPr lang="en-US" dirty="0" smtClean="0"/>
          </a:p>
        </p:txBody>
      </p:sp>
    </p:spTree>
    <p:extLst>
      <p:ext uri="{BB962C8B-B14F-4D97-AF65-F5344CB8AC3E}">
        <p14:creationId xmlns:p14="http://schemas.microsoft.com/office/powerpoint/2010/main" val="27706004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92696"/>
            <a:ext cx="7024744" cy="1143000"/>
          </a:xfrm>
        </p:spPr>
        <p:txBody>
          <a:bodyPr>
            <a:normAutofit/>
          </a:bodyPr>
          <a:lstStyle/>
          <a:p>
            <a:r>
              <a:rPr lang="en-US" dirty="0" smtClean="0"/>
              <a:t>Corporate responsibility</a:t>
            </a:r>
            <a:endParaRPr lang="en-US" dirty="0"/>
          </a:p>
        </p:txBody>
      </p:sp>
      <p:sp>
        <p:nvSpPr>
          <p:cNvPr id="4" name="Content Placeholder 3"/>
          <p:cNvSpPr>
            <a:spLocks noGrp="1"/>
          </p:cNvSpPr>
          <p:nvPr>
            <p:ph idx="1"/>
          </p:nvPr>
        </p:nvSpPr>
        <p:spPr>
          <a:xfrm>
            <a:off x="1043492" y="1988840"/>
            <a:ext cx="6777317" cy="3843789"/>
          </a:xfrm>
        </p:spPr>
        <p:txBody>
          <a:bodyPr/>
          <a:lstStyle/>
          <a:p>
            <a:pPr marL="68580" indent="0">
              <a:buNone/>
            </a:pPr>
            <a:r>
              <a:rPr lang="en-US" b="1" dirty="0" smtClean="0"/>
              <a:t>Employees</a:t>
            </a:r>
          </a:p>
          <a:p>
            <a:r>
              <a:rPr lang="en-US" dirty="0" smtClean="0"/>
              <a:t>Companies </a:t>
            </a:r>
            <a:r>
              <a:rPr lang="en-US" dirty="0"/>
              <a:t>are responsible for providing </a:t>
            </a:r>
            <a:r>
              <a:rPr lang="en-US" b="1" dirty="0"/>
              <a:t>employees</a:t>
            </a:r>
            <a:r>
              <a:rPr lang="en-US" dirty="0"/>
              <a:t> with safe, healthy places to work—as well as environments that are free from sexual harassment and all types of discrimination. </a:t>
            </a:r>
            <a:endParaRPr lang="en-US" dirty="0" smtClean="0"/>
          </a:p>
          <a:p>
            <a:endParaRPr lang="en-US" dirty="0" smtClean="0"/>
          </a:p>
          <a:p>
            <a:r>
              <a:rPr lang="en-US" dirty="0" smtClean="0"/>
              <a:t>They </a:t>
            </a:r>
            <a:r>
              <a:rPr lang="en-US" dirty="0"/>
              <a:t>should also offer appropriate wages &amp;</a:t>
            </a:r>
            <a:r>
              <a:rPr lang="en-US" dirty="0" smtClean="0"/>
              <a:t> benefits and safety &amp; health.</a:t>
            </a:r>
            <a:endParaRPr lang="en-US" dirty="0"/>
          </a:p>
          <a:p>
            <a:endParaRPr lang="en-US" dirty="0"/>
          </a:p>
        </p:txBody>
      </p:sp>
    </p:spTree>
    <p:extLst>
      <p:ext uri="{BB962C8B-B14F-4D97-AF65-F5344CB8AC3E}">
        <p14:creationId xmlns:p14="http://schemas.microsoft.com/office/powerpoint/2010/main" val="2368061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92696"/>
            <a:ext cx="7024744" cy="1143000"/>
          </a:xfrm>
        </p:spPr>
        <p:txBody>
          <a:bodyPr>
            <a:normAutofit/>
          </a:bodyPr>
          <a:lstStyle/>
          <a:p>
            <a:r>
              <a:rPr lang="en-US" dirty="0" smtClean="0"/>
              <a:t>Corporate responsibility</a:t>
            </a:r>
            <a:endParaRPr lang="en-US" dirty="0"/>
          </a:p>
        </p:txBody>
      </p:sp>
      <p:sp>
        <p:nvSpPr>
          <p:cNvPr id="4" name="Content Placeholder 3"/>
          <p:cNvSpPr>
            <a:spLocks noGrp="1"/>
          </p:cNvSpPr>
          <p:nvPr>
            <p:ph idx="1"/>
          </p:nvPr>
        </p:nvSpPr>
        <p:spPr>
          <a:xfrm>
            <a:off x="1043492" y="1988840"/>
            <a:ext cx="7128908" cy="4320480"/>
          </a:xfrm>
        </p:spPr>
        <p:txBody>
          <a:bodyPr>
            <a:normAutofit fontScale="92500" lnSpcReduction="20000"/>
          </a:bodyPr>
          <a:lstStyle/>
          <a:p>
            <a:pPr marL="68580" indent="0">
              <a:buNone/>
            </a:pPr>
            <a:r>
              <a:rPr lang="en-US" b="1" dirty="0" smtClean="0"/>
              <a:t>Customers</a:t>
            </a:r>
          </a:p>
          <a:p>
            <a:pPr marL="68580" indent="0">
              <a:buNone/>
            </a:pPr>
            <a:endParaRPr lang="en-US" dirty="0"/>
          </a:p>
          <a:p>
            <a:r>
              <a:rPr lang="en-US" dirty="0"/>
              <a:t>The purpose of any business is to satisfy </a:t>
            </a:r>
            <a:r>
              <a:rPr lang="en-US" b="1" dirty="0"/>
              <a:t>customers</a:t>
            </a:r>
            <a:r>
              <a:rPr lang="en-US" dirty="0"/>
              <a:t>, who reward businesses by buying their products. </a:t>
            </a:r>
            <a:endParaRPr lang="en-US" dirty="0" smtClean="0"/>
          </a:p>
          <a:p>
            <a:endParaRPr lang="en-US" dirty="0"/>
          </a:p>
          <a:p>
            <a:r>
              <a:rPr lang="en-US" dirty="0" smtClean="0"/>
              <a:t>Sellers </a:t>
            </a:r>
            <a:r>
              <a:rPr lang="en-US" dirty="0"/>
              <a:t>are also responsible—both ethically and legally—for treating customers fairly. </a:t>
            </a:r>
            <a:endParaRPr lang="en-US" dirty="0" smtClean="0"/>
          </a:p>
          <a:p>
            <a:endParaRPr lang="en-US" dirty="0"/>
          </a:p>
          <a:p>
            <a:r>
              <a:rPr lang="en-US" dirty="0" smtClean="0"/>
              <a:t>The </a:t>
            </a:r>
            <a:r>
              <a:rPr lang="en-US" dirty="0"/>
              <a:t>rights of consumers were first articulated by President John F. Kennedy in 1962 when he submitted to Congress a presidential message devoted to consumer </a:t>
            </a:r>
            <a:r>
              <a:rPr lang="en-US" dirty="0" smtClean="0"/>
              <a:t>issues.</a:t>
            </a:r>
            <a:endParaRPr lang="en-US" u="sng" baseline="30000" dirty="0"/>
          </a:p>
          <a:p>
            <a:endParaRPr lang="en-US" u="sng" baseline="30000" dirty="0" smtClean="0"/>
          </a:p>
        </p:txBody>
      </p:sp>
    </p:spTree>
    <p:extLst>
      <p:ext uri="{BB962C8B-B14F-4D97-AF65-F5344CB8AC3E}">
        <p14:creationId xmlns:p14="http://schemas.microsoft.com/office/powerpoint/2010/main" val="26778728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692696"/>
            <a:ext cx="7024744" cy="1143000"/>
          </a:xfrm>
        </p:spPr>
        <p:txBody>
          <a:bodyPr>
            <a:normAutofit/>
          </a:bodyPr>
          <a:lstStyle/>
          <a:p>
            <a:r>
              <a:rPr lang="en-US" dirty="0" smtClean="0"/>
              <a:t>Corporate responsibility</a:t>
            </a:r>
            <a:endParaRPr lang="en-US" dirty="0"/>
          </a:p>
        </p:txBody>
      </p:sp>
      <p:sp>
        <p:nvSpPr>
          <p:cNvPr id="4" name="Content Placeholder 3"/>
          <p:cNvSpPr>
            <a:spLocks noGrp="1"/>
          </p:cNvSpPr>
          <p:nvPr>
            <p:ph idx="1"/>
          </p:nvPr>
        </p:nvSpPr>
        <p:spPr>
          <a:xfrm>
            <a:off x="1043492" y="1988840"/>
            <a:ext cx="6777317" cy="3843789"/>
          </a:xfrm>
        </p:spPr>
        <p:txBody>
          <a:bodyPr>
            <a:normAutofit fontScale="92500" lnSpcReduction="20000"/>
          </a:bodyPr>
          <a:lstStyle/>
          <a:p>
            <a:pPr marL="68580" indent="0">
              <a:buNone/>
            </a:pPr>
            <a:r>
              <a:rPr lang="en-US" b="1" dirty="0"/>
              <a:t>Customers</a:t>
            </a:r>
            <a:endParaRPr lang="en-US" dirty="0"/>
          </a:p>
          <a:p>
            <a:endParaRPr lang="en-US" u="sng" baseline="30000" dirty="0" smtClean="0"/>
          </a:p>
          <a:p>
            <a:pPr marL="68580" indent="0">
              <a:buNone/>
            </a:pPr>
            <a:r>
              <a:rPr lang="en-US" dirty="0" smtClean="0"/>
              <a:t>Kennedy </a:t>
            </a:r>
            <a:r>
              <a:rPr lang="en-US" dirty="0"/>
              <a:t>identified four consumer rights</a:t>
            </a:r>
            <a:r>
              <a:rPr lang="en-US" dirty="0" smtClean="0"/>
              <a:t>:</a:t>
            </a:r>
          </a:p>
          <a:p>
            <a:pPr marL="68580" indent="0">
              <a:buNone/>
            </a:pPr>
            <a:endParaRPr lang="en-US" dirty="0" smtClean="0"/>
          </a:p>
          <a:p>
            <a:pPr lvl="0"/>
            <a:r>
              <a:rPr lang="en-US" b="1" dirty="0"/>
              <a:t>The right to safe products</a:t>
            </a:r>
            <a:r>
              <a:rPr lang="en-US" dirty="0"/>
              <a:t>. </a:t>
            </a:r>
            <a:endParaRPr lang="en-US" dirty="0" smtClean="0"/>
          </a:p>
          <a:p>
            <a:pPr lvl="0"/>
            <a:endParaRPr lang="en-US" b="1" dirty="0"/>
          </a:p>
          <a:p>
            <a:pPr lvl="0"/>
            <a:r>
              <a:rPr lang="en-US" b="1" dirty="0" smtClean="0"/>
              <a:t>The </a:t>
            </a:r>
            <a:r>
              <a:rPr lang="en-US" b="1" dirty="0"/>
              <a:t>right to be informed about a product</a:t>
            </a:r>
            <a:r>
              <a:rPr lang="en-US" dirty="0" smtClean="0"/>
              <a:t>.</a:t>
            </a:r>
          </a:p>
          <a:p>
            <a:pPr marL="68580" lvl="0" indent="0">
              <a:buNone/>
            </a:pPr>
            <a:endParaRPr lang="en-US" dirty="0"/>
          </a:p>
          <a:p>
            <a:pPr lvl="0"/>
            <a:r>
              <a:rPr lang="en-US" b="1" dirty="0"/>
              <a:t>The right to choose what to buy</a:t>
            </a:r>
            <a:r>
              <a:rPr lang="en-US" dirty="0"/>
              <a:t>. </a:t>
            </a:r>
            <a:endParaRPr lang="en-US" dirty="0" smtClean="0"/>
          </a:p>
          <a:p>
            <a:pPr lvl="0"/>
            <a:endParaRPr lang="en-US" b="1" dirty="0"/>
          </a:p>
          <a:p>
            <a:pPr lvl="0"/>
            <a:r>
              <a:rPr lang="en-US" b="1" dirty="0" smtClean="0"/>
              <a:t>The </a:t>
            </a:r>
            <a:r>
              <a:rPr lang="en-US" b="1" dirty="0"/>
              <a:t>right to be heard</a:t>
            </a:r>
            <a:r>
              <a:rPr lang="en-US" dirty="0"/>
              <a:t>. </a:t>
            </a:r>
          </a:p>
        </p:txBody>
      </p:sp>
    </p:spTree>
    <p:extLst>
      <p:ext uri="{BB962C8B-B14F-4D97-AF65-F5344CB8AC3E}">
        <p14:creationId xmlns:p14="http://schemas.microsoft.com/office/powerpoint/2010/main" val="35985107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ethics</a:t>
            </a:r>
            <a:endParaRPr lang="en-US" dirty="0"/>
          </a:p>
        </p:txBody>
      </p:sp>
      <p:sp>
        <p:nvSpPr>
          <p:cNvPr id="3" name="Content Placeholder 2"/>
          <p:cNvSpPr>
            <a:spLocks noGrp="1"/>
          </p:cNvSpPr>
          <p:nvPr>
            <p:ph idx="1"/>
          </p:nvPr>
        </p:nvSpPr>
        <p:spPr>
          <a:xfrm>
            <a:off x="1043492" y="2323652"/>
            <a:ext cx="7344932" cy="3841652"/>
          </a:xfrm>
        </p:spPr>
        <p:txBody>
          <a:bodyPr>
            <a:normAutofit/>
          </a:bodyPr>
          <a:lstStyle/>
          <a:p>
            <a:pPr marL="68580" indent="0" algn="just">
              <a:buNone/>
            </a:pPr>
            <a:r>
              <a:rPr lang="en-US" b="1" dirty="0"/>
              <a:t>The Idea of Business Ethics</a:t>
            </a:r>
            <a:endParaRPr lang="en-US" dirty="0"/>
          </a:p>
          <a:p>
            <a:pPr algn="just"/>
            <a:r>
              <a:rPr lang="en-US" dirty="0"/>
              <a:t>It’s in the best interest of a company to operate ethically. Trustworthy companies are better at attracting and keeping customers, talented employees, and capital. </a:t>
            </a:r>
            <a:endParaRPr lang="en-US" dirty="0" smtClean="0"/>
          </a:p>
          <a:p>
            <a:pPr algn="just"/>
            <a:endParaRPr lang="en-US" dirty="0"/>
          </a:p>
          <a:p>
            <a:pPr algn="just"/>
            <a:r>
              <a:rPr lang="en-US" dirty="0" smtClean="0"/>
              <a:t>Those </a:t>
            </a:r>
            <a:r>
              <a:rPr lang="en-US" dirty="0"/>
              <a:t>tainted by questionable ethics suffer from dwindling customer bases, employee turnover, and investor mistrust.</a:t>
            </a:r>
          </a:p>
          <a:p>
            <a:pPr algn="just"/>
            <a:endParaRPr lang="en-US" dirty="0"/>
          </a:p>
        </p:txBody>
      </p:sp>
    </p:spTree>
    <p:extLst>
      <p:ext uri="{BB962C8B-B14F-4D97-AF65-F5344CB8AC3E}">
        <p14:creationId xmlns:p14="http://schemas.microsoft.com/office/powerpoint/2010/main" val="35912662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3" name="Content Placeholder 2"/>
          <p:cNvSpPr>
            <a:spLocks noGrp="1"/>
          </p:cNvSpPr>
          <p:nvPr>
            <p:ph idx="1"/>
          </p:nvPr>
        </p:nvSpPr>
        <p:spPr>
          <a:xfrm>
            <a:off x="827584" y="1412776"/>
            <a:ext cx="7704856" cy="5157192"/>
          </a:xfrm>
        </p:spPr>
        <p:txBody>
          <a:bodyPr>
            <a:normAutofit fontScale="85000" lnSpcReduction="20000"/>
          </a:bodyPr>
          <a:lstStyle/>
          <a:p>
            <a:pPr marL="68580" indent="0" algn="just">
              <a:buNone/>
            </a:pPr>
            <a:r>
              <a:rPr lang="en-US" b="1" dirty="0"/>
              <a:t>What Is Ethics?</a:t>
            </a:r>
            <a:endParaRPr lang="en-US" dirty="0"/>
          </a:p>
          <a:p>
            <a:pPr algn="just"/>
            <a:r>
              <a:rPr lang="en-US" dirty="0"/>
              <a:t>You probably already know what it means to be </a:t>
            </a:r>
            <a:r>
              <a:rPr lang="en-US" b="1" dirty="0"/>
              <a:t>ethical</a:t>
            </a:r>
            <a:r>
              <a:rPr lang="en-US" dirty="0"/>
              <a:t>: to know right from wrong and to know when you’re practicing one instead of the other</a:t>
            </a:r>
            <a:r>
              <a:rPr lang="en-US" dirty="0" smtClean="0"/>
              <a:t>.</a:t>
            </a:r>
          </a:p>
          <a:p>
            <a:pPr algn="just"/>
            <a:endParaRPr lang="en-US" dirty="0"/>
          </a:p>
          <a:p>
            <a:pPr algn="just"/>
            <a:r>
              <a:rPr lang="en-US" dirty="0" smtClean="0"/>
              <a:t> </a:t>
            </a:r>
            <a:r>
              <a:rPr lang="en-US" dirty="0"/>
              <a:t>We can say that </a:t>
            </a:r>
            <a:r>
              <a:rPr lang="en-US" b="1" dirty="0"/>
              <a:t>business ethics</a:t>
            </a:r>
            <a:r>
              <a:rPr lang="en-US" dirty="0"/>
              <a:t> is the application of ethical behavior in a business context. </a:t>
            </a:r>
            <a:endParaRPr lang="en-US" dirty="0" smtClean="0"/>
          </a:p>
          <a:p>
            <a:pPr algn="just"/>
            <a:endParaRPr lang="en-US" dirty="0"/>
          </a:p>
          <a:p>
            <a:pPr algn="just"/>
            <a:r>
              <a:rPr lang="en-US" dirty="0" smtClean="0"/>
              <a:t>Acting </a:t>
            </a:r>
            <a:r>
              <a:rPr lang="en-US" dirty="0"/>
              <a:t>ethically in business means more than simply obeying applicable laws and regulations: It also means being honest, doing no harm to others, competing fairly, and declining to put your own interests above those of your company, its owners, and its workers. If you’re in business you obviously need a strong sense of what’s right and wrong. </a:t>
            </a:r>
            <a:endParaRPr lang="en-US" dirty="0" smtClean="0"/>
          </a:p>
          <a:p>
            <a:pPr algn="just"/>
            <a:endParaRPr lang="en-US" dirty="0"/>
          </a:p>
          <a:p>
            <a:pPr algn="just"/>
            <a:r>
              <a:rPr lang="en-US" dirty="0" smtClean="0"/>
              <a:t>You </a:t>
            </a:r>
            <a:r>
              <a:rPr lang="en-US" dirty="0"/>
              <a:t>need the personal conviction to do what’s right, even if it means doing something that’s difficult or personally disadvantageous.</a:t>
            </a:r>
          </a:p>
        </p:txBody>
      </p:sp>
    </p:spTree>
    <p:extLst>
      <p:ext uri="{BB962C8B-B14F-4D97-AF65-F5344CB8AC3E}">
        <p14:creationId xmlns:p14="http://schemas.microsoft.com/office/powerpoint/2010/main" val="18917162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4" name="Content Placeholder 3"/>
          <p:cNvSpPr>
            <a:spLocks noGrp="1"/>
          </p:cNvSpPr>
          <p:nvPr>
            <p:ph idx="1"/>
          </p:nvPr>
        </p:nvSpPr>
        <p:spPr>
          <a:xfrm>
            <a:off x="899592" y="1412776"/>
            <a:ext cx="7416824" cy="5184576"/>
          </a:xfrm>
        </p:spPr>
        <p:txBody>
          <a:bodyPr>
            <a:normAutofit fontScale="85000" lnSpcReduction="10000"/>
          </a:bodyPr>
          <a:lstStyle/>
          <a:p>
            <a:pPr marL="68580" indent="0" algn="just">
              <a:buNone/>
            </a:pPr>
            <a:r>
              <a:rPr lang="en-US" b="1" dirty="0"/>
              <a:t>Why Study Ethics?</a:t>
            </a:r>
            <a:endParaRPr lang="en-US" dirty="0"/>
          </a:p>
          <a:p>
            <a:pPr algn="just"/>
            <a:r>
              <a:rPr lang="en-US" dirty="0" smtClean="0"/>
              <a:t>The </a:t>
            </a:r>
            <a:r>
              <a:rPr lang="en-US" dirty="0"/>
              <a:t>condition of the ethical environment in the near future, one thing seems clear: the next generation entering </a:t>
            </a:r>
            <a:r>
              <a:rPr lang="en-US" dirty="0" smtClean="0"/>
              <a:t>business will </a:t>
            </a:r>
            <a:r>
              <a:rPr lang="en-US" dirty="0"/>
              <a:t>find a world much different than the one that waited for the previous generation. </a:t>
            </a:r>
            <a:endParaRPr lang="en-US" dirty="0" smtClean="0"/>
          </a:p>
          <a:p>
            <a:pPr algn="just"/>
            <a:endParaRPr lang="en-US" dirty="0"/>
          </a:p>
          <a:p>
            <a:pPr algn="just"/>
            <a:r>
              <a:rPr lang="en-US" dirty="0" smtClean="0"/>
              <a:t>For </a:t>
            </a:r>
            <a:r>
              <a:rPr lang="en-US" dirty="0"/>
              <a:t>example, </a:t>
            </a:r>
            <a:r>
              <a:rPr lang="en-US" dirty="0" err="1"/>
              <a:t>cyberethics</a:t>
            </a:r>
            <a:r>
              <a:rPr lang="en-US" dirty="0"/>
              <a:t> and how user behavior and programmed computers might impact people and society. Recent history tells us </a:t>
            </a:r>
            <a:r>
              <a:rPr lang="en-US" dirty="0" smtClean="0"/>
              <a:t>that today’s </a:t>
            </a:r>
            <a:r>
              <a:rPr lang="en-US" dirty="0"/>
              <a:t>business students, many of whom are tomorrow’s business leaders, need a much sharper understanding of the difference between what is and isn’t ethically acceptable. </a:t>
            </a:r>
            <a:endParaRPr lang="en-US" dirty="0" smtClean="0"/>
          </a:p>
          <a:p>
            <a:pPr algn="just"/>
            <a:endParaRPr lang="en-US" dirty="0"/>
          </a:p>
          <a:p>
            <a:pPr algn="just"/>
            <a:r>
              <a:rPr lang="en-US" dirty="0" smtClean="0"/>
              <a:t>As </a:t>
            </a:r>
            <a:r>
              <a:rPr lang="en-US" dirty="0"/>
              <a:t>a business student, one of your key tasks is learning how to recognize and deal with the ethical challenges that will confront you</a:t>
            </a:r>
          </a:p>
        </p:txBody>
      </p:sp>
    </p:spTree>
    <p:extLst>
      <p:ext uri="{BB962C8B-B14F-4D97-AF65-F5344CB8AC3E}">
        <p14:creationId xmlns:p14="http://schemas.microsoft.com/office/powerpoint/2010/main" val="427759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4" name="Content Placeholder 3"/>
          <p:cNvSpPr>
            <a:spLocks noGrp="1"/>
          </p:cNvSpPr>
          <p:nvPr>
            <p:ph idx="1"/>
          </p:nvPr>
        </p:nvSpPr>
        <p:spPr>
          <a:xfrm>
            <a:off x="899592" y="1412776"/>
            <a:ext cx="7416824" cy="5184576"/>
          </a:xfrm>
        </p:spPr>
        <p:txBody>
          <a:bodyPr>
            <a:normAutofit fontScale="85000" lnSpcReduction="10000"/>
          </a:bodyPr>
          <a:lstStyle/>
          <a:p>
            <a:pPr marL="68580" indent="0" algn="just">
              <a:buNone/>
            </a:pPr>
            <a:r>
              <a:rPr lang="en-US" b="1" dirty="0"/>
              <a:t>Why Study Ethics?</a:t>
            </a:r>
            <a:endParaRPr lang="en-US" dirty="0"/>
          </a:p>
          <a:p>
            <a:pPr algn="just"/>
            <a:r>
              <a:rPr lang="en-US" dirty="0" smtClean="0"/>
              <a:t>The </a:t>
            </a:r>
            <a:r>
              <a:rPr lang="en-US" dirty="0"/>
              <a:t>condition of the ethical environment in the near future, one thing seems clear: the next generation entering </a:t>
            </a:r>
            <a:r>
              <a:rPr lang="en-US" dirty="0" smtClean="0"/>
              <a:t>business will </a:t>
            </a:r>
            <a:r>
              <a:rPr lang="en-US" dirty="0"/>
              <a:t>find a world much different than the one that waited for the previous generation. </a:t>
            </a:r>
            <a:endParaRPr lang="en-US" dirty="0" smtClean="0"/>
          </a:p>
          <a:p>
            <a:pPr algn="just"/>
            <a:endParaRPr lang="en-US" dirty="0"/>
          </a:p>
          <a:p>
            <a:pPr algn="just"/>
            <a:r>
              <a:rPr lang="en-US" dirty="0" smtClean="0"/>
              <a:t>For </a:t>
            </a:r>
            <a:r>
              <a:rPr lang="en-US" dirty="0"/>
              <a:t>example, </a:t>
            </a:r>
            <a:r>
              <a:rPr lang="en-US" dirty="0" err="1"/>
              <a:t>cyberethics</a:t>
            </a:r>
            <a:r>
              <a:rPr lang="en-US" dirty="0"/>
              <a:t> and how user behavior and programmed computers might impact people and society. Recent history tells us </a:t>
            </a:r>
            <a:r>
              <a:rPr lang="en-US" dirty="0" smtClean="0"/>
              <a:t>that today’s </a:t>
            </a:r>
            <a:r>
              <a:rPr lang="en-US" dirty="0"/>
              <a:t>business students, many of whom are tomorrow’s business leaders, need a much sharper understanding of the difference between what is and isn’t ethically acceptable. </a:t>
            </a:r>
            <a:endParaRPr lang="en-US" dirty="0" smtClean="0"/>
          </a:p>
          <a:p>
            <a:pPr algn="just"/>
            <a:endParaRPr lang="en-US" dirty="0"/>
          </a:p>
          <a:p>
            <a:pPr algn="just"/>
            <a:r>
              <a:rPr lang="en-US" dirty="0" smtClean="0"/>
              <a:t>As </a:t>
            </a:r>
            <a:r>
              <a:rPr lang="en-US" dirty="0"/>
              <a:t>a business student, one of your key tasks is learning how to recognize and deal with the ethical challenges that will confront you</a:t>
            </a:r>
          </a:p>
        </p:txBody>
      </p:sp>
    </p:spTree>
    <p:extLst>
      <p:ext uri="{BB962C8B-B14F-4D97-AF65-F5344CB8AC3E}">
        <p14:creationId xmlns:p14="http://schemas.microsoft.com/office/powerpoint/2010/main" val="39944866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3" name="Content Placeholder 2"/>
          <p:cNvSpPr>
            <a:spLocks noGrp="1"/>
          </p:cNvSpPr>
          <p:nvPr>
            <p:ph idx="1"/>
          </p:nvPr>
        </p:nvSpPr>
        <p:spPr>
          <a:xfrm>
            <a:off x="755576" y="1484784"/>
            <a:ext cx="7776864" cy="5040560"/>
          </a:xfrm>
        </p:spPr>
        <p:txBody>
          <a:bodyPr>
            <a:normAutofit lnSpcReduction="10000"/>
          </a:bodyPr>
          <a:lstStyle/>
          <a:p>
            <a:pPr marL="68580" indent="0" algn="just">
              <a:buNone/>
            </a:pPr>
            <a:r>
              <a:rPr lang="en-US" b="1" dirty="0"/>
              <a:t>Identifying Ethical Issues and </a:t>
            </a:r>
            <a:r>
              <a:rPr lang="en-US" b="1" dirty="0" smtClean="0"/>
              <a:t>Dilemmas</a:t>
            </a:r>
          </a:p>
          <a:p>
            <a:pPr marL="68580" indent="0" algn="just">
              <a:buNone/>
            </a:pPr>
            <a:endParaRPr lang="en-US" dirty="0"/>
          </a:p>
          <a:p>
            <a:pPr algn="just"/>
            <a:r>
              <a:rPr lang="en-US" b="1" dirty="0"/>
              <a:t>Ethical issues</a:t>
            </a:r>
            <a:r>
              <a:rPr lang="en-US" dirty="0"/>
              <a:t> are the difficult social questions that involve some level of controversy over what is the right thing to do. Environmental protection is an example of a commonly discussed ethical issue, because there can be trade offs between environmental and economic factors.</a:t>
            </a:r>
          </a:p>
          <a:p>
            <a:pPr algn="just"/>
            <a:endParaRPr lang="en-US" b="1" dirty="0" smtClean="0"/>
          </a:p>
          <a:p>
            <a:pPr algn="just"/>
            <a:r>
              <a:rPr lang="en-US" b="1" dirty="0" smtClean="0"/>
              <a:t>Ethical </a:t>
            </a:r>
            <a:r>
              <a:rPr lang="en-US" b="1" dirty="0"/>
              <a:t>dilemmas</a:t>
            </a:r>
            <a:r>
              <a:rPr lang="en-US" dirty="0"/>
              <a:t> are situations in which it is difficult for an individual to make decisions either because the right course of action is unclear or carries some potential negative consequences for the person or people involved.</a:t>
            </a:r>
          </a:p>
          <a:p>
            <a:pPr algn="just"/>
            <a:endParaRPr lang="en-US" dirty="0"/>
          </a:p>
        </p:txBody>
      </p:sp>
    </p:spTree>
    <p:extLst>
      <p:ext uri="{BB962C8B-B14F-4D97-AF65-F5344CB8AC3E}">
        <p14:creationId xmlns:p14="http://schemas.microsoft.com/office/powerpoint/2010/main" val="7708931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4" name="Content Placeholder 3"/>
          <p:cNvSpPr>
            <a:spLocks noGrp="1"/>
          </p:cNvSpPr>
          <p:nvPr>
            <p:ph idx="1"/>
          </p:nvPr>
        </p:nvSpPr>
        <p:spPr>
          <a:xfrm>
            <a:off x="755576" y="1484784"/>
            <a:ext cx="7704856" cy="5256584"/>
          </a:xfrm>
        </p:spPr>
        <p:txBody>
          <a:bodyPr/>
          <a:lstStyle/>
          <a:p>
            <a:pPr marL="68580" indent="0" algn="just">
              <a:buNone/>
            </a:pPr>
            <a:r>
              <a:rPr lang="en-US" b="1" dirty="0"/>
              <a:t>Issues of Honesty and </a:t>
            </a:r>
            <a:r>
              <a:rPr lang="en-US" b="1" dirty="0" smtClean="0"/>
              <a:t>Integrity:</a:t>
            </a:r>
          </a:p>
          <a:p>
            <a:pPr marL="68580" indent="0" algn="just">
              <a:buNone/>
            </a:pPr>
            <a:r>
              <a:rPr lang="en-US" dirty="0"/>
              <a:t>If you work for a company that settles for its employees’ merely obeying the law and following a few internal regulations, you might think about moving on. </a:t>
            </a:r>
            <a:endParaRPr lang="en-US" dirty="0" smtClean="0"/>
          </a:p>
          <a:p>
            <a:pPr marL="68580" indent="0" algn="just">
              <a:buNone/>
            </a:pPr>
            <a:endParaRPr lang="en-US" dirty="0" smtClean="0"/>
          </a:p>
          <a:p>
            <a:pPr marL="68580" indent="0" algn="just">
              <a:buNone/>
            </a:pPr>
            <a:r>
              <a:rPr lang="en-US" b="1" dirty="0"/>
              <a:t>Conflicts of interest</a:t>
            </a:r>
            <a:r>
              <a:rPr lang="en-US" dirty="0"/>
              <a:t> occur when individuals must choose between taking actions that promote their personal interests over the interests of others or taking actions that don’t. </a:t>
            </a:r>
          </a:p>
          <a:p>
            <a:pPr marL="68580" indent="0" algn="just">
              <a:buNone/>
            </a:pPr>
            <a:endParaRPr lang="en-US" dirty="0"/>
          </a:p>
          <a:p>
            <a:pPr algn="just"/>
            <a:endParaRPr lang="en-US" dirty="0"/>
          </a:p>
        </p:txBody>
      </p:sp>
    </p:spTree>
    <p:extLst>
      <p:ext uri="{BB962C8B-B14F-4D97-AF65-F5344CB8AC3E}">
        <p14:creationId xmlns:p14="http://schemas.microsoft.com/office/powerpoint/2010/main" val="5724043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332656"/>
            <a:ext cx="7024744" cy="1143000"/>
          </a:xfrm>
        </p:spPr>
        <p:txBody>
          <a:bodyPr/>
          <a:lstStyle/>
          <a:p>
            <a:r>
              <a:rPr lang="en-US" dirty="0" smtClean="0"/>
              <a:t>Business ethics</a:t>
            </a:r>
            <a:endParaRPr lang="en-US" dirty="0"/>
          </a:p>
        </p:txBody>
      </p:sp>
      <p:sp>
        <p:nvSpPr>
          <p:cNvPr id="3" name="Content Placeholder 2"/>
          <p:cNvSpPr>
            <a:spLocks noGrp="1"/>
          </p:cNvSpPr>
          <p:nvPr>
            <p:ph idx="1"/>
          </p:nvPr>
        </p:nvSpPr>
        <p:spPr>
          <a:xfrm>
            <a:off x="899592" y="1484784"/>
            <a:ext cx="7488832" cy="5112568"/>
          </a:xfrm>
        </p:spPr>
        <p:txBody>
          <a:bodyPr/>
          <a:lstStyle/>
          <a:p>
            <a:pPr algn="just"/>
            <a:r>
              <a:rPr lang="en-US" b="1" dirty="0"/>
              <a:t>Conflicts of Loyalty</a:t>
            </a:r>
            <a:endParaRPr lang="en-US" dirty="0"/>
          </a:p>
          <a:p>
            <a:pPr marL="68580" indent="0" algn="just">
              <a:buNone/>
            </a:pPr>
            <a:r>
              <a:rPr lang="en-US" dirty="0"/>
              <a:t>You may one day find yourself in a bind between being </a:t>
            </a:r>
            <a:r>
              <a:rPr lang="en-US" b="1" dirty="0"/>
              <a:t>loyal</a:t>
            </a:r>
            <a:r>
              <a:rPr lang="en-US" dirty="0"/>
              <a:t> either to your employer or to a friend or family member. Perhaps you just learned that a coworker, a friend of yours, is about to be downsized out of his job. </a:t>
            </a:r>
            <a:endParaRPr lang="en-US" dirty="0" smtClean="0"/>
          </a:p>
          <a:p>
            <a:pPr marL="68580" indent="0" algn="just">
              <a:buNone/>
            </a:pPr>
            <a:endParaRPr lang="en-US" dirty="0" smtClean="0"/>
          </a:p>
          <a:p>
            <a:pPr algn="just"/>
            <a:r>
              <a:rPr lang="en-US" b="1" dirty="0"/>
              <a:t>Bribes vs. Gifts</a:t>
            </a:r>
            <a:endParaRPr lang="en-US" dirty="0"/>
          </a:p>
          <a:p>
            <a:pPr marL="68580" indent="0" algn="just">
              <a:buNone/>
            </a:pPr>
            <a:r>
              <a:rPr lang="en-US" dirty="0"/>
              <a:t>It’s not uncommon in business to give and receive small gifts of appreciation, but when is a gift unacceptable? When is it really a </a:t>
            </a:r>
            <a:r>
              <a:rPr lang="en-US" b="1" dirty="0"/>
              <a:t>bribe</a:t>
            </a:r>
            <a:r>
              <a:rPr lang="en-US" dirty="0"/>
              <a:t>?</a:t>
            </a:r>
          </a:p>
          <a:p>
            <a:pPr marL="68580" indent="0" algn="just">
              <a:buNone/>
            </a:pPr>
            <a:endParaRPr lang="en-US" dirty="0"/>
          </a:p>
        </p:txBody>
      </p:sp>
    </p:spTree>
    <p:extLst>
      <p:ext uri="{BB962C8B-B14F-4D97-AF65-F5344CB8AC3E}">
        <p14:creationId xmlns:p14="http://schemas.microsoft.com/office/powerpoint/2010/main" val="313969454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Austin</Template>
  <TotalTime>46</TotalTime>
  <Words>565</Words>
  <Application>Microsoft Office PowerPoint</Application>
  <PresentationFormat>On-screen Show (4:3)</PresentationFormat>
  <Paragraphs>94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Austin</vt:lpstr>
      <vt:lpstr>Chapter “5”</vt:lpstr>
      <vt:lpstr>Corporate social responsibility</vt:lpstr>
      <vt:lpstr>Corporate social responsibility </vt:lpstr>
      <vt:lpstr>Corporate responsibility</vt:lpstr>
      <vt:lpstr>Corporate responsibility</vt:lpstr>
      <vt:lpstr>Corporate responsibility</vt:lpstr>
      <vt:lpstr>Corporate responsibility</vt:lpstr>
      <vt:lpstr>Corporate responsibility</vt:lpstr>
      <vt:lpstr>Corporate responsibility</vt:lpstr>
      <vt:lpstr>Corporate responsibility</vt:lpstr>
      <vt:lpstr>Business ethics</vt:lpstr>
      <vt:lpstr>Business ethics</vt:lpstr>
      <vt:lpstr>Business ethics</vt:lpstr>
      <vt:lpstr>Business ethics</vt:lpstr>
      <vt:lpstr>Business ethics</vt:lpstr>
      <vt:lpstr>Business ethics</vt:lpstr>
      <vt:lpstr>Business ethics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Nancy karma</dc:creator>
  <cp:lastModifiedBy>Nancy karma</cp:lastModifiedBy>
  <cp:revision>6</cp:revision>
  <dcterms:created xsi:type="dcterms:W3CDTF">2023-07-13T05:22:36Z</dcterms:created>
  <dcterms:modified xsi:type="dcterms:W3CDTF">2023-07-13T06:24:59Z</dcterms:modified>
</cp:coreProperties>
</file>