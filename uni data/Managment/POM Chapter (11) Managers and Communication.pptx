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9" d="100"/>
          <a:sy n="79" d="100"/>
        </p:scale>
        <p:origin x="-1469"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5" name="Rounded Rectangle 14"/>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Rounded Rectangle 9"/>
          <p:cNvSpPr/>
          <p:nvPr/>
        </p:nvSpPr>
        <p:spPr>
          <a:xfrm>
            <a:off x="418596" y="434162"/>
            <a:ext cx="8306809" cy="3108960"/>
          </a:xfrm>
          <a:prstGeom prst="roundRect">
            <a:avLst>
              <a:gd name="adj" fmla="val 4578"/>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4"/>
          <p:cNvSpPr>
            <a:spLocks noGrp="1"/>
          </p:cNvSpPr>
          <p:nvPr>
            <p:ph type="ctrTitle"/>
          </p:nvPr>
        </p:nvSpPr>
        <p:spPr>
          <a:xfrm>
            <a:off x="722376" y="1820206"/>
            <a:ext cx="7772400" cy="1828800"/>
          </a:xfrm>
        </p:spPr>
        <p:txBody>
          <a:bodyPr lIns="45720" rIns="45720" bIns="45720"/>
          <a:lstStyle>
            <a:lvl1pPr algn="r">
              <a:defRPr sz="4500" b="1">
                <a:solidFill>
                  <a:schemeClr val="accent1">
                    <a:tint val="88000"/>
                    <a:satMod val="150000"/>
                  </a:schemeClr>
                </a:solidFill>
                <a:effectLst>
                  <a:outerShdw blurRad="53975" dist="22860" dir="5400000" algn="tl" rotWithShape="0">
                    <a:srgbClr val="000000">
                      <a:alpha val="55000"/>
                    </a:srgbClr>
                  </a:outerShdw>
                </a:effectLst>
              </a:defRPr>
            </a:lvl1pPr>
            <a:extLst/>
          </a:lstStyle>
          <a:p>
            <a:r>
              <a:rPr kumimoji="0" lang="en-US" smtClean="0"/>
              <a:t>Click to edit Master title style</a:t>
            </a:r>
            <a:endParaRPr kumimoji="0" lang="en-US"/>
          </a:p>
        </p:txBody>
      </p:sp>
      <p:sp>
        <p:nvSpPr>
          <p:cNvPr id="20" name="Subtitle 19"/>
          <p:cNvSpPr>
            <a:spLocks noGrp="1"/>
          </p:cNvSpPr>
          <p:nvPr>
            <p:ph type="subTitle" idx="1"/>
          </p:nvPr>
        </p:nvSpPr>
        <p:spPr>
          <a:xfrm>
            <a:off x="722376" y="3685032"/>
            <a:ext cx="7772400" cy="914400"/>
          </a:xfrm>
        </p:spPr>
        <p:txBody>
          <a:bodyPr lIns="182880" tIns="0"/>
          <a:lstStyle>
            <a:lvl1pPr marL="36576" indent="0" algn="r">
              <a:spcBef>
                <a:spcPts val="0"/>
              </a:spcBef>
              <a:buNone/>
              <a:defRPr sz="2000">
                <a:solidFill>
                  <a:schemeClr val="bg2">
                    <a:shade val="2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19" name="Date Placeholder 18"/>
          <p:cNvSpPr>
            <a:spLocks noGrp="1"/>
          </p:cNvSpPr>
          <p:nvPr>
            <p:ph type="dt" sz="half" idx="10"/>
          </p:nvPr>
        </p:nvSpPr>
        <p:spPr/>
        <p:txBody>
          <a:bodyPr/>
          <a:lstStyle>
            <a:extLst/>
          </a:lstStyle>
          <a:p>
            <a:fld id="{1D8BD707-D9CF-40AE-B4C6-C98DA3205C09}" type="datetimeFigureOut">
              <a:rPr lang="en-US" smtClean="0"/>
              <a:pPr/>
              <a:t>9/1/2023</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11" name="Slide Number Placeholder 10"/>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a:xfrm>
            <a:off x="502920" y="530352"/>
            <a:ext cx="8183880" cy="4187952"/>
          </a:xfrm>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9/1/2023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ounded Rectangle 10"/>
          <p:cNvSpPr/>
          <p:nvPr/>
        </p:nvSpPr>
        <p:spPr>
          <a:xfrm>
            <a:off x="418596" y="434162"/>
            <a:ext cx="8306809" cy="4341329"/>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468344" y="4928616"/>
            <a:ext cx="8183880" cy="676656"/>
          </a:xfrm>
        </p:spPr>
        <p:txBody>
          <a:bodyPr lIns="91440" bIns="0" anchor="b"/>
          <a:lstStyle>
            <a:lvl1pPr algn="l">
              <a:buNone/>
              <a:defRPr sz="3600" b="0" cap="none" baseline="0">
                <a:solidFill>
                  <a:schemeClr val="bg2">
                    <a:shade val="25000"/>
                  </a:schemeClr>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68344" y="5624484"/>
            <a:ext cx="8183880" cy="420624"/>
          </a:xfrm>
        </p:spPr>
        <p:txBody>
          <a:bodyPr lIns="118872" tIns="0" anchor="t"/>
          <a:lstStyle>
            <a:lvl1pPr marL="0" marR="36576" indent="0" algn="l">
              <a:spcBef>
                <a:spcPts val="0"/>
              </a:spcBef>
              <a:spcAft>
                <a:spcPts val="0"/>
              </a:spcAft>
              <a:buNone/>
              <a:defRPr sz="1800" b="0">
                <a:solidFill>
                  <a:schemeClr val="accent1">
                    <a:shade val="50000"/>
                    <a:satMod val="110000"/>
                  </a:schemeClr>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9/1/2023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514352"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755360"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9/1/2023</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nchor="b"/>
          <a:lstStyle>
            <a:lvl1pPr>
              <a:defRPr b="1"/>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607224" y="579438"/>
            <a:ext cx="3931920" cy="792162"/>
          </a:xfrm>
        </p:spPr>
        <p:txBody>
          <a:bodyPr lIns="146304"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52169" y="579438"/>
            <a:ext cx="3931920" cy="792162"/>
          </a:xfrm>
        </p:spPr>
        <p:txBody>
          <a:bodyPr lIns="137160"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7224"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52169"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9/1/2023</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1D8BD707-D9CF-40AE-B4C6-C98DA3205C09}" type="datetimeFigureOut">
              <a:rPr lang="en-US" smtClean="0"/>
              <a:pPr/>
              <a:t>9/1/2023</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ounded Rectangle 6"/>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1D8BD707-D9CF-40AE-B4C6-C98DA3205C09}" type="datetimeFigureOut">
              <a:rPr lang="en-US" smtClean="0"/>
              <a:pPr/>
              <a:t>9/1/2023</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38784" y="533400"/>
            <a:ext cx="2971800" cy="914400"/>
          </a:xfrm>
        </p:spPr>
        <p:txBody>
          <a:bodyPr anchor="b"/>
          <a:lstStyle>
            <a:lvl1pPr algn="l">
              <a:buNone/>
              <a:defRPr sz="2200" b="1">
                <a:solidFill>
                  <a:schemeClr val="accent1"/>
                </a:solidFill>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5538847" y="1447802"/>
            <a:ext cx="2971800" cy="4206112"/>
          </a:xfrm>
        </p:spPr>
        <p:txBody>
          <a:bodyPr lIns="91440"/>
          <a:lstStyle>
            <a:lvl1pPr marL="18288" marR="18288" indent="0">
              <a:spcBef>
                <a:spcPts val="0"/>
              </a:spcBef>
              <a:buNone/>
              <a:defRPr sz="1400">
                <a:solidFill>
                  <a:schemeClr val="tx1"/>
                </a:solidFill>
              </a:defRPr>
            </a:lvl1pPr>
            <a:lvl2pPr>
              <a:buNone/>
              <a:defRPr sz="1200">
                <a:solidFill>
                  <a:schemeClr val="tx1"/>
                </a:solidFill>
              </a:defRPr>
            </a:lvl2pPr>
            <a:lvl3pPr>
              <a:buNone/>
              <a:defRPr sz="1000">
                <a:solidFill>
                  <a:schemeClr val="tx1"/>
                </a:solidFill>
              </a:defRPr>
            </a:lvl3pPr>
            <a:lvl4pPr>
              <a:buNone/>
              <a:defRPr sz="900">
                <a:solidFill>
                  <a:schemeClr val="tx1"/>
                </a:solidFill>
              </a:defRPr>
            </a:lvl4pPr>
            <a:lvl5pPr>
              <a:buNone/>
              <a:defRPr sz="900">
                <a:solidFill>
                  <a:schemeClr val="tx1"/>
                </a:solidFill>
              </a:defRPr>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1"/>
          </p:nvPr>
        </p:nvSpPr>
        <p:spPr>
          <a:xfrm>
            <a:off x="761372" y="930144"/>
            <a:ext cx="4626159" cy="4724402"/>
          </a:xfrm>
        </p:spPr>
        <p:txBody>
          <a:bodyPr/>
          <a:lstStyle>
            <a:lvl1pPr>
              <a:defRPr sz="2800">
                <a:solidFill>
                  <a:schemeClr val="tx1"/>
                </a:solidFill>
              </a:defRPr>
            </a:lvl1pPr>
            <a:lvl2pPr>
              <a:defRPr sz="26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buNone/>
              <a:defRPr/>
            </a:lvl6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9/1/2023</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ound Single Corner Rectangle 10"/>
          <p:cNvSpPr/>
          <p:nvPr/>
        </p:nvSpPr>
        <p:spPr>
          <a:xfrm>
            <a:off x="6400800" y="434162"/>
            <a:ext cx="2324605" cy="4343400"/>
          </a:xfrm>
          <a:prstGeom prst="round1Rect">
            <a:avLst>
              <a:gd name="adj" fmla="val 2748"/>
            </a:avLst>
          </a:prstGeom>
          <a:solidFill>
            <a:srgbClr val="1C1C1C"/>
          </a:soli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457200" y="5012056"/>
            <a:ext cx="8229600" cy="1051560"/>
          </a:xfrm>
        </p:spPr>
        <p:txBody>
          <a:bodyPr anchor="t"/>
          <a:lstStyle>
            <a:lvl1pPr algn="l">
              <a:buNone/>
              <a:defRPr sz="3600" b="0">
                <a:solidFill>
                  <a:schemeClr val="bg2">
                    <a:shade val="25000"/>
                  </a:schemeClr>
                </a:solidFill>
                <a:effectLst/>
              </a:defRPr>
            </a:lvl1pPr>
            <a:extLst/>
          </a:lstStyle>
          <a:p>
            <a:r>
              <a:rPr kumimoji="0" lang="en-US" smtClean="0"/>
              <a:t>Click to edit Master title style</a:t>
            </a:r>
            <a:endParaRPr kumimoji="0" lang="en-US"/>
          </a:p>
        </p:txBody>
      </p:sp>
      <p:sp>
        <p:nvSpPr>
          <p:cNvPr id="4" name="Text Placeholder 3"/>
          <p:cNvSpPr>
            <a:spLocks noGrp="1"/>
          </p:cNvSpPr>
          <p:nvPr>
            <p:ph type="body" sz="half" idx="2"/>
          </p:nvPr>
        </p:nvSpPr>
        <p:spPr bwMode="grayWhite">
          <a:xfrm>
            <a:off x="6462712" y="533400"/>
            <a:ext cx="2240280" cy="4211480"/>
          </a:xfrm>
        </p:spPr>
        <p:txBody>
          <a:bodyPr lIns="91440"/>
          <a:lstStyle>
            <a:lvl1pPr marL="45720" indent="0" algn="l">
              <a:spcBef>
                <a:spcPts val="0"/>
              </a:spcBef>
              <a:buNone/>
              <a:defRPr sz="1400">
                <a:solidFill>
                  <a:srgbClr val="FFFFFF"/>
                </a:solidFill>
              </a:defRPr>
            </a:lvl1pPr>
            <a:lvl2pPr>
              <a:defRPr sz="1200">
                <a:solidFill>
                  <a:srgbClr val="FFFFFF"/>
                </a:solidFill>
              </a:defRPr>
            </a:lvl2pPr>
            <a:lvl3pPr>
              <a:defRPr sz="1000">
                <a:solidFill>
                  <a:srgbClr val="FFFFFF"/>
                </a:solidFill>
              </a:defRPr>
            </a:lvl3pPr>
            <a:lvl4pPr>
              <a:defRPr sz="900">
                <a:solidFill>
                  <a:srgbClr val="FFFFFF"/>
                </a:solidFill>
              </a:defRPr>
            </a:lvl4pPr>
            <a:lvl5pPr>
              <a:defRPr sz="900">
                <a:solidFill>
                  <a:srgbClr val="FFFFFF"/>
                </a:solidFill>
              </a:defRPr>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9/1/2023</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3" name="Picture Placeholder 2"/>
          <p:cNvSpPr>
            <a:spLocks noGrp="1"/>
          </p:cNvSpPr>
          <p:nvPr>
            <p:ph type="pic" idx="1"/>
          </p:nvPr>
        </p:nvSpPr>
        <p:spPr>
          <a:xfrm>
            <a:off x="421480" y="435768"/>
            <a:ext cx="5925312" cy="4343400"/>
          </a:xfrm>
          <a:prstGeom prst="snipRoundRect">
            <a:avLst>
              <a:gd name="adj1" fmla="val 1040"/>
              <a:gd name="adj2" fmla="val 0"/>
            </a:avLst>
          </a:prstGeom>
          <a:solidFill>
            <a:schemeClr val="bg2">
              <a:shade val="10000"/>
            </a:schemeClr>
          </a:solidFill>
        </p:spPr>
        <p:txBody>
          <a:bodyPr/>
          <a:lstStyle>
            <a:lvl1pPr marL="0" indent="0">
              <a:buNone/>
              <a:defRPr sz="3200"/>
            </a:lvl1pPr>
            <a:extLst/>
          </a:lstStyle>
          <a:p>
            <a:r>
              <a:rPr kumimoji="0" lang="en-US" smtClean="0"/>
              <a:t>Click icon to add picture</a:t>
            </a:r>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502920" y="530352"/>
            <a:ext cx="8183880" cy="4187952"/>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9/1/2023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533404"/>
            <a:ext cx="1981200" cy="5257799"/>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533400" y="533402"/>
            <a:ext cx="5943600" cy="525780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9/1/2023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ounded Rectangle 6"/>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Rounded Rectangle 8"/>
          <p:cNvSpPr/>
          <p:nvPr/>
        </p:nvSpPr>
        <p:spPr>
          <a:xfrm>
            <a:off x="418596" y="434162"/>
            <a:ext cx="8306809" cy="5486400"/>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3" name="Title Placeholder 12"/>
          <p:cNvSpPr>
            <a:spLocks noGrp="1"/>
          </p:cNvSpPr>
          <p:nvPr>
            <p:ph type="title"/>
          </p:nvPr>
        </p:nvSpPr>
        <p:spPr>
          <a:xfrm>
            <a:off x="502920" y="4985590"/>
            <a:ext cx="8183880" cy="1051560"/>
          </a:xfrm>
          <a:prstGeom prst="rect">
            <a:avLst/>
          </a:prstGeom>
        </p:spPr>
        <p:txBody>
          <a:bodyPr vert="horz" anchor="b">
            <a:normAutofit/>
          </a:bodyPr>
          <a:lstStyle>
            <a:extLst/>
          </a:lstStyle>
          <a:p>
            <a:r>
              <a:rPr kumimoji="0" lang="en-US" smtClean="0"/>
              <a:t>Click to edit Master title style</a:t>
            </a:r>
            <a:endParaRPr kumimoji="0" lang="en-US"/>
          </a:p>
        </p:txBody>
      </p:sp>
      <p:sp>
        <p:nvSpPr>
          <p:cNvPr id="4" name="Text Placeholder 3"/>
          <p:cNvSpPr>
            <a:spLocks noGrp="1"/>
          </p:cNvSpPr>
          <p:nvPr>
            <p:ph type="body" idx="1"/>
          </p:nvPr>
        </p:nvSpPr>
        <p:spPr>
          <a:xfrm>
            <a:off x="502920" y="530352"/>
            <a:ext cx="8183880" cy="4187952"/>
          </a:xfrm>
          <a:prstGeom prst="rect">
            <a:avLst/>
          </a:prstGeom>
        </p:spPr>
        <p:txBody>
          <a:bodyPr vert="horz" lIns="182880" tIns="91440">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5" name="Date Placeholder 24"/>
          <p:cNvSpPr>
            <a:spLocks noGrp="1"/>
          </p:cNvSpPr>
          <p:nvPr>
            <p:ph type="dt" sz="half" idx="2"/>
          </p:nvPr>
        </p:nvSpPr>
        <p:spPr>
          <a:xfrm>
            <a:off x="3776328" y="6111875"/>
            <a:ext cx="22860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1D8BD707-D9CF-40AE-B4C6-C98DA3205C09}" type="datetimeFigureOut">
              <a:rPr lang="en-US" smtClean="0"/>
              <a:pPr/>
              <a:t>9/1/2023</a:t>
            </a:fld>
            <a:endParaRPr lang="en-US"/>
          </a:p>
        </p:txBody>
      </p:sp>
      <p:sp>
        <p:nvSpPr>
          <p:cNvPr id="18" name="Footer Placeholder 17"/>
          <p:cNvSpPr>
            <a:spLocks noGrp="1"/>
          </p:cNvSpPr>
          <p:nvPr>
            <p:ph type="ftr" sz="quarter" idx="3"/>
          </p:nvPr>
        </p:nvSpPr>
        <p:spPr>
          <a:xfrm>
            <a:off x="6062328" y="6111875"/>
            <a:ext cx="2286000" cy="365125"/>
          </a:xfrm>
          <a:prstGeom prst="rect">
            <a:avLst/>
          </a:prstGeom>
        </p:spPr>
        <p:txBody>
          <a:bodyPr vert="horz" anchor="b"/>
          <a:lstStyle>
            <a:lvl1pPr algn="l" eaLnBrk="1" latinLnBrk="0" hangingPunct="1">
              <a:defRPr kumimoji="0" sz="1000">
                <a:solidFill>
                  <a:schemeClr val="bg2">
                    <a:shade val="50000"/>
                  </a:schemeClr>
                </a:solidFill>
              </a:defRPr>
            </a:lvl1pPr>
            <a:extLst/>
          </a:lstStyle>
          <a:p>
            <a:endParaRPr lang="en-US"/>
          </a:p>
        </p:txBody>
      </p:sp>
      <p:sp>
        <p:nvSpPr>
          <p:cNvPr id="5" name="Slide Number Placeholder 4"/>
          <p:cNvSpPr>
            <a:spLocks noGrp="1"/>
          </p:cNvSpPr>
          <p:nvPr>
            <p:ph type="sldNum" sz="quarter" idx="4"/>
          </p:nvPr>
        </p:nvSpPr>
        <p:spPr>
          <a:xfrm>
            <a:off x="8348328" y="6111875"/>
            <a:ext cx="4572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p:titleStyle>
    <p:bodyStyle>
      <a:lvl1pPr marL="265176" indent="-265176" algn="l" rtl="0" eaLnBrk="1" latinLnBrk="0" hangingPunct="1">
        <a:spcBef>
          <a:spcPts val="250"/>
        </a:spcBef>
        <a:buClr>
          <a:schemeClr val="accent1"/>
        </a:buClr>
        <a:buSzPct val="80000"/>
        <a:buFont typeface="Wingdings 2"/>
        <a:buChar char=""/>
        <a:defRPr kumimoji="0" sz="2800" kern="1200">
          <a:solidFill>
            <a:schemeClr val="tx1"/>
          </a:solidFill>
          <a:effectLst/>
          <a:latin typeface="+mn-lt"/>
          <a:ea typeface="+mn-ea"/>
          <a:cs typeface="+mn-cs"/>
        </a:defRPr>
      </a:lvl1pPr>
      <a:lvl2pPr marL="548640" indent="-201168" algn="l" rtl="0" eaLnBrk="1" latinLnBrk="0" hangingPunct="1">
        <a:spcBef>
          <a:spcPts val="250"/>
        </a:spcBef>
        <a:buClr>
          <a:schemeClr val="accent1"/>
        </a:buClr>
        <a:buSzPct val="100000"/>
        <a:buFont typeface="Verdana"/>
        <a:buChar char="◦"/>
        <a:defRPr kumimoji="0" sz="2400" kern="1200">
          <a:solidFill>
            <a:schemeClr val="tx1"/>
          </a:solidFill>
          <a:latin typeface="+mn-lt"/>
          <a:ea typeface="+mn-ea"/>
          <a:cs typeface="+mn-cs"/>
        </a:defRPr>
      </a:lvl2pPr>
      <a:lvl3pPr marL="786384" indent="-182880" algn="l" rtl="0" eaLnBrk="1" latinLnBrk="0" hangingPunct="1">
        <a:spcBef>
          <a:spcPts val="250"/>
        </a:spcBef>
        <a:buClr>
          <a:schemeClr val="accent2">
            <a:tint val="85000"/>
            <a:satMod val="285000"/>
          </a:schemeClr>
        </a:buClr>
        <a:buSzPct val="100000"/>
        <a:buFont typeface="Wingdings 2"/>
        <a:buChar char=""/>
        <a:defRPr kumimoji="0" sz="2200" kern="1200">
          <a:solidFill>
            <a:schemeClr val="tx1"/>
          </a:solidFill>
          <a:latin typeface="+mn-lt"/>
          <a:ea typeface="+mn-ea"/>
          <a:cs typeface="+mn-cs"/>
        </a:defRPr>
      </a:lvl3pPr>
      <a:lvl4pPr marL="1024128" indent="-182880" algn="l" rtl="0" eaLnBrk="1" latinLnBrk="0" hangingPunct="1">
        <a:spcBef>
          <a:spcPts val="230"/>
        </a:spcBef>
        <a:buClr>
          <a:schemeClr val="accent2">
            <a:tint val="85000"/>
            <a:satMod val="285000"/>
          </a:schemeClr>
        </a:buClr>
        <a:buSzPct val="112000"/>
        <a:buFont typeface="Verdana"/>
        <a:buChar char="◦"/>
        <a:defRPr kumimoji="0" sz="1900" kern="1200">
          <a:solidFill>
            <a:schemeClr val="tx1"/>
          </a:solidFill>
          <a:latin typeface="+mn-lt"/>
          <a:ea typeface="+mn-ea"/>
          <a:cs typeface="+mn-cs"/>
        </a:defRPr>
      </a:lvl4pPr>
      <a:lvl5pPr marL="1280160" indent="-182880" algn="l" rtl="0" eaLnBrk="1" latinLnBrk="0" hangingPunct="1">
        <a:spcBef>
          <a:spcPts val="250"/>
        </a:spcBef>
        <a:buClr>
          <a:schemeClr val="accent3">
            <a:tint val="85000"/>
            <a:satMod val="275000"/>
          </a:schemeClr>
        </a:buClr>
        <a:buSzPct val="100000"/>
        <a:buFont typeface="Wingdings 2"/>
        <a:buChar char=""/>
        <a:defRPr kumimoji="0" sz="18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marL="182880" indent="0">
              <a:buNone/>
            </a:pPr>
            <a:r>
              <a:rPr lang="en-US" dirty="0" smtClean="0"/>
              <a:t>Chapter (11)</a:t>
            </a:r>
            <a:endParaRPr lang="en-US" dirty="0"/>
          </a:p>
        </p:txBody>
      </p:sp>
      <p:sp>
        <p:nvSpPr>
          <p:cNvPr id="3" name="Subtitle 2"/>
          <p:cNvSpPr>
            <a:spLocks noGrp="1"/>
          </p:cNvSpPr>
          <p:nvPr>
            <p:ph type="subTitle" idx="1"/>
          </p:nvPr>
        </p:nvSpPr>
        <p:spPr/>
        <p:txBody>
          <a:bodyPr/>
          <a:lstStyle/>
          <a:p>
            <a:r>
              <a:rPr lang="en-US" dirty="0" smtClean="0"/>
              <a:t>Managers and Communication</a:t>
            </a:r>
            <a:endParaRPr lang="en-US" dirty="0"/>
          </a:p>
        </p:txBody>
      </p:sp>
    </p:spTree>
    <p:extLst>
      <p:ext uri="{BB962C8B-B14F-4D97-AF65-F5344CB8AC3E}">
        <p14:creationId xmlns:p14="http://schemas.microsoft.com/office/powerpoint/2010/main" val="581253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Overview </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a:t>The word ‘communication’ comes from the Latin word </a:t>
            </a:r>
            <a:r>
              <a:rPr lang="en-US" dirty="0" err="1" smtClean="0"/>
              <a:t>communis</a:t>
            </a:r>
            <a:r>
              <a:rPr lang="en-US" dirty="0" smtClean="0"/>
              <a:t> which </a:t>
            </a:r>
            <a:r>
              <a:rPr lang="en-US" dirty="0"/>
              <a:t>means common. This implies that when we communicate, we are trying to establish ‘commonality’ with someone through a message</a:t>
            </a:r>
            <a:r>
              <a:rPr lang="en-US" dirty="0" smtClean="0"/>
              <a:t>.</a:t>
            </a:r>
          </a:p>
          <a:p>
            <a:pPr algn="just"/>
            <a:endParaRPr lang="en-US" dirty="0" smtClean="0"/>
          </a:p>
          <a:p>
            <a:pPr algn="just"/>
            <a:r>
              <a:rPr lang="en-US" dirty="0" smtClean="0"/>
              <a:t>Communication</a:t>
            </a:r>
            <a:r>
              <a:rPr lang="en-US" dirty="0"/>
              <a:t>, then, is a conscious attempt to establish commonality over some idea, fact, feelings and the like, with others. In essence, it is a process of getting a source and a receiver tuned together for a particular message or a series of messages.</a:t>
            </a:r>
          </a:p>
        </p:txBody>
      </p:sp>
    </p:spTree>
    <p:extLst>
      <p:ext uri="{BB962C8B-B14F-4D97-AF65-F5344CB8AC3E}">
        <p14:creationId xmlns:p14="http://schemas.microsoft.com/office/powerpoint/2010/main" val="2590171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 </a:t>
            </a:r>
            <a:endParaRPr lang="en-US" dirty="0"/>
          </a:p>
        </p:txBody>
      </p:sp>
      <p:sp>
        <p:nvSpPr>
          <p:cNvPr id="3" name="Content Placeholder 2"/>
          <p:cNvSpPr>
            <a:spLocks noGrp="1"/>
          </p:cNvSpPr>
          <p:nvPr>
            <p:ph idx="1"/>
          </p:nvPr>
        </p:nvSpPr>
        <p:spPr/>
        <p:txBody>
          <a:bodyPr/>
          <a:lstStyle/>
          <a:p>
            <a:pPr marL="452438" indent="-452438">
              <a:buNone/>
            </a:pPr>
            <a:r>
              <a:rPr lang="en-US" dirty="0"/>
              <a:t>1. Communication is anything that conveys meaning, that carries a message from one person to another. </a:t>
            </a:r>
            <a:endParaRPr lang="en-US" dirty="0" smtClean="0"/>
          </a:p>
          <a:p>
            <a:pPr marL="452438" indent="-452438">
              <a:buNone/>
            </a:pPr>
            <a:r>
              <a:rPr lang="en-US" dirty="0" smtClean="0"/>
              <a:t>2</a:t>
            </a:r>
            <a:r>
              <a:rPr lang="en-US" dirty="0"/>
              <a:t>. Communication is the mutual interchange of ideas by any effective means</a:t>
            </a:r>
            <a:r>
              <a:rPr lang="en-US" dirty="0" smtClean="0"/>
              <a:t>.</a:t>
            </a:r>
          </a:p>
          <a:p>
            <a:pPr marL="452438" indent="-452438">
              <a:buNone/>
            </a:pPr>
            <a:r>
              <a:rPr lang="en-US" dirty="0" smtClean="0"/>
              <a:t>3</a:t>
            </a:r>
            <a:r>
              <a:rPr lang="en-US" dirty="0"/>
              <a:t>. Communication in its simplest form is conveying of information from one person to another. </a:t>
            </a:r>
          </a:p>
        </p:txBody>
      </p:sp>
    </p:spTree>
    <p:extLst>
      <p:ext uri="{BB962C8B-B14F-4D97-AF65-F5344CB8AC3E}">
        <p14:creationId xmlns:p14="http://schemas.microsoft.com/office/powerpoint/2010/main" val="3706663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Functions of Communication</a:t>
            </a:r>
          </a:p>
        </p:txBody>
      </p:sp>
      <p:sp>
        <p:nvSpPr>
          <p:cNvPr id="3" name="Content Placeholder 2"/>
          <p:cNvSpPr>
            <a:spLocks noGrp="1"/>
          </p:cNvSpPr>
          <p:nvPr>
            <p:ph idx="1"/>
          </p:nvPr>
        </p:nvSpPr>
        <p:spPr>
          <a:xfrm>
            <a:off x="502920" y="530352"/>
            <a:ext cx="8183880" cy="4803648"/>
          </a:xfrm>
        </p:spPr>
        <p:txBody>
          <a:bodyPr>
            <a:normAutofit fontScale="92500"/>
          </a:bodyPr>
          <a:lstStyle/>
          <a:p>
            <a:pPr marL="539750" indent="-539750" algn="just">
              <a:buNone/>
            </a:pPr>
            <a:r>
              <a:rPr lang="en-US" dirty="0" smtClean="0"/>
              <a:t>1. </a:t>
            </a:r>
            <a:r>
              <a:rPr lang="en-US" u="sng" dirty="0" smtClean="0"/>
              <a:t>The </a:t>
            </a:r>
            <a:r>
              <a:rPr lang="en-US" u="sng" dirty="0"/>
              <a:t>information function </a:t>
            </a:r>
            <a:r>
              <a:rPr lang="en-US" dirty="0"/>
              <a:t>:It serves to provide knowledge to the individuals who need guidance in their actions. It also fulfils the workers’ desires for awareness of things that affect them. </a:t>
            </a:r>
            <a:endParaRPr lang="en-US" dirty="0" smtClean="0"/>
          </a:p>
          <a:p>
            <a:pPr marL="539750" indent="-539750" algn="just">
              <a:buNone/>
            </a:pPr>
            <a:endParaRPr lang="en-US" dirty="0" smtClean="0"/>
          </a:p>
          <a:p>
            <a:pPr marL="539750" indent="-539750" algn="just">
              <a:buNone/>
            </a:pPr>
            <a:r>
              <a:rPr lang="en-US" dirty="0" smtClean="0"/>
              <a:t>2. </a:t>
            </a:r>
            <a:r>
              <a:rPr lang="en-US" u="sng" dirty="0" smtClean="0"/>
              <a:t>The </a:t>
            </a:r>
            <a:r>
              <a:rPr lang="en-US" u="sng" dirty="0"/>
              <a:t>command and instructive function</a:t>
            </a:r>
            <a:r>
              <a:rPr lang="en-US" dirty="0"/>
              <a:t> : This function makes the employee aware of his obligations to the formal </a:t>
            </a:r>
            <a:r>
              <a:rPr lang="en-US" dirty="0" smtClean="0"/>
              <a:t>organization </a:t>
            </a:r>
            <a:r>
              <a:rPr lang="en-US" dirty="0"/>
              <a:t>and provides him with additional guidance on how to perform his duties adequately. </a:t>
            </a:r>
          </a:p>
        </p:txBody>
      </p:sp>
    </p:spTree>
    <p:extLst>
      <p:ext uri="{BB962C8B-B14F-4D97-AF65-F5344CB8AC3E}">
        <p14:creationId xmlns:p14="http://schemas.microsoft.com/office/powerpoint/2010/main" val="35033973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 of communication </a:t>
            </a:r>
            <a:endParaRPr lang="en-US" dirty="0"/>
          </a:p>
        </p:txBody>
      </p:sp>
      <p:sp>
        <p:nvSpPr>
          <p:cNvPr id="3" name="Content Placeholder 2"/>
          <p:cNvSpPr>
            <a:spLocks noGrp="1"/>
          </p:cNvSpPr>
          <p:nvPr>
            <p:ph idx="1"/>
          </p:nvPr>
        </p:nvSpPr>
        <p:spPr/>
        <p:txBody>
          <a:bodyPr>
            <a:normAutofit fontScale="92500" lnSpcReduction="20000"/>
          </a:bodyPr>
          <a:lstStyle/>
          <a:p>
            <a:pPr marL="452438" indent="-452438" algn="just">
              <a:buNone/>
              <a:tabLst>
                <a:tab pos="269875" algn="l"/>
              </a:tabLst>
            </a:pPr>
            <a:r>
              <a:rPr lang="en-US" dirty="0"/>
              <a:t>3. </a:t>
            </a:r>
            <a:r>
              <a:rPr lang="en-US" u="sng" dirty="0"/>
              <a:t>The influence and persuasive function </a:t>
            </a:r>
            <a:r>
              <a:rPr lang="en-US" dirty="0"/>
              <a:t>: This function motivates, directs and guides the employees to act and influence the behavior and attitudes of the people through arguments and persuasion. </a:t>
            </a:r>
            <a:endParaRPr lang="en-US" dirty="0" smtClean="0"/>
          </a:p>
          <a:p>
            <a:pPr marL="452438" indent="-452438" algn="just">
              <a:buNone/>
              <a:tabLst>
                <a:tab pos="269875" algn="l"/>
              </a:tabLst>
            </a:pPr>
            <a:endParaRPr lang="en-US" dirty="0"/>
          </a:p>
          <a:p>
            <a:pPr marL="452438" indent="-452438" algn="just">
              <a:buNone/>
              <a:tabLst>
                <a:tab pos="269875" algn="l"/>
              </a:tabLst>
            </a:pPr>
            <a:r>
              <a:rPr lang="en-US" dirty="0" smtClean="0"/>
              <a:t>4</a:t>
            </a:r>
            <a:r>
              <a:rPr lang="en-US" dirty="0"/>
              <a:t>. </a:t>
            </a:r>
            <a:r>
              <a:rPr lang="en-US" u="sng" dirty="0"/>
              <a:t>The integrative function </a:t>
            </a:r>
            <a:r>
              <a:rPr lang="en-US" dirty="0"/>
              <a:t>: Communication, if properly handled, integrates the activities and efforts of the workers. As a result, they move in a single desired direction and the whole organization becomes a well-knit system</a:t>
            </a:r>
          </a:p>
          <a:p>
            <a:pPr marL="452438" indent="-452438" algn="just">
              <a:tabLst>
                <a:tab pos="269875" algn="l"/>
              </a:tabLst>
            </a:pPr>
            <a:endParaRPr lang="en-US" dirty="0"/>
          </a:p>
        </p:txBody>
      </p:sp>
    </p:spTree>
    <p:extLst>
      <p:ext uri="{BB962C8B-B14F-4D97-AF65-F5344CB8AC3E}">
        <p14:creationId xmlns:p14="http://schemas.microsoft.com/office/powerpoint/2010/main" val="282940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Characteristics/ Nature/ Features of communication</a:t>
            </a:r>
          </a:p>
        </p:txBody>
      </p:sp>
      <p:sp>
        <p:nvSpPr>
          <p:cNvPr id="3" name="Content Placeholder 2"/>
          <p:cNvSpPr>
            <a:spLocks noGrp="1"/>
          </p:cNvSpPr>
          <p:nvPr>
            <p:ph idx="1"/>
          </p:nvPr>
        </p:nvSpPr>
        <p:spPr/>
        <p:txBody>
          <a:bodyPr>
            <a:normAutofit/>
          </a:bodyPr>
          <a:lstStyle/>
          <a:p>
            <a:pPr marL="514350" indent="-514350">
              <a:buAutoNum type="arabicPeriod"/>
            </a:pPr>
            <a:r>
              <a:rPr lang="en-US" dirty="0" smtClean="0"/>
              <a:t>Communication </a:t>
            </a:r>
            <a:r>
              <a:rPr lang="en-US" dirty="0"/>
              <a:t>involves plurality of persons. </a:t>
            </a:r>
            <a:endParaRPr lang="en-US" dirty="0" smtClean="0"/>
          </a:p>
          <a:p>
            <a:pPr marL="514350" indent="-514350">
              <a:buAutoNum type="arabicPeriod"/>
            </a:pPr>
            <a:r>
              <a:rPr lang="en-US" dirty="0" smtClean="0"/>
              <a:t>Existence </a:t>
            </a:r>
            <a:r>
              <a:rPr lang="en-US" dirty="0"/>
              <a:t>of a message. </a:t>
            </a:r>
            <a:endParaRPr lang="en-US" dirty="0" smtClean="0"/>
          </a:p>
          <a:p>
            <a:pPr marL="514350" indent="-514350">
              <a:buAutoNum type="arabicPeriod"/>
            </a:pPr>
            <a:r>
              <a:rPr lang="en-US" dirty="0" smtClean="0"/>
              <a:t>Communication </a:t>
            </a:r>
            <a:r>
              <a:rPr lang="en-US" dirty="0"/>
              <a:t>is a continuous process. </a:t>
            </a:r>
            <a:endParaRPr lang="en-US" dirty="0" smtClean="0"/>
          </a:p>
          <a:p>
            <a:pPr marL="514350" indent="-514350">
              <a:buAutoNum type="arabicPeriod"/>
            </a:pPr>
            <a:r>
              <a:rPr lang="en-US" dirty="0" smtClean="0"/>
              <a:t>Communication </a:t>
            </a:r>
            <a:r>
              <a:rPr lang="en-US" dirty="0"/>
              <a:t>is a two way process. </a:t>
            </a:r>
            <a:endParaRPr lang="en-US" dirty="0" smtClean="0"/>
          </a:p>
          <a:p>
            <a:pPr marL="514350" indent="-514350">
              <a:buAutoNum type="arabicPeriod"/>
            </a:pPr>
            <a:r>
              <a:rPr lang="en-US" dirty="0" smtClean="0"/>
              <a:t>Communication </a:t>
            </a:r>
            <a:r>
              <a:rPr lang="en-US" dirty="0"/>
              <a:t>is a universal process. </a:t>
            </a:r>
            <a:endParaRPr lang="en-US" dirty="0" smtClean="0"/>
          </a:p>
          <a:p>
            <a:pPr marL="514350" indent="-514350">
              <a:buAutoNum type="arabicPeriod"/>
            </a:pPr>
            <a:r>
              <a:rPr lang="en-US" dirty="0" smtClean="0"/>
              <a:t>Communication </a:t>
            </a:r>
            <a:r>
              <a:rPr lang="en-US" dirty="0"/>
              <a:t>is a social process. </a:t>
            </a:r>
          </a:p>
        </p:txBody>
      </p:sp>
    </p:spTree>
    <p:extLst>
      <p:ext uri="{BB962C8B-B14F-4D97-AF65-F5344CB8AC3E}">
        <p14:creationId xmlns:p14="http://schemas.microsoft.com/office/powerpoint/2010/main" val="1785417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Characteristics/ Nature/ Features of communication</a:t>
            </a:r>
          </a:p>
        </p:txBody>
      </p:sp>
      <p:sp>
        <p:nvSpPr>
          <p:cNvPr id="4" name="Content Placeholder 3"/>
          <p:cNvSpPr>
            <a:spLocks noGrp="1"/>
          </p:cNvSpPr>
          <p:nvPr>
            <p:ph idx="1"/>
          </p:nvPr>
        </p:nvSpPr>
        <p:spPr/>
        <p:txBody>
          <a:bodyPr/>
          <a:lstStyle/>
          <a:p>
            <a:pPr marL="514350" indent="-514350">
              <a:buFont typeface="+mj-lt"/>
              <a:buAutoNum type="arabicPeriod" startAt="7"/>
            </a:pPr>
            <a:r>
              <a:rPr lang="en-US" dirty="0" smtClean="0"/>
              <a:t>Communication </a:t>
            </a:r>
            <a:r>
              <a:rPr lang="en-US" dirty="0"/>
              <a:t>may be written, oral or gestural</a:t>
            </a:r>
            <a:r>
              <a:rPr lang="en-US" dirty="0" smtClean="0"/>
              <a:t>.</a:t>
            </a:r>
          </a:p>
          <a:p>
            <a:pPr marL="514350" indent="-514350">
              <a:buFont typeface="+mj-lt"/>
              <a:buAutoNum type="arabicPeriod" startAt="7"/>
            </a:pPr>
            <a:r>
              <a:rPr lang="en-US" dirty="0" smtClean="0"/>
              <a:t>Communication </a:t>
            </a:r>
            <a:r>
              <a:rPr lang="en-US" dirty="0"/>
              <a:t>may be formal or informal </a:t>
            </a:r>
            <a:endParaRPr lang="en-US" dirty="0" smtClean="0"/>
          </a:p>
          <a:p>
            <a:pPr marL="514350" indent="-514350">
              <a:buFont typeface="+mj-lt"/>
              <a:buAutoNum type="arabicPeriod" startAt="7"/>
            </a:pPr>
            <a:r>
              <a:rPr lang="en-US" dirty="0" smtClean="0"/>
              <a:t>Communication </a:t>
            </a:r>
            <a:r>
              <a:rPr lang="en-US" dirty="0"/>
              <a:t>may be vertical, horizontal or diagonal. </a:t>
            </a:r>
            <a:endParaRPr lang="en-US" dirty="0" smtClean="0"/>
          </a:p>
          <a:p>
            <a:pPr marL="514350" indent="-514350">
              <a:buFont typeface="+mj-lt"/>
              <a:buAutoNum type="arabicPeriod" startAt="7"/>
            </a:pPr>
            <a:r>
              <a:rPr lang="en-US" dirty="0" smtClean="0"/>
              <a:t>Primary </a:t>
            </a:r>
            <a:r>
              <a:rPr lang="en-US" dirty="0"/>
              <a:t>purpose is to motivate a response. </a:t>
            </a:r>
            <a:endParaRPr lang="en-US" dirty="0" smtClean="0"/>
          </a:p>
          <a:p>
            <a:pPr marL="514350" indent="-514350">
              <a:buFont typeface="+mj-lt"/>
              <a:buAutoNum type="arabicPeriod" startAt="7"/>
            </a:pPr>
            <a:r>
              <a:rPr lang="en-US" dirty="0" smtClean="0"/>
              <a:t>Communication </a:t>
            </a:r>
            <a:r>
              <a:rPr lang="en-US" dirty="0"/>
              <a:t>is unavoidable.</a:t>
            </a:r>
          </a:p>
          <a:p>
            <a:endParaRPr lang="en-US" dirty="0"/>
          </a:p>
        </p:txBody>
      </p:sp>
    </p:spTree>
    <p:extLst>
      <p:ext uri="{BB962C8B-B14F-4D97-AF65-F5344CB8AC3E}">
        <p14:creationId xmlns:p14="http://schemas.microsoft.com/office/powerpoint/2010/main" val="586174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Communication process</a:t>
            </a:r>
          </a:p>
        </p:txBody>
      </p:sp>
      <p:sp>
        <p:nvSpPr>
          <p:cNvPr id="3" name="Content Placeholder 2"/>
          <p:cNvSpPr>
            <a:spLocks noGrp="1"/>
          </p:cNvSpPr>
          <p:nvPr>
            <p:ph idx="1"/>
          </p:nvPr>
        </p:nvSpPr>
        <p:spPr>
          <a:xfrm>
            <a:off x="502920" y="530352"/>
            <a:ext cx="8183880" cy="4803648"/>
          </a:xfrm>
        </p:spPr>
        <p:txBody>
          <a:bodyPr>
            <a:normAutofit fontScale="77500" lnSpcReduction="20000"/>
          </a:bodyPr>
          <a:lstStyle/>
          <a:p>
            <a:pPr algn="just"/>
            <a:r>
              <a:rPr lang="en-US" dirty="0" smtClean="0"/>
              <a:t>Source </a:t>
            </a:r>
            <a:r>
              <a:rPr lang="en-US" dirty="0"/>
              <a:t>:It is the point of origin of the message. The person who starts the process of communication is also called the communicator. The communicator decides what message is to be sent, how to treat it, what channel to use and which receivers to reach. </a:t>
            </a:r>
            <a:endParaRPr lang="en-US" dirty="0" smtClean="0"/>
          </a:p>
          <a:p>
            <a:pPr algn="just"/>
            <a:endParaRPr lang="en-US" dirty="0"/>
          </a:p>
          <a:p>
            <a:pPr algn="just"/>
            <a:r>
              <a:rPr lang="en-US" dirty="0" smtClean="0"/>
              <a:t>Message </a:t>
            </a:r>
            <a:r>
              <a:rPr lang="en-US" dirty="0"/>
              <a:t>:A message is the information a communicator wishes his audience to receive, understand, accept and act upon. The message may be information, instructions or orders. </a:t>
            </a:r>
            <a:endParaRPr lang="en-US" dirty="0" smtClean="0"/>
          </a:p>
          <a:p>
            <a:pPr algn="just"/>
            <a:endParaRPr lang="en-US" dirty="0"/>
          </a:p>
          <a:p>
            <a:pPr algn="just"/>
            <a:r>
              <a:rPr lang="en-US" dirty="0" smtClean="0"/>
              <a:t>Channel </a:t>
            </a:r>
            <a:r>
              <a:rPr lang="en-US" dirty="0"/>
              <a:t>:It is anything used by a communicator of messages to connect him with the intended receivers. It may be a letter, meeting, radio, newspaper, television </a:t>
            </a:r>
            <a:r>
              <a:rPr lang="en-US" dirty="0" err="1"/>
              <a:t>etc</a:t>
            </a:r>
            <a:r>
              <a:rPr lang="en-US" dirty="0"/>
              <a:t> through which the communicator reaches the receivers.</a:t>
            </a:r>
          </a:p>
        </p:txBody>
      </p:sp>
    </p:spTree>
    <p:extLst>
      <p:ext uri="{BB962C8B-B14F-4D97-AF65-F5344CB8AC3E}">
        <p14:creationId xmlns:p14="http://schemas.microsoft.com/office/powerpoint/2010/main" val="3320431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Communication process</a:t>
            </a:r>
          </a:p>
        </p:txBody>
      </p:sp>
      <p:sp>
        <p:nvSpPr>
          <p:cNvPr id="4" name="Content Placeholder 3"/>
          <p:cNvSpPr>
            <a:spLocks noGrp="1"/>
          </p:cNvSpPr>
          <p:nvPr>
            <p:ph idx="1"/>
          </p:nvPr>
        </p:nvSpPr>
        <p:spPr>
          <a:xfrm>
            <a:off x="502920" y="530352"/>
            <a:ext cx="8183880" cy="4956048"/>
          </a:xfrm>
        </p:spPr>
        <p:txBody>
          <a:bodyPr>
            <a:normAutofit fontScale="92500" lnSpcReduction="10000"/>
          </a:bodyPr>
          <a:lstStyle/>
          <a:p>
            <a:pPr algn="just"/>
            <a:r>
              <a:rPr lang="en-US" dirty="0" smtClean="0"/>
              <a:t>Receivers </a:t>
            </a:r>
            <a:r>
              <a:rPr lang="en-US" dirty="0"/>
              <a:t>:Receivers are the intended audience of messages. They are the consumer of the messages. (By acting on the messages the receiver is likely to gain economically or socially.) The communicator should identify and aim his messages towards his intended audience</a:t>
            </a:r>
            <a:r>
              <a:rPr lang="en-US" dirty="0" smtClean="0"/>
              <a:t>.</a:t>
            </a:r>
          </a:p>
          <a:p>
            <a:pPr algn="just"/>
            <a:endParaRPr lang="en-US" dirty="0" smtClean="0"/>
          </a:p>
          <a:p>
            <a:pPr algn="just"/>
            <a:r>
              <a:rPr lang="en-US" dirty="0"/>
              <a:t>Effect :Effect is the response by the audience to the messages received by them. This may be some kind of mental or physical action. The action should be viewed as a product of the communication process </a:t>
            </a:r>
          </a:p>
        </p:txBody>
      </p:sp>
    </p:spTree>
    <p:extLst>
      <p:ext uri="{BB962C8B-B14F-4D97-AF65-F5344CB8AC3E}">
        <p14:creationId xmlns:p14="http://schemas.microsoft.com/office/powerpoint/2010/main" val="35531599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Barriers to Communication</a:t>
            </a:r>
          </a:p>
        </p:txBody>
      </p:sp>
      <p:sp>
        <p:nvSpPr>
          <p:cNvPr id="3" name="Content Placeholder 2"/>
          <p:cNvSpPr>
            <a:spLocks noGrp="1"/>
          </p:cNvSpPr>
          <p:nvPr>
            <p:ph idx="1"/>
          </p:nvPr>
        </p:nvSpPr>
        <p:spPr>
          <a:xfrm>
            <a:off x="502920" y="530352"/>
            <a:ext cx="8183880" cy="4498848"/>
          </a:xfrm>
        </p:spPr>
        <p:txBody>
          <a:bodyPr>
            <a:normAutofit/>
          </a:bodyPr>
          <a:lstStyle/>
          <a:p>
            <a:pPr marL="514350" indent="-514350">
              <a:buAutoNum type="arabicPeriod"/>
            </a:pPr>
            <a:r>
              <a:rPr lang="en-US" dirty="0" smtClean="0"/>
              <a:t>Physical </a:t>
            </a:r>
            <a:r>
              <a:rPr lang="en-US" dirty="0"/>
              <a:t>and Mechanical </a:t>
            </a:r>
            <a:r>
              <a:rPr lang="en-US" dirty="0" smtClean="0"/>
              <a:t>Barriers.</a:t>
            </a:r>
          </a:p>
          <a:p>
            <a:pPr marL="514350" indent="-514350">
              <a:buAutoNum type="arabicPeriod"/>
            </a:pPr>
            <a:endParaRPr lang="en-US" dirty="0" smtClean="0"/>
          </a:p>
          <a:p>
            <a:pPr marL="514350" indent="-514350">
              <a:buAutoNum type="arabicPeriod"/>
            </a:pPr>
            <a:r>
              <a:rPr lang="en-US" dirty="0"/>
              <a:t>Language or Semantic </a:t>
            </a:r>
            <a:r>
              <a:rPr lang="en-US" dirty="0" smtClean="0"/>
              <a:t>Barriers.</a:t>
            </a:r>
          </a:p>
          <a:p>
            <a:pPr marL="514350" indent="-514350">
              <a:buAutoNum type="arabicPeriod"/>
            </a:pPr>
            <a:endParaRPr lang="en-US" dirty="0" smtClean="0"/>
          </a:p>
          <a:p>
            <a:pPr marL="514350" indent="-514350">
              <a:buAutoNum type="arabicPeriod"/>
            </a:pPr>
            <a:r>
              <a:rPr lang="en-US" dirty="0"/>
              <a:t>Socio-Psychological </a:t>
            </a:r>
            <a:r>
              <a:rPr lang="en-US" dirty="0" smtClean="0"/>
              <a:t>Barriers.</a:t>
            </a:r>
          </a:p>
          <a:p>
            <a:pPr marL="514350" indent="-514350">
              <a:buAutoNum type="arabicPeriod"/>
            </a:pPr>
            <a:endParaRPr lang="en-US" dirty="0" smtClean="0"/>
          </a:p>
          <a:p>
            <a:pPr marL="514350" indent="-514350">
              <a:buAutoNum type="arabicPeriod"/>
            </a:pPr>
            <a:r>
              <a:rPr lang="en-US" dirty="0" smtClean="0"/>
              <a:t>Organizational Barriers.</a:t>
            </a:r>
          </a:p>
          <a:p>
            <a:pPr marL="514350" indent="-514350">
              <a:buAutoNum type="arabicPeriod"/>
            </a:pPr>
            <a:endParaRPr lang="en-US" dirty="0" smtClean="0"/>
          </a:p>
          <a:p>
            <a:pPr marL="514350" indent="-514350">
              <a:buAutoNum type="arabicPeriod"/>
            </a:pPr>
            <a:r>
              <a:rPr lang="en-US" dirty="0" smtClean="0"/>
              <a:t>Personal Barriers.</a:t>
            </a:r>
          </a:p>
          <a:p>
            <a:endParaRPr lang="en-US" dirty="0"/>
          </a:p>
        </p:txBody>
      </p:sp>
    </p:spTree>
    <p:extLst>
      <p:ext uri="{BB962C8B-B14F-4D97-AF65-F5344CB8AC3E}">
        <p14:creationId xmlns:p14="http://schemas.microsoft.com/office/powerpoint/2010/main" val="25309935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Effective Communication</a:t>
            </a:r>
          </a:p>
        </p:txBody>
      </p:sp>
      <p:sp>
        <p:nvSpPr>
          <p:cNvPr id="3" name="Content Placeholder 2"/>
          <p:cNvSpPr>
            <a:spLocks noGrp="1"/>
          </p:cNvSpPr>
          <p:nvPr>
            <p:ph idx="1"/>
          </p:nvPr>
        </p:nvSpPr>
        <p:spPr/>
        <p:txBody>
          <a:bodyPr/>
          <a:lstStyle/>
          <a:p>
            <a:r>
              <a:rPr lang="en-US" dirty="0" smtClean="0"/>
              <a:t>There are some guidelines </a:t>
            </a:r>
            <a:r>
              <a:rPr lang="en-US" dirty="0"/>
              <a:t>for choice of content and style of presentation adapted for the purpose by the receiver of the message. </a:t>
            </a:r>
            <a:endParaRPr lang="en-US" dirty="0" smtClean="0"/>
          </a:p>
          <a:p>
            <a:endParaRPr lang="en-US" dirty="0"/>
          </a:p>
          <a:p>
            <a:r>
              <a:rPr lang="en-US" dirty="0" smtClean="0"/>
              <a:t>They </a:t>
            </a:r>
            <a:r>
              <a:rPr lang="en-US" dirty="0"/>
              <a:t>are also called “Seven C’s” of effective communication. They are : </a:t>
            </a:r>
          </a:p>
        </p:txBody>
      </p:sp>
    </p:spTree>
    <p:extLst>
      <p:ext uri="{BB962C8B-B14F-4D97-AF65-F5344CB8AC3E}">
        <p14:creationId xmlns:p14="http://schemas.microsoft.com/office/powerpoint/2010/main" val="4217771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“Seven C’s” of effective communication</a:t>
            </a:r>
          </a:p>
        </p:txBody>
      </p:sp>
      <p:sp>
        <p:nvSpPr>
          <p:cNvPr id="3" name="Content Placeholder 2"/>
          <p:cNvSpPr>
            <a:spLocks noGrp="1"/>
          </p:cNvSpPr>
          <p:nvPr>
            <p:ph idx="1"/>
          </p:nvPr>
        </p:nvSpPr>
        <p:spPr>
          <a:xfrm>
            <a:off x="502920" y="457200"/>
            <a:ext cx="8183880" cy="5105400"/>
          </a:xfrm>
        </p:spPr>
        <p:txBody>
          <a:bodyPr>
            <a:normAutofit fontScale="70000" lnSpcReduction="20000"/>
          </a:bodyPr>
          <a:lstStyle/>
          <a:p>
            <a:pPr marL="514350" indent="-514350" algn="just">
              <a:buAutoNum type="arabicPeriod"/>
            </a:pPr>
            <a:r>
              <a:rPr lang="en-US" b="1" i="1" dirty="0" smtClean="0"/>
              <a:t>Completeness</a:t>
            </a:r>
            <a:r>
              <a:rPr lang="en-US" dirty="0" smtClean="0"/>
              <a:t> </a:t>
            </a:r>
            <a:r>
              <a:rPr lang="en-US" dirty="0"/>
              <a:t>– Every communication must be complete in itself. Incomplete messages keep the receiver guessing, create misunderstanding and delay actions. Messages must offer complete and relevant information in order to become effective. Incomplete information makes it necessary to begin another cycle of communication to issue clarification. </a:t>
            </a:r>
            <a:endParaRPr lang="en-US" dirty="0" smtClean="0"/>
          </a:p>
          <a:p>
            <a:pPr marL="514350" indent="-514350" algn="just">
              <a:buAutoNum type="arabicPeriod"/>
            </a:pPr>
            <a:endParaRPr lang="en-US" dirty="0" smtClean="0"/>
          </a:p>
          <a:p>
            <a:pPr marL="514350" indent="-514350" algn="just">
              <a:buAutoNum type="arabicPeriod"/>
            </a:pPr>
            <a:r>
              <a:rPr lang="en-US" b="1" i="1" dirty="0" smtClean="0"/>
              <a:t>Conciseness</a:t>
            </a:r>
            <a:r>
              <a:rPr lang="en-US" dirty="0" smtClean="0"/>
              <a:t> </a:t>
            </a:r>
            <a:r>
              <a:rPr lang="en-US" dirty="0"/>
              <a:t>– In business communications, you should be brief and be able to say whatever you have to say in fewest possible words without sacrificing the other qualities. A concise message is complete without being wordy. </a:t>
            </a:r>
            <a:endParaRPr lang="en-US" dirty="0" smtClean="0"/>
          </a:p>
          <a:p>
            <a:pPr marL="514350" indent="-514350" algn="just">
              <a:buAutoNum type="arabicPeriod"/>
            </a:pPr>
            <a:endParaRPr lang="en-US" dirty="0" smtClean="0"/>
          </a:p>
          <a:p>
            <a:pPr marL="514350" indent="-514350" algn="just">
              <a:buAutoNum type="arabicPeriod"/>
            </a:pPr>
            <a:r>
              <a:rPr lang="en-US" b="1" i="1" dirty="0" smtClean="0"/>
              <a:t>Correctness </a:t>
            </a:r>
            <a:r>
              <a:rPr lang="en-US" dirty="0"/>
              <a:t>– The term correctness as applied to business messages means right level of language and accuracy of facts, figures and words. If the information is not correctly conveyed, the sender will lose credibility.</a:t>
            </a:r>
          </a:p>
        </p:txBody>
      </p:sp>
    </p:spTree>
    <p:extLst>
      <p:ext uri="{BB962C8B-B14F-4D97-AF65-F5344CB8AC3E}">
        <p14:creationId xmlns:p14="http://schemas.microsoft.com/office/powerpoint/2010/main" val="33303995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pPr marL="514350" indent="-514350" algn="just">
              <a:buFont typeface="+mj-lt"/>
              <a:buAutoNum type="arabicPeriod" startAt="4"/>
            </a:pPr>
            <a:r>
              <a:rPr lang="en-US" b="1" i="1" dirty="0" smtClean="0"/>
              <a:t>Concreteness</a:t>
            </a:r>
            <a:r>
              <a:rPr lang="en-US" dirty="0" smtClean="0"/>
              <a:t> </a:t>
            </a:r>
            <a:r>
              <a:rPr lang="en-US" dirty="0"/>
              <a:t>– of message is an essential requirement of effective communication. It means being specific, definite and vivid rather than vague and general. Concrete expressions create visual images that are easy to register. So instead of vague, generalized statements, give definite facts. </a:t>
            </a:r>
            <a:endParaRPr lang="en-US" dirty="0" smtClean="0"/>
          </a:p>
          <a:p>
            <a:pPr marL="514350" indent="-514350" algn="just">
              <a:buFont typeface="+mj-lt"/>
              <a:buAutoNum type="arabicPeriod" startAt="4"/>
            </a:pPr>
            <a:endParaRPr lang="en-US" dirty="0"/>
          </a:p>
          <a:p>
            <a:pPr marL="514350" indent="-514350" algn="just">
              <a:buFont typeface="+mj-lt"/>
              <a:buAutoNum type="arabicPeriod" startAt="4"/>
            </a:pPr>
            <a:r>
              <a:rPr lang="en-US" b="1" i="1" dirty="0" smtClean="0"/>
              <a:t>Clarity</a:t>
            </a:r>
            <a:r>
              <a:rPr lang="en-US" dirty="0" smtClean="0"/>
              <a:t> </a:t>
            </a:r>
            <a:r>
              <a:rPr lang="en-US" dirty="0"/>
              <a:t>– The message must be put in simple terms to ensure clarity. Words must mean the same thing to the receiver as they do to the sender. Complex issues must be compressed into themes, slogans or stereotypes that have simplicity and clarity. Your language should consist of simple words and short sentences.</a:t>
            </a:r>
          </a:p>
        </p:txBody>
      </p:sp>
      <p:sp>
        <p:nvSpPr>
          <p:cNvPr id="5" name="Title 1"/>
          <p:cNvSpPr>
            <a:spLocks noGrp="1"/>
          </p:cNvSpPr>
          <p:nvPr>
            <p:ph type="title"/>
          </p:nvPr>
        </p:nvSpPr>
        <p:spPr/>
        <p:txBody>
          <a:bodyPr>
            <a:normAutofit fontScale="90000"/>
          </a:bodyPr>
          <a:lstStyle/>
          <a:p>
            <a:r>
              <a:rPr lang="en-US" dirty="0"/>
              <a:t>“Seven C’s” of effective communication</a:t>
            </a:r>
          </a:p>
        </p:txBody>
      </p:sp>
    </p:spTree>
    <p:extLst>
      <p:ext uri="{BB962C8B-B14F-4D97-AF65-F5344CB8AC3E}">
        <p14:creationId xmlns:p14="http://schemas.microsoft.com/office/powerpoint/2010/main" val="15377134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530352"/>
            <a:ext cx="8183880" cy="4422648"/>
          </a:xfrm>
        </p:spPr>
        <p:txBody>
          <a:bodyPr>
            <a:normAutofit fontScale="85000" lnSpcReduction="20000"/>
          </a:bodyPr>
          <a:lstStyle/>
          <a:p>
            <a:pPr marL="514350" indent="-514350" algn="just">
              <a:buFont typeface="+mj-lt"/>
              <a:buAutoNum type="arabicPeriod" startAt="6"/>
            </a:pPr>
            <a:r>
              <a:rPr lang="en-US" b="1" i="1" dirty="0" smtClean="0"/>
              <a:t>Consideration</a:t>
            </a:r>
            <a:r>
              <a:rPr lang="en-US" dirty="0" smtClean="0"/>
              <a:t> </a:t>
            </a:r>
            <a:r>
              <a:rPr lang="en-US" dirty="0"/>
              <a:t>– Consideration means preparing the message with the intended receiver in mind. In order to communicate effectively, the sender should think and look from the receiver’s angle. He should adopt a humane approach and understand the emotions and sentiments of the receiver</a:t>
            </a:r>
            <a:r>
              <a:rPr lang="en-US" dirty="0" smtClean="0"/>
              <a:t>.</a:t>
            </a:r>
          </a:p>
          <a:p>
            <a:pPr marL="0" indent="0" algn="just">
              <a:buNone/>
            </a:pPr>
            <a:endParaRPr lang="en-US" dirty="0" smtClean="0"/>
          </a:p>
          <a:p>
            <a:pPr marL="514350" indent="-514350" algn="just">
              <a:buFont typeface="+mj-lt"/>
              <a:buAutoNum type="arabicPeriod" startAt="7"/>
            </a:pPr>
            <a:r>
              <a:rPr lang="en-US" b="1" i="1" dirty="0"/>
              <a:t>Courtesy</a:t>
            </a:r>
            <a:r>
              <a:rPr lang="en-US" dirty="0"/>
              <a:t> – or politeness stems from sincere you-attitude. It is not merely politeness with mechanical insertions of “please” and “thank you”, although applying socially accepted manners is a form of courtesy. </a:t>
            </a:r>
          </a:p>
        </p:txBody>
      </p:sp>
      <p:sp>
        <p:nvSpPr>
          <p:cNvPr id="4" name="Title 1"/>
          <p:cNvSpPr>
            <a:spLocks noGrp="1"/>
          </p:cNvSpPr>
          <p:nvPr>
            <p:ph type="title"/>
          </p:nvPr>
        </p:nvSpPr>
        <p:spPr/>
        <p:txBody>
          <a:bodyPr>
            <a:normAutofit fontScale="90000"/>
          </a:bodyPr>
          <a:lstStyle/>
          <a:p>
            <a:r>
              <a:rPr lang="en-US" dirty="0"/>
              <a:t>“Seven C’s” of effective communication</a:t>
            </a:r>
          </a:p>
        </p:txBody>
      </p:sp>
    </p:spTree>
    <p:extLst>
      <p:ext uri="{BB962C8B-B14F-4D97-AF65-F5344CB8AC3E}">
        <p14:creationId xmlns:p14="http://schemas.microsoft.com/office/powerpoint/2010/main" val="42081904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communication</a:t>
            </a:r>
            <a:endParaRPr lang="en-US" dirty="0"/>
          </a:p>
        </p:txBody>
      </p:sp>
      <p:sp>
        <p:nvSpPr>
          <p:cNvPr id="3" name="Content Placeholder 2"/>
          <p:cNvSpPr>
            <a:spLocks noGrp="1"/>
          </p:cNvSpPr>
          <p:nvPr>
            <p:ph idx="1"/>
          </p:nvPr>
        </p:nvSpPr>
        <p:spPr>
          <a:xfrm>
            <a:off x="502920" y="381000"/>
            <a:ext cx="8183880" cy="5413248"/>
          </a:xfrm>
        </p:spPr>
        <p:txBody>
          <a:bodyPr>
            <a:normAutofit fontScale="77500" lnSpcReduction="20000"/>
          </a:bodyPr>
          <a:lstStyle/>
          <a:p>
            <a:pPr marL="0" indent="0">
              <a:buNone/>
            </a:pPr>
            <a:r>
              <a:rPr lang="en-US" u="sng" dirty="0"/>
              <a:t>Downward </a:t>
            </a:r>
            <a:r>
              <a:rPr lang="en-US" u="sng" dirty="0" smtClean="0"/>
              <a:t>Communication</a:t>
            </a:r>
          </a:p>
          <a:p>
            <a:pPr marL="0" indent="0">
              <a:buNone/>
            </a:pPr>
            <a:endParaRPr lang="en-US" u="sng" dirty="0" smtClean="0"/>
          </a:p>
          <a:p>
            <a:pPr marL="0" indent="0">
              <a:buNone/>
            </a:pPr>
            <a:r>
              <a:rPr lang="en-US" dirty="0"/>
              <a:t>T</a:t>
            </a:r>
            <a:r>
              <a:rPr lang="en-US" dirty="0" smtClean="0"/>
              <a:t>he </a:t>
            </a:r>
            <a:r>
              <a:rPr lang="en-US" dirty="0"/>
              <a:t>flow of information from </a:t>
            </a:r>
            <a:r>
              <a:rPr lang="en-US" dirty="0" smtClean="0"/>
              <a:t>highest </a:t>
            </a:r>
            <a:r>
              <a:rPr lang="en-US" dirty="0"/>
              <a:t>to lowest level in the organizational hierarchy. Managers use it to accomplish a variety of key organizational functions and objectives as follows</a:t>
            </a:r>
            <a:r>
              <a:rPr lang="en-US" dirty="0" smtClean="0"/>
              <a:t>:</a:t>
            </a:r>
          </a:p>
          <a:p>
            <a:pPr marL="0" indent="0">
              <a:buNone/>
            </a:pPr>
            <a:r>
              <a:rPr lang="en-US" dirty="0" smtClean="0"/>
              <a:t>• </a:t>
            </a:r>
            <a:r>
              <a:rPr lang="en-US" dirty="0"/>
              <a:t>To clarify and build support for the organization </a:t>
            </a:r>
            <a:r>
              <a:rPr lang="en-US" dirty="0" smtClean="0"/>
              <a:t>mission.</a:t>
            </a:r>
          </a:p>
          <a:p>
            <a:pPr marL="0" indent="0">
              <a:buNone/>
            </a:pPr>
            <a:r>
              <a:rPr lang="en-US" dirty="0" smtClean="0"/>
              <a:t> </a:t>
            </a:r>
          </a:p>
          <a:p>
            <a:pPr marL="0" indent="0">
              <a:buNone/>
            </a:pPr>
            <a:r>
              <a:rPr lang="en-US" dirty="0" smtClean="0"/>
              <a:t>• </a:t>
            </a:r>
            <a:r>
              <a:rPr lang="en-US" dirty="0"/>
              <a:t>To instruct, direct, query or reward employees, • To explain policies, rules, regulations and codes of </a:t>
            </a:r>
            <a:r>
              <a:rPr lang="en-US" dirty="0" smtClean="0"/>
              <a:t>practices</a:t>
            </a:r>
            <a:endParaRPr lang="en-US" dirty="0"/>
          </a:p>
          <a:p>
            <a:pPr marL="0" indent="0">
              <a:buNone/>
            </a:pPr>
            <a:endParaRPr lang="en-US" dirty="0" smtClean="0"/>
          </a:p>
          <a:p>
            <a:pPr marL="0" indent="0">
              <a:buNone/>
            </a:pPr>
            <a:r>
              <a:rPr lang="en-US" dirty="0" smtClean="0"/>
              <a:t>• </a:t>
            </a:r>
            <a:r>
              <a:rPr lang="en-US" dirty="0"/>
              <a:t>To provide feedback from management, </a:t>
            </a:r>
          </a:p>
          <a:p>
            <a:pPr marL="0" indent="0">
              <a:buNone/>
            </a:pPr>
            <a:endParaRPr lang="en-US" dirty="0" smtClean="0"/>
          </a:p>
          <a:p>
            <a:pPr marL="0" indent="0">
              <a:buNone/>
            </a:pPr>
            <a:r>
              <a:rPr lang="en-US" dirty="0" smtClean="0"/>
              <a:t>• </a:t>
            </a:r>
            <a:r>
              <a:rPr lang="en-US" dirty="0"/>
              <a:t>To share information about the organization‘s health and about key elements in the external environments.</a:t>
            </a:r>
          </a:p>
        </p:txBody>
      </p:sp>
    </p:spTree>
    <p:extLst>
      <p:ext uri="{BB962C8B-B14F-4D97-AF65-F5344CB8AC3E}">
        <p14:creationId xmlns:p14="http://schemas.microsoft.com/office/powerpoint/2010/main" val="2077131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2920" y="606552"/>
            <a:ext cx="8183880" cy="4879848"/>
          </a:xfrm>
        </p:spPr>
        <p:txBody>
          <a:bodyPr>
            <a:normAutofit fontScale="77500" lnSpcReduction="20000"/>
          </a:bodyPr>
          <a:lstStyle/>
          <a:p>
            <a:pPr marL="0" indent="0" algn="just">
              <a:buNone/>
            </a:pPr>
            <a:r>
              <a:rPr lang="en-US" u="sng" dirty="0"/>
              <a:t>Upward Communication </a:t>
            </a:r>
            <a:endParaRPr lang="en-US" u="sng" dirty="0" smtClean="0"/>
          </a:p>
          <a:p>
            <a:pPr marL="0" indent="0" algn="just">
              <a:buNone/>
            </a:pPr>
            <a:endParaRPr lang="en-US" dirty="0" smtClean="0"/>
          </a:p>
          <a:p>
            <a:pPr marL="0" indent="0" algn="just">
              <a:buNone/>
            </a:pPr>
            <a:r>
              <a:rPr lang="en-US" dirty="0" smtClean="0"/>
              <a:t>On </a:t>
            </a:r>
            <a:r>
              <a:rPr lang="en-US" dirty="0"/>
              <a:t>the other hand upward communication is the flow of information from lower to higher levels in the organization</a:t>
            </a:r>
            <a:r>
              <a:rPr lang="en-US" dirty="0" smtClean="0"/>
              <a:t>.</a:t>
            </a:r>
          </a:p>
          <a:p>
            <a:pPr marL="0" indent="0" algn="just">
              <a:buNone/>
            </a:pPr>
            <a:endParaRPr lang="en-US" dirty="0"/>
          </a:p>
          <a:p>
            <a:pPr marL="0" indent="0" algn="just">
              <a:buNone/>
            </a:pPr>
            <a:r>
              <a:rPr lang="en-US" dirty="0" smtClean="0"/>
              <a:t>Managers </a:t>
            </a:r>
            <a:r>
              <a:rPr lang="en-US" dirty="0"/>
              <a:t>encourage upward communication to perform the following important functions: </a:t>
            </a:r>
            <a:endParaRPr lang="en-US" dirty="0" smtClean="0"/>
          </a:p>
          <a:p>
            <a:pPr marL="0" indent="0" algn="just">
              <a:buNone/>
            </a:pPr>
            <a:endParaRPr lang="en-US" dirty="0"/>
          </a:p>
          <a:p>
            <a:pPr marL="452438" indent="-452438" algn="just">
              <a:buNone/>
            </a:pPr>
            <a:r>
              <a:rPr lang="en-US" dirty="0" smtClean="0"/>
              <a:t>• </a:t>
            </a:r>
            <a:r>
              <a:rPr lang="en-US" dirty="0"/>
              <a:t>To gather valuable information, </a:t>
            </a:r>
            <a:endParaRPr lang="en-US" dirty="0" smtClean="0"/>
          </a:p>
          <a:p>
            <a:pPr marL="452438" indent="-452438" algn="just">
              <a:buNone/>
            </a:pPr>
            <a:r>
              <a:rPr lang="en-US" dirty="0" smtClean="0"/>
              <a:t>• </a:t>
            </a:r>
            <a:r>
              <a:rPr lang="en-US" dirty="0"/>
              <a:t>To give employees the opportunity to air grievances, </a:t>
            </a:r>
            <a:endParaRPr lang="en-US" dirty="0" smtClean="0"/>
          </a:p>
          <a:p>
            <a:pPr marL="452438" indent="-452438" algn="just">
              <a:buNone/>
            </a:pPr>
            <a:r>
              <a:rPr lang="en-US" dirty="0" smtClean="0"/>
              <a:t>• </a:t>
            </a:r>
            <a:r>
              <a:rPr lang="en-US" dirty="0"/>
              <a:t>To find out when employees are ready for information from management, </a:t>
            </a:r>
            <a:endParaRPr lang="en-US" dirty="0" smtClean="0"/>
          </a:p>
          <a:p>
            <a:pPr marL="452438" indent="-452438" algn="just">
              <a:buNone/>
            </a:pPr>
            <a:r>
              <a:rPr lang="en-US" dirty="0" smtClean="0"/>
              <a:t>• </a:t>
            </a:r>
            <a:r>
              <a:rPr lang="en-US" dirty="0"/>
              <a:t>To get feedback from the employees in the forms of reports, complaint, suggestions, advice, etc</a:t>
            </a:r>
            <a:r>
              <a:rPr lang="en-US" dirty="0" smtClean="0"/>
              <a:t>.</a:t>
            </a:r>
          </a:p>
          <a:p>
            <a:pPr marL="452438" indent="-452438" algn="just">
              <a:buNone/>
            </a:pPr>
            <a:r>
              <a:rPr lang="en-US" dirty="0" smtClean="0"/>
              <a:t>• </a:t>
            </a:r>
            <a:r>
              <a:rPr lang="en-US" dirty="0"/>
              <a:t>To get information about work problems.</a:t>
            </a:r>
          </a:p>
        </p:txBody>
      </p:sp>
      <p:sp>
        <p:nvSpPr>
          <p:cNvPr id="4" name="Title 1"/>
          <p:cNvSpPr>
            <a:spLocks noGrp="1"/>
          </p:cNvSpPr>
          <p:nvPr>
            <p:ph type="title"/>
          </p:nvPr>
        </p:nvSpPr>
        <p:spPr/>
        <p:txBody>
          <a:bodyPr/>
          <a:lstStyle/>
          <a:p>
            <a:r>
              <a:rPr lang="en-US" dirty="0" smtClean="0"/>
              <a:t>Types of communication</a:t>
            </a:r>
            <a:endParaRPr lang="en-US" dirty="0"/>
          </a:p>
        </p:txBody>
      </p:sp>
    </p:spTree>
    <p:extLst>
      <p:ext uri="{BB962C8B-B14F-4D97-AF65-F5344CB8AC3E}">
        <p14:creationId xmlns:p14="http://schemas.microsoft.com/office/powerpoint/2010/main" val="65405680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spect">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spect">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solidFill>
          <a:schemeClr val="phClr"/>
        </a:solidFill>
        <a:gradFill rotWithShape="1">
          <a:gsLst>
            <a:gs pos="0">
              <a:schemeClr val="phClr">
                <a:shade val="35000"/>
                <a:satMod val="150000"/>
              </a:schemeClr>
            </a:gs>
            <a:gs pos="45000">
              <a:schemeClr val="phClr">
                <a:shade val="68000"/>
                <a:satMod val="155000"/>
              </a:schemeClr>
            </a:gs>
            <a:gs pos="100000">
              <a:schemeClr val="phClr">
                <a:tint val="70000"/>
                <a:satMod val="175000"/>
              </a:schemeClr>
            </a:gs>
          </a:gsLst>
          <a:lin ang="16200000" scaled="0"/>
        </a:gradFill>
        <a:blipFill>
          <a:blip xmlns:r="http://schemas.openxmlformats.org/officeDocument/2006/relationships" r:embed="rId1">
            <a:duotone>
              <a:schemeClr val="phClr">
                <a:shade val="800"/>
                <a:satMod val="150000"/>
              </a:schemeClr>
              <a:schemeClr val="phClr">
                <a:tint val="80000"/>
                <a:satMod val="150000"/>
              </a:schemeClr>
            </a:duotone>
          </a:blip>
          <a:tile tx="0" ty="0" sx="75000" sy="7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Aspect</Template>
  <TotalTime>69</TotalTime>
  <Words>1186</Words>
  <Application>Microsoft Office PowerPoint</Application>
  <PresentationFormat>On-screen Show (4:3)</PresentationFormat>
  <Paragraphs>92</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Aspect</vt:lpstr>
      <vt:lpstr>Chapter (11)</vt:lpstr>
      <vt:lpstr>Overview </vt:lpstr>
      <vt:lpstr>Definition </vt:lpstr>
      <vt:lpstr>Functions of Communication</vt:lpstr>
      <vt:lpstr>Functions of communication </vt:lpstr>
      <vt:lpstr>Characteristics/ Nature/ Features of communication</vt:lpstr>
      <vt:lpstr>Characteristics/ Nature/ Features of communication</vt:lpstr>
      <vt:lpstr>Communication process</vt:lpstr>
      <vt:lpstr>Communication process</vt:lpstr>
      <vt:lpstr>Barriers to Communication</vt:lpstr>
      <vt:lpstr>Effective Communication</vt:lpstr>
      <vt:lpstr>“Seven C’s” of effective communication</vt:lpstr>
      <vt:lpstr>“Seven C’s” of effective communication</vt:lpstr>
      <vt:lpstr>“Seven C’s” of effective communication</vt:lpstr>
      <vt:lpstr>Types of communication</vt:lpstr>
      <vt:lpstr>Types of communication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(11)</dc:title>
  <dc:creator>Nancy karma</dc:creator>
  <cp:lastModifiedBy>Nancy karma</cp:lastModifiedBy>
  <cp:revision>6</cp:revision>
  <dcterms:created xsi:type="dcterms:W3CDTF">2006-08-16T00:00:00Z</dcterms:created>
  <dcterms:modified xsi:type="dcterms:W3CDTF">2023-09-01T10:46:47Z</dcterms:modified>
</cp:coreProperties>
</file>