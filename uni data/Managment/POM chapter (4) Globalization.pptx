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9" d="100"/>
          <a:sy n="79" d="100"/>
        </p:scale>
        <p:origin x="-1469"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3847E92C-90B7-4EC7-92D6-B29078D3888A}" type="datetimeFigureOut">
              <a:rPr lang="en-US" smtClean="0"/>
              <a:t>7/29/2023</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9C3C455F-4FF8-409E-A025-2B2F0DADFBFD}" type="slidenum">
              <a:rPr lang="en-US" smtClean="0"/>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3847E92C-90B7-4EC7-92D6-B29078D3888A}" type="datetimeFigureOut">
              <a:rPr lang="en-US" smtClean="0"/>
              <a:t>7/29/2023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9C3C455F-4FF8-409E-A025-2B2F0DADFBFD}" type="slidenum">
              <a:rPr lang="en-US" smtClean="0"/>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847E92C-90B7-4EC7-92D6-B29078D3888A}" type="datetimeFigureOut">
              <a:rPr lang="en-US" smtClean="0"/>
              <a:t>7/29/2023</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9C3C455F-4FF8-409E-A025-2B2F0DADFBFD}" type="slidenum">
              <a:rPr lang="en-US" smtClean="0"/>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3847E92C-90B7-4EC7-92D6-B29078D3888A}" type="datetimeFigureOut">
              <a:rPr lang="en-US" smtClean="0"/>
              <a:t>7/29/2023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3C455F-4FF8-409E-A025-2B2F0DADFBFD}" type="slidenum">
              <a:rPr lang="en-US" smtClean="0"/>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3847E92C-90B7-4EC7-92D6-B29078D3888A}" type="datetimeFigureOut">
              <a:rPr lang="en-US" smtClean="0"/>
              <a:t>7/29/2023</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9C3C455F-4FF8-409E-A025-2B2F0DADFBFD}" type="slidenum">
              <a:rPr lang="en-US" smtClean="0"/>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847E92C-90B7-4EC7-92D6-B29078D3888A}" type="datetimeFigureOut">
              <a:rPr lang="en-US" smtClean="0"/>
              <a:t>7/29/2023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9C3C455F-4FF8-409E-A025-2B2F0DADFBF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3847E92C-90B7-4EC7-92D6-B29078D3888A}" type="datetimeFigureOut">
              <a:rPr lang="en-US" smtClean="0"/>
              <a:t>7/29/2023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9C3C455F-4FF8-409E-A025-2B2F0DADFBF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9C3C455F-4FF8-409E-A025-2B2F0DADFBFD}" type="slidenum">
              <a:rPr lang="en-US" smtClean="0"/>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3847E92C-90B7-4EC7-92D6-B29078D3888A}" type="datetimeFigureOut">
              <a:rPr lang="en-US" smtClean="0"/>
              <a:t>7/29/2023</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9C3C455F-4FF8-409E-A025-2B2F0DADFBFD}" type="slidenum">
              <a:rPr lang="en-US" smtClean="0"/>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3847E92C-90B7-4EC7-92D6-B29078D3888A}" type="datetimeFigureOut">
              <a:rPr lang="en-US" smtClean="0"/>
              <a:t>7/29/2023</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847E92C-90B7-4EC7-92D6-B29078D3888A}" type="datetimeFigureOut">
              <a:rPr lang="en-US" smtClean="0"/>
              <a:t>7/29/2023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3C455F-4FF8-409E-A025-2B2F0DADFBFD}"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9C3C455F-4FF8-409E-A025-2B2F0DADFBFD}" type="slidenum">
              <a:rPr lang="en-US" smtClean="0"/>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847E92C-90B7-4EC7-92D6-B29078D3888A}" type="datetimeFigureOut">
              <a:rPr lang="en-US" smtClean="0"/>
              <a:t>7/29/2023</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3847E92C-90B7-4EC7-92D6-B29078D3888A}" type="datetimeFigureOut">
              <a:rPr lang="en-US" smtClean="0"/>
              <a:t>7/29/2023</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9C3C455F-4FF8-409E-A025-2B2F0DADFBFD}" type="slidenum">
              <a:rPr lang="en-US" smtClean="0"/>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nationalgeographic.org/encyclopedia/globalizat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Managing in global environment</a:t>
            </a:r>
            <a:endParaRPr lang="en-US" dirty="0"/>
          </a:p>
        </p:txBody>
      </p:sp>
      <p:sp>
        <p:nvSpPr>
          <p:cNvPr id="2" name="Title 1"/>
          <p:cNvSpPr>
            <a:spLocks noGrp="1"/>
          </p:cNvSpPr>
          <p:nvPr>
            <p:ph type="ctrTitle"/>
          </p:nvPr>
        </p:nvSpPr>
        <p:spPr/>
        <p:txBody>
          <a:bodyPr/>
          <a:lstStyle/>
          <a:p>
            <a:r>
              <a:rPr lang="en-US" dirty="0" smtClean="0"/>
              <a:t>Chapter “4”</a:t>
            </a:r>
            <a:endParaRPr lang="en-US" dirty="0"/>
          </a:p>
        </p:txBody>
      </p:sp>
    </p:spTree>
    <p:extLst>
      <p:ext uri="{BB962C8B-B14F-4D97-AF65-F5344CB8AC3E}">
        <p14:creationId xmlns:p14="http://schemas.microsoft.com/office/powerpoint/2010/main" val="8087793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Outline </a:t>
            </a:r>
            <a:endParaRPr lang="en-US" dirty="0"/>
          </a:p>
        </p:txBody>
      </p:sp>
      <p:sp>
        <p:nvSpPr>
          <p:cNvPr id="2" name="Content Placeholder 1"/>
          <p:cNvSpPr>
            <a:spLocks noGrp="1"/>
          </p:cNvSpPr>
          <p:nvPr>
            <p:ph sz="quarter" idx="1"/>
          </p:nvPr>
        </p:nvSpPr>
        <p:spPr>
          <a:xfrm>
            <a:off x="301752" y="1593304"/>
            <a:ext cx="8503920" cy="4572000"/>
          </a:xfrm>
        </p:spPr>
        <p:txBody>
          <a:bodyPr/>
          <a:lstStyle/>
          <a:p>
            <a:pPr algn="just"/>
            <a:endParaRPr lang="en-US" dirty="0" smtClean="0">
              <a:effectLst/>
            </a:endParaRPr>
          </a:p>
          <a:p>
            <a:pPr algn="just"/>
            <a:r>
              <a:rPr lang="en-US" dirty="0" smtClean="0">
                <a:effectLst/>
              </a:rPr>
              <a:t>With </a:t>
            </a:r>
            <a:r>
              <a:rPr lang="en-US" dirty="0">
                <a:effectLst/>
              </a:rPr>
              <a:t>the internet invention in the 80’s the world became what is known as a “small village”. Since Tim Berners-Lee invented the World Wide Web in 1989, it became a must for any organization wanting to expand its business to go global and establish branches all over the world. With this new mindset the terms “Global Management” &amp; “Managing In a Global Environment” became facts.</a:t>
            </a:r>
          </a:p>
          <a:p>
            <a:pPr algn="just"/>
            <a:endParaRPr lang="en-US" dirty="0"/>
          </a:p>
        </p:txBody>
      </p:sp>
    </p:spTree>
    <p:extLst>
      <p:ext uri="{BB962C8B-B14F-4D97-AF65-F5344CB8AC3E}">
        <p14:creationId xmlns:p14="http://schemas.microsoft.com/office/powerpoint/2010/main" val="3631669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 </a:t>
            </a:r>
            <a:endParaRPr lang="en-US" dirty="0"/>
          </a:p>
        </p:txBody>
      </p:sp>
      <p:sp>
        <p:nvSpPr>
          <p:cNvPr id="3" name="Content Placeholder 2"/>
          <p:cNvSpPr>
            <a:spLocks noGrp="1"/>
          </p:cNvSpPr>
          <p:nvPr>
            <p:ph sz="quarter" idx="1"/>
          </p:nvPr>
        </p:nvSpPr>
        <p:spPr/>
        <p:txBody>
          <a:bodyPr/>
          <a:lstStyle/>
          <a:p>
            <a:endParaRPr lang="en-US" dirty="0"/>
          </a:p>
        </p:txBody>
      </p:sp>
      <p:pic>
        <p:nvPicPr>
          <p:cNvPr id="4" name="Picture 3" descr="No alt text provided for this image"/>
          <p:cNvPicPr/>
          <p:nvPr/>
        </p:nvPicPr>
        <p:blipFill>
          <a:blip r:embed="rId2">
            <a:extLst>
              <a:ext uri="{28A0092B-C50C-407E-A947-70E740481C1C}">
                <a14:useLocalDpi xmlns:a14="http://schemas.microsoft.com/office/drawing/2010/main" val="0"/>
              </a:ext>
            </a:extLst>
          </a:blip>
          <a:srcRect/>
          <a:stretch>
            <a:fillRect/>
          </a:stretch>
        </p:blipFill>
        <p:spPr bwMode="auto">
          <a:xfrm>
            <a:off x="107504" y="1340768"/>
            <a:ext cx="8928992" cy="5256584"/>
          </a:xfrm>
          <a:prstGeom prst="rect">
            <a:avLst/>
          </a:prstGeom>
          <a:noFill/>
          <a:ln>
            <a:noFill/>
          </a:ln>
        </p:spPr>
      </p:pic>
    </p:spTree>
    <p:extLst>
      <p:ext uri="{BB962C8B-B14F-4D97-AF65-F5344CB8AC3E}">
        <p14:creationId xmlns:p14="http://schemas.microsoft.com/office/powerpoint/2010/main" val="1228895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 </a:t>
            </a:r>
            <a:endParaRPr lang="en-US" dirty="0"/>
          </a:p>
        </p:txBody>
      </p:sp>
      <p:sp>
        <p:nvSpPr>
          <p:cNvPr id="3" name="Content Placeholder 2"/>
          <p:cNvSpPr>
            <a:spLocks noGrp="1"/>
          </p:cNvSpPr>
          <p:nvPr>
            <p:ph sz="quarter" idx="1"/>
          </p:nvPr>
        </p:nvSpPr>
        <p:spPr/>
        <p:txBody>
          <a:bodyPr/>
          <a:lstStyle/>
          <a:p>
            <a:pPr marL="0" indent="0" algn="just">
              <a:buNone/>
            </a:pPr>
            <a:endParaRPr lang="en-US" dirty="0" smtClean="0"/>
          </a:p>
          <a:p>
            <a:pPr marL="0" indent="0" algn="just">
              <a:buNone/>
            </a:pPr>
            <a:r>
              <a:rPr lang="en-US" dirty="0" smtClean="0"/>
              <a:t>Globalization:</a:t>
            </a:r>
          </a:p>
          <a:p>
            <a:pPr algn="just"/>
            <a:endParaRPr lang="en-US" dirty="0" smtClean="0"/>
          </a:p>
          <a:p>
            <a:pPr algn="just"/>
            <a:r>
              <a:rPr lang="en-US" dirty="0" smtClean="0"/>
              <a:t>Is </a:t>
            </a:r>
            <a:r>
              <a:rPr lang="en-US" dirty="0"/>
              <a:t>a term used to describe how trade and technology have made the world into a more connected and interdependent place</a:t>
            </a:r>
            <a:r>
              <a:rPr lang="en-US" dirty="0" smtClean="0"/>
              <a:t>.</a:t>
            </a:r>
          </a:p>
          <a:p>
            <a:pPr algn="just"/>
            <a:r>
              <a:rPr lang="en-US" dirty="0" smtClean="0"/>
              <a:t>It also captures in its sco</a:t>
            </a:r>
            <a:r>
              <a:rPr lang="en-US" dirty="0"/>
              <a:t>p</a:t>
            </a:r>
            <a:r>
              <a:rPr lang="en-US" dirty="0" smtClean="0"/>
              <a:t>e the economic and social changes that have come about as a result</a:t>
            </a:r>
            <a:r>
              <a:rPr lang="en-US" dirty="0"/>
              <a:t> </a:t>
            </a:r>
            <a:endParaRPr lang="en-US" dirty="0" smtClean="0"/>
          </a:p>
          <a:p>
            <a:pPr algn="just"/>
            <a:endParaRPr lang="en-US" dirty="0">
              <a:hlinkClick r:id="rId2"/>
            </a:endParaRPr>
          </a:p>
        </p:txBody>
      </p:sp>
    </p:spTree>
    <p:extLst>
      <p:ext uri="{BB962C8B-B14F-4D97-AF65-F5344CB8AC3E}">
        <p14:creationId xmlns:p14="http://schemas.microsoft.com/office/powerpoint/2010/main" val="94589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management</a:t>
            </a:r>
            <a:endParaRPr lang="en-US" dirty="0"/>
          </a:p>
        </p:txBody>
      </p:sp>
      <p:sp>
        <p:nvSpPr>
          <p:cNvPr id="3" name="Content Placeholder 2"/>
          <p:cNvSpPr>
            <a:spLocks noGrp="1"/>
          </p:cNvSpPr>
          <p:nvPr>
            <p:ph sz="quarter" idx="1"/>
          </p:nvPr>
        </p:nvSpPr>
        <p:spPr/>
        <p:txBody>
          <a:bodyPr/>
          <a:lstStyle/>
          <a:p>
            <a:pPr marL="0" indent="0" algn="just">
              <a:buNone/>
            </a:pPr>
            <a:r>
              <a:rPr lang="en-US" b="1" dirty="0"/>
              <a:t>Effect of internet invention on global </a:t>
            </a:r>
            <a:r>
              <a:rPr lang="en-US" b="1" dirty="0" smtClean="0"/>
              <a:t>management:</a:t>
            </a:r>
          </a:p>
          <a:p>
            <a:pPr marL="722313" indent="0" algn="just">
              <a:buNone/>
            </a:pPr>
            <a:r>
              <a:rPr lang="en-US" dirty="0" smtClean="0"/>
              <a:t>The </a:t>
            </a:r>
            <a:r>
              <a:rPr lang="en-US" dirty="0"/>
              <a:t>impact of Internet on globalization is big and it has different aspects. It includes the modernization and improvement in the business sector. Nowadays many businesses improve their global competitiveness and productivity between each other as the market became broader and much too competitive with consumers with much more options and choices</a:t>
            </a:r>
            <a:endParaRPr lang="en-US" dirty="0" smtClean="0"/>
          </a:p>
          <a:p>
            <a:pPr algn="just"/>
            <a:endParaRPr lang="en-US" dirty="0"/>
          </a:p>
          <a:p>
            <a:pPr algn="just"/>
            <a:endParaRPr lang="en-US" dirty="0"/>
          </a:p>
        </p:txBody>
      </p:sp>
    </p:spTree>
    <p:extLst>
      <p:ext uri="{BB962C8B-B14F-4D97-AF65-F5344CB8AC3E}">
        <p14:creationId xmlns:p14="http://schemas.microsoft.com/office/powerpoint/2010/main" val="621775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management</a:t>
            </a:r>
            <a:endParaRPr lang="en-US" dirty="0"/>
          </a:p>
        </p:txBody>
      </p:sp>
      <p:sp>
        <p:nvSpPr>
          <p:cNvPr id="4" name="Content Placeholder 3"/>
          <p:cNvSpPr>
            <a:spLocks noGrp="1"/>
          </p:cNvSpPr>
          <p:nvPr>
            <p:ph sz="quarter" idx="1"/>
          </p:nvPr>
        </p:nvSpPr>
        <p:spPr>
          <a:xfrm>
            <a:off x="301752" y="1268760"/>
            <a:ext cx="7726632" cy="4572000"/>
          </a:xfrm>
        </p:spPr>
        <p:txBody>
          <a:bodyPr>
            <a:normAutofit/>
          </a:bodyPr>
          <a:lstStyle/>
          <a:p>
            <a:pPr marL="0" indent="0" algn="just">
              <a:buNone/>
            </a:pPr>
            <a:r>
              <a:rPr lang="en-US" b="1" dirty="0"/>
              <a:t>Global Organization vs Global </a:t>
            </a:r>
            <a:r>
              <a:rPr lang="en-US" b="1" dirty="0" smtClean="0"/>
              <a:t>Environment</a:t>
            </a:r>
          </a:p>
          <a:p>
            <a:pPr marL="625475" indent="0" algn="just">
              <a:buNone/>
            </a:pPr>
            <a:r>
              <a:rPr lang="en-US" dirty="0" smtClean="0"/>
              <a:t>We </a:t>
            </a:r>
            <a:r>
              <a:rPr lang="en-US" dirty="0"/>
              <a:t>have to differentiate between the global organization and global environment and how the global environment resulted in the presence of the global organization</a:t>
            </a:r>
            <a:r>
              <a:rPr lang="en-US" dirty="0" smtClean="0"/>
              <a:t>.</a:t>
            </a:r>
          </a:p>
          <a:p>
            <a:pPr marL="0" indent="0" algn="just">
              <a:buNone/>
            </a:pPr>
            <a:endParaRPr lang="en-US" dirty="0"/>
          </a:p>
          <a:p>
            <a:pPr algn="just"/>
            <a:endParaRPr lang="en-US" dirty="0"/>
          </a:p>
          <a:p>
            <a:pPr marL="0" indent="0" algn="just">
              <a:buNone/>
            </a:pPr>
            <a:endParaRPr lang="en-US" dirty="0"/>
          </a:p>
          <a:p>
            <a:pPr algn="just"/>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9838" y="3973909"/>
            <a:ext cx="4122737" cy="291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6425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management</a:t>
            </a:r>
            <a:endParaRPr lang="en-US" dirty="0"/>
          </a:p>
        </p:txBody>
      </p:sp>
      <p:sp>
        <p:nvSpPr>
          <p:cNvPr id="4" name="Content Placeholder 3"/>
          <p:cNvSpPr>
            <a:spLocks noGrp="1"/>
          </p:cNvSpPr>
          <p:nvPr>
            <p:ph sz="quarter" idx="1"/>
          </p:nvPr>
        </p:nvSpPr>
        <p:spPr>
          <a:xfrm>
            <a:off x="301752" y="1527048"/>
            <a:ext cx="8503920" cy="4926288"/>
          </a:xfrm>
        </p:spPr>
        <p:txBody>
          <a:bodyPr>
            <a:normAutofit fontScale="92500" lnSpcReduction="10000"/>
          </a:bodyPr>
          <a:lstStyle/>
          <a:p>
            <a:pPr marL="0" indent="0" algn="just">
              <a:buNone/>
            </a:pPr>
            <a:r>
              <a:rPr lang="en-US" b="1" dirty="0"/>
              <a:t>Global Organization vs Global </a:t>
            </a:r>
            <a:r>
              <a:rPr lang="en-US" b="1" dirty="0" smtClean="0"/>
              <a:t>Environment</a:t>
            </a:r>
          </a:p>
          <a:p>
            <a:pPr algn="just"/>
            <a:r>
              <a:rPr lang="en-US" dirty="0" smtClean="0"/>
              <a:t>Global </a:t>
            </a:r>
            <a:r>
              <a:rPr lang="en-US" dirty="0"/>
              <a:t>organizations are the ones that operate and compete in different countries, they usually have different branches, head offices and point-of-sales in different countries other than their origin and that is to compete in various markets</a:t>
            </a:r>
            <a:r>
              <a:rPr lang="en-US" dirty="0" smtClean="0"/>
              <a:t>.</a:t>
            </a:r>
          </a:p>
          <a:p>
            <a:pPr algn="just"/>
            <a:endParaRPr lang="en-US" dirty="0" smtClean="0"/>
          </a:p>
          <a:p>
            <a:pPr algn="just"/>
            <a:r>
              <a:rPr lang="en-US" dirty="0"/>
              <a:t>Global environment is a set of global forces, rules and conditions that an organization has to deal with if it decided to be a global organization. These forces may be beyond the organization boundaries and authorities; however, it is certain that these conditions affect management ability to utilize different resources</a:t>
            </a:r>
            <a:r>
              <a:rPr lang="en-US" dirty="0" smtClean="0"/>
              <a:t>.</a:t>
            </a:r>
            <a:endParaRPr lang="en-US" dirty="0"/>
          </a:p>
          <a:p>
            <a:pPr algn="just"/>
            <a:endParaRPr lang="en-US" dirty="0"/>
          </a:p>
          <a:p>
            <a:pPr algn="just"/>
            <a:endParaRPr lang="en-US" dirty="0"/>
          </a:p>
          <a:p>
            <a:pPr marL="0" indent="0" algn="just">
              <a:buNone/>
            </a:pPr>
            <a:endParaRPr lang="en-US" dirty="0"/>
          </a:p>
          <a:p>
            <a:pPr algn="just"/>
            <a:endParaRPr lang="en-US" dirty="0"/>
          </a:p>
        </p:txBody>
      </p:sp>
    </p:spTree>
    <p:extLst>
      <p:ext uri="{BB962C8B-B14F-4D97-AF65-F5344CB8AC3E}">
        <p14:creationId xmlns:p14="http://schemas.microsoft.com/office/powerpoint/2010/main" val="3033216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management</a:t>
            </a:r>
            <a:endParaRPr lang="en-US" dirty="0"/>
          </a:p>
        </p:txBody>
      </p:sp>
      <p:sp>
        <p:nvSpPr>
          <p:cNvPr id="3" name="Content Placeholder 2"/>
          <p:cNvSpPr>
            <a:spLocks noGrp="1"/>
          </p:cNvSpPr>
          <p:nvPr>
            <p:ph sz="quarter" idx="1"/>
          </p:nvPr>
        </p:nvSpPr>
        <p:spPr/>
        <p:txBody>
          <a:bodyPr>
            <a:normAutofit/>
          </a:bodyPr>
          <a:lstStyle/>
          <a:p>
            <a:pPr marL="0" indent="0" algn="just">
              <a:buNone/>
            </a:pPr>
            <a:r>
              <a:rPr lang="en-US" b="1" dirty="0"/>
              <a:t>How to effectively manage in a Global Environment</a:t>
            </a:r>
            <a:endParaRPr lang="en-US" dirty="0"/>
          </a:p>
          <a:p>
            <a:pPr algn="just"/>
            <a:r>
              <a:rPr lang="en-US" dirty="0"/>
              <a:t>For business this approach created new opportunities and new markets for the organizations, </a:t>
            </a:r>
            <a:r>
              <a:rPr lang="en-US" dirty="0" smtClean="0"/>
              <a:t>but having </a:t>
            </a:r>
            <a:r>
              <a:rPr lang="en-US" dirty="0"/>
              <a:t>new opportunities in different zones on the planet </a:t>
            </a:r>
            <a:r>
              <a:rPr lang="en-US" dirty="0" smtClean="0"/>
              <a:t>has some challenges (e.g. logistics, recruitment, tariffs, …..etc.) which </a:t>
            </a:r>
            <a:r>
              <a:rPr lang="en-US" dirty="0"/>
              <a:t>can be very complex to different organizations that exist in different continents</a:t>
            </a:r>
            <a:r>
              <a:rPr lang="en-US" dirty="0" smtClean="0"/>
              <a:t>.</a:t>
            </a:r>
          </a:p>
          <a:p>
            <a:pPr algn="just"/>
            <a:r>
              <a:rPr lang="en-US" dirty="0"/>
              <a:t>Here are a few </a:t>
            </a:r>
            <a:r>
              <a:rPr lang="en-US" dirty="0" smtClean="0"/>
              <a:t>strategies </a:t>
            </a:r>
            <a:r>
              <a:rPr lang="en-US" dirty="0"/>
              <a:t>to take in consideration.</a:t>
            </a:r>
          </a:p>
          <a:p>
            <a:pPr algn="just"/>
            <a:endParaRPr lang="en-US" dirty="0" smtClean="0"/>
          </a:p>
          <a:p>
            <a:pPr algn="just"/>
            <a:endParaRPr lang="en-US" dirty="0"/>
          </a:p>
          <a:p>
            <a:pPr algn="just"/>
            <a:endParaRPr lang="en-US" dirty="0" smtClean="0"/>
          </a:p>
          <a:p>
            <a:pPr algn="just"/>
            <a:endParaRPr lang="en-US" dirty="0"/>
          </a:p>
        </p:txBody>
      </p:sp>
    </p:spTree>
    <p:extLst>
      <p:ext uri="{BB962C8B-B14F-4D97-AF65-F5344CB8AC3E}">
        <p14:creationId xmlns:p14="http://schemas.microsoft.com/office/powerpoint/2010/main" val="2069887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management</a:t>
            </a:r>
            <a:endParaRPr lang="en-US" dirty="0"/>
          </a:p>
        </p:txBody>
      </p:sp>
      <p:sp>
        <p:nvSpPr>
          <p:cNvPr id="4" name="Content Placeholder 3"/>
          <p:cNvSpPr>
            <a:spLocks noGrp="1"/>
          </p:cNvSpPr>
          <p:nvPr>
            <p:ph sz="quarter" idx="1"/>
          </p:nvPr>
        </p:nvSpPr>
        <p:spPr/>
        <p:txBody>
          <a:bodyPr>
            <a:normAutofit fontScale="92500"/>
          </a:bodyPr>
          <a:lstStyle/>
          <a:p>
            <a:pPr marL="0" indent="0" algn="just">
              <a:buNone/>
            </a:pPr>
            <a:r>
              <a:rPr lang="en-US" b="1" dirty="0"/>
              <a:t>A-  Create healthy work environment</a:t>
            </a:r>
            <a:endParaRPr lang="en-US" dirty="0"/>
          </a:p>
          <a:p>
            <a:pPr algn="just"/>
            <a:r>
              <a:rPr lang="en-US" dirty="0" smtClean="0"/>
              <a:t>Each employee in global environment will feel </a:t>
            </a:r>
            <a:r>
              <a:rPr lang="en-US" dirty="0"/>
              <a:t>superior in a certain way because of his nationality</a:t>
            </a:r>
            <a:r>
              <a:rPr lang="en-US" dirty="0" smtClean="0"/>
              <a:t>.</a:t>
            </a:r>
          </a:p>
          <a:p>
            <a:pPr algn="just"/>
            <a:r>
              <a:rPr lang="en-US" dirty="0" smtClean="0"/>
              <a:t>Global organization </a:t>
            </a:r>
            <a:r>
              <a:rPr lang="en-US" dirty="0"/>
              <a:t>should provide </a:t>
            </a:r>
            <a:r>
              <a:rPr lang="en-US" dirty="0" smtClean="0"/>
              <a:t>trainings between </a:t>
            </a:r>
            <a:r>
              <a:rPr lang="en-US" dirty="0"/>
              <a:t>employees and projects stakeholders, </a:t>
            </a:r>
            <a:r>
              <a:rPr lang="en-US" dirty="0" smtClean="0"/>
              <a:t>in which we stress </a:t>
            </a:r>
            <a:r>
              <a:rPr lang="en-US" dirty="0"/>
              <a:t>on the benefits of having diverse workforce and how we can utilize our different points of strength to help the organization stepping up</a:t>
            </a:r>
            <a:r>
              <a:rPr lang="en-US" dirty="0" smtClean="0"/>
              <a:t>.</a:t>
            </a:r>
          </a:p>
          <a:p>
            <a:pPr algn="just"/>
            <a:r>
              <a:rPr lang="en-US" dirty="0"/>
              <a:t>These trainings are so important for employees who are managing a team in a second country and reporting to a manager in a third country.</a:t>
            </a:r>
          </a:p>
          <a:p>
            <a:pPr algn="just"/>
            <a:endParaRPr lang="en-US" dirty="0"/>
          </a:p>
          <a:p>
            <a:pPr algn="just"/>
            <a:endParaRPr lang="en-US" dirty="0"/>
          </a:p>
          <a:p>
            <a:pPr algn="just"/>
            <a:endParaRPr lang="en-US" dirty="0"/>
          </a:p>
        </p:txBody>
      </p:sp>
    </p:spTree>
    <p:extLst>
      <p:ext uri="{BB962C8B-B14F-4D97-AF65-F5344CB8AC3E}">
        <p14:creationId xmlns:p14="http://schemas.microsoft.com/office/powerpoint/2010/main" val="1819977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management</a:t>
            </a:r>
            <a:endParaRPr lang="en-US" dirty="0"/>
          </a:p>
        </p:txBody>
      </p:sp>
      <p:sp>
        <p:nvSpPr>
          <p:cNvPr id="3" name="Content Placeholder 2"/>
          <p:cNvSpPr>
            <a:spLocks noGrp="1"/>
          </p:cNvSpPr>
          <p:nvPr>
            <p:ph sz="quarter" idx="1"/>
          </p:nvPr>
        </p:nvSpPr>
        <p:spPr/>
        <p:txBody>
          <a:bodyPr>
            <a:normAutofit lnSpcReduction="10000"/>
          </a:bodyPr>
          <a:lstStyle/>
          <a:p>
            <a:pPr marL="0" indent="0" algn="just">
              <a:buNone/>
            </a:pPr>
            <a:r>
              <a:rPr lang="en-US" b="1" dirty="0"/>
              <a:t>B-  Understand different cultures</a:t>
            </a:r>
            <a:endParaRPr lang="en-US" dirty="0"/>
          </a:p>
          <a:p>
            <a:pPr algn="just"/>
            <a:r>
              <a:rPr lang="en-US" dirty="0"/>
              <a:t>C</a:t>
            </a:r>
            <a:r>
              <a:rPr lang="en-US" dirty="0" smtClean="0"/>
              <a:t>ultural </a:t>
            </a:r>
            <a:r>
              <a:rPr lang="en-US" dirty="0"/>
              <a:t>differences will appear first in forms of laws, regulations, legal/illegal actions</a:t>
            </a:r>
            <a:r>
              <a:rPr lang="en-US" dirty="0" smtClean="0"/>
              <a:t>.</a:t>
            </a:r>
          </a:p>
          <a:p>
            <a:pPr algn="just"/>
            <a:r>
              <a:rPr lang="en-US" dirty="0" smtClean="0"/>
              <a:t>Other obstacle that might be faced is the </a:t>
            </a:r>
            <a:r>
              <a:rPr lang="en-US" dirty="0"/>
              <a:t>habits and culture </a:t>
            </a:r>
            <a:r>
              <a:rPr lang="en-US" dirty="0" smtClean="0"/>
              <a:t>norms (</a:t>
            </a:r>
            <a:r>
              <a:rPr lang="en-US" dirty="0"/>
              <a:t>some countries </a:t>
            </a:r>
            <a:r>
              <a:rPr lang="en-US" dirty="0" smtClean="0"/>
              <a:t>regulate certain </a:t>
            </a:r>
            <a:r>
              <a:rPr lang="en-US" dirty="0"/>
              <a:t>separation between work places of males and females, other countries mind more about working hours and the professional/personal life distance, other countries </a:t>
            </a:r>
            <a:r>
              <a:rPr lang="en-US" dirty="0" smtClean="0"/>
              <a:t>mind </a:t>
            </a:r>
            <a:r>
              <a:rPr lang="en-US" dirty="0"/>
              <a:t>about appearances </a:t>
            </a:r>
            <a:r>
              <a:rPr lang="en-US" dirty="0" smtClean="0"/>
              <a:t>more.</a:t>
            </a:r>
          </a:p>
          <a:p>
            <a:pPr algn="just"/>
            <a:r>
              <a:rPr lang="en-US" dirty="0" smtClean="0"/>
              <a:t>Cultures of different countries should be well understood to counterpart to avoid any struggle.</a:t>
            </a:r>
            <a:endParaRPr lang="en-US" dirty="0"/>
          </a:p>
        </p:txBody>
      </p:sp>
    </p:spTree>
    <p:extLst>
      <p:ext uri="{BB962C8B-B14F-4D97-AF65-F5344CB8AC3E}">
        <p14:creationId xmlns:p14="http://schemas.microsoft.com/office/powerpoint/2010/main" val="2758433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management</a:t>
            </a:r>
            <a:endParaRPr lang="en-US" dirty="0"/>
          </a:p>
        </p:txBody>
      </p:sp>
      <p:sp>
        <p:nvSpPr>
          <p:cNvPr id="4" name="Content Placeholder 3"/>
          <p:cNvSpPr>
            <a:spLocks noGrp="1"/>
          </p:cNvSpPr>
          <p:nvPr>
            <p:ph sz="quarter" idx="1"/>
          </p:nvPr>
        </p:nvSpPr>
        <p:spPr>
          <a:xfrm>
            <a:off x="301752" y="1527048"/>
            <a:ext cx="8503920" cy="4854280"/>
          </a:xfrm>
        </p:spPr>
        <p:txBody>
          <a:bodyPr>
            <a:normAutofit lnSpcReduction="10000"/>
          </a:bodyPr>
          <a:lstStyle/>
          <a:p>
            <a:pPr marL="0" indent="0" algn="just">
              <a:buNone/>
            </a:pPr>
            <a:r>
              <a:rPr lang="en-US" b="1" dirty="0"/>
              <a:t>C-  Fill Leadership Positions</a:t>
            </a:r>
            <a:endParaRPr lang="en-US" dirty="0"/>
          </a:p>
          <a:p>
            <a:pPr algn="just"/>
            <a:r>
              <a:rPr lang="en-US" dirty="0"/>
              <a:t>When expanding in different countries, managers have to be chosen carefully. These managers should be skilled enough to lead a local team and report to a foreign </a:t>
            </a:r>
            <a:r>
              <a:rPr lang="en-US" dirty="0" smtClean="0"/>
              <a:t>manager.</a:t>
            </a:r>
          </a:p>
          <a:p>
            <a:pPr algn="just"/>
            <a:endParaRPr lang="en-US" dirty="0" smtClean="0"/>
          </a:p>
          <a:p>
            <a:pPr algn="just"/>
            <a:r>
              <a:rPr lang="en-US" dirty="0" smtClean="0"/>
              <a:t>Managers should </a:t>
            </a:r>
            <a:r>
              <a:rPr lang="en-US" dirty="0"/>
              <a:t>have the skills of great managers to succeed, like good communication skills, good vision, flexibility, listen to employees concern, has the ability to motivate his employee when needed and other skills that are essential in a good manager to </a:t>
            </a:r>
            <a:r>
              <a:rPr lang="en-US" dirty="0" smtClean="0"/>
              <a:t>be.</a:t>
            </a:r>
          </a:p>
          <a:p>
            <a:pPr algn="just"/>
            <a:endParaRPr lang="en-US" dirty="0"/>
          </a:p>
        </p:txBody>
      </p:sp>
    </p:spTree>
    <p:extLst>
      <p:ext uri="{BB962C8B-B14F-4D97-AF65-F5344CB8AC3E}">
        <p14:creationId xmlns:p14="http://schemas.microsoft.com/office/powerpoint/2010/main" val="1258378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management</a:t>
            </a:r>
            <a:endParaRPr lang="en-US" dirty="0"/>
          </a:p>
        </p:txBody>
      </p:sp>
      <p:sp>
        <p:nvSpPr>
          <p:cNvPr id="3" name="Content Placeholder 2"/>
          <p:cNvSpPr>
            <a:spLocks noGrp="1"/>
          </p:cNvSpPr>
          <p:nvPr>
            <p:ph sz="quarter" idx="1"/>
          </p:nvPr>
        </p:nvSpPr>
        <p:spPr/>
        <p:txBody>
          <a:bodyPr/>
          <a:lstStyle/>
          <a:p>
            <a:pPr marL="0" indent="0" algn="just">
              <a:buNone/>
            </a:pPr>
            <a:r>
              <a:rPr lang="en-US" b="1" dirty="0"/>
              <a:t>D-  Integrated </a:t>
            </a:r>
            <a:r>
              <a:rPr lang="en-US" b="1" dirty="0" smtClean="0"/>
              <a:t>systems</a:t>
            </a:r>
          </a:p>
          <a:p>
            <a:pPr algn="just"/>
            <a:r>
              <a:rPr lang="en-US" dirty="0"/>
              <a:t>In order to succeed with the global organization model </a:t>
            </a:r>
            <a:r>
              <a:rPr lang="en-US" dirty="0" smtClean="0"/>
              <a:t>software </a:t>
            </a:r>
            <a:r>
              <a:rPr lang="en-US" dirty="0"/>
              <a:t>system that is integrated within all </a:t>
            </a:r>
            <a:r>
              <a:rPr lang="en-US" dirty="0" smtClean="0"/>
              <a:t>branches should be employed. </a:t>
            </a:r>
          </a:p>
          <a:p>
            <a:pPr algn="just"/>
            <a:r>
              <a:rPr lang="en-US" dirty="0"/>
              <a:t>Everyone should work on the same system sharing same information aware of all decisions taken instantly</a:t>
            </a:r>
            <a:r>
              <a:rPr lang="en-US" dirty="0" smtClean="0"/>
              <a:t>.</a:t>
            </a:r>
          </a:p>
          <a:p>
            <a:pPr algn="just"/>
            <a:r>
              <a:rPr lang="en-US" dirty="0"/>
              <a:t>Systems shouldn’t be only software but also hardware systems like security hardware that would help the enterprise defend its data from </a:t>
            </a:r>
            <a:r>
              <a:rPr lang="en-US" dirty="0" smtClean="0"/>
              <a:t>hackers.</a:t>
            </a:r>
            <a:endParaRPr lang="en-US" dirty="0"/>
          </a:p>
          <a:p>
            <a:pPr algn="just"/>
            <a:endParaRPr lang="en-US" dirty="0"/>
          </a:p>
        </p:txBody>
      </p:sp>
    </p:spTree>
    <p:extLst>
      <p:ext uri="{BB962C8B-B14F-4D97-AF65-F5344CB8AC3E}">
        <p14:creationId xmlns:p14="http://schemas.microsoft.com/office/powerpoint/2010/main" val="2005547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management </a:t>
            </a:r>
            <a:endParaRPr lang="en-US" dirty="0"/>
          </a:p>
        </p:txBody>
      </p:sp>
      <p:sp>
        <p:nvSpPr>
          <p:cNvPr id="3" name="Content Placeholder 2"/>
          <p:cNvSpPr>
            <a:spLocks noGrp="1"/>
          </p:cNvSpPr>
          <p:nvPr>
            <p:ph sz="quarter" idx="1"/>
          </p:nvPr>
        </p:nvSpPr>
        <p:spPr>
          <a:xfrm>
            <a:off x="179512" y="1196752"/>
            <a:ext cx="8784976" cy="5214320"/>
          </a:xfrm>
        </p:spPr>
        <p:txBody>
          <a:bodyPr>
            <a:noAutofit/>
          </a:bodyPr>
          <a:lstStyle/>
          <a:p>
            <a:pPr marL="0" indent="0" algn="just">
              <a:buNone/>
            </a:pPr>
            <a:r>
              <a:rPr lang="en-US" sz="2000" dirty="0"/>
              <a:t>Before digging deep into different styles of people management, will try to briefly mention the different types of Management</a:t>
            </a:r>
            <a:r>
              <a:rPr lang="en-US" sz="2000" dirty="0" smtClean="0"/>
              <a:t>:</a:t>
            </a:r>
          </a:p>
          <a:p>
            <a:pPr algn="just"/>
            <a:r>
              <a:rPr lang="en-US" sz="2000" b="1" dirty="0" smtClean="0"/>
              <a:t>Strategic </a:t>
            </a:r>
            <a:r>
              <a:rPr lang="en-US" sz="2000" b="1" dirty="0"/>
              <a:t>Management</a:t>
            </a:r>
            <a:endParaRPr lang="en-US" sz="2000" dirty="0"/>
          </a:p>
          <a:p>
            <a:pPr marL="0" indent="0" algn="just">
              <a:buNone/>
            </a:pPr>
            <a:r>
              <a:rPr lang="en-US" sz="2000" dirty="0" smtClean="0"/>
              <a:t>It </a:t>
            </a:r>
            <a:r>
              <a:rPr lang="en-US" sz="2000" dirty="0"/>
              <a:t>is defining the company’s strategy, goals and initiatives and work on achieving them.</a:t>
            </a:r>
          </a:p>
          <a:p>
            <a:pPr algn="just"/>
            <a:r>
              <a:rPr lang="en-US" sz="2000" b="1" dirty="0" smtClean="0"/>
              <a:t>Sales </a:t>
            </a:r>
            <a:r>
              <a:rPr lang="en-US" sz="2000" b="1" dirty="0"/>
              <a:t>Management</a:t>
            </a:r>
            <a:endParaRPr lang="en-US" sz="2000" dirty="0"/>
          </a:p>
          <a:p>
            <a:pPr marL="0" indent="0" algn="just">
              <a:buNone/>
            </a:pPr>
            <a:r>
              <a:rPr lang="en-US" sz="2000" dirty="0" smtClean="0"/>
              <a:t>Managing </a:t>
            </a:r>
            <a:r>
              <a:rPr lang="en-US" sz="2000" dirty="0"/>
              <a:t>Sales and company’s accounts</a:t>
            </a:r>
          </a:p>
          <a:p>
            <a:pPr algn="just"/>
            <a:r>
              <a:rPr lang="en-US" sz="2000" b="1" dirty="0" smtClean="0"/>
              <a:t>Marketing </a:t>
            </a:r>
            <a:r>
              <a:rPr lang="en-US" sz="2000" b="1" dirty="0"/>
              <a:t>Management</a:t>
            </a:r>
            <a:endParaRPr lang="en-US" sz="2000" dirty="0"/>
          </a:p>
          <a:p>
            <a:pPr marL="0" indent="0" algn="just">
              <a:buNone/>
            </a:pPr>
            <a:r>
              <a:rPr lang="en-US" sz="2000" dirty="0" smtClean="0"/>
              <a:t>Managing </a:t>
            </a:r>
            <a:r>
              <a:rPr lang="en-US" sz="2000" dirty="0"/>
              <a:t>the market by providing ideas and strategies to succeed considering the current market changes.</a:t>
            </a:r>
          </a:p>
          <a:p>
            <a:pPr algn="just"/>
            <a:r>
              <a:rPr lang="en-US" sz="2000" b="1" dirty="0" smtClean="0"/>
              <a:t>Public relations</a:t>
            </a:r>
            <a:endParaRPr lang="en-US" sz="2000" dirty="0"/>
          </a:p>
          <a:p>
            <a:pPr marL="0" indent="0" algn="just">
              <a:buNone/>
            </a:pPr>
            <a:r>
              <a:rPr lang="en-US" sz="2000" dirty="0" smtClean="0"/>
              <a:t>Responsible </a:t>
            </a:r>
            <a:r>
              <a:rPr lang="en-US" sz="2000" dirty="0"/>
              <a:t>of the communication between the company and the public.</a:t>
            </a:r>
          </a:p>
          <a:p>
            <a:pPr algn="just"/>
            <a:r>
              <a:rPr lang="en-US" sz="2000" b="1" dirty="0" smtClean="0"/>
              <a:t>Operations Management</a:t>
            </a:r>
            <a:endParaRPr lang="en-US" sz="2000" dirty="0" smtClean="0"/>
          </a:p>
          <a:p>
            <a:pPr marL="0" indent="0" algn="just">
              <a:buNone/>
            </a:pPr>
            <a:r>
              <a:rPr lang="en-US" sz="2000" dirty="0" smtClean="0"/>
              <a:t>Managing the production/implementation of your product/service till reaches point of sale.</a:t>
            </a:r>
          </a:p>
          <a:p>
            <a:pPr marL="0" indent="0" algn="just">
              <a:buNone/>
            </a:pPr>
            <a:r>
              <a:rPr lang="en-US" sz="2000" b="1" dirty="0"/>
              <a:t>    </a:t>
            </a:r>
            <a:endParaRPr lang="en-US" sz="2000" dirty="0"/>
          </a:p>
        </p:txBody>
      </p:sp>
    </p:spTree>
    <p:extLst>
      <p:ext uri="{BB962C8B-B14F-4D97-AF65-F5344CB8AC3E}">
        <p14:creationId xmlns:p14="http://schemas.microsoft.com/office/powerpoint/2010/main" val="902847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management </a:t>
            </a:r>
            <a:endParaRPr lang="en-US" dirty="0"/>
          </a:p>
        </p:txBody>
      </p:sp>
      <p:sp>
        <p:nvSpPr>
          <p:cNvPr id="3" name="Content Placeholder 2"/>
          <p:cNvSpPr>
            <a:spLocks noGrp="1"/>
          </p:cNvSpPr>
          <p:nvPr>
            <p:ph sz="quarter" idx="1"/>
          </p:nvPr>
        </p:nvSpPr>
        <p:spPr/>
        <p:txBody>
          <a:bodyPr>
            <a:normAutofit fontScale="85000" lnSpcReduction="20000"/>
          </a:bodyPr>
          <a:lstStyle/>
          <a:p>
            <a:pPr marL="0" indent="0" algn="just">
              <a:buNone/>
            </a:pPr>
            <a:endParaRPr lang="en-US" dirty="0" smtClean="0"/>
          </a:p>
          <a:p>
            <a:pPr algn="just"/>
            <a:r>
              <a:rPr lang="en-US" b="1" dirty="0" smtClean="0"/>
              <a:t>Supply </a:t>
            </a:r>
            <a:r>
              <a:rPr lang="en-US" b="1" dirty="0"/>
              <a:t>Chain Management</a:t>
            </a:r>
            <a:endParaRPr lang="en-US" dirty="0"/>
          </a:p>
          <a:p>
            <a:pPr marL="0" indent="0" algn="just">
              <a:buNone/>
            </a:pPr>
            <a:r>
              <a:rPr lang="en-US" dirty="0" smtClean="0"/>
              <a:t>Managing </a:t>
            </a:r>
            <a:r>
              <a:rPr lang="en-US" dirty="0"/>
              <a:t>the procedure of delivering the product/service to the end user.</a:t>
            </a:r>
          </a:p>
          <a:p>
            <a:pPr algn="just"/>
            <a:r>
              <a:rPr lang="en-US" b="1" dirty="0" smtClean="0"/>
              <a:t>Procurement </a:t>
            </a:r>
            <a:r>
              <a:rPr lang="en-US" b="1" dirty="0"/>
              <a:t>Management</a:t>
            </a:r>
            <a:endParaRPr lang="en-US" dirty="0"/>
          </a:p>
          <a:p>
            <a:pPr marL="0" indent="0" algn="just">
              <a:buNone/>
            </a:pPr>
            <a:r>
              <a:rPr lang="en-US" dirty="0" smtClean="0"/>
              <a:t>More </a:t>
            </a:r>
            <a:r>
              <a:rPr lang="en-US" dirty="0"/>
              <a:t>concerned about contracts and relationships with 3rd parties.</a:t>
            </a:r>
          </a:p>
          <a:p>
            <a:pPr algn="just"/>
            <a:r>
              <a:rPr lang="en-US" b="1" dirty="0" smtClean="0"/>
              <a:t>Financial </a:t>
            </a:r>
            <a:r>
              <a:rPr lang="en-US" b="1" dirty="0"/>
              <a:t>Management</a:t>
            </a:r>
            <a:endParaRPr lang="en-US" dirty="0"/>
          </a:p>
          <a:p>
            <a:pPr marL="0" indent="0" algn="just">
              <a:buNone/>
            </a:pPr>
            <a:r>
              <a:rPr lang="en-US" dirty="0" smtClean="0"/>
              <a:t>Managing </a:t>
            </a:r>
            <a:r>
              <a:rPr lang="en-US" dirty="0"/>
              <a:t>anything related to monetary and finance.</a:t>
            </a:r>
          </a:p>
          <a:p>
            <a:pPr algn="just"/>
            <a:r>
              <a:rPr lang="en-US" b="1" dirty="0" smtClean="0"/>
              <a:t>Human </a:t>
            </a:r>
            <a:r>
              <a:rPr lang="en-US" b="1" dirty="0"/>
              <a:t>Resources Management</a:t>
            </a:r>
            <a:endParaRPr lang="en-US" dirty="0"/>
          </a:p>
          <a:p>
            <a:pPr marL="0" indent="0" algn="just">
              <a:buNone/>
            </a:pPr>
            <a:r>
              <a:rPr lang="en-US" dirty="0" smtClean="0"/>
              <a:t>Responsible </a:t>
            </a:r>
            <a:r>
              <a:rPr lang="en-US" dirty="0"/>
              <a:t>of different types of people management. Different studies assured that people management is the toughest type of all management types.</a:t>
            </a:r>
          </a:p>
          <a:p>
            <a:pPr marL="0" indent="0" algn="just">
              <a:buNone/>
            </a:pPr>
            <a:endParaRPr lang="en-US" dirty="0"/>
          </a:p>
          <a:p>
            <a:pPr algn="just"/>
            <a:endParaRPr lang="en-US" dirty="0"/>
          </a:p>
        </p:txBody>
      </p:sp>
    </p:spTree>
    <p:extLst>
      <p:ext uri="{BB962C8B-B14F-4D97-AF65-F5344CB8AC3E}">
        <p14:creationId xmlns:p14="http://schemas.microsoft.com/office/powerpoint/2010/main" val="3200212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management </a:t>
            </a:r>
            <a:endParaRPr lang="en-US" dirty="0"/>
          </a:p>
        </p:txBody>
      </p:sp>
      <p:sp>
        <p:nvSpPr>
          <p:cNvPr id="3" name="Content Placeholder 2"/>
          <p:cNvSpPr>
            <a:spLocks noGrp="1"/>
          </p:cNvSpPr>
          <p:nvPr>
            <p:ph sz="quarter" idx="1"/>
          </p:nvPr>
        </p:nvSpPr>
        <p:spPr>
          <a:xfrm>
            <a:off x="301752" y="1268760"/>
            <a:ext cx="8503920" cy="4998296"/>
          </a:xfrm>
        </p:spPr>
        <p:txBody>
          <a:bodyPr>
            <a:normAutofit fontScale="92500" lnSpcReduction="20000"/>
          </a:bodyPr>
          <a:lstStyle/>
          <a:p>
            <a:pPr algn="just"/>
            <a:endParaRPr lang="en-US" b="1" dirty="0" smtClean="0"/>
          </a:p>
          <a:p>
            <a:pPr algn="just"/>
            <a:r>
              <a:rPr lang="en-US" b="1" dirty="0" smtClean="0"/>
              <a:t>Information </a:t>
            </a:r>
            <a:r>
              <a:rPr lang="en-US" b="1" dirty="0"/>
              <a:t>Technology Management</a:t>
            </a:r>
            <a:endParaRPr lang="en-US" dirty="0"/>
          </a:p>
          <a:p>
            <a:pPr marL="0" indent="0" algn="just">
              <a:buNone/>
            </a:pPr>
            <a:r>
              <a:rPr lang="en-US" dirty="0" smtClean="0"/>
              <a:t>Managing </a:t>
            </a:r>
            <a:r>
              <a:rPr lang="en-US" dirty="0"/>
              <a:t>anything related to technology and information exchange (software/hardware)</a:t>
            </a:r>
          </a:p>
          <a:p>
            <a:pPr algn="just"/>
            <a:r>
              <a:rPr lang="en-US" b="1" dirty="0" smtClean="0"/>
              <a:t>R&amp;D </a:t>
            </a:r>
            <a:r>
              <a:rPr lang="en-US" b="1" dirty="0"/>
              <a:t>Management</a:t>
            </a:r>
            <a:endParaRPr lang="en-US" dirty="0"/>
          </a:p>
          <a:p>
            <a:pPr marL="0" indent="0" algn="just">
              <a:buNone/>
            </a:pPr>
            <a:r>
              <a:rPr lang="en-US" dirty="0" smtClean="0"/>
              <a:t>Research </a:t>
            </a:r>
            <a:r>
              <a:rPr lang="en-US" dirty="0"/>
              <a:t>and development management</a:t>
            </a:r>
          </a:p>
          <a:p>
            <a:pPr algn="just"/>
            <a:r>
              <a:rPr lang="en-US" b="1" dirty="0" smtClean="0"/>
              <a:t>Risk </a:t>
            </a:r>
            <a:r>
              <a:rPr lang="en-US" b="1" dirty="0"/>
              <a:t>Management</a:t>
            </a:r>
            <a:endParaRPr lang="en-US" dirty="0"/>
          </a:p>
          <a:p>
            <a:pPr marL="0" indent="0" algn="just">
              <a:buNone/>
            </a:pPr>
            <a:r>
              <a:rPr lang="en-US" dirty="0" smtClean="0"/>
              <a:t>Type </a:t>
            </a:r>
            <a:r>
              <a:rPr lang="en-US" dirty="0"/>
              <a:t>of management that is essential in big projects where you should anticipate a risk factor with a specific percentage to avoid any issues that may result in ruining the project or company’s goal.</a:t>
            </a:r>
          </a:p>
          <a:p>
            <a:pPr algn="just"/>
            <a:r>
              <a:rPr lang="en-US" b="1" dirty="0" smtClean="0"/>
              <a:t>Quality </a:t>
            </a:r>
            <a:r>
              <a:rPr lang="en-US" b="1" dirty="0"/>
              <a:t>Management</a:t>
            </a:r>
            <a:endParaRPr lang="en-US" dirty="0"/>
          </a:p>
          <a:p>
            <a:pPr marL="0" indent="0" algn="just">
              <a:buNone/>
            </a:pPr>
            <a:r>
              <a:rPr lang="en-US" dirty="0" smtClean="0"/>
              <a:t>Focused </a:t>
            </a:r>
            <a:r>
              <a:rPr lang="en-US" dirty="0"/>
              <a:t>on proving the product/service with the best quality possible</a:t>
            </a:r>
            <a:r>
              <a:rPr lang="en-US" dirty="0" smtClean="0"/>
              <a:t>.</a:t>
            </a:r>
            <a:endParaRPr lang="en-US" dirty="0"/>
          </a:p>
        </p:txBody>
      </p:sp>
    </p:spTree>
    <p:extLst>
      <p:ext uri="{BB962C8B-B14F-4D97-AF65-F5344CB8AC3E}">
        <p14:creationId xmlns:p14="http://schemas.microsoft.com/office/powerpoint/2010/main" val="3200212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styles </a:t>
            </a:r>
            <a:endParaRPr lang="en-US" dirty="0"/>
          </a:p>
        </p:txBody>
      </p:sp>
      <p:sp>
        <p:nvSpPr>
          <p:cNvPr id="4" name="Content Placeholder 3"/>
          <p:cNvSpPr>
            <a:spLocks noGrp="1"/>
          </p:cNvSpPr>
          <p:nvPr>
            <p:ph sz="quarter" idx="1"/>
          </p:nvPr>
        </p:nvSpPr>
        <p:spPr>
          <a:xfrm>
            <a:off x="301752" y="1527048"/>
            <a:ext cx="8503920" cy="4854280"/>
          </a:xfrm>
        </p:spPr>
        <p:txBody>
          <a:bodyPr>
            <a:normAutofit fontScale="92500" lnSpcReduction="20000"/>
          </a:bodyPr>
          <a:lstStyle/>
          <a:p>
            <a:pPr marL="539750" indent="0">
              <a:buNone/>
            </a:pPr>
            <a:r>
              <a:rPr lang="en-US" b="1" dirty="0"/>
              <a:t>1. Authoritative</a:t>
            </a:r>
          </a:p>
          <a:p>
            <a:pPr marL="0" indent="0">
              <a:buNone/>
            </a:pPr>
            <a:r>
              <a:rPr lang="en-US" dirty="0"/>
              <a:t>An authoritative manager follows a top-down approach to leading. </a:t>
            </a:r>
            <a:endParaRPr lang="en-US" dirty="0" smtClean="0"/>
          </a:p>
          <a:p>
            <a:pPr marL="0" indent="0">
              <a:buNone/>
            </a:pPr>
            <a:r>
              <a:rPr lang="en-US" b="1" dirty="0" smtClean="0"/>
              <a:t>Pros:</a:t>
            </a:r>
            <a:r>
              <a:rPr lang="en-US" dirty="0"/>
              <a:t> U</a:t>
            </a:r>
            <a:r>
              <a:rPr lang="en-US" dirty="0" smtClean="0"/>
              <a:t>seful when </a:t>
            </a:r>
            <a:r>
              <a:rPr lang="en-US" dirty="0"/>
              <a:t>it’s necessary to make effective decisions quickly.</a:t>
            </a:r>
            <a:br>
              <a:rPr lang="en-US" dirty="0"/>
            </a:br>
            <a:r>
              <a:rPr lang="en-US" b="1" dirty="0"/>
              <a:t>C</a:t>
            </a:r>
            <a:r>
              <a:rPr lang="en-US" b="1" dirty="0" smtClean="0"/>
              <a:t>ons: </a:t>
            </a:r>
            <a:r>
              <a:rPr lang="en-US" dirty="0"/>
              <a:t> New and innovative ideas rarely </a:t>
            </a:r>
            <a:r>
              <a:rPr lang="en-US" dirty="0" smtClean="0"/>
              <a:t>emerge</a:t>
            </a:r>
          </a:p>
          <a:p>
            <a:pPr marL="0" indent="0">
              <a:buNone/>
            </a:pPr>
            <a:endParaRPr lang="en-US" dirty="0" smtClean="0"/>
          </a:p>
          <a:p>
            <a:pPr marL="0" indent="539750">
              <a:buNone/>
            </a:pPr>
            <a:r>
              <a:rPr lang="en-US" b="1" dirty="0"/>
              <a:t>2. Consultative</a:t>
            </a:r>
          </a:p>
          <a:p>
            <a:pPr marL="0" indent="0">
              <a:buNone/>
            </a:pPr>
            <a:r>
              <a:rPr lang="en-US" dirty="0" smtClean="0"/>
              <a:t>They </a:t>
            </a:r>
            <a:r>
              <a:rPr lang="en-US" dirty="0"/>
              <a:t>often have an open-door policy that encourages employees to share what is and isn’t working in the organization. </a:t>
            </a:r>
            <a:endParaRPr lang="en-US" b="1" dirty="0"/>
          </a:p>
          <a:p>
            <a:pPr marL="0" indent="0">
              <a:buNone/>
            </a:pPr>
            <a:r>
              <a:rPr lang="en-US" b="1" dirty="0"/>
              <a:t>P</a:t>
            </a:r>
            <a:r>
              <a:rPr lang="en-US" b="1" dirty="0" smtClean="0"/>
              <a:t>ros: </a:t>
            </a:r>
            <a:r>
              <a:rPr lang="en-US" dirty="0"/>
              <a:t> </a:t>
            </a:r>
            <a:r>
              <a:rPr lang="en-US" dirty="0" smtClean="0"/>
              <a:t>Often </a:t>
            </a:r>
            <a:r>
              <a:rPr lang="en-US" dirty="0"/>
              <a:t>leads to higher employee </a:t>
            </a:r>
            <a:r>
              <a:rPr lang="en-US" dirty="0" smtClean="0"/>
              <a:t>engagement</a:t>
            </a:r>
            <a:r>
              <a:rPr lang="en-US" dirty="0"/>
              <a:t>.</a:t>
            </a:r>
            <a:br>
              <a:rPr lang="en-US" dirty="0"/>
            </a:br>
            <a:r>
              <a:rPr lang="en-US" b="1" dirty="0" smtClean="0"/>
              <a:t>Cons</a:t>
            </a:r>
            <a:r>
              <a:rPr lang="en-US" b="1" dirty="0"/>
              <a:t>:</a:t>
            </a:r>
            <a:r>
              <a:rPr lang="en-US" dirty="0"/>
              <a:t> A consultative management style isn’t </a:t>
            </a:r>
            <a:r>
              <a:rPr lang="en-US" dirty="0" smtClean="0"/>
              <a:t>always </a:t>
            </a:r>
            <a:r>
              <a:rPr lang="en-US" dirty="0"/>
              <a:t>efficient </a:t>
            </a:r>
            <a:r>
              <a:rPr lang="en-US" dirty="0" smtClean="0"/>
              <a:t>as many people </a:t>
            </a:r>
            <a:r>
              <a:rPr lang="en-US" dirty="0"/>
              <a:t>are involved in making decisions</a:t>
            </a:r>
            <a:r>
              <a:rPr lang="en-US" dirty="0" smtClean="0"/>
              <a:t>.</a:t>
            </a:r>
            <a:endParaRPr lang="en-US" dirty="0"/>
          </a:p>
        </p:txBody>
      </p:sp>
    </p:spTree>
    <p:extLst>
      <p:ext uri="{BB962C8B-B14F-4D97-AF65-F5344CB8AC3E}">
        <p14:creationId xmlns:p14="http://schemas.microsoft.com/office/powerpoint/2010/main" val="3200212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styles </a:t>
            </a:r>
            <a:endParaRPr lang="en-US" dirty="0"/>
          </a:p>
        </p:txBody>
      </p:sp>
      <p:sp>
        <p:nvSpPr>
          <p:cNvPr id="3" name="Content Placeholder 2"/>
          <p:cNvSpPr>
            <a:spLocks noGrp="1"/>
          </p:cNvSpPr>
          <p:nvPr>
            <p:ph sz="quarter" idx="1"/>
          </p:nvPr>
        </p:nvSpPr>
        <p:spPr>
          <a:xfrm>
            <a:off x="301752" y="1527048"/>
            <a:ext cx="8503920" cy="4854280"/>
          </a:xfrm>
        </p:spPr>
        <p:txBody>
          <a:bodyPr>
            <a:normAutofit fontScale="77500" lnSpcReduction="20000"/>
          </a:bodyPr>
          <a:lstStyle/>
          <a:p>
            <a:pPr marL="625475" indent="0">
              <a:buNone/>
            </a:pPr>
            <a:r>
              <a:rPr lang="en-US" b="1" dirty="0"/>
              <a:t>3. Democratic or participative</a:t>
            </a:r>
          </a:p>
          <a:p>
            <a:pPr marL="0" indent="0">
              <a:buNone/>
            </a:pPr>
            <a:r>
              <a:rPr lang="en-US" dirty="0" smtClean="0"/>
              <a:t>This </a:t>
            </a:r>
            <a:r>
              <a:rPr lang="en-US" dirty="0"/>
              <a:t>style includes effective communication and openness through all levels of the </a:t>
            </a:r>
            <a:r>
              <a:rPr lang="en-US" dirty="0" smtClean="0"/>
              <a:t>organization.</a:t>
            </a:r>
          </a:p>
          <a:p>
            <a:pPr marL="0" indent="0">
              <a:buNone/>
            </a:pPr>
            <a:r>
              <a:rPr lang="en-US" b="1" dirty="0"/>
              <a:t>P</a:t>
            </a:r>
            <a:r>
              <a:rPr lang="en-US" b="1" dirty="0" smtClean="0"/>
              <a:t>ros: </a:t>
            </a:r>
            <a:r>
              <a:rPr lang="en-US" dirty="0" smtClean="0"/>
              <a:t>Encourages them to tap into their full potential at work.</a:t>
            </a:r>
            <a:br>
              <a:rPr lang="en-US" dirty="0" smtClean="0"/>
            </a:br>
            <a:r>
              <a:rPr lang="en-US" b="1" dirty="0" smtClean="0"/>
              <a:t>Cons</a:t>
            </a:r>
            <a:r>
              <a:rPr lang="en-US" b="1" dirty="0"/>
              <a:t>:</a:t>
            </a:r>
            <a:r>
              <a:rPr lang="en-US" dirty="0"/>
              <a:t> </a:t>
            </a:r>
            <a:r>
              <a:rPr lang="en-US" dirty="0" smtClean="0"/>
              <a:t>Consumes time as Decision-making </a:t>
            </a:r>
            <a:r>
              <a:rPr lang="en-US" dirty="0"/>
              <a:t>often involves debates and consulting multiple </a:t>
            </a:r>
            <a:r>
              <a:rPr lang="en-US" dirty="0" smtClean="0"/>
              <a:t>parties.</a:t>
            </a:r>
          </a:p>
          <a:p>
            <a:pPr marL="0" indent="0">
              <a:buNone/>
            </a:pPr>
            <a:endParaRPr lang="en-US" dirty="0" smtClean="0"/>
          </a:p>
          <a:p>
            <a:pPr marL="625475" indent="0">
              <a:buNone/>
            </a:pPr>
            <a:r>
              <a:rPr lang="en-US" b="1" dirty="0"/>
              <a:t>4. Laissez-faire</a:t>
            </a:r>
          </a:p>
          <a:p>
            <a:pPr marL="0" indent="0">
              <a:buNone/>
            </a:pPr>
            <a:r>
              <a:rPr lang="en-US" dirty="0" smtClean="0"/>
              <a:t>In </a:t>
            </a:r>
            <a:r>
              <a:rPr lang="en-US" dirty="0"/>
              <a:t>this management style, managers monitor what’s happening with employees, but don’t become too involved with the day-to-day </a:t>
            </a:r>
            <a:r>
              <a:rPr lang="en-US" dirty="0" smtClean="0"/>
              <a:t>tasks.</a:t>
            </a:r>
            <a:endParaRPr lang="en-US" dirty="0"/>
          </a:p>
          <a:p>
            <a:pPr marL="0" indent="0">
              <a:buNone/>
            </a:pPr>
            <a:r>
              <a:rPr lang="en-US" b="1" dirty="0" smtClean="0"/>
              <a:t>Pros</a:t>
            </a:r>
            <a:r>
              <a:rPr lang="en-US" b="1" dirty="0"/>
              <a:t>:</a:t>
            </a:r>
            <a:r>
              <a:rPr lang="en-US" dirty="0"/>
              <a:t> </a:t>
            </a:r>
            <a:r>
              <a:rPr lang="en-US" dirty="0" smtClean="0"/>
              <a:t>It gives </a:t>
            </a:r>
            <a:r>
              <a:rPr lang="en-US" dirty="0"/>
              <a:t>self-motivated employees the </a:t>
            </a:r>
            <a:r>
              <a:rPr lang="en-US" dirty="0" smtClean="0"/>
              <a:t>space </a:t>
            </a:r>
            <a:r>
              <a:rPr lang="en-US" dirty="0"/>
              <a:t>they need to be productive. This could be particularly useful in a creative environment.</a:t>
            </a:r>
            <a:br>
              <a:rPr lang="en-US" dirty="0"/>
            </a:br>
            <a:r>
              <a:rPr lang="en-US" b="1" dirty="0" smtClean="0"/>
              <a:t>Cons:</a:t>
            </a:r>
            <a:r>
              <a:rPr lang="en-US" dirty="0"/>
              <a:t> Because this management style is hands-off, it can leave some employees feeling neglected or in need of guidance and direction.</a:t>
            </a:r>
          </a:p>
          <a:p>
            <a:pPr marL="0" indent="0">
              <a:buNone/>
            </a:pPr>
            <a:endParaRPr lang="en-US" dirty="0"/>
          </a:p>
          <a:p>
            <a:endParaRPr lang="en-US" dirty="0"/>
          </a:p>
        </p:txBody>
      </p:sp>
    </p:spTree>
    <p:extLst>
      <p:ext uri="{BB962C8B-B14F-4D97-AF65-F5344CB8AC3E}">
        <p14:creationId xmlns:p14="http://schemas.microsoft.com/office/powerpoint/2010/main" val="2706224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styles </a:t>
            </a:r>
            <a:endParaRPr lang="en-US" dirty="0"/>
          </a:p>
        </p:txBody>
      </p:sp>
      <p:sp>
        <p:nvSpPr>
          <p:cNvPr id="4" name="Content Placeholder 3"/>
          <p:cNvSpPr>
            <a:spLocks noGrp="1"/>
          </p:cNvSpPr>
          <p:nvPr>
            <p:ph sz="quarter" idx="1"/>
          </p:nvPr>
        </p:nvSpPr>
        <p:spPr>
          <a:xfrm>
            <a:off x="301752" y="1665312"/>
            <a:ext cx="8503920" cy="4572000"/>
          </a:xfrm>
        </p:spPr>
        <p:txBody>
          <a:bodyPr>
            <a:normAutofit fontScale="77500" lnSpcReduction="20000"/>
          </a:bodyPr>
          <a:lstStyle/>
          <a:p>
            <a:pPr marL="722313" indent="0" algn="just">
              <a:buNone/>
            </a:pPr>
            <a:r>
              <a:rPr lang="en-US" b="1" dirty="0"/>
              <a:t>5. Persuasive</a:t>
            </a:r>
          </a:p>
          <a:p>
            <a:pPr marL="0" indent="0" algn="just">
              <a:buNone/>
            </a:pPr>
            <a:r>
              <a:rPr lang="en-US" dirty="0" smtClean="0"/>
              <a:t>They </a:t>
            </a:r>
            <a:r>
              <a:rPr lang="en-US" dirty="0"/>
              <a:t>share an honest rationale behind decision-making policies that can foster an inclusive and trusting environment. </a:t>
            </a:r>
            <a:endParaRPr lang="en-US" dirty="0" smtClean="0"/>
          </a:p>
          <a:p>
            <a:pPr marL="0" indent="0" algn="just">
              <a:buNone/>
            </a:pPr>
            <a:r>
              <a:rPr lang="en-US" b="1" dirty="0" smtClean="0"/>
              <a:t>Pros</a:t>
            </a:r>
            <a:r>
              <a:rPr lang="en-US" b="1" dirty="0"/>
              <a:t>:</a:t>
            </a:r>
            <a:r>
              <a:rPr lang="en-US" dirty="0"/>
              <a:t> </a:t>
            </a:r>
            <a:r>
              <a:rPr lang="en-US" dirty="0" smtClean="0"/>
              <a:t>It </a:t>
            </a:r>
            <a:r>
              <a:rPr lang="en-US" dirty="0"/>
              <a:t>can be especially helpful when leading a less experienced team.</a:t>
            </a:r>
            <a:br>
              <a:rPr lang="en-US" dirty="0"/>
            </a:br>
            <a:r>
              <a:rPr lang="en-US" b="1" dirty="0" smtClean="0"/>
              <a:t>Cons</a:t>
            </a:r>
            <a:r>
              <a:rPr lang="en-US" b="1" dirty="0"/>
              <a:t>:</a:t>
            </a:r>
            <a:r>
              <a:rPr lang="en-US" dirty="0"/>
              <a:t> </a:t>
            </a:r>
            <a:r>
              <a:rPr lang="en-US" dirty="0" smtClean="0"/>
              <a:t>It’s a </a:t>
            </a:r>
            <a:r>
              <a:rPr lang="en-US" dirty="0"/>
              <a:t>one-way communication process and employees don’t necessarily have an avenue to give feedback</a:t>
            </a:r>
            <a:r>
              <a:rPr lang="en-US" dirty="0" smtClean="0"/>
              <a:t>.</a:t>
            </a:r>
          </a:p>
          <a:p>
            <a:pPr algn="just"/>
            <a:endParaRPr lang="en-US" b="1" dirty="0" smtClean="0"/>
          </a:p>
          <a:p>
            <a:pPr marL="722313" indent="0" algn="just">
              <a:buNone/>
            </a:pPr>
            <a:r>
              <a:rPr lang="en-US" b="1" dirty="0" smtClean="0"/>
              <a:t>6</a:t>
            </a:r>
            <a:r>
              <a:rPr lang="en-US" b="1" dirty="0"/>
              <a:t>. Transformational</a:t>
            </a:r>
          </a:p>
          <a:p>
            <a:pPr marL="0" indent="0" algn="just">
              <a:buNone/>
            </a:pPr>
            <a:r>
              <a:rPr lang="en-US" dirty="0" smtClean="0"/>
              <a:t>Leaders </a:t>
            </a:r>
            <a:r>
              <a:rPr lang="en-US" dirty="0"/>
              <a:t>with this style often push their employees to set and reach goals even if it makes them slightly uncomfortable. </a:t>
            </a:r>
            <a:endParaRPr lang="en-US" dirty="0" smtClean="0"/>
          </a:p>
          <a:p>
            <a:pPr marL="0" indent="0" algn="just">
              <a:buNone/>
            </a:pPr>
            <a:r>
              <a:rPr lang="en-US" b="1" dirty="0" smtClean="0"/>
              <a:t>Pros:</a:t>
            </a:r>
            <a:r>
              <a:rPr lang="en-US" dirty="0"/>
              <a:t> Adaptability, problem-solving and innovation </a:t>
            </a:r>
            <a:r>
              <a:rPr lang="en-US" dirty="0" smtClean="0"/>
              <a:t>can </a:t>
            </a:r>
            <a:r>
              <a:rPr lang="en-US" dirty="0"/>
              <a:t>be especially useful for companies in competitive industries that change quickly.</a:t>
            </a:r>
            <a:br>
              <a:rPr lang="en-US" dirty="0"/>
            </a:br>
            <a:r>
              <a:rPr lang="en-US" b="1" dirty="0" smtClean="0"/>
              <a:t>Cons:</a:t>
            </a:r>
            <a:r>
              <a:rPr lang="en-US" dirty="0"/>
              <a:t> This management style requires the right kind of employees. </a:t>
            </a:r>
          </a:p>
          <a:p>
            <a:pPr algn="just"/>
            <a:endParaRPr lang="en-US" dirty="0"/>
          </a:p>
        </p:txBody>
      </p:sp>
    </p:spTree>
    <p:extLst>
      <p:ext uri="{BB962C8B-B14F-4D97-AF65-F5344CB8AC3E}">
        <p14:creationId xmlns:p14="http://schemas.microsoft.com/office/powerpoint/2010/main" val="3272544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styles </a:t>
            </a:r>
            <a:endParaRPr lang="en-US" dirty="0"/>
          </a:p>
        </p:txBody>
      </p:sp>
      <p:sp>
        <p:nvSpPr>
          <p:cNvPr id="4" name="Content Placeholder 3"/>
          <p:cNvSpPr>
            <a:spLocks noGrp="1"/>
          </p:cNvSpPr>
          <p:nvPr>
            <p:ph sz="quarter" idx="1"/>
          </p:nvPr>
        </p:nvSpPr>
        <p:spPr>
          <a:xfrm>
            <a:off x="301752" y="1665312"/>
            <a:ext cx="8503920" cy="4572000"/>
          </a:xfrm>
        </p:spPr>
        <p:txBody>
          <a:bodyPr>
            <a:normAutofit fontScale="70000" lnSpcReduction="20000"/>
          </a:bodyPr>
          <a:lstStyle/>
          <a:p>
            <a:pPr marL="625475" indent="0">
              <a:buNone/>
            </a:pPr>
            <a:r>
              <a:rPr lang="en-US" b="1" dirty="0"/>
              <a:t>7. Transactional</a:t>
            </a:r>
          </a:p>
          <a:p>
            <a:pPr marL="0" indent="0">
              <a:buNone/>
            </a:pPr>
            <a:r>
              <a:rPr lang="en-US" dirty="0" smtClean="0"/>
              <a:t>Relies </a:t>
            </a:r>
            <a:r>
              <a:rPr lang="en-US" dirty="0"/>
              <a:t>on attaining goals through structure, supervision and a system of rewards and punishments. </a:t>
            </a:r>
            <a:endParaRPr lang="en-US" b="1" dirty="0"/>
          </a:p>
          <a:p>
            <a:r>
              <a:rPr lang="en-US" b="1" dirty="0" smtClean="0"/>
              <a:t>Pros:</a:t>
            </a:r>
            <a:r>
              <a:rPr lang="en-US" dirty="0"/>
              <a:t> This style works well with self-motivated employees and establishes unity throughout the company.</a:t>
            </a:r>
          </a:p>
          <a:p>
            <a:r>
              <a:rPr lang="en-US" b="1" dirty="0" smtClean="0"/>
              <a:t>Cons:</a:t>
            </a:r>
            <a:r>
              <a:rPr lang="en-US" b="1" dirty="0"/>
              <a:t> </a:t>
            </a:r>
            <a:r>
              <a:rPr lang="en-US" dirty="0"/>
              <a:t>This style does not address overall company goals or long-term goals and may not motivate all types of </a:t>
            </a:r>
            <a:r>
              <a:rPr lang="en-US" dirty="0" smtClean="0"/>
              <a:t>employees.</a:t>
            </a:r>
          </a:p>
          <a:p>
            <a:pPr marL="0" indent="0">
              <a:buNone/>
            </a:pPr>
            <a:endParaRPr lang="en-US" b="1" dirty="0"/>
          </a:p>
          <a:p>
            <a:pPr marL="625475" indent="0">
              <a:buNone/>
            </a:pPr>
            <a:r>
              <a:rPr lang="en-US" b="1" dirty="0" smtClean="0"/>
              <a:t>8. Collaborative</a:t>
            </a:r>
          </a:p>
          <a:p>
            <a:pPr marL="0" indent="0">
              <a:buNone/>
            </a:pPr>
            <a:r>
              <a:rPr lang="en-US" dirty="0" smtClean="0"/>
              <a:t>Because </a:t>
            </a:r>
            <a:r>
              <a:rPr lang="en-US" dirty="0"/>
              <a:t>of their emphasis on employee satisfaction and teamwork, they tend to achieve higher levels of respect.</a:t>
            </a:r>
          </a:p>
          <a:p>
            <a:r>
              <a:rPr lang="en-US" dirty="0" smtClean="0"/>
              <a:t>These </a:t>
            </a:r>
            <a:r>
              <a:rPr lang="en-US" dirty="0"/>
              <a:t>types of leaders are exceptionally skilled in building employee morale and helping people re-engage with their work.</a:t>
            </a:r>
          </a:p>
          <a:p>
            <a:r>
              <a:rPr lang="en-US" b="1" dirty="0" smtClean="0"/>
              <a:t>Pros</a:t>
            </a:r>
            <a:r>
              <a:rPr lang="en-US" b="1" dirty="0"/>
              <a:t>:</a:t>
            </a:r>
            <a:r>
              <a:rPr lang="en-US" dirty="0"/>
              <a:t> </a:t>
            </a:r>
            <a:r>
              <a:rPr lang="en-US" dirty="0" smtClean="0"/>
              <a:t>They </a:t>
            </a:r>
            <a:r>
              <a:rPr lang="en-US" dirty="0"/>
              <a:t>are </a:t>
            </a:r>
            <a:r>
              <a:rPr lang="en-US" dirty="0" smtClean="0"/>
              <a:t>more </a:t>
            </a:r>
            <a:r>
              <a:rPr lang="en-US" dirty="0"/>
              <a:t>in-the-know when it comes to the challenges of getting work done on their team.</a:t>
            </a:r>
            <a:br>
              <a:rPr lang="en-US" dirty="0"/>
            </a:br>
            <a:r>
              <a:rPr lang="en-US" b="1" dirty="0" smtClean="0"/>
              <a:t>Cons</a:t>
            </a:r>
            <a:r>
              <a:rPr lang="en-US" b="1" dirty="0"/>
              <a:t>:</a:t>
            </a:r>
            <a:r>
              <a:rPr lang="en-US" dirty="0"/>
              <a:t> </a:t>
            </a:r>
            <a:r>
              <a:rPr lang="en-US" dirty="0" smtClean="0"/>
              <a:t>They might </a:t>
            </a:r>
            <a:r>
              <a:rPr lang="en-US" dirty="0"/>
              <a:t>find it difficult to create time and space for high-level, strategic planning.</a:t>
            </a:r>
          </a:p>
        </p:txBody>
      </p:sp>
    </p:spTree>
    <p:extLst>
      <p:ext uri="{BB962C8B-B14F-4D97-AF65-F5344CB8AC3E}">
        <p14:creationId xmlns:p14="http://schemas.microsoft.com/office/powerpoint/2010/main" val="75880190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1307</TotalTime>
  <Words>740</Words>
  <Application>Microsoft Office PowerPoint</Application>
  <PresentationFormat>On-screen Show (4:3)</PresentationFormat>
  <Paragraphs>121</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Civic</vt:lpstr>
      <vt:lpstr>Chapter “4”</vt:lpstr>
      <vt:lpstr>Outline </vt:lpstr>
      <vt:lpstr>Outline </vt:lpstr>
      <vt:lpstr>Outline </vt:lpstr>
      <vt:lpstr>Global management</vt:lpstr>
      <vt:lpstr>Global management</vt:lpstr>
      <vt:lpstr>Global management</vt:lpstr>
      <vt:lpstr>Global management</vt:lpstr>
      <vt:lpstr>Global management</vt:lpstr>
      <vt:lpstr>Global management</vt:lpstr>
      <vt:lpstr>Global management</vt:lpstr>
      <vt:lpstr>Global management</vt:lpstr>
      <vt:lpstr>Types of management </vt:lpstr>
      <vt:lpstr>Types of management </vt:lpstr>
      <vt:lpstr>Types of management </vt:lpstr>
      <vt:lpstr>Management styles </vt:lpstr>
      <vt:lpstr>Management styles </vt:lpstr>
      <vt:lpstr>Management styles </vt:lpstr>
      <vt:lpstr>Management styles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Nancy karma</dc:creator>
  <cp:lastModifiedBy>Nancy karma</cp:lastModifiedBy>
  <cp:revision>28</cp:revision>
  <dcterms:created xsi:type="dcterms:W3CDTF">2023-07-05T13:44:07Z</dcterms:created>
  <dcterms:modified xsi:type="dcterms:W3CDTF">2023-07-29T08:20:33Z</dcterms:modified>
</cp:coreProperties>
</file>