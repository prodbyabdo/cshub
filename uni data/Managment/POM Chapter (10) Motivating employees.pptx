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9" d="100"/>
          <a:sy n="79" d="100"/>
        </p:scale>
        <p:origin x="-1469"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D5470C9-B977-477E-A93C-780652841DB0}" type="datetimeFigureOut">
              <a:rPr lang="en-US" smtClean="0"/>
              <a:t>9/1/2023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4A6870B-D229-438C-82A7-5356ABB2F75A}" type="slidenum">
              <a:rPr lang="en-US" smtClean="0"/>
              <a:t>‹#›</a:t>
            </a:fld>
            <a:endParaRPr lang="en-US"/>
          </a:p>
        </p:txBody>
      </p:sp>
    </p:spTree>
    <p:extLst>
      <p:ext uri="{BB962C8B-B14F-4D97-AF65-F5344CB8AC3E}">
        <p14:creationId xmlns:p14="http://schemas.microsoft.com/office/powerpoint/2010/main" val="21612306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4A6870B-D229-438C-82A7-5356ABB2F75A}" type="slidenum">
              <a:rPr lang="en-US" smtClean="0"/>
              <a:t>5</a:t>
            </a:fld>
            <a:endParaRPr lang="en-US"/>
          </a:p>
        </p:txBody>
      </p:sp>
    </p:spTree>
    <p:extLst>
      <p:ext uri="{BB962C8B-B14F-4D97-AF65-F5344CB8AC3E}">
        <p14:creationId xmlns:p14="http://schemas.microsoft.com/office/powerpoint/2010/main" val="20910483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ight Triangle 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rot="19140000">
            <a:off x="817112" y="1730403"/>
            <a:ext cx="5648623" cy="1204306"/>
          </a:xfrm>
        </p:spPr>
        <p:txBody>
          <a:bodyPr bIns="9144" anchor="b"/>
          <a:lstStyle>
            <a:lvl1pPr>
              <a:defRPr sz="3200"/>
            </a:lvl1pPr>
          </a:lstStyle>
          <a:p>
            <a:r>
              <a:rPr lang="en-US" smtClean="0"/>
              <a:t>Click to edit Master title style</a:t>
            </a:r>
            <a:endParaRPr lang="en-US" dirty="0"/>
          </a:p>
        </p:txBody>
      </p:sp>
      <p:sp>
        <p:nvSpPr>
          <p:cNvPr id="3" name="Subtitle 2"/>
          <p:cNvSpPr>
            <a:spLocks noGrp="1"/>
          </p:cNvSpPr>
          <p:nvPr>
            <p:ph type="subTitle" idx="1"/>
          </p:nvPr>
        </p:nvSpPr>
        <p:spPr>
          <a:xfrm rot="19140000">
            <a:off x="1212277" y="2470925"/>
            <a:ext cx="6511131" cy="329259"/>
          </a:xfrm>
        </p:spPr>
        <p:txBody>
          <a:bodyPr tIns="9144">
            <a:normAutofit/>
          </a:bodyPr>
          <a:lstStyle>
            <a:lvl1pPr marL="0" indent="0" algn="l">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0730A9A-0305-48DB-AA50-A2444AEF048D}" type="datetimeFigureOut">
              <a:rPr lang="en-AE" smtClean="0"/>
              <a:t>01/09/2023</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5656FAC8-C118-4A36-9CD2-E3BBB2477EBD}" type="slidenum">
              <a:rPr lang="en-AE" smtClean="0"/>
              <a:t>‹#›</a:t>
            </a:fld>
            <a:endParaRPr lang="en-A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0730A9A-0305-48DB-AA50-A2444AEF048D}" type="datetimeFigureOut">
              <a:rPr lang="en-AE" smtClean="0"/>
              <a:t>01/09/2023</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5656FAC8-C118-4A36-9CD2-E3BBB2477EBD}" type="slidenum">
              <a:rPr lang="en-AE" smtClean="0"/>
              <a:t>‹#›</a:t>
            </a:fld>
            <a:endParaRPr lang="en-A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Freeform 7"/>
          <p:cNvSpPr/>
          <p:nvPr/>
        </p:nvSpPr>
        <p:spPr>
          <a:xfrm>
            <a:off x="-2380" y="-925"/>
            <a:ext cx="9146380" cy="6858925"/>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2002901">
                <a:moveTo>
                  <a:pt x="0" y="2002901"/>
                </a:moveTo>
                <a:lnTo>
                  <a:pt x="2836585" y="0"/>
                </a:lnTo>
                <a:lnTo>
                  <a:pt x="3352800" y="270"/>
                </a:lnTo>
                <a:lnTo>
                  <a:pt x="3352800" y="2002901"/>
                </a:lnTo>
                <a:lnTo>
                  <a:pt x="0" y="200290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Triangle 6"/>
          <p:cNvSpPr/>
          <p:nvPr/>
        </p:nvSpPr>
        <p:spPr>
          <a:xfrm>
            <a:off x="0" y="2647950"/>
            <a:ext cx="3571875" cy="4210050"/>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819399" y="1726737"/>
            <a:ext cx="5650992" cy="1207509"/>
          </a:xfrm>
        </p:spPr>
        <p:txBody>
          <a:bodyPr bIns="9144" anchor="b"/>
          <a:lstStyle>
            <a:lvl1pPr algn="l">
              <a:defRPr kumimoji="0" lang="en-US" sz="3200" b="0" i="0" u="none" strike="noStrike" kern="1200" cap="all" spc="0" normalizeH="0" baseline="0" noProof="0" dirty="0" smtClean="0">
                <a:ln>
                  <a:noFill/>
                </a:ln>
                <a:solidFill>
                  <a:schemeClr val="tx1"/>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Text Placeholder 2"/>
          <p:cNvSpPr>
            <a:spLocks noGrp="1"/>
          </p:cNvSpPr>
          <p:nvPr>
            <p:ph type="body" idx="1"/>
          </p:nvPr>
        </p:nvSpPr>
        <p:spPr>
          <a:xfrm rot="19140000">
            <a:off x="1216152" y="2468304"/>
            <a:ext cx="6510528" cy="329184"/>
          </a:xfrm>
        </p:spPr>
        <p:txBody>
          <a:bodyPr anchor="t">
            <a:normAutofit/>
          </a:bodyPr>
          <a:lstStyle>
            <a:lvl1pPr marL="0" indent="0">
              <a:buNone/>
              <a:defRPr kumimoji="0" lang="en-US" sz="1400" b="0" i="0" u="none" strike="noStrike" kern="1200" cap="all" spc="400" normalizeH="0" baseline="0" noProof="0" dirty="0" smtClean="0">
                <a:ln>
                  <a:noFill/>
                </a:ln>
                <a:solidFill>
                  <a:schemeClr val="tx1"/>
                </a:solidFill>
                <a:effectLst/>
                <a:uLnTx/>
                <a:uFillTx/>
                <a:latin typeface="+mn-lt"/>
                <a:ea typeface="+mj-ea"/>
                <a:cs typeface="Tunga" pitchFamily="2"/>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marR="0" lvl="0" indent="0" algn="l" defTabSz="914400" rtl="0" eaLnBrk="1" fontAlgn="auto" latinLnBrk="0" hangingPunct="1">
              <a:lnSpc>
                <a:spcPct val="100000"/>
              </a:lnSpc>
              <a:spcBef>
                <a:spcPts val="0"/>
              </a:spcBef>
              <a:spcAft>
                <a:spcPts val="0"/>
              </a:spcAft>
              <a:buClr>
                <a:schemeClr val="accent1"/>
              </a:buClr>
              <a:buSzPct val="100000"/>
              <a:buFont typeface="Arial" pitchFamily="34" charset="0"/>
              <a:buNone/>
              <a:tabLst/>
              <a:defRPr/>
            </a:pPr>
            <a:r>
              <a:rPr lang="en-US" smtClean="0"/>
              <a:t>Click to edit Master text styles</a:t>
            </a:r>
          </a:p>
        </p:txBody>
      </p:sp>
      <p:sp>
        <p:nvSpPr>
          <p:cNvPr id="4" name="Date Placeholder 3"/>
          <p:cNvSpPr>
            <a:spLocks noGrp="1"/>
          </p:cNvSpPr>
          <p:nvPr>
            <p:ph type="dt" sz="half" idx="10"/>
          </p:nvPr>
        </p:nvSpPr>
        <p:spPr/>
        <p:txBody>
          <a:bodyPr/>
          <a:lstStyle/>
          <a:p>
            <a:fld id="{40730A9A-0305-48DB-AA50-A2444AEF048D}" type="datetimeFigureOut">
              <a:rPr lang="en-AE" smtClean="0"/>
              <a:t>01/09/2023</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5656FAC8-C118-4A36-9CD2-E3BBB2477EBD}" type="slidenum">
              <a:rPr lang="en-AE" smtClean="0"/>
              <a:t>‹#›</a:t>
            </a:fld>
            <a:endParaRPr lang="en-A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22960"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700016" y="1097280"/>
            <a:ext cx="3200400" cy="371246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0730A9A-0305-48DB-AA50-A2444AEF048D}" type="datetimeFigureOut">
              <a:rPr lang="en-AE" smtClean="0"/>
              <a:t>01/09/2023</a:t>
            </a:fld>
            <a:endParaRPr lang="en-AE"/>
          </a:p>
        </p:txBody>
      </p:sp>
      <p:sp>
        <p:nvSpPr>
          <p:cNvPr id="6" name="Footer Placeholder 5"/>
          <p:cNvSpPr>
            <a:spLocks noGrp="1"/>
          </p:cNvSpPr>
          <p:nvPr>
            <p:ph type="ftr" sz="quarter" idx="11"/>
          </p:nvPr>
        </p:nvSpPr>
        <p:spPr/>
        <p:txBody>
          <a:bodyPr/>
          <a:lstStyle/>
          <a:p>
            <a:endParaRPr lang="en-AE"/>
          </a:p>
        </p:txBody>
      </p:sp>
      <p:sp>
        <p:nvSpPr>
          <p:cNvPr id="7" name="Slide Number Placeholder 6"/>
          <p:cNvSpPr>
            <a:spLocks noGrp="1"/>
          </p:cNvSpPr>
          <p:nvPr>
            <p:ph type="sldNum" sz="quarter" idx="12"/>
          </p:nvPr>
        </p:nvSpPr>
        <p:spPr/>
        <p:txBody>
          <a:bodyPr/>
          <a:lstStyle/>
          <a:p>
            <a:fld id="{5656FAC8-C118-4A36-9CD2-E3BBB2477EBD}" type="slidenum">
              <a:rPr lang="en-AE" smtClean="0"/>
              <a:t>‹#›</a:t>
            </a:fld>
            <a:endParaRPr lang="en-AE"/>
          </a:p>
        </p:txBody>
      </p:sp>
      <p:sp>
        <p:nvSpPr>
          <p:cNvPr id="8" name="Title 7"/>
          <p:cNvSpPr>
            <a:spLocks noGrp="1"/>
          </p:cNvSpPr>
          <p:nvPr>
            <p:ph type="title"/>
          </p:nvPr>
        </p:nvSpPr>
        <p:spPr/>
        <p:txBody>
          <a:bodyPr/>
          <a:lstStyle/>
          <a:p>
            <a:r>
              <a:rPr lang="en-US" smtClean="0"/>
              <a:t>Click to edit Master title style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822960"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4" name="Content Placeholder 3"/>
          <p:cNvSpPr>
            <a:spLocks noGrp="1"/>
          </p:cNvSpPr>
          <p:nvPr>
            <p:ph sz="half" idx="2"/>
          </p:nvPr>
        </p:nvSpPr>
        <p:spPr>
          <a:xfrm>
            <a:off x="819150"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00016" y="1097280"/>
            <a:ext cx="3200400" cy="548640"/>
          </a:xfrm>
        </p:spPr>
        <p:txBody>
          <a:bodyPr anchor="b">
            <a:normAutofit/>
          </a:bodyPr>
          <a:lstStyle>
            <a:lvl1pPr marL="0" indent="0">
              <a:buNone/>
              <a:defRPr lang="en-US" sz="1400" b="0" kern="1200" cap="all" spc="400" baseline="0" dirty="0" smtClean="0">
                <a:solidFill>
                  <a:schemeClr val="tx1"/>
                </a:solidFill>
                <a:latin typeface="+mn-lt"/>
                <a:ea typeface="+mj-ea"/>
                <a:cs typeface="Tunga" pitchFamily="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00000"/>
              </a:lnSpc>
              <a:spcBef>
                <a:spcPts val="0"/>
              </a:spcBef>
              <a:spcAft>
                <a:spcPts val="0"/>
              </a:spcAft>
              <a:buClr>
                <a:schemeClr val="accent1"/>
              </a:buClr>
              <a:buFont typeface="Arial" pitchFamily="34" charset="0"/>
              <a:buNone/>
            </a:pPr>
            <a:r>
              <a:rPr lang="en-US" smtClean="0"/>
              <a:t>Click to edit Master text styles</a:t>
            </a:r>
          </a:p>
        </p:txBody>
      </p:sp>
      <p:sp>
        <p:nvSpPr>
          <p:cNvPr id="6" name="Content Placeholder 5"/>
          <p:cNvSpPr>
            <a:spLocks noGrp="1"/>
          </p:cNvSpPr>
          <p:nvPr>
            <p:ph sz="quarter" idx="4"/>
          </p:nvPr>
        </p:nvSpPr>
        <p:spPr>
          <a:xfrm>
            <a:off x="4700016" y="1701848"/>
            <a:ext cx="3200400" cy="310896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0730A9A-0305-48DB-AA50-A2444AEF048D}" type="datetimeFigureOut">
              <a:rPr lang="en-AE" smtClean="0"/>
              <a:t>01/09/2023</a:t>
            </a:fld>
            <a:endParaRPr lang="en-AE"/>
          </a:p>
        </p:txBody>
      </p:sp>
      <p:sp>
        <p:nvSpPr>
          <p:cNvPr id="8" name="Footer Placeholder 7"/>
          <p:cNvSpPr>
            <a:spLocks noGrp="1"/>
          </p:cNvSpPr>
          <p:nvPr>
            <p:ph type="ftr" sz="quarter" idx="11"/>
          </p:nvPr>
        </p:nvSpPr>
        <p:spPr/>
        <p:txBody>
          <a:bodyPr/>
          <a:lstStyle/>
          <a:p>
            <a:endParaRPr lang="en-AE"/>
          </a:p>
        </p:txBody>
      </p:sp>
      <p:sp>
        <p:nvSpPr>
          <p:cNvPr id="9" name="Slide Number Placeholder 8"/>
          <p:cNvSpPr>
            <a:spLocks noGrp="1"/>
          </p:cNvSpPr>
          <p:nvPr>
            <p:ph type="sldNum" sz="quarter" idx="12"/>
          </p:nvPr>
        </p:nvSpPr>
        <p:spPr/>
        <p:txBody>
          <a:bodyPr/>
          <a:lstStyle/>
          <a:p>
            <a:fld id="{5656FAC8-C118-4A36-9CD2-E3BBB2477EBD}" type="slidenum">
              <a:rPr lang="en-AE" smtClean="0"/>
              <a:t>‹#›</a:t>
            </a:fld>
            <a:endParaRPr lang="en-A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0730A9A-0305-48DB-AA50-A2444AEF048D}" type="datetimeFigureOut">
              <a:rPr lang="en-AE" smtClean="0"/>
              <a:t>01/09/2023</a:t>
            </a:fld>
            <a:endParaRPr lang="en-AE"/>
          </a:p>
        </p:txBody>
      </p:sp>
      <p:sp>
        <p:nvSpPr>
          <p:cNvPr id="4" name="Footer Placeholder 3"/>
          <p:cNvSpPr>
            <a:spLocks noGrp="1"/>
          </p:cNvSpPr>
          <p:nvPr>
            <p:ph type="ftr" sz="quarter" idx="11"/>
          </p:nvPr>
        </p:nvSpPr>
        <p:spPr/>
        <p:txBody>
          <a:bodyPr/>
          <a:lstStyle/>
          <a:p>
            <a:endParaRPr lang="en-AE"/>
          </a:p>
        </p:txBody>
      </p:sp>
      <p:sp>
        <p:nvSpPr>
          <p:cNvPr id="5" name="Slide Number Placeholder 4"/>
          <p:cNvSpPr>
            <a:spLocks noGrp="1"/>
          </p:cNvSpPr>
          <p:nvPr>
            <p:ph type="sldNum" sz="quarter" idx="12"/>
          </p:nvPr>
        </p:nvSpPr>
        <p:spPr/>
        <p:txBody>
          <a:bodyPr/>
          <a:lstStyle/>
          <a:p>
            <a:fld id="{5656FAC8-C118-4A36-9CD2-E3BBB2477EBD}" type="slidenum">
              <a:rPr lang="en-AE" smtClean="0"/>
              <a:t>‹#›</a:t>
            </a:fld>
            <a:endParaRPr lang="en-A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730A9A-0305-48DB-AA50-A2444AEF048D}" type="datetimeFigureOut">
              <a:rPr lang="en-AE" smtClean="0"/>
              <a:t>01/09/2023</a:t>
            </a:fld>
            <a:endParaRPr lang="en-AE"/>
          </a:p>
        </p:txBody>
      </p:sp>
      <p:sp>
        <p:nvSpPr>
          <p:cNvPr id="3" name="Footer Placeholder 2"/>
          <p:cNvSpPr>
            <a:spLocks noGrp="1"/>
          </p:cNvSpPr>
          <p:nvPr>
            <p:ph type="ftr" sz="quarter" idx="11"/>
          </p:nvPr>
        </p:nvSpPr>
        <p:spPr/>
        <p:txBody>
          <a:bodyPr/>
          <a:lstStyle/>
          <a:p>
            <a:endParaRPr lang="en-AE"/>
          </a:p>
        </p:txBody>
      </p:sp>
      <p:sp>
        <p:nvSpPr>
          <p:cNvPr id="4" name="Slide Number Placeholder 3"/>
          <p:cNvSpPr>
            <a:spLocks noGrp="1"/>
          </p:cNvSpPr>
          <p:nvPr>
            <p:ph type="sldNum" sz="quarter" idx="12"/>
          </p:nvPr>
        </p:nvSpPr>
        <p:spPr/>
        <p:txBody>
          <a:bodyPr/>
          <a:lstStyle/>
          <a:p>
            <a:fld id="{5656FAC8-C118-4A36-9CD2-E3BBB2477EBD}" type="slidenum">
              <a:rPr lang="en-AE" smtClean="0"/>
              <a:t>‹#›</a:t>
            </a:fld>
            <a:endParaRPr lang="en-A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Right Triangle 16"/>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ight Triangle 17"/>
          <p:cNvSpPr/>
          <p:nvPr/>
        </p:nvSpPr>
        <p:spPr>
          <a:xfrm rot="5400000">
            <a:off x="433389" y="-433387"/>
            <a:ext cx="6858000" cy="7724778"/>
          </a:xfrm>
          <a:prstGeom prst="rtTriangle">
            <a:avLst/>
          </a:pr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2" name="Title 1"/>
          <p:cNvSpPr>
            <a:spLocks noGrp="1"/>
          </p:cNvSpPr>
          <p:nvPr>
            <p:ph type="title"/>
          </p:nvPr>
        </p:nvSpPr>
        <p:spPr>
          <a:xfrm rot="19140000">
            <a:off x="784930" y="1576103"/>
            <a:ext cx="5212080" cy="1089427"/>
          </a:xfrm>
        </p:spPr>
        <p:txBody>
          <a:bodyPr bIns="0" anchor="b"/>
          <a:lstStyle>
            <a:lvl1pPr algn="l">
              <a:defRPr kumimoji="0" lang="en-US" sz="2800" b="0" i="0" u="none" strike="noStrike" kern="1200" cap="all" spc="0" normalizeH="0" baseline="0" noProof="0" dirty="0" smtClean="0">
                <a:ln>
                  <a:noFill/>
                </a:ln>
                <a:solidFill>
                  <a:srgbClr val="FFFFFF"/>
                </a:solidFill>
                <a:effectLst/>
                <a:uLnTx/>
                <a:uFillTx/>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title style</a:t>
            </a:r>
            <a:endParaRPr lang="en-US" dirty="0"/>
          </a:p>
        </p:txBody>
      </p:sp>
      <p:sp>
        <p:nvSpPr>
          <p:cNvPr id="3" name="Content Placeholder 2"/>
          <p:cNvSpPr>
            <a:spLocks noGrp="1"/>
          </p:cNvSpPr>
          <p:nvPr>
            <p:ph idx="1"/>
          </p:nvPr>
        </p:nvSpPr>
        <p:spPr>
          <a:xfrm>
            <a:off x="4749552" y="2618912"/>
            <a:ext cx="3807779" cy="332468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rot="19140000">
            <a:off x="1297954" y="2253385"/>
            <a:ext cx="5794760" cy="623314"/>
          </a:xfrm>
        </p:spPr>
        <p:txBody>
          <a:bodyPr>
            <a:normAutofit/>
          </a:bodyPr>
          <a:lstStyle>
            <a:lvl1pPr marL="0" indent="0">
              <a:buNone/>
              <a:defRPr lang="en-US" sz="1400" b="1" kern="1200" dirty="0" smtClean="0">
                <a:solidFill>
                  <a:srgbClr val="FFFFFF"/>
                </a:solidFill>
                <a:latin typeface="+mn-lt"/>
                <a:ea typeface="+mn-ea"/>
                <a:cs typeface="+mn-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300"/>
              </a:spcBef>
              <a:spcAft>
                <a:spcPts val="0"/>
              </a:spcAft>
              <a:buClr>
                <a:schemeClr val="accent1"/>
              </a:buClr>
              <a:buSzPct val="100000"/>
              <a:buFont typeface="Arial" pitchFamily="34" charset="0"/>
              <a:buNone/>
              <a:tabLst/>
              <a:defRPr/>
            </a:pPr>
            <a:r>
              <a:rPr lang="en-US" smtClean="0"/>
              <a:t>Click to edit Master text styles</a:t>
            </a:r>
          </a:p>
        </p:txBody>
      </p:sp>
      <p:sp>
        <p:nvSpPr>
          <p:cNvPr id="5" name="Date Placeholder 4"/>
          <p:cNvSpPr>
            <a:spLocks noGrp="1"/>
          </p:cNvSpPr>
          <p:nvPr>
            <p:ph type="dt" sz="half" idx="10"/>
          </p:nvPr>
        </p:nvSpPr>
        <p:spPr/>
        <p:txBody>
          <a:bodyPr/>
          <a:lstStyle/>
          <a:p>
            <a:fld id="{40730A9A-0305-48DB-AA50-A2444AEF048D}" type="datetimeFigureOut">
              <a:rPr lang="en-AE" smtClean="0"/>
              <a:t>01/09/2023</a:t>
            </a:fld>
            <a:endParaRPr lang="en-AE"/>
          </a:p>
        </p:txBody>
      </p:sp>
      <p:sp>
        <p:nvSpPr>
          <p:cNvPr id="6" name="Footer Placeholder 5"/>
          <p:cNvSpPr>
            <a:spLocks noGrp="1"/>
          </p:cNvSpPr>
          <p:nvPr>
            <p:ph type="ftr" sz="quarter" idx="11"/>
          </p:nvPr>
        </p:nvSpPr>
        <p:spPr/>
        <p:txBody>
          <a:bodyPr/>
          <a:lstStyle>
            <a:lvl1pPr>
              <a:defRPr>
                <a:solidFill>
                  <a:schemeClr val="tx2"/>
                </a:solidFill>
              </a:defRPr>
            </a:lvl1pPr>
          </a:lstStyle>
          <a:p>
            <a:endParaRPr lang="en-AE"/>
          </a:p>
        </p:txBody>
      </p:sp>
      <p:sp>
        <p:nvSpPr>
          <p:cNvPr id="7" name="Slide Number Placeholder 6"/>
          <p:cNvSpPr>
            <a:spLocks noGrp="1"/>
          </p:cNvSpPr>
          <p:nvPr>
            <p:ph type="sldNum" sz="quarter" idx="12"/>
          </p:nvPr>
        </p:nvSpPr>
        <p:spPr>
          <a:ln>
            <a:solidFill>
              <a:schemeClr val="tx2"/>
            </a:solidFill>
          </a:ln>
        </p:spPr>
        <p:txBody>
          <a:bodyPr/>
          <a:lstStyle>
            <a:lvl1pPr>
              <a:defRPr>
                <a:solidFill>
                  <a:schemeClr val="tx2"/>
                </a:solidFill>
              </a:defRPr>
            </a:lvl1pPr>
          </a:lstStyle>
          <a:p>
            <a:fld id="{5656FAC8-C118-4A36-9CD2-E3BBB2477EBD}" type="slidenum">
              <a:rPr lang="en-AE" smtClean="0"/>
              <a:t>‹#›</a:t>
            </a:fld>
            <a:endParaRPr lang="en-A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Picture Placeholder 10"/>
          <p:cNvSpPr>
            <a:spLocks noGrp="1"/>
          </p:cNvSpPr>
          <p:nvPr>
            <p:ph type="pic" sz="quarter" idx="14"/>
          </p:nvPr>
        </p:nvSpPr>
        <p:spPr>
          <a:xfrm>
            <a:off x="2028825" y="0"/>
            <a:ext cx="7115175" cy="6858000"/>
          </a:xfrm>
          <a:custGeom>
            <a:avLst/>
            <a:gdLst>
              <a:gd name="connsiteX0" fmla="*/ 0 w 7104888"/>
              <a:gd name="connsiteY0" fmla="*/ 0 h 6858000"/>
              <a:gd name="connsiteX1" fmla="*/ 7104888 w 7104888"/>
              <a:gd name="connsiteY1" fmla="*/ 0 h 6858000"/>
              <a:gd name="connsiteX2" fmla="*/ 7104888 w 7104888"/>
              <a:gd name="connsiteY2" fmla="*/ 6858000 h 6858000"/>
              <a:gd name="connsiteX3" fmla="*/ 0 w 7104888"/>
              <a:gd name="connsiteY3" fmla="*/ 6858000 h 6858000"/>
              <a:gd name="connsiteX4" fmla="*/ 0 w 7104888"/>
              <a:gd name="connsiteY4" fmla="*/ 0 h 6858000"/>
              <a:gd name="connsiteX0" fmla="*/ 0 w 7104888"/>
              <a:gd name="connsiteY0" fmla="*/ 0 h 6858000"/>
              <a:gd name="connsiteX1" fmla="*/ 5695188 w 7104888"/>
              <a:gd name="connsiteY1" fmla="*/ 0 h 6858000"/>
              <a:gd name="connsiteX2" fmla="*/ 7104888 w 7104888"/>
              <a:gd name="connsiteY2" fmla="*/ 0 h 6858000"/>
              <a:gd name="connsiteX3" fmla="*/ 7104888 w 7104888"/>
              <a:gd name="connsiteY3" fmla="*/ 6858000 h 6858000"/>
              <a:gd name="connsiteX4" fmla="*/ 0 w 7104888"/>
              <a:gd name="connsiteY4" fmla="*/ 6858000 h 6858000"/>
              <a:gd name="connsiteX5" fmla="*/ 0 w 7104888"/>
              <a:gd name="connsiteY5"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0287 w 7115175"/>
              <a:gd name="connsiteY4" fmla="*/ 6858000 h 6858000"/>
              <a:gd name="connsiteX5" fmla="*/ 0 w 7115175"/>
              <a:gd name="connsiteY5" fmla="*/ 5048250 h 6858000"/>
              <a:gd name="connsiteX6" fmla="*/ 10287 w 7115175"/>
              <a:gd name="connsiteY6"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10287 w 7115175"/>
              <a:gd name="connsiteY5" fmla="*/ 6858000 h 6858000"/>
              <a:gd name="connsiteX6" fmla="*/ 0 w 7115175"/>
              <a:gd name="connsiteY6" fmla="*/ 5048250 h 6858000"/>
              <a:gd name="connsiteX7" fmla="*/ 10287 w 7115175"/>
              <a:gd name="connsiteY7" fmla="*/ 0 h 6858000"/>
              <a:gd name="connsiteX0" fmla="*/ 10287 w 7115175"/>
              <a:gd name="connsiteY0" fmla="*/ 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 name="connsiteX6" fmla="*/ 10287 w 7115175"/>
              <a:gd name="connsiteY6" fmla="*/ 0 h 6858000"/>
              <a:gd name="connsiteX0" fmla="*/ 0 w 7115175"/>
              <a:gd name="connsiteY0" fmla="*/ 5048250 h 6858000"/>
              <a:gd name="connsiteX1" fmla="*/ 5705475 w 7115175"/>
              <a:gd name="connsiteY1" fmla="*/ 0 h 6858000"/>
              <a:gd name="connsiteX2" fmla="*/ 7115175 w 7115175"/>
              <a:gd name="connsiteY2" fmla="*/ 0 h 6858000"/>
              <a:gd name="connsiteX3" fmla="*/ 7115175 w 7115175"/>
              <a:gd name="connsiteY3" fmla="*/ 6858000 h 6858000"/>
              <a:gd name="connsiteX4" fmla="*/ 1533526 w 7115175"/>
              <a:gd name="connsiteY4" fmla="*/ 6848475 h 6858000"/>
              <a:gd name="connsiteX5" fmla="*/ 0 w 7115175"/>
              <a:gd name="connsiteY5" fmla="*/ 504825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115175" h="6858000">
                <a:moveTo>
                  <a:pt x="0" y="5048250"/>
                </a:moveTo>
                <a:lnTo>
                  <a:pt x="5705475" y="0"/>
                </a:lnTo>
                <a:lnTo>
                  <a:pt x="7115175" y="0"/>
                </a:lnTo>
                <a:lnTo>
                  <a:pt x="7115175" y="6858000"/>
                </a:lnTo>
                <a:lnTo>
                  <a:pt x="1533526" y="6848475"/>
                </a:lnTo>
                <a:lnTo>
                  <a:pt x="0" y="5048250"/>
                </a:lnTo>
                <a:close/>
              </a:path>
            </a:pathLst>
          </a:custGeom>
          <a:solidFill>
            <a:schemeClr val="accent3">
              <a:alpha val="80000"/>
            </a:schemeClr>
          </a:solidFill>
        </p:spPr>
        <p:txBody>
          <a:bodyPr rIns="182880" anchor="ctr"/>
          <a:lstStyle>
            <a:lvl1pPr algn="r">
              <a:defRPr/>
            </a:lvl1pPr>
          </a:lstStyle>
          <a:p>
            <a:r>
              <a:rPr lang="en-US" smtClean="0"/>
              <a:t>Click icon to add picture</a:t>
            </a:r>
            <a:endParaRPr lang="en-US" dirty="0"/>
          </a:p>
        </p:txBody>
      </p:sp>
      <p:sp>
        <p:nvSpPr>
          <p:cNvPr id="9" name="Right Triangle 8"/>
          <p:cNvSpPr/>
          <p:nvPr/>
        </p:nvSpPr>
        <p:spPr>
          <a:xfrm>
            <a:off x="0" y="2647950"/>
            <a:ext cx="3571875" cy="4210050"/>
          </a:xfrm>
          <a:prstGeom prst="r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9"/>
          <p:cNvSpPr/>
          <p:nvPr/>
        </p:nvSpPr>
        <p:spPr>
          <a:xfrm>
            <a:off x="0" y="5048250"/>
            <a:ext cx="3571875" cy="1809750"/>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1809750 h 1809750"/>
              <a:gd name="connsiteX1" fmla="*/ 1895475 w 3571875"/>
              <a:gd name="connsiteY1" fmla="*/ 0 h 1809750"/>
              <a:gd name="connsiteX2" fmla="*/ 3571875 w 3571875"/>
              <a:gd name="connsiteY2" fmla="*/ 1809750 h 1809750"/>
              <a:gd name="connsiteX3" fmla="*/ 0 w 3571875"/>
              <a:gd name="connsiteY3" fmla="*/ 1809750 h 1809750"/>
              <a:gd name="connsiteX0" fmla="*/ 0 w 3571875"/>
              <a:gd name="connsiteY0" fmla="*/ 1809750 h 1809750"/>
              <a:gd name="connsiteX1" fmla="*/ 2038350 w 3571875"/>
              <a:gd name="connsiteY1" fmla="*/ 0 h 1809750"/>
              <a:gd name="connsiteX2" fmla="*/ 3571875 w 3571875"/>
              <a:gd name="connsiteY2" fmla="*/ 1809750 h 1809750"/>
              <a:gd name="connsiteX3" fmla="*/ 0 w 3571875"/>
              <a:gd name="connsiteY3" fmla="*/ 1809750 h 1809750"/>
            </a:gdLst>
            <a:ahLst/>
            <a:cxnLst>
              <a:cxn ang="0">
                <a:pos x="connsiteX0" y="connsiteY0"/>
              </a:cxn>
              <a:cxn ang="0">
                <a:pos x="connsiteX1" y="connsiteY1"/>
              </a:cxn>
              <a:cxn ang="0">
                <a:pos x="connsiteX2" y="connsiteY2"/>
              </a:cxn>
              <a:cxn ang="0">
                <a:pos x="connsiteX3" y="connsiteY3"/>
              </a:cxn>
            </a:cxnLst>
            <a:rect l="l" t="t" r="r" b="b"/>
            <a:pathLst>
              <a:path w="3571875" h="1809750">
                <a:moveTo>
                  <a:pt x="0" y="1809750"/>
                </a:moveTo>
                <a:lnTo>
                  <a:pt x="2038350" y="0"/>
                </a:lnTo>
                <a:lnTo>
                  <a:pt x="3571875" y="1809750"/>
                </a:lnTo>
                <a:lnTo>
                  <a:pt x="0" y="1809750"/>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rot="19140000">
            <a:off x="671197" y="1717501"/>
            <a:ext cx="5486400" cy="867444"/>
          </a:xfrm>
        </p:spPr>
        <p:txBody>
          <a:bodyPr anchor="b"/>
          <a:lstStyle>
            <a:lvl1pPr algn="l">
              <a:defRPr sz="2800" b="0">
                <a:latin typeface="+mj-lt"/>
              </a:defRPr>
            </a:lvl1pPr>
          </a:lstStyle>
          <a:p>
            <a:r>
              <a:rPr lang="en-US" smtClean="0"/>
              <a:t>Click to edit Master title style</a:t>
            </a:r>
            <a:endParaRPr lang="en-US" dirty="0"/>
          </a:p>
        </p:txBody>
      </p:sp>
      <p:sp>
        <p:nvSpPr>
          <p:cNvPr id="4" name="Text Placeholder 3"/>
          <p:cNvSpPr>
            <a:spLocks noGrp="1"/>
          </p:cNvSpPr>
          <p:nvPr>
            <p:ph type="body" sz="half" idx="2"/>
          </p:nvPr>
        </p:nvSpPr>
        <p:spPr>
          <a:xfrm rot="19140000">
            <a:off x="1143479" y="2180529"/>
            <a:ext cx="6096545" cy="740664"/>
          </a:xfrm>
        </p:spPr>
        <p:txBody>
          <a:bodyPr/>
          <a:lstStyle>
            <a:lvl1pPr marL="0" indent="0">
              <a:buNone/>
              <a:defRPr sz="14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0730A9A-0305-48DB-AA50-A2444AEF048D}" type="datetimeFigureOut">
              <a:rPr lang="en-AE" smtClean="0"/>
              <a:t>01/09/2023</a:t>
            </a:fld>
            <a:endParaRPr lang="en-AE"/>
          </a:p>
        </p:txBody>
      </p:sp>
      <p:sp>
        <p:nvSpPr>
          <p:cNvPr id="6" name="Footer Placeholder 5"/>
          <p:cNvSpPr>
            <a:spLocks noGrp="1"/>
          </p:cNvSpPr>
          <p:nvPr>
            <p:ph type="ftr" sz="quarter" idx="11"/>
          </p:nvPr>
        </p:nvSpPr>
        <p:spPr/>
        <p:txBody>
          <a:bodyPr/>
          <a:lstStyle/>
          <a:p>
            <a:endParaRPr lang="en-AE"/>
          </a:p>
        </p:txBody>
      </p:sp>
      <p:sp>
        <p:nvSpPr>
          <p:cNvPr id="7" name="Slide Number Placeholder 6"/>
          <p:cNvSpPr>
            <a:spLocks noGrp="1"/>
          </p:cNvSpPr>
          <p:nvPr>
            <p:ph type="sldNum" sz="quarter" idx="12"/>
          </p:nvPr>
        </p:nvSpPr>
        <p:spPr/>
        <p:txBody>
          <a:bodyPr/>
          <a:lstStyle/>
          <a:p>
            <a:fld id="{5656FAC8-C118-4A36-9CD2-E3BBB2477EBD}" type="slidenum">
              <a:rPr lang="en-AE" smtClean="0"/>
              <a:t>‹#›</a:t>
            </a:fld>
            <a:endParaRPr lang="en-A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730A9A-0305-48DB-AA50-A2444AEF048D}" type="datetimeFigureOut">
              <a:rPr lang="en-AE" smtClean="0"/>
              <a:t>01/09/2023</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5656FAC8-C118-4A36-9CD2-E3BBB2477EBD}" type="slidenum">
              <a:rPr lang="en-AE" smtClean="0"/>
              <a:t>‹#›</a:t>
            </a:fld>
            <a:endParaRPr lang="en-A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46783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9"/>
            <a:ext cx="6019800" cy="46783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0730A9A-0305-48DB-AA50-A2444AEF048D}" type="datetimeFigureOut">
              <a:rPr lang="en-AE" smtClean="0"/>
              <a:t>01/09/2023</a:t>
            </a:fld>
            <a:endParaRPr lang="en-AE"/>
          </a:p>
        </p:txBody>
      </p:sp>
      <p:sp>
        <p:nvSpPr>
          <p:cNvPr id="5" name="Footer Placeholder 4"/>
          <p:cNvSpPr>
            <a:spLocks noGrp="1"/>
          </p:cNvSpPr>
          <p:nvPr>
            <p:ph type="ftr" sz="quarter" idx="11"/>
          </p:nvPr>
        </p:nvSpPr>
        <p:spPr/>
        <p:txBody>
          <a:bodyPr/>
          <a:lstStyle/>
          <a:p>
            <a:endParaRPr lang="en-AE"/>
          </a:p>
        </p:txBody>
      </p:sp>
      <p:sp>
        <p:nvSpPr>
          <p:cNvPr id="6" name="Slide Number Placeholder 5"/>
          <p:cNvSpPr>
            <a:spLocks noGrp="1"/>
          </p:cNvSpPr>
          <p:nvPr>
            <p:ph type="sldNum" sz="quarter" idx="12"/>
          </p:nvPr>
        </p:nvSpPr>
        <p:spPr/>
        <p:txBody>
          <a:bodyPr/>
          <a:lstStyle/>
          <a:p>
            <a:fld id="{5656FAC8-C118-4A36-9CD2-E3BBB2477EBD}" type="slidenum">
              <a:rPr lang="en-AE" smtClean="0"/>
              <a:t>‹#›</a:t>
            </a:fld>
            <a:endParaRPr lang="en-AE"/>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p:nvPr/>
        </p:nvSpPr>
        <p:spPr>
          <a:xfrm>
            <a:off x="-2382" y="5050633"/>
            <a:ext cx="3574257" cy="1807368"/>
          </a:xfrm>
          <a:custGeom>
            <a:avLst/>
            <a:gdLst>
              <a:gd name="connsiteX0" fmla="*/ 0 w 3571875"/>
              <a:gd name="connsiteY0" fmla="*/ 4210050 h 4210050"/>
              <a:gd name="connsiteX1" fmla="*/ 0 w 3571875"/>
              <a:gd name="connsiteY1" fmla="*/ 0 h 4210050"/>
              <a:gd name="connsiteX2" fmla="*/ 3571875 w 3571875"/>
              <a:gd name="connsiteY2" fmla="*/ 4210050 h 4210050"/>
              <a:gd name="connsiteX3" fmla="*/ 0 w 3571875"/>
              <a:gd name="connsiteY3" fmla="*/ 4210050 h 4210050"/>
              <a:gd name="connsiteX0" fmla="*/ 0 w 3571875"/>
              <a:gd name="connsiteY0" fmla="*/ 4210050 h 4210050"/>
              <a:gd name="connsiteX1" fmla="*/ 0 w 3571875"/>
              <a:gd name="connsiteY1" fmla="*/ 0 h 4210050"/>
              <a:gd name="connsiteX2" fmla="*/ 2028825 w 3571875"/>
              <a:gd name="connsiteY2" fmla="*/ 23883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050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281238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28825 w 3571875"/>
              <a:gd name="connsiteY2" fmla="*/ 2393157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76450 w 3571875"/>
              <a:gd name="connsiteY2" fmla="*/ 2274094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245519 w 3571875"/>
              <a:gd name="connsiteY2" fmla="*/ 2405063 h 4210050"/>
              <a:gd name="connsiteX3" fmla="*/ 3571875 w 3571875"/>
              <a:gd name="connsiteY3" fmla="*/ 4210050 h 4210050"/>
              <a:gd name="connsiteX4" fmla="*/ 0 w 3571875"/>
              <a:gd name="connsiteY4" fmla="*/ 4210050 h 4210050"/>
              <a:gd name="connsiteX0" fmla="*/ 0 w 3571875"/>
              <a:gd name="connsiteY0" fmla="*/ 4210050 h 4210050"/>
              <a:gd name="connsiteX1" fmla="*/ 0 w 3571875"/>
              <a:gd name="connsiteY1" fmla="*/ 0 h 4210050"/>
              <a:gd name="connsiteX2" fmla="*/ 2038350 w 3571875"/>
              <a:gd name="connsiteY2" fmla="*/ 2405063 h 4210050"/>
              <a:gd name="connsiteX3" fmla="*/ 3571875 w 3571875"/>
              <a:gd name="connsiteY3" fmla="*/ 4210050 h 4210050"/>
              <a:gd name="connsiteX4" fmla="*/ 0 w 3571875"/>
              <a:gd name="connsiteY4" fmla="*/ 4210050 h 4210050"/>
              <a:gd name="connsiteX0" fmla="*/ 0 w 3571875"/>
              <a:gd name="connsiteY0" fmla="*/ 2433637 h 2433637"/>
              <a:gd name="connsiteX1" fmla="*/ 257175 w 3571875"/>
              <a:gd name="connsiteY1" fmla="*/ 0 h 2433637"/>
              <a:gd name="connsiteX2" fmla="*/ 2038350 w 3571875"/>
              <a:gd name="connsiteY2" fmla="*/ 628650 h 2433637"/>
              <a:gd name="connsiteX3" fmla="*/ 3571875 w 3571875"/>
              <a:gd name="connsiteY3" fmla="*/ 2433637 h 2433637"/>
              <a:gd name="connsiteX4" fmla="*/ 0 w 3571875"/>
              <a:gd name="connsiteY4" fmla="*/ 2433637 h 2433637"/>
              <a:gd name="connsiteX0" fmla="*/ 2382 w 3574257"/>
              <a:gd name="connsiteY0" fmla="*/ 1807368 h 1807368"/>
              <a:gd name="connsiteX1" fmla="*/ 0 w 3574257"/>
              <a:gd name="connsiteY1" fmla="*/ 0 h 1807368"/>
              <a:gd name="connsiteX2" fmla="*/ 2040732 w 3574257"/>
              <a:gd name="connsiteY2" fmla="*/ 2381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24051 w 3574257"/>
              <a:gd name="connsiteY2" fmla="*/ 307181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40682 w 3574257"/>
              <a:gd name="connsiteY2" fmla="*/ 450057 h 1807368"/>
              <a:gd name="connsiteX3" fmla="*/ 3574257 w 3574257"/>
              <a:gd name="connsiteY3" fmla="*/ 1807368 h 1807368"/>
              <a:gd name="connsiteX4" fmla="*/ 2382 w 3574257"/>
              <a:gd name="connsiteY4" fmla="*/ 1807368 h 1807368"/>
              <a:gd name="connsiteX0" fmla="*/ 2382 w 3574257"/>
              <a:gd name="connsiteY0" fmla="*/ 1809749 h 1809749"/>
              <a:gd name="connsiteX1" fmla="*/ 0 w 3574257"/>
              <a:gd name="connsiteY1" fmla="*/ 2381 h 1809749"/>
              <a:gd name="connsiteX2" fmla="*/ 2038351 w 3574257"/>
              <a:gd name="connsiteY2" fmla="*/ 0 h 1809749"/>
              <a:gd name="connsiteX3" fmla="*/ 3574257 w 3574257"/>
              <a:gd name="connsiteY3" fmla="*/ 1809749 h 1809749"/>
              <a:gd name="connsiteX4" fmla="*/ 2382 w 3574257"/>
              <a:gd name="connsiteY4" fmla="*/ 1809749 h 1809749"/>
              <a:gd name="connsiteX0" fmla="*/ 2382 w 3574257"/>
              <a:gd name="connsiteY0" fmla="*/ 1807368 h 1807368"/>
              <a:gd name="connsiteX1" fmla="*/ 0 w 3574257"/>
              <a:gd name="connsiteY1" fmla="*/ 0 h 1807368"/>
              <a:gd name="connsiteX2" fmla="*/ 1657351 w 3574257"/>
              <a:gd name="connsiteY2" fmla="*/ 2309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0732 w 3574257"/>
              <a:gd name="connsiteY2" fmla="*/ 238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774032 w 3574257"/>
              <a:gd name="connsiteY2" fmla="*/ 161925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969294 w 3574257"/>
              <a:gd name="connsiteY2" fmla="*/ 21432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1819275 w 3574257"/>
              <a:gd name="connsiteY2" fmla="*/ 200026 h 1807368"/>
              <a:gd name="connsiteX3" fmla="*/ 3574257 w 3574257"/>
              <a:gd name="connsiteY3" fmla="*/ 1807368 h 1807368"/>
              <a:gd name="connsiteX4" fmla="*/ 2382 w 3574257"/>
              <a:gd name="connsiteY4" fmla="*/ 1807368 h 1807368"/>
              <a:gd name="connsiteX0" fmla="*/ 2382 w 3574257"/>
              <a:gd name="connsiteY0" fmla="*/ 1807368 h 1807368"/>
              <a:gd name="connsiteX1" fmla="*/ 0 w 3574257"/>
              <a:gd name="connsiteY1" fmla="*/ 0 h 1807368"/>
              <a:gd name="connsiteX2" fmla="*/ 2045494 w 3574257"/>
              <a:gd name="connsiteY2" fmla="*/ 1 h 1807368"/>
              <a:gd name="connsiteX3" fmla="*/ 3574257 w 3574257"/>
              <a:gd name="connsiteY3" fmla="*/ 1807368 h 1807368"/>
              <a:gd name="connsiteX4" fmla="*/ 2382 w 3574257"/>
              <a:gd name="connsiteY4" fmla="*/ 1807368 h 18073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74257" h="1807368">
                <a:moveTo>
                  <a:pt x="2382" y="1807368"/>
                </a:moveTo>
                <a:lnTo>
                  <a:pt x="0" y="0"/>
                </a:lnTo>
                <a:lnTo>
                  <a:pt x="2045494" y="1"/>
                </a:lnTo>
                <a:lnTo>
                  <a:pt x="3574257" y="1807368"/>
                </a:lnTo>
                <a:lnTo>
                  <a:pt x="2382" y="180736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p:cNvSpPr/>
          <p:nvPr/>
        </p:nvSpPr>
        <p:spPr>
          <a:xfrm>
            <a:off x="-2380" y="5051292"/>
            <a:ext cx="9146380" cy="1806709"/>
          </a:xfrm>
          <a:custGeom>
            <a:avLst/>
            <a:gdLst>
              <a:gd name="connsiteX0" fmla="*/ 0 w 3350419"/>
              <a:gd name="connsiteY0" fmla="*/ 2081213 h 2083594"/>
              <a:gd name="connsiteX1" fmla="*/ 3031331 w 3350419"/>
              <a:gd name="connsiteY1" fmla="*/ 0 h 2083594"/>
              <a:gd name="connsiteX2" fmla="*/ 3350419 w 3350419"/>
              <a:gd name="connsiteY2" fmla="*/ 80963 h 2083594"/>
              <a:gd name="connsiteX3" fmla="*/ 3350419 w 3350419"/>
              <a:gd name="connsiteY3" fmla="*/ 2083594 h 2083594"/>
              <a:gd name="connsiteX4" fmla="*/ 0 w 3350419"/>
              <a:gd name="connsiteY4" fmla="*/ 2081213 h 2083594"/>
              <a:gd name="connsiteX0" fmla="*/ 0 w 3112294"/>
              <a:gd name="connsiteY0" fmla="*/ 2019301 h 2083594"/>
              <a:gd name="connsiteX1" fmla="*/ 2793206 w 3112294"/>
              <a:gd name="connsiteY1" fmla="*/ 0 h 2083594"/>
              <a:gd name="connsiteX2" fmla="*/ 3112294 w 3112294"/>
              <a:gd name="connsiteY2" fmla="*/ 80963 h 2083594"/>
              <a:gd name="connsiteX3" fmla="*/ 3112294 w 3112294"/>
              <a:gd name="connsiteY3" fmla="*/ 2083594 h 2083594"/>
              <a:gd name="connsiteX4" fmla="*/ 0 w 3112294"/>
              <a:gd name="connsiteY4" fmla="*/ 2019301 h 2083594"/>
              <a:gd name="connsiteX0" fmla="*/ 0 w 3345656"/>
              <a:gd name="connsiteY0" fmla="*/ 2097882 h 2097882"/>
              <a:gd name="connsiteX1" fmla="*/ 3026568 w 3345656"/>
              <a:gd name="connsiteY1" fmla="*/ 0 h 2097882"/>
              <a:gd name="connsiteX2" fmla="*/ 3345656 w 3345656"/>
              <a:gd name="connsiteY2" fmla="*/ 80963 h 2097882"/>
              <a:gd name="connsiteX3" fmla="*/ 3345656 w 3345656"/>
              <a:gd name="connsiteY3" fmla="*/ 2083594 h 2097882"/>
              <a:gd name="connsiteX4" fmla="*/ 0 w 3345656"/>
              <a:gd name="connsiteY4" fmla="*/ 2097882 h 2097882"/>
              <a:gd name="connsiteX0" fmla="*/ 0 w 2800350"/>
              <a:gd name="connsiteY0" fmla="*/ 1935957 h 2083594"/>
              <a:gd name="connsiteX1" fmla="*/ 2481262 w 2800350"/>
              <a:gd name="connsiteY1" fmla="*/ 0 h 2083594"/>
              <a:gd name="connsiteX2" fmla="*/ 2800350 w 2800350"/>
              <a:gd name="connsiteY2" fmla="*/ 80963 h 2083594"/>
              <a:gd name="connsiteX3" fmla="*/ 2800350 w 2800350"/>
              <a:gd name="connsiteY3" fmla="*/ 2083594 h 2083594"/>
              <a:gd name="connsiteX4" fmla="*/ 0 w 2800350"/>
              <a:gd name="connsiteY4" fmla="*/ 1935957 h 2083594"/>
              <a:gd name="connsiteX0" fmla="*/ 0 w 3352800"/>
              <a:gd name="connsiteY0" fmla="*/ 2083594 h 2083594"/>
              <a:gd name="connsiteX1" fmla="*/ 3033712 w 3352800"/>
              <a:gd name="connsiteY1" fmla="*/ 0 h 2083594"/>
              <a:gd name="connsiteX2" fmla="*/ 3352800 w 3352800"/>
              <a:gd name="connsiteY2" fmla="*/ 80963 h 2083594"/>
              <a:gd name="connsiteX3" fmla="*/ 3352800 w 3352800"/>
              <a:gd name="connsiteY3" fmla="*/ 2083594 h 2083594"/>
              <a:gd name="connsiteX4" fmla="*/ 0 w 3352800"/>
              <a:gd name="connsiteY4" fmla="*/ 2083594 h 2083594"/>
              <a:gd name="connsiteX0" fmla="*/ 0 w 3352800"/>
              <a:gd name="connsiteY0" fmla="*/ 2002631 h 2002631"/>
              <a:gd name="connsiteX1" fmla="*/ 3033712 w 3352800"/>
              <a:gd name="connsiteY1" fmla="*/ 15716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988469 w 3352800"/>
              <a:gd name="connsiteY1" fmla="*/ 59530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3966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45314 w 3352800"/>
              <a:gd name="connsiteY1" fmla="*/ 1224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34839 w 3352800"/>
              <a:gd name="connsiteY1" fmla="*/ 425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631 h 2002631"/>
              <a:gd name="connsiteX1" fmla="*/ 2875865 w 3352800"/>
              <a:gd name="connsiteY1" fmla="*/ 81782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2002901 h 2002901"/>
              <a:gd name="connsiteX1" fmla="*/ 2836585 w 3352800"/>
              <a:gd name="connsiteY1" fmla="*/ 0 h 2002901"/>
              <a:gd name="connsiteX2" fmla="*/ 3352800 w 3352800"/>
              <a:gd name="connsiteY2" fmla="*/ 270 h 2002901"/>
              <a:gd name="connsiteX3" fmla="*/ 3352800 w 3352800"/>
              <a:gd name="connsiteY3" fmla="*/ 2002901 h 2002901"/>
              <a:gd name="connsiteX4" fmla="*/ 0 w 3352800"/>
              <a:gd name="connsiteY4" fmla="*/ 2002901 h 2002901"/>
              <a:gd name="connsiteX0" fmla="*/ 0 w 3352800"/>
              <a:gd name="connsiteY0" fmla="*/ 2002631 h 2002631"/>
              <a:gd name="connsiteX1" fmla="*/ 754045 w 3352800"/>
              <a:gd name="connsiteY1" fmla="*/ 1468326 h 2002631"/>
              <a:gd name="connsiteX2" fmla="*/ 3352800 w 3352800"/>
              <a:gd name="connsiteY2" fmla="*/ 0 h 2002631"/>
              <a:gd name="connsiteX3" fmla="*/ 3352800 w 3352800"/>
              <a:gd name="connsiteY3" fmla="*/ 2002631 h 2002631"/>
              <a:gd name="connsiteX4" fmla="*/ 0 w 3352800"/>
              <a:gd name="connsiteY4" fmla="*/ 2002631 h 2002631"/>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34305 h 534305"/>
              <a:gd name="connsiteX1" fmla="*/ 754045 w 3352800"/>
              <a:gd name="connsiteY1" fmla="*/ 0 h 534305"/>
              <a:gd name="connsiteX2" fmla="*/ 3352800 w 3352800"/>
              <a:gd name="connsiteY2" fmla="*/ 7687 h 534305"/>
              <a:gd name="connsiteX3" fmla="*/ 3352800 w 3352800"/>
              <a:gd name="connsiteY3" fmla="*/ 534305 h 534305"/>
              <a:gd name="connsiteX4" fmla="*/ 0 w 3352800"/>
              <a:gd name="connsiteY4" fmla="*/ 534305 h 534305"/>
              <a:gd name="connsiteX0" fmla="*/ 0 w 3352800"/>
              <a:gd name="connsiteY0" fmla="*/ 526618 h 526618"/>
              <a:gd name="connsiteX1" fmla="*/ 980611 w 3352800"/>
              <a:gd name="connsiteY1" fmla="*/ 9368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6888 h 526888"/>
              <a:gd name="connsiteX1" fmla="*/ 744735 w 3352800"/>
              <a:gd name="connsiteY1" fmla="*/ 0 h 526888"/>
              <a:gd name="connsiteX2" fmla="*/ 3352800 w 3352800"/>
              <a:gd name="connsiteY2" fmla="*/ 270 h 526888"/>
              <a:gd name="connsiteX3" fmla="*/ 3352800 w 3352800"/>
              <a:gd name="connsiteY3" fmla="*/ 526888 h 526888"/>
              <a:gd name="connsiteX4" fmla="*/ 0 w 3352800"/>
              <a:gd name="connsiteY4" fmla="*/ 526888 h 526888"/>
              <a:gd name="connsiteX0" fmla="*/ 0 w 3352800"/>
              <a:gd name="connsiteY0" fmla="*/ 526618 h 526618"/>
              <a:gd name="connsiteX1" fmla="*/ 811948 w 3352800"/>
              <a:gd name="connsiteY1" fmla="*/ 60921 h 526618"/>
              <a:gd name="connsiteX2" fmla="*/ 3352800 w 3352800"/>
              <a:gd name="connsiteY2" fmla="*/ 0 h 526618"/>
              <a:gd name="connsiteX3" fmla="*/ 3352800 w 3352800"/>
              <a:gd name="connsiteY3" fmla="*/ 526618 h 526618"/>
              <a:gd name="connsiteX4" fmla="*/ 0 w 3352800"/>
              <a:gd name="connsiteY4" fmla="*/ 526618 h 526618"/>
              <a:gd name="connsiteX0" fmla="*/ 0 w 3352800"/>
              <a:gd name="connsiteY0" fmla="*/ 527584 h 527584"/>
              <a:gd name="connsiteX1" fmla="*/ 751718 w 3352800"/>
              <a:gd name="connsiteY1" fmla="*/ 0 h 527584"/>
              <a:gd name="connsiteX2" fmla="*/ 3352800 w 3352800"/>
              <a:gd name="connsiteY2" fmla="*/ 966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241069 w 3352800"/>
              <a:gd name="connsiteY2" fmla="*/ 94144 h 527584"/>
              <a:gd name="connsiteX3" fmla="*/ 3352800 w 3352800"/>
              <a:gd name="connsiteY3" fmla="*/ 527584 h 527584"/>
              <a:gd name="connsiteX4" fmla="*/ 0 w 3352800"/>
              <a:gd name="connsiteY4" fmla="*/ 527584 h 527584"/>
              <a:gd name="connsiteX0" fmla="*/ 0 w 3352800"/>
              <a:gd name="connsiteY0" fmla="*/ 527584 h 527584"/>
              <a:gd name="connsiteX1" fmla="*/ 751718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 name="connsiteX0" fmla="*/ 0 w 3352800"/>
              <a:gd name="connsiteY0" fmla="*/ 527313 h 527313"/>
              <a:gd name="connsiteX1" fmla="*/ 900984 w 3352800"/>
              <a:gd name="connsiteY1" fmla="*/ 97774 h 527313"/>
              <a:gd name="connsiteX2" fmla="*/ 3352800 w 3352800"/>
              <a:gd name="connsiteY2" fmla="*/ 0 h 527313"/>
              <a:gd name="connsiteX3" fmla="*/ 3352800 w 3352800"/>
              <a:gd name="connsiteY3" fmla="*/ 527313 h 527313"/>
              <a:gd name="connsiteX4" fmla="*/ 0 w 3352800"/>
              <a:gd name="connsiteY4" fmla="*/ 527313 h 527313"/>
              <a:gd name="connsiteX0" fmla="*/ 0 w 3352800"/>
              <a:gd name="connsiteY0" fmla="*/ 527584 h 527584"/>
              <a:gd name="connsiteX1" fmla="*/ 748227 w 3352800"/>
              <a:gd name="connsiteY1" fmla="*/ 0 h 527584"/>
              <a:gd name="connsiteX2" fmla="*/ 3352800 w 3352800"/>
              <a:gd name="connsiteY2" fmla="*/ 271 h 527584"/>
              <a:gd name="connsiteX3" fmla="*/ 3352800 w 3352800"/>
              <a:gd name="connsiteY3" fmla="*/ 527584 h 527584"/>
              <a:gd name="connsiteX4" fmla="*/ 0 w 3352800"/>
              <a:gd name="connsiteY4" fmla="*/ 527584 h 5275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52800" h="527584">
                <a:moveTo>
                  <a:pt x="0" y="527584"/>
                </a:moveTo>
                <a:lnTo>
                  <a:pt x="748227" y="0"/>
                </a:lnTo>
                <a:lnTo>
                  <a:pt x="3352800" y="271"/>
                </a:lnTo>
                <a:lnTo>
                  <a:pt x="3352800" y="527584"/>
                </a:lnTo>
                <a:lnTo>
                  <a:pt x="0" y="527584"/>
                </a:lnTo>
                <a:close/>
              </a:path>
            </a:pathLst>
          </a:custGeom>
          <a:solidFill>
            <a:schemeClr val="accent3">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822960" y="365760"/>
            <a:ext cx="7520940" cy="548640"/>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822960" y="1100628"/>
            <a:ext cx="7520940" cy="3579849"/>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9140000">
            <a:off x="201168" y="5870448"/>
            <a:ext cx="2176272" cy="201168"/>
          </a:xfrm>
          <a:prstGeom prst="rect">
            <a:avLst/>
          </a:prstGeom>
        </p:spPr>
        <p:txBody>
          <a:bodyPr vert="horz" lIns="91440" tIns="45720" rIns="91440" bIns="45720" rtlCol="0" anchor="ctr"/>
          <a:lstStyle>
            <a:lvl1pPr algn="l">
              <a:defRPr sz="1200">
                <a:solidFill>
                  <a:srgbClr val="FFFFFF"/>
                </a:solidFill>
              </a:defRPr>
            </a:lvl1pPr>
          </a:lstStyle>
          <a:p>
            <a:fld id="{40730A9A-0305-48DB-AA50-A2444AEF048D}" type="datetimeFigureOut">
              <a:rPr lang="en-AE" smtClean="0"/>
              <a:t>01/09/2023</a:t>
            </a:fld>
            <a:endParaRPr lang="en-AE"/>
          </a:p>
        </p:txBody>
      </p:sp>
      <p:sp>
        <p:nvSpPr>
          <p:cNvPr id="5" name="Footer Placeholder 4"/>
          <p:cNvSpPr>
            <a:spLocks noGrp="1"/>
          </p:cNvSpPr>
          <p:nvPr>
            <p:ph type="ftr" sz="quarter" idx="3"/>
          </p:nvPr>
        </p:nvSpPr>
        <p:spPr>
          <a:xfrm>
            <a:off x="3517514" y="6285122"/>
            <a:ext cx="4724400" cy="274320"/>
          </a:xfrm>
          <a:prstGeom prst="rect">
            <a:avLst/>
          </a:prstGeom>
        </p:spPr>
        <p:txBody>
          <a:bodyPr vert="horz" lIns="91440" tIns="45720" rIns="91440" bIns="45720" rtlCol="0" anchor="ctr"/>
          <a:lstStyle>
            <a:lvl1pPr algn="r">
              <a:defRPr sz="1000" cap="all" spc="200" baseline="0">
                <a:solidFill>
                  <a:srgbClr val="FFFFFF"/>
                </a:solidFill>
              </a:defRPr>
            </a:lvl1pPr>
          </a:lstStyle>
          <a:p>
            <a:endParaRPr lang="en-AE"/>
          </a:p>
        </p:txBody>
      </p:sp>
      <p:sp>
        <p:nvSpPr>
          <p:cNvPr id="6" name="Slide Number Placeholder 5"/>
          <p:cNvSpPr>
            <a:spLocks noGrp="1"/>
          </p:cNvSpPr>
          <p:nvPr>
            <p:ph type="sldNum" sz="quarter" idx="4"/>
          </p:nvPr>
        </p:nvSpPr>
        <p:spPr>
          <a:xfrm>
            <a:off x="8401038" y="6170822"/>
            <a:ext cx="502920" cy="502920"/>
          </a:xfrm>
          <a:prstGeom prst="ellipse">
            <a:avLst/>
          </a:prstGeom>
          <a:ln w="19050">
            <a:solidFill>
              <a:srgbClr val="FFFFFF"/>
            </a:solidFill>
          </a:ln>
        </p:spPr>
        <p:txBody>
          <a:bodyPr vert="horz" lIns="9144" tIns="9144" rIns="9144" bIns="9144" rtlCol="0" anchor="ctr">
            <a:normAutofit/>
          </a:bodyPr>
          <a:lstStyle>
            <a:lvl1pPr algn="ctr">
              <a:defRPr sz="1650">
                <a:solidFill>
                  <a:srgbClr val="FFFFFF"/>
                </a:solidFill>
              </a:defRPr>
            </a:lvl1pPr>
          </a:lstStyle>
          <a:p>
            <a:fld id="{5656FAC8-C118-4A36-9CD2-E3BBB2477EBD}" type="slidenum">
              <a:rPr lang="en-AE" smtClean="0"/>
              <a:t>‹#›</a:t>
            </a:fld>
            <a:endParaRPr lang="en-AE"/>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spcBef>
          <a:spcPct val="0"/>
        </a:spcBef>
        <a:buNone/>
        <a:defRPr sz="2800" kern="1200" cap="all" baseline="0">
          <a:solidFill>
            <a:schemeClr val="tx1"/>
          </a:solidFill>
          <a:latin typeface="+mj-lt"/>
          <a:ea typeface="+mj-ea"/>
          <a:cs typeface="+mj-cs"/>
        </a:defRPr>
      </a:lvl1pPr>
    </p:titleStyle>
    <p:bodyStyle>
      <a:lvl1pPr marL="342900" indent="-342900" algn="l" defTabSz="914400" rtl="0" eaLnBrk="1" latinLnBrk="0" hangingPunct="1">
        <a:spcBef>
          <a:spcPts val="800"/>
        </a:spcBef>
        <a:buFont typeface="Arial" pitchFamily="34" charset="0"/>
        <a:buNone/>
        <a:defRPr sz="1600" b="1" kern="1200">
          <a:solidFill>
            <a:schemeClr val="tx1"/>
          </a:solidFill>
          <a:latin typeface="+mn-lt"/>
          <a:ea typeface="+mn-ea"/>
          <a:cs typeface="+mn-cs"/>
        </a:defRPr>
      </a:lvl1pPr>
      <a:lvl2pPr marL="1737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2pPr>
      <a:lvl3pPr marL="4023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3pPr>
      <a:lvl4pPr marL="630936" indent="-164592"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4pPr>
      <a:lvl5pPr marL="859536" indent="-173736" algn="l" defTabSz="914400" rtl="0" eaLnBrk="1" latinLnBrk="0" hangingPunct="1">
        <a:spcBef>
          <a:spcPts val="300"/>
        </a:spcBef>
        <a:buClr>
          <a:schemeClr val="accent2"/>
        </a:buClr>
        <a:buFont typeface="Wingdings" pitchFamily="2" charset="2"/>
        <a:buChar char="§"/>
        <a:defRPr sz="1600" kern="1200">
          <a:solidFill>
            <a:schemeClr val="tx1"/>
          </a:solidFill>
          <a:latin typeface="+mn-lt"/>
          <a:ea typeface="+mn-ea"/>
          <a:cs typeface="+mn-cs"/>
        </a:defRPr>
      </a:lvl5pPr>
      <a:lvl6pPr marL="1097280" indent="-173736"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6pPr>
      <a:lvl7pPr marL="13533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7pPr>
      <a:lvl8pPr marL="1581912"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8pPr>
      <a:lvl9pPr marL="1792224" indent="-164592" algn="l" defTabSz="914400" rtl="0" eaLnBrk="1" latinLnBrk="0" hangingPunct="1">
        <a:spcBef>
          <a:spcPts val="300"/>
        </a:spcBef>
        <a:buClr>
          <a:schemeClr val="accent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verywellmind.com/what-is-extrinsic-motivation-2795164"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verywellmind.com/what-is-intrinsic-motivation-2795385"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verywellmind.com/risk-taking-2797384" TargetMode="External"/><Relationship Id="rId2" Type="http://schemas.openxmlformats.org/officeDocument/2006/relationships/hyperlink" Target="https://www.verywellmind.com/simple-tips-for-achieving-goals-3145003" TargetMode="External"/><Relationship Id="rId1" Type="http://schemas.openxmlformats.org/officeDocument/2006/relationships/slideLayout" Target="../slideLayouts/slideLayout2.xml"/><Relationship Id="rId5" Type="http://schemas.openxmlformats.org/officeDocument/2006/relationships/hyperlink" Target="https://www.verywellmind.com/psychology-of-self-control-4177125" TargetMode="External"/><Relationship Id="rId4" Type="http://schemas.openxmlformats.org/officeDocument/2006/relationships/hyperlink" Target="https://www.verywellmind.com/addiction-4157312" TargetMode="External"/></Relationships>
</file>

<file path=ppt/slides/_rels/slide8.xml.rels><?xml version="1.0" encoding="UTF-8" standalone="yes"?>
<Relationships xmlns="http://schemas.openxmlformats.org/package/2006/relationships"><Relationship Id="rId3" Type="http://schemas.openxmlformats.org/officeDocument/2006/relationships/hyperlink" Target="https://www.verywellmind.com/psychology-experiment-ideas-2795669" TargetMode="External"/><Relationship Id="rId2" Type="http://schemas.openxmlformats.org/officeDocument/2006/relationships/hyperlink" Target="https://www.verywellmind.com/psychology-courses-you-should-take-2795152"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verywellmind.com/increase-your-willpower-with-temptation-bundling-friday-fix-the-verywell-mind-podcast-5222711"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verywellmind.com/how-to-stop-letting-self-doubt-hold-you-back-friday-fix-the-verywell-mind-podcast-5211718" TargetMode="External"/><Relationship Id="rId2" Type="http://schemas.openxmlformats.org/officeDocument/2006/relationships/hyperlink" Target="https://www.verywellmind.com/how-to-boost-your-self-confidence-4163098"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www.verywellmind.com/instinct-theory-of-motivation-2795383"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verywellmind.com/what-is-maslows-hierarchy-of-needs-4136760" TargetMode="External"/><Relationship Id="rId2" Type="http://schemas.openxmlformats.org/officeDocument/2006/relationships/hyperlink" Target="https://www.verywellmind.com/drive-reduction-theory-2795381"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www.verywellmind.com/the-arousal-theory-of-motivation-2795380"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Chapter </a:t>
            </a:r>
            <a:r>
              <a:rPr lang="en-US" dirty="0" smtClean="0"/>
              <a:t>(10)</a:t>
            </a:r>
            <a:endParaRPr lang="en-AE" dirty="0"/>
          </a:p>
        </p:txBody>
      </p:sp>
      <p:sp>
        <p:nvSpPr>
          <p:cNvPr id="3" name="Subtitle 2"/>
          <p:cNvSpPr>
            <a:spLocks noGrp="1"/>
          </p:cNvSpPr>
          <p:nvPr>
            <p:ph type="subTitle" idx="1"/>
          </p:nvPr>
        </p:nvSpPr>
        <p:spPr/>
        <p:txBody>
          <a:bodyPr>
            <a:normAutofit fontScale="77500" lnSpcReduction="20000"/>
          </a:bodyPr>
          <a:lstStyle/>
          <a:p>
            <a:pPr algn="ctr"/>
            <a:r>
              <a:rPr lang="en-US" sz="2800" dirty="0" smtClean="0"/>
              <a:t>Motivating employees </a:t>
            </a:r>
            <a:endParaRPr lang="en-AE" sz="2800" dirty="0"/>
          </a:p>
        </p:txBody>
      </p:sp>
    </p:spTree>
    <p:extLst>
      <p:ext uri="{BB962C8B-B14F-4D97-AF65-F5344CB8AC3E}">
        <p14:creationId xmlns:p14="http://schemas.microsoft.com/office/powerpoint/2010/main" val="383946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a:t>
            </a:r>
            <a:endParaRPr lang="en-AE" dirty="0"/>
          </a:p>
        </p:txBody>
      </p:sp>
      <p:sp>
        <p:nvSpPr>
          <p:cNvPr id="3" name="Content Placeholder 2"/>
          <p:cNvSpPr>
            <a:spLocks noGrp="1"/>
          </p:cNvSpPr>
          <p:nvPr>
            <p:ph idx="1"/>
          </p:nvPr>
        </p:nvSpPr>
        <p:spPr>
          <a:xfrm>
            <a:off x="467544" y="1412776"/>
            <a:ext cx="8229600" cy="5184576"/>
          </a:xfrm>
        </p:spPr>
        <p:txBody>
          <a:bodyPr>
            <a:normAutofit/>
          </a:bodyPr>
          <a:lstStyle/>
          <a:p>
            <a:pPr algn="just" fontAlgn="base"/>
            <a:r>
              <a:rPr lang="en-AE" dirty="0"/>
              <a:t>The term motivation describes </a:t>
            </a:r>
            <a:r>
              <a:rPr lang="en-AE" i="1" dirty="0"/>
              <a:t>why</a:t>
            </a:r>
            <a:r>
              <a:rPr lang="en-AE" dirty="0"/>
              <a:t> a person does something. It is the driving force behind human actions. </a:t>
            </a:r>
            <a:endParaRPr lang="en-US" dirty="0" smtClean="0"/>
          </a:p>
          <a:p>
            <a:pPr algn="just" fontAlgn="base"/>
            <a:endParaRPr lang="en-US" dirty="0"/>
          </a:p>
          <a:p>
            <a:pPr algn="just" fontAlgn="base"/>
            <a:r>
              <a:rPr lang="en-US" dirty="0" smtClean="0"/>
              <a:t>M</a:t>
            </a:r>
            <a:r>
              <a:rPr lang="en-AE" dirty="0" smtClean="0"/>
              <a:t>otivation </a:t>
            </a:r>
            <a:r>
              <a:rPr lang="en-AE" dirty="0"/>
              <a:t>causes you to act in a way that gets you closer to your goals. </a:t>
            </a:r>
            <a:endParaRPr lang="en-US" dirty="0" smtClean="0"/>
          </a:p>
          <a:p>
            <a:pPr algn="just" fontAlgn="base"/>
            <a:endParaRPr lang="en-US" dirty="0"/>
          </a:p>
          <a:p>
            <a:pPr algn="just" fontAlgn="base"/>
            <a:r>
              <a:rPr lang="en-AE" dirty="0" smtClean="0"/>
              <a:t>Motivation </a:t>
            </a:r>
            <a:r>
              <a:rPr lang="en-AE" dirty="0"/>
              <a:t>also involves factors that direct and maintain goal-directed actions. Although, such motives are rarely directly observable. As a result, we must often </a:t>
            </a:r>
            <a:r>
              <a:rPr lang="en-US" dirty="0" smtClean="0"/>
              <a:t>find</a:t>
            </a:r>
            <a:r>
              <a:rPr lang="en-AE" dirty="0" smtClean="0"/>
              <a:t> </a:t>
            </a:r>
            <a:r>
              <a:rPr lang="en-AE" dirty="0"/>
              <a:t>the reasons why people do the things that they do based on observable behaviors</a:t>
            </a:r>
            <a:r>
              <a:rPr lang="en-AE" dirty="0" smtClean="0"/>
              <a:t>.</a:t>
            </a:r>
            <a:endParaRPr lang="en-US" baseline="30000" dirty="0"/>
          </a:p>
          <a:p>
            <a:pPr algn="just" fontAlgn="base"/>
            <a:endParaRPr lang="en-AE" dirty="0"/>
          </a:p>
          <a:p>
            <a:pPr algn="just" fontAlgn="base"/>
            <a:r>
              <a:rPr lang="en-US" dirty="0" smtClean="0"/>
              <a:t>Its important to l</a:t>
            </a:r>
            <a:r>
              <a:rPr lang="en-AE" dirty="0" smtClean="0"/>
              <a:t>earn </a:t>
            </a:r>
            <a:r>
              <a:rPr lang="en-AE" dirty="0"/>
              <a:t>the types of motivation that exist and how we use them in our everyday lives</a:t>
            </a:r>
            <a:r>
              <a:rPr lang="en-AE" dirty="0" smtClean="0"/>
              <a:t>.</a:t>
            </a:r>
            <a:endParaRPr lang="en-AE" dirty="0"/>
          </a:p>
          <a:p>
            <a:pPr algn="just"/>
            <a:endParaRPr lang="en-AE" dirty="0"/>
          </a:p>
        </p:txBody>
      </p:sp>
    </p:spTree>
    <p:extLst>
      <p:ext uri="{BB962C8B-B14F-4D97-AF65-F5344CB8AC3E}">
        <p14:creationId xmlns:p14="http://schemas.microsoft.com/office/powerpoint/2010/main" val="1057812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Definition </a:t>
            </a:r>
            <a:endParaRPr lang="en-AE" dirty="0"/>
          </a:p>
        </p:txBody>
      </p:sp>
      <p:sp>
        <p:nvSpPr>
          <p:cNvPr id="3" name="Content Placeholder 2"/>
          <p:cNvSpPr>
            <a:spLocks noGrp="1"/>
          </p:cNvSpPr>
          <p:nvPr>
            <p:ph idx="1"/>
          </p:nvPr>
        </p:nvSpPr>
        <p:spPr>
          <a:xfrm>
            <a:off x="457200" y="1639341"/>
            <a:ext cx="8229600" cy="4525963"/>
          </a:xfrm>
        </p:spPr>
        <p:txBody>
          <a:bodyPr/>
          <a:lstStyle/>
          <a:p>
            <a:pPr algn="just"/>
            <a:r>
              <a:rPr lang="en-US" dirty="0" smtClean="0"/>
              <a:t>Motivation is the forces acting either on or within a person to initiate behavior. It is the desire to act in service of a goal.</a:t>
            </a:r>
          </a:p>
          <a:p>
            <a:pPr algn="just"/>
            <a:endParaRPr lang="en-US" dirty="0" smtClean="0"/>
          </a:p>
          <a:p>
            <a:pPr algn="just"/>
            <a:r>
              <a:rPr lang="en-US" dirty="0" smtClean="0"/>
              <a:t>Motivation is the process that starts, directs and sustains goal oriented behaviors. It includes the biological, emotional, social, and cognitive forces that drive behavior in the direction of meeting needs or achieving objectives </a:t>
            </a:r>
            <a:endParaRPr lang="en-AE" dirty="0"/>
          </a:p>
        </p:txBody>
      </p:sp>
    </p:spTree>
    <p:extLst>
      <p:ext uri="{BB962C8B-B14F-4D97-AF65-F5344CB8AC3E}">
        <p14:creationId xmlns:p14="http://schemas.microsoft.com/office/powerpoint/2010/main" val="15748754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3408"/>
            <a:ext cx="8229600" cy="1143000"/>
          </a:xfrm>
        </p:spPr>
        <p:txBody>
          <a:bodyPr/>
          <a:lstStyle/>
          <a:p>
            <a:r>
              <a:rPr lang="en-US" dirty="0" smtClean="0"/>
              <a:t>Types of motivation</a:t>
            </a:r>
            <a:endParaRPr lang="en-AE" dirty="0"/>
          </a:p>
        </p:txBody>
      </p:sp>
      <p:sp>
        <p:nvSpPr>
          <p:cNvPr id="3" name="Content Placeholder 2"/>
          <p:cNvSpPr>
            <a:spLocks noGrp="1"/>
          </p:cNvSpPr>
          <p:nvPr>
            <p:ph idx="1"/>
          </p:nvPr>
        </p:nvSpPr>
        <p:spPr>
          <a:xfrm>
            <a:off x="457200" y="764704"/>
            <a:ext cx="8229600" cy="5141168"/>
          </a:xfrm>
        </p:spPr>
        <p:txBody>
          <a:bodyPr>
            <a:noAutofit/>
          </a:bodyPr>
          <a:lstStyle/>
          <a:p>
            <a:pPr marL="0" lvl="0" indent="0" algn="just">
              <a:buNone/>
            </a:pPr>
            <a:r>
              <a:rPr lang="en-AE" sz="2800" b="1" u="sng" dirty="0" smtClean="0">
                <a:hlinkClick r:id="rId2"/>
              </a:rPr>
              <a:t>Extrinsic motivation</a:t>
            </a:r>
            <a:endParaRPr lang="en-US" sz="2800" dirty="0" smtClean="0"/>
          </a:p>
          <a:p>
            <a:pPr lvl="0" algn="just"/>
            <a:r>
              <a:rPr lang="en-US" sz="2800" dirty="0"/>
              <a:t>A</a:t>
            </a:r>
            <a:r>
              <a:rPr lang="en-AE" sz="2800" dirty="0" smtClean="0"/>
              <a:t>rises </a:t>
            </a:r>
            <a:r>
              <a:rPr lang="en-AE" sz="2800" dirty="0"/>
              <a:t>from outside of the individual and often involves external rewards such as trophies, money, social recognition, or praise</a:t>
            </a:r>
            <a:r>
              <a:rPr lang="en-AE" sz="2800" dirty="0" smtClean="0"/>
              <a:t>.</a:t>
            </a:r>
            <a:endParaRPr lang="en-US" sz="2800" dirty="0" smtClean="0"/>
          </a:p>
          <a:p>
            <a:pPr algn="just"/>
            <a:r>
              <a:rPr lang="en-US" sz="2800" dirty="0" smtClean="0"/>
              <a:t>Extrinsic</a:t>
            </a:r>
            <a:r>
              <a:rPr lang="en-US" sz="2800" dirty="0"/>
              <a:t> motivation is a motivation that is driven by external rewards. These can be tangible, such as money or grades, or intangible, such as praise or </a:t>
            </a:r>
            <a:r>
              <a:rPr lang="en-US" sz="2800" dirty="0" smtClean="0"/>
              <a:t>fame.</a:t>
            </a:r>
          </a:p>
          <a:p>
            <a:pPr algn="just" fontAlgn="base"/>
            <a:r>
              <a:rPr lang="en-US" sz="2800" dirty="0" smtClean="0"/>
              <a:t>People </a:t>
            </a:r>
            <a:r>
              <a:rPr lang="en-US" sz="2800" dirty="0"/>
              <a:t>who are extrinsically motivated will continue to perform a task even though it might not be in and of itself rewarding. For example, they will do something at their job that they don't find enjoyable in order to earn a wage.</a:t>
            </a:r>
          </a:p>
          <a:p>
            <a:pPr algn="just"/>
            <a:endParaRPr lang="en-AE" sz="2800" dirty="0"/>
          </a:p>
        </p:txBody>
      </p:sp>
    </p:spTree>
    <p:extLst>
      <p:ext uri="{BB962C8B-B14F-4D97-AF65-F5344CB8AC3E}">
        <p14:creationId xmlns:p14="http://schemas.microsoft.com/office/powerpoint/2010/main" val="3275508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motivation</a:t>
            </a:r>
            <a:endParaRPr lang="en-AE" dirty="0"/>
          </a:p>
        </p:txBody>
      </p:sp>
      <p:sp>
        <p:nvSpPr>
          <p:cNvPr id="3" name="Content Placeholder 2"/>
          <p:cNvSpPr>
            <a:spLocks noGrp="1"/>
          </p:cNvSpPr>
          <p:nvPr>
            <p:ph idx="1"/>
          </p:nvPr>
        </p:nvSpPr>
        <p:spPr>
          <a:xfrm>
            <a:off x="179512" y="1412776"/>
            <a:ext cx="8856984" cy="4525963"/>
          </a:xfrm>
        </p:spPr>
        <p:txBody>
          <a:bodyPr>
            <a:noAutofit/>
          </a:bodyPr>
          <a:lstStyle/>
          <a:p>
            <a:pPr marL="0" indent="0" algn="just">
              <a:buNone/>
            </a:pPr>
            <a:r>
              <a:rPr lang="en-AE" sz="2600" b="1" u="sng" dirty="0">
                <a:hlinkClick r:id="rId3"/>
              </a:rPr>
              <a:t>Intrinsic motivation</a:t>
            </a:r>
            <a:r>
              <a:rPr lang="en-AE" sz="2600" dirty="0"/>
              <a:t> </a:t>
            </a:r>
            <a:endParaRPr lang="en-US" sz="2600" dirty="0" smtClean="0"/>
          </a:p>
          <a:p>
            <a:pPr algn="just"/>
            <a:r>
              <a:rPr lang="en-US" sz="2600" dirty="0" smtClean="0"/>
              <a:t>I</a:t>
            </a:r>
            <a:r>
              <a:rPr lang="en-AE" sz="2600" dirty="0" smtClean="0"/>
              <a:t>s </a:t>
            </a:r>
            <a:r>
              <a:rPr lang="en-AE" sz="2600" dirty="0"/>
              <a:t>internal and arises from within the </a:t>
            </a:r>
            <a:r>
              <a:rPr lang="en-AE" sz="2600" dirty="0" smtClean="0"/>
              <a:t>individual</a:t>
            </a:r>
            <a:r>
              <a:rPr lang="en-US" sz="2600" dirty="0" smtClean="0"/>
              <a:t>.</a:t>
            </a:r>
          </a:p>
          <a:p>
            <a:pPr algn="just"/>
            <a:r>
              <a:rPr lang="en-US" sz="2600" dirty="0" smtClean="0"/>
              <a:t>It is the </a:t>
            </a:r>
            <a:r>
              <a:rPr lang="en-US" sz="2600" dirty="0"/>
              <a:t>motivation to engage in a behavior because of the inherent satisfaction of the activity rather than the desire for a reward or specific outcome. </a:t>
            </a:r>
            <a:endParaRPr lang="en-US" sz="2600" dirty="0" smtClean="0"/>
          </a:p>
          <a:p>
            <a:pPr algn="just" fontAlgn="base"/>
            <a:r>
              <a:rPr lang="en-US" sz="2600" dirty="0" smtClean="0"/>
              <a:t>It </a:t>
            </a:r>
            <a:r>
              <a:rPr lang="en-US" sz="2600" dirty="0"/>
              <a:t>occurs when we act without any obvious external rewards: "We simply enjoy an activity or see it as an opportunity to explore, learn, and actualize our potentials."</a:t>
            </a:r>
            <a:r>
              <a:rPr lang="en-US" sz="2600" baseline="30000" dirty="0"/>
              <a:t>1</a:t>
            </a:r>
            <a:endParaRPr lang="en-US" sz="2600" dirty="0"/>
          </a:p>
          <a:p>
            <a:pPr algn="just" fontAlgn="base"/>
            <a:r>
              <a:rPr lang="en-US" sz="2600" dirty="0"/>
              <a:t>The three main elements of intrinsic motivation are autonomy, purpose, and mastery</a:t>
            </a:r>
            <a:r>
              <a:rPr lang="en-US" sz="2600" dirty="0" smtClean="0"/>
              <a:t>.</a:t>
            </a:r>
            <a:r>
              <a:rPr lang="en-US" sz="2600" dirty="0"/>
              <a:t> People are intrinsically motivated when they can act independently, feel that their efforts matter, and gain satisfaction from becoming more skilled.</a:t>
            </a:r>
          </a:p>
          <a:p>
            <a:pPr marL="0" indent="0" algn="just">
              <a:buNone/>
            </a:pPr>
            <a:endParaRPr lang="en-US" sz="2600" dirty="0" smtClean="0"/>
          </a:p>
          <a:p>
            <a:pPr algn="just"/>
            <a:endParaRPr lang="en-AE" sz="2600" dirty="0"/>
          </a:p>
        </p:txBody>
      </p:sp>
    </p:spTree>
    <p:extLst>
      <p:ext uri="{BB962C8B-B14F-4D97-AF65-F5344CB8AC3E}">
        <p14:creationId xmlns:p14="http://schemas.microsoft.com/office/powerpoint/2010/main" val="38012182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motivation </a:t>
            </a:r>
            <a:endParaRPr lang="en-AE" dirty="0"/>
          </a:p>
        </p:txBody>
      </p:sp>
      <p:sp>
        <p:nvSpPr>
          <p:cNvPr id="3" name="Content Placeholder 2"/>
          <p:cNvSpPr>
            <a:spLocks noGrp="1"/>
          </p:cNvSpPr>
          <p:nvPr>
            <p:ph idx="1"/>
          </p:nvPr>
        </p:nvSpPr>
        <p:spPr>
          <a:xfrm>
            <a:off x="822960" y="908720"/>
            <a:ext cx="7520940" cy="5424716"/>
          </a:xfrm>
        </p:spPr>
        <p:txBody>
          <a:bodyPr>
            <a:noAutofit/>
          </a:bodyPr>
          <a:lstStyle/>
          <a:p>
            <a:pPr marL="0" indent="0" fontAlgn="base">
              <a:buNone/>
            </a:pPr>
            <a:r>
              <a:rPr lang="en-US" sz="2600" u="sng" dirty="0">
                <a:solidFill>
                  <a:schemeClr val="accent1">
                    <a:lumMod val="75000"/>
                  </a:schemeClr>
                </a:solidFill>
              </a:rPr>
              <a:t>Family</a:t>
            </a:r>
            <a:r>
              <a:rPr lang="en-US" sz="2600" u="sng" dirty="0">
                <a:solidFill>
                  <a:schemeClr val="accent1">
                    <a:lumMod val="75000"/>
                  </a:schemeClr>
                </a:solidFill>
              </a:rPr>
              <a:t> </a:t>
            </a:r>
            <a:r>
              <a:rPr lang="en-US" sz="2600" u="sng" dirty="0">
                <a:solidFill>
                  <a:schemeClr val="accent1">
                    <a:lumMod val="75000"/>
                  </a:schemeClr>
                </a:solidFill>
              </a:rPr>
              <a:t>motivation</a:t>
            </a:r>
            <a:endParaRPr lang="en-AE" sz="2600" u="sng" dirty="0">
              <a:solidFill>
                <a:schemeClr val="accent1">
                  <a:lumMod val="75000"/>
                </a:schemeClr>
              </a:solidFill>
            </a:endParaRPr>
          </a:p>
          <a:p>
            <a:pPr fontAlgn="base"/>
            <a:r>
              <a:rPr lang="en-AE" sz="2400" dirty="0"/>
              <a:t>Some research suggests that there is a third type of motivation: family motivation</a:t>
            </a:r>
            <a:r>
              <a:rPr lang="en-AE" sz="2400" dirty="0" smtClean="0"/>
              <a:t>.</a:t>
            </a:r>
            <a:r>
              <a:rPr lang="en-AE" sz="2400" dirty="0"/>
              <a:t> An example of this type is going to work when you are not motivated to do so internally (no intrinsic motivation), but because it is a means to support your family financially</a:t>
            </a:r>
            <a:r>
              <a:rPr lang="en-AE" sz="2400" dirty="0" smtClean="0"/>
              <a:t>.</a:t>
            </a:r>
            <a:endParaRPr lang="en-US" sz="2400" dirty="0" smtClean="0"/>
          </a:p>
          <a:p>
            <a:pPr fontAlgn="base"/>
            <a:r>
              <a:rPr lang="en-US" sz="2400" dirty="0"/>
              <a:t>family motivation as the desire to expend effort to benefit one’s family. Hence, it is a form of </a:t>
            </a:r>
            <a:r>
              <a:rPr lang="en-US" sz="2400" dirty="0" smtClean="0"/>
              <a:t>pro-</a:t>
            </a:r>
            <a:r>
              <a:rPr lang="en-US" sz="2400" dirty="0" err="1" smtClean="0"/>
              <a:t>sical</a:t>
            </a:r>
            <a:r>
              <a:rPr lang="en-US" sz="2400" dirty="0" smtClean="0"/>
              <a:t> </a:t>
            </a:r>
            <a:r>
              <a:rPr lang="en-US" sz="2400" dirty="0"/>
              <a:t>motivation for which the beneficiary is specifically the family. </a:t>
            </a:r>
            <a:endParaRPr lang="en-US" sz="2400" dirty="0" smtClean="0"/>
          </a:p>
          <a:p>
            <a:pPr fontAlgn="base"/>
            <a:r>
              <a:rPr lang="en-US" sz="2400" dirty="0" smtClean="0"/>
              <a:t>Family </a:t>
            </a:r>
            <a:r>
              <a:rPr lang="en-US" sz="2400" dirty="0"/>
              <a:t>motivation is likely to be most relevant when an employee has dependents at home, but “family” need not only refer to spouses and children; it may also extend to parents and grandparents, aunts and uncles, cousins, or other </a:t>
            </a:r>
            <a:r>
              <a:rPr lang="en-US" sz="2400" dirty="0" smtClean="0"/>
              <a:t>kin.</a:t>
            </a:r>
            <a:endParaRPr lang="en-AE" sz="2400" dirty="0"/>
          </a:p>
          <a:p>
            <a:endParaRPr lang="en-AE" sz="2400" dirty="0"/>
          </a:p>
        </p:txBody>
      </p:sp>
    </p:spTree>
    <p:extLst>
      <p:ext uri="{BB962C8B-B14F-4D97-AF65-F5344CB8AC3E}">
        <p14:creationId xmlns:p14="http://schemas.microsoft.com/office/powerpoint/2010/main" val="2835403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Motivation importance </a:t>
            </a:r>
            <a:endParaRPr lang="en-AE" dirty="0"/>
          </a:p>
        </p:txBody>
      </p:sp>
      <p:sp>
        <p:nvSpPr>
          <p:cNvPr id="3" name="Content Placeholder 2"/>
          <p:cNvSpPr>
            <a:spLocks noGrp="1"/>
          </p:cNvSpPr>
          <p:nvPr>
            <p:ph idx="1"/>
          </p:nvPr>
        </p:nvSpPr>
        <p:spPr/>
        <p:txBody>
          <a:bodyPr>
            <a:normAutofit/>
          </a:bodyPr>
          <a:lstStyle/>
          <a:p>
            <a:pPr marL="0" indent="0" fontAlgn="base">
              <a:buNone/>
            </a:pPr>
            <a:r>
              <a:rPr lang="en-AE" dirty="0"/>
              <a:t>Motivation serves as a guiding force for all human behavior. So, understanding </a:t>
            </a:r>
            <a:r>
              <a:rPr lang="en-AE" dirty="0" smtClean="0"/>
              <a:t>motivation </a:t>
            </a:r>
            <a:r>
              <a:rPr lang="en-AE" dirty="0"/>
              <a:t>can:</a:t>
            </a:r>
          </a:p>
          <a:p>
            <a:pPr lvl="0" fontAlgn="base"/>
            <a:r>
              <a:rPr lang="en-AE" dirty="0"/>
              <a:t>Increase your efficiency as you </a:t>
            </a:r>
            <a:r>
              <a:rPr lang="en-AE" u="sng" dirty="0">
                <a:hlinkClick r:id="rId2"/>
              </a:rPr>
              <a:t>work toward your goals</a:t>
            </a:r>
            <a:endParaRPr lang="en-AE" dirty="0"/>
          </a:p>
          <a:p>
            <a:pPr lvl="0" fontAlgn="base"/>
            <a:r>
              <a:rPr lang="en-AE" dirty="0"/>
              <a:t>Drive you to take action</a:t>
            </a:r>
          </a:p>
          <a:p>
            <a:pPr lvl="0" fontAlgn="base"/>
            <a:r>
              <a:rPr lang="en-AE" dirty="0"/>
              <a:t>Encourage you to engage in health-oriented behaviors</a:t>
            </a:r>
          </a:p>
          <a:p>
            <a:pPr lvl="0" fontAlgn="base"/>
            <a:r>
              <a:rPr lang="en-AE" dirty="0"/>
              <a:t>Help you avoid unhealthy or maladaptive behaviors, such as </a:t>
            </a:r>
            <a:r>
              <a:rPr lang="en-AE" u="sng" dirty="0">
                <a:hlinkClick r:id="rId3"/>
              </a:rPr>
              <a:t>risk-taking</a:t>
            </a:r>
            <a:r>
              <a:rPr lang="en-AE" dirty="0"/>
              <a:t> and </a:t>
            </a:r>
            <a:r>
              <a:rPr lang="en-AE" u="sng" dirty="0">
                <a:hlinkClick r:id="rId4"/>
              </a:rPr>
              <a:t>addiction</a:t>
            </a:r>
            <a:endParaRPr lang="en-AE" dirty="0"/>
          </a:p>
          <a:p>
            <a:pPr lvl="0" fontAlgn="base"/>
            <a:r>
              <a:rPr lang="en-AE" dirty="0"/>
              <a:t>Help you </a:t>
            </a:r>
            <a:r>
              <a:rPr lang="en-AE" u="sng" dirty="0">
                <a:hlinkClick r:id="rId5"/>
              </a:rPr>
              <a:t>feel more in control</a:t>
            </a:r>
            <a:r>
              <a:rPr lang="en-AE" dirty="0"/>
              <a:t> of your life</a:t>
            </a:r>
          </a:p>
          <a:p>
            <a:pPr lvl="0" fontAlgn="base"/>
            <a:r>
              <a:rPr lang="en-AE" dirty="0"/>
              <a:t>Improve your overall well-being and happiness</a:t>
            </a:r>
          </a:p>
          <a:p>
            <a:endParaRPr lang="en-AE" dirty="0"/>
          </a:p>
        </p:txBody>
      </p:sp>
    </p:spTree>
    <p:extLst>
      <p:ext uri="{BB962C8B-B14F-4D97-AF65-F5344CB8AC3E}">
        <p14:creationId xmlns:p14="http://schemas.microsoft.com/office/powerpoint/2010/main" val="1506594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15416"/>
            <a:ext cx="8229600" cy="1143000"/>
          </a:xfrm>
        </p:spPr>
        <p:txBody>
          <a:bodyPr/>
          <a:lstStyle/>
          <a:p>
            <a:r>
              <a:rPr lang="en-US" dirty="0" smtClean="0"/>
              <a:t>Components of motivation</a:t>
            </a:r>
            <a:endParaRPr lang="en-AE" dirty="0"/>
          </a:p>
        </p:txBody>
      </p:sp>
      <p:sp>
        <p:nvSpPr>
          <p:cNvPr id="3" name="Content Placeholder 2"/>
          <p:cNvSpPr>
            <a:spLocks noGrp="1"/>
          </p:cNvSpPr>
          <p:nvPr>
            <p:ph idx="1"/>
          </p:nvPr>
        </p:nvSpPr>
        <p:spPr>
          <a:xfrm>
            <a:off x="457200" y="836712"/>
            <a:ext cx="8229600" cy="6021288"/>
          </a:xfrm>
        </p:spPr>
        <p:txBody>
          <a:bodyPr>
            <a:normAutofit/>
          </a:bodyPr>
          <a:lstStyle/>
          <a:p>
            <a:pPr marL="0" indent="0" algn="just" fontAlgn="base">
              <a:buNone/>
            </a:pPr>
            <a:r>
              <a:rPr lang="en-AE" dirty="0" smtClean="0"/>
              <a:t>Researchers </a:t>
            </a:r>
            <a:r>
              <a:rPr lang="en-AE" dirty="0"/>
              <a:t>have identified three major components of </a:t>
            </a:r>
            <a:r>
              <a:rPr lang="en-AE" dirty="0" smtClean="0"/>
              <a:t>motivation</a:t>
            </a:r>
            <a:endParaRPr lang="en-US" dirty="0"/>
          </a:p>
          <a:p>
            <a:pPr marL="0" indent="0" algn="just" fontAlgn="base">
              <a:buNone/>
            </a:pPr>
            <a:endParaRPr lang="en-AE" dirty="0"/>
          </a:p>
          <a:p>
            <a:pPr marL="457200" lvl="0" indent="-457200" algn="just" fontAlgn="base">
              <a:buFont typeface="+mj-lt"/>
              <a:buAutoNum type="arabicPeriod"/>
            </a:pPr>
            <a:r>
              <a:rPr lang="en-AE" b="1" dirty="0"/>
              <a:t>Activation</a:t>
            </a:r>
            <a:r>
              <a:rPr lang="en-AE" dirty="0"/>
              <a:t> is the decision to initiate a behavior. An example of activation would be enrolling </a:t>
            </a:r>
            <a:r>
              <a:rPr lang="en-AE" dirty="0" smtClean="0"/>
              <a:t>in</a:t>
            </a:r>
            <a:r>
              <a:rPr lang="en-AE" u="sng" dirty="0" smtClean="0">
                <a:hlinkClick r:id="rId2"/>
              </a:rPr>
              <a:t> </a:t>
            </a:r>
            <a:r>
              <a:rPr lang="en-AE" u="sng" dirty="0">
                <a:hlinkClick r:id="rId2"/>
              </a:rPr>
              <a:t>courses</a:t>
            </a:r>
            <a:r>
              <a:rPr lang="en-AE" dirty="0"/>
              <a:t> in order to earn your degree</a:t>
            </a:r>
            <a:r>
              <a:rPr lang="en-AE" dirty="0" smtClean="0"/>
              <a:t>.</a:t>
            </a:r>
            <a:endParaRPr lang="en-US" dirty="0" smtClean="0"/>
          </a:p>
          <a:p>
            <a:pPr marL="457200" lvl="0" indent="-457200" algn="just" fontAlgn="base">
              <a:buFont typeface="+mj-lt"/>
              <a:buAutoNum type="arabicPeriod"/>
            </a:pPr>
            <a:r>
              <a:rPr lang="en-AE" b="1" dirty="0" smtClean="0"/>
              <a:t>Persistence</a:t>
            </a:r>
            <a:r>
              <a:rPr lang="en-AE" dirty="0"/>
              <a:t> is the continued effort toward a goal even though obstacles may exist. An example of persistence would be showing up for your </a:t>
            </a:r>
            <a:r>
              <a:rPr lang="en-US" dirty="0" smtClean="0"/>
              <a:t>course</a:t>
            </a:r>
            <a:r>
              <a:rPr lang="en-AE" dirty="0" smtClean="0"/>
              <a:t> </a:t>
            </a:r>
            <a:r>
              <a:rPr lang="en-AE" dirty="0"/>
              <a:t>class even though you are tired from staying up late the night before.</a:t>
            </a:r>
          </a:p>
          <a:p>
            <a:pPr marL="457200" lvl="0" indent="-457200" algn="just" fontAlgn="base">
              <a:buFont typeface="+mj-lt"/>
              <a:buAutoNum type="arabicPeriod"/>
            </a:pPr>
            <a:r>
              <a:rPr lang="en-AE" b="1" dirty="0"/>
              <a:t>Intensity</a:t>
            </a:r>
            <a:r>
              <a:rPr lang="en-AE" dirty="0"/>
              <a:t> is the concentration and vigor that goes into pursuing a goal</a:t>
            </a:r>
            <a:r>
              <a:rPr lang="en-AE" dirty="0" smtClean="0"/>
              <a:t>.</a:t>
            </a:r>
            <a:r>
              <a:rPr lang="en-AE" dirty="0"/>
              <a:t> For example, one student might </a:t>
            </a:r>
            <a:r>
              <a:rPr lang="en-US" dirty="0" smtClean="0"/>
              <a:t>work </a:t>
            </a:r>
            <a:r>
              <a:rPr lang="en-AE" dirty="0" smtClean="0"/>
              <a:t>without </a:t>
            </a:r>
            <a:r>
              <a:rPr lang="en-AE" dirty="0"/>
              <a:t>much effort (minimal intensity) while another student studies regularly, participates in classroom discussions, and takes advantage of </a:t>
            </a:r>
            <a:r>
              <a:rPr lang="en-AE" u="sng" dirty="0">
                <a:hlinkClick r:id="rId3"/>
              </a:rPr>
              <a:t>research opportunities</a:t>
            </a:r>
            <a:r>
              <a:rPr lang="en-AE" dirty="0"/>
              <a:t> outside of class (greater intensity).</a:t>
            </a:r>
          </a:p>
          <a:p>
            <a:pPr algn="just"/>
            <a:endParaRPr lang="en-AE" dirty="0"/>
          </a:p>
        </p:txBody>
      </p:sp>
    </p:spTree>
    <p:extLst>
      <p:ext uri="{BB962C8B-B14F-4D97-AF65-F5344CB8AC3E}">
        <p14:creationId xmlns:p14="http://schemas.microsoft.com/office/powerpoint/2010/main" val="30938793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Components of motivation</a:t>
            </a:r>
            <a:endParaRPr lang="en-AE" dirty="0"/>
          </a:p>
        </p:txBody>
      </p:sp>
      <p:sp>
        <p:nvSpPr>
          <p:cNvPr id="3" name="Content Placeholder 2"/>
          <p:cNvSpPr>
            <a:spLocks noGrp="1"/>
          </p:cNvSpPr>
          <p:nvPr>
            <p:ph idx="1"/>
          </p:nvPr>
        </p:nvSpPr>
        <p:spPr/>
        <p:txBody>
          <a:bodyPr>
            <a:normAutofit fontScale="85000" lnSpcReduction="10000"/>
          </a:bodyPr>
          <a:lstStyle/>
          <a:p>
            <a:pPr algn="just"/>
            <a:r>
              <a:rPr lang="en-AE" sz="2800" dirty="0"/>
              <a:t>The degree of each of these components of motivation can impact whether you achieve your goal. </a:t>
            </a:r>
            <a:endParaRPr lang="en-US" sz="2800" dirty="0" smtClean="0"/>
          </a:p>
          <a:p>
            <a:pPr algn="just"/>
            <a:endParaRPr lang="en-US" sz="2800" dirty="0"/>
          </a:p>
          <a:p>
            <a:pPr algn="just"/>
            <a:r>
              <a:rPr lang="en-AE" sz="2800" dirty="0" smtClean="0"/>
              <a:t>Strong activation,</a:t>
            </a:r>
            <a:r>
              <a:rPr lang="en-US" sz="2800" dirty="0" smtClean="0"/>
              <a:t> </a:t>
            </a:r>
            <a:r>
              <a:rPr lang="en-AE" sz="2800" dirty="0" smtClean="0"/>
              <a:t>means </a:t>
            </a:r>
            <a:r>
              <a:rPr lang="en-AE" sz="2800" dirty="0"/>
              <a:t>that you are more likely to start pursuing a goal. </a:t>
            </a:r>
            <a:endParaRPr lang="en-US" sz="2800" dirty="0" smtClean="0"/>
          </a:p>
          <a:p>
            <a:pPr algn="just"/>
            <a:endParaRPr lang="en-US" sz="2800" dirty="0"/>
          </a:p>
          <a:p>
            <a:pPr algn="just"/>
            <a:r>
              <a:rPr lang="en-AE" sz="2800" dirty="0" smtClean="0"/>
              <a:t>Persistence </a:t>
            </a:r>
            <a:r>
              <a:rPr lang="en-AE" sz="2800" dirty="0"/>
              <a:t>and intensity will determine if you keep working toward that goal and how much effort you devote to reaching it.</a:t>
            </a:r>
          </a:p>
          <a:p>
            <a:pPr algn="just"/>
            <a:endParaRPr lang="en-AE" sz="2800" dirty="0"/>
          </a:p>
        </p:txBody>
      </p:sp>
    </p:spTree>
    <p:extLst>
      <p:ext uri="{BB962C8B-B14F-4D97-AF65-F5344CB8AC3E}">
        <p14:creationId xmlns:p14="http://schemas.microsoft.com/office/powerpoint/2010/main" val="39519805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improve motivation</a:t>
            </a:r>
            <a:endParaRPr lang="en-AE" dirty="0"/>
          </a:p>
        </p:txBody>
      </p:sp>
      <p:sp>
        <p:nvSpPr>
          <p:cNvPr id="3" name="Content Placeholder 2"/>
          <p:cNvSpPr>
            <a:spLocks noGrp="1"/>
          </p:cNvSpPr>
          <p:nvPr>
            <p:ph idx="1"/>
          </p:nvPr>
        </p:nvSpPr>
        <p:spPr/>
        <p:txBody>
          <a:bodyPr>
            <a:noAutofit/>
          </a:bodyPr>
          <a:lstStyle/>
          <a:p>
            <a:pPr algn="just" fontAlgn="base"/>
            <a:r>
              <a:rPr lang="en-AE" sz="2800" dirty="0"/>
              <a:t>All people experience fluctuations in their motivation and </a:t>
            </a:r>
            <a:r>
              <a:rPr lang="en-AE" sz="2800" u="sng" dirty="0">
                <a:hlinkClick r:id="rId2"/>
              </a:rPr>
              <a:t>willpower</a:t>
            </a:r>
            <a:r>
              <a:rPr lang="en-AE" sz="2800" dirty="0"/>
              <a:t>. </a:t>
            </a:r>
            <a:endParaRPr lang="en-US" sz="2800" dirty="0" smtClean="0"/>
          </a:p>
          <a:p>
            <a:pPr algn="just" fontAlgn="base"/>
            <a:endParaRPr lang="en-US" sz="2800" dirty="0" smtClean="0"/>
          </a:p>
          <a:p>
            <a:pPr algn="just" fontAlgn="base"/>
            <a:r>
              <a:rPr lang="en-AE" sz="2800" dirty="0" smtClean="0"/>
              <a:t>Sometimes </a:t>
            </a:r>
            <a:r>
              <a:rPr lang="en-AE" sz="2800" dirty="0"/>
              <a:t>you feel fired up and highly driven to reach your goals. Other times, you might feel listless or unsure of what you want or how to achieve it</a:t>
            </a:r>
            <a:r>
              <a:rPr lang="en-AE" sz="2800" dirty="0" smtClean="0"/>
              <a:t>.</a:t>
            </a:r>
            <a:endParaRPr lang="en-US" sz="2800" dirty="0" smtClean="0"/>
          </a:p>
          <a:p>
            <a:pPr algn="just" fontAlgn="base"/>
            <a:endParaRPr lang="en-AE" sz="2800" dirty="0"/>
          </a:p>
          <a:p>
            <a:pPr algn="just" fontAlgn="base"/>
            <a:r>
              <a:rPr lang="en-US" sz="2800" dirty="0" smtClean="0"/>
              <a:t>when</a:t>
            </a:r>
            <a:r>
              <a:rPr lang="en-AE" sz="2800" dirty="0" smtClean="0"/>
              <a:t> </a:t>
            </a:r>
            <a:r>
              <a:rPr lang="en-AE" sz="2800" dirty="0"/>
              <a:t>feeling low on motivation, there are steps you can take to help increase </a:t>
            </a:r>
            <a:r>
              <a:rPr lang="en-US" sz="2800" dirty="0" smtClean="0"/>
              <a:t>the</a:t>
            </a:r>
            <a:r>
              <a:rPr lang="en-AE" sz="2800" dirty="0" smtClean="0"/>
              <a:t> </a:t>
            </a:r>
            <a:r>
              <a:rPr lang="en-AE" sz="2800" dirty="0"/>
              <a:t>drive. Some things </a:t>
            </a:r>
            <a:r>
              <a:rPr lang="en-US" sz="2800" dirty="0" smtClean="0"/>
              <a:t>could be done</a:t>
            </a:r>
            <a:r>
              <a:rPr lang="en-AE" sz="2800" dirty="0" smtClean="0"/>
              <a:t> </a:t>
            </a:r>
            <a:r>
              <a:rPr lang="en-AE" sz="2800" dirty="0"/>
              <a:t>to develop or </a:t>
            </a:r>
            <a:r>
              <a:rPr lang="en-AE" sz="2800" dirty="0" smtClean="0"/>
              <a:t>improve motivation</a:t>
            </a:r>
            <a:endParaRPr lang="en-AE" sz="2800" dirty="0"/>
          </a:p>
          <a:p>
            <a:pPr algn="just"/>
            <a:endParaRPr lang="en-AE" sz="2800" dirty="0"/>
          </a:p>
        </p:txBody>
      </p:sp>
    </p:spTree>
    <p:extLst>
      <p:ext uri="{BB962C8B-B14F-4D97-AF65-F5344CB8AC3E}">
        <p14:creationId xmlns:p14="http://schemas.microsoft.com/office/powerpoint/2010/main" val="2609773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improve motivation</a:t>
            </a:r>
            <a:endParaRPr lang="en-AE" dirty="0"/>
          </a:p>
        </p:txBody>
      </p:sp>
      <p:sp>
        <p:nvSpPr>
          <p:cNvPr id="4" name="Content Placeholder 3"/>
          <p:cNvSpPr>
            <a:spLocks noGrp="1"/>
          </p:cNvSpPr>
          <p:nvPr>
            <p:ph idx="1"/>
          </p:nvPr>
        </p:nvSpPr>
        <p:spPr>
          <a:xfrm>
            <a:off x="467544" y="1628800"/>
            <a:ext cx="8229600" cy="4525963"/>
          </a:xfrm>
        </p:spPr>
        <p:txBody>
          <a:bodyPr>
            <a:noAutofit/>
          </a:bodyPr>
          <a:lstStyle/>
          <a:p>
            <a:pPr lvl="0" algn="just" fontAlgn="base"/>
            <a:r>
              <a:rPr lang="en-AE" sz="2800" dirty="0" smtClean="0"/>
              <a:t>Adjust </a:t>
            </a:r>
            <a:r>
              <a:rPr lang="en-AE" sz="2800" dirty="0"/>
              <a:t>goals to focus on things that really matter to </a:t>
            </a:r>
            <a:r>
              <a:rPr lang="en-US" sz="2800" dirty="0" smtClean="0"/>
              <a:t>the person</a:t>
            </a:r>
            <a:r>
              <a:rPr lang="en-AE" sz="2800" dirty="0" smtClean="0"/>
              <a:t>. </a:t>
            </a:r>
            <a:r>
              <a:rPr lang="en-AE" sz="2800" dirty="0"/>
              <a:t>Focusing on things that are highly important </a:t>
            </a:r>
            <a:r>
              <a:rPr lang="en-US" sz="2800" dirty="0" smtClean="0"/>
              <a:t>and</a:t>
            </a:r>
            <a:r>
              <a:rPr lang="en-AE" sz="2800" dirty="0" smtClean="0"/>
              <a:t> </a:t>
            </a:r>
            <a:r>
              <a:rPr lang="en-AE" sz="2800" dirty="0"/>
              <a:t>will help push </a:t>
            </a:r>
            <a:r>
              <a:rPr lang="en-AE" sz="2800" dirty="0" smtClean="0"/>
              <a:t>through </a:t>
            </a:r>
            <a:r>
              <a:rPr lang="en-AE" sz="2800" dirty="0"/>
              <a:t>challenges more than goals based on things that are low in importance</a:t>
            </a:r>
            <a:r>
              <a:rPr lang="en-AE" sz="2800" dirty="0" smtClean="0"/>
              <a:t>.</a:t>
            </a:r>
            <a:endParaRPr lang="en-US" sz="2800" dirty="0" smtClean="0"/>
          </a:p>
          <a:p>
            <a:pPr marL="0" lvl="0" indent="0" algn="just" fontAlgn="base">
              <a:buNone/>
            </a:pPr>
            <a:endParaRPr lang="en-AE" sz="2800" dirty="0"/>
          </a:p>
          <a:p>
            <a:pPr lvl="0" algn="just" fontAlgn="base"/>
            <a:r>
              <a:rPr lang="en-AE" sz="2800" dirty="0"/>
              <a:t>If </a:t>
            </a:r>
            <a:r>
              <a:rPr lang="en-AE" sz="2800" dirty="0" smtClean="0"/>
              <a:t>tackling </a:t>
            </a:r>
            <a:r>
              <a:rPr lang="en-AE" sz="2800" dirty="0"/>
              <a:t>something that feels too big or too overwhelming, break it up into smaller, more manageable steps. Then, </a:t>
            </a:r>
            <a:r>
              <a:rPr lang="en-AE" sz="2800" dirty="0" smtClean="0"/>
              <a:t>set </a:t>
            </a:r>
            <a:r>
              <a:rPr lang="en-AE" sz="2800" dirty="0"/>
              <a:t>sights on achieving only the first step</a:t>
            </a:r>
            <a:r>
              <a:rPr lang="en-AE" sz="2800" dirty="0" smtClean="0"/>
              <a:t>.</a:t>
            </a:r>
            <a:endParaRPr lang="en-AE" sz="2800" dirty="0"/>
          </a:p>
          <a:p>
            <a:pPr algn="just"/>
            <a:endParaRPr lang="en-AE" sz="2800" dirty="0"/>
          </a:p>
        </p:txBody>
      </p:sp>
    </p:spTree>
    <p:extLst>
      <p:ext uri="{BB962C8B-B14F-4D97-AF65-F5344CB8AC3E}">
        <p14:creationId xmlns:p14="http://schemas.microsoft.com/office/powerpoint/2010/main" val="6707814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improve motivation</a:t>
            </a:r>
            <a:endParaRPr lang="en-AE" dirty="0"/>
          </a:p>
        </p:txBody>
      </p:sp>
      <p:sp>
        <p:nvSpPr>
          <p:cNvPr id="3" name="Content Placeholder 2"/>
          <p:cNvSpPr>
            <a:spLocks noGrp="1"/>
          </p:cNvSpPr>
          <p:nvPr>
            <p:ph idx="1"/>
          </p:nvPr>
        </p:nvSpPr>
        <p:spPr/>
        <p:txBody>
          <a:bodyPr>
            <a:noAutofit/>
          </a:bodyPr>
          <a:lstStyle/>
          <a:p>
            <a:pPr lvl="0" algn="just" fontAlgn="base"/>
            <a:r>
              <a:rPr lang="en-AE" sz="2800" u="sng" dirty="0">
                <a:hlinkClick r:id="rId2"/>
              </a:rPr>
              <a:t>Improve your confidence</a:t>
            </a:r>
            <a:r>
              <a:rPr lang="en-AE" sz="2800" dirty="0"/>
              <a:t>. </a:t>
            </a:r>
            <a:r>
              <a:rPr lang="en-US" sz="2800" dirty="0" smtClean="0"/>
              <a:t>G</a:t>
            </a:r>
            <a:r>
              <a:rPr lang="en-AE" sz="2800" dirty="0" smtClean="0"/>
              <a:t>aining </a:t>
            </a:r>
            <a:r>
              <a:rPr lang="en-AE" sz="2800" dirty="0"/>
              <a:t>more confidence in yourself and your skills can impact your ability to achieve your goals</a:t>
            </a:r>
            <a:r>
              <a:rPr lang="en-AE" sz="2800" dirty="0" smtClean="0"/>
              <a:t>.</a:t>
            </a:r>
            <a:endParaRPr lang="en-US" sz="2800" dirty="0" smtClean="0"/>
          </a:p>
          <a:p>
            <a:pPr lvl="0" algn="just" fontAlgn="base"/>
            <a:endParaRPr lang="en-AE" sz="2800" dirty="0"/>
          </a:p>
          <a:p>
            <a:pPr lvl="0" algn="just" fontAlgn="base"/>
            <a:r>
              <a:rPr lang="en-AE" sz="2800" dirty="0"/>
              <a:t>Remind yourself about what you've achieved in the past and where your strengths lie. This helps keep </a:t>
            </a:r>
            <a:r>
              <a:rPr lang="en-AE" sz="2800" u="sng" dirty="0">
                <a:hlinkClick r:id="rId3"/>
              </a:rPr>
              <a:t>self-doubts</a:t>
            </a:r>
            <a:r>
              <a:rPr lang="en-AE" sz="2800" dirty="0"/>
              <a:t> from limiting your motivation</a:t>
            </a:r>
            <a:r>
              <a:rPr lang="en-AE" sz="2800" dirty="0" smtClean="0"/>
              <a:t>.</a:t>
            </a:r>
            <a:endParaRPr lang="en-US" sz="2800" dirty="0" smtClean="0"/>
          </a:p>
          <a:p>
            <a:pPr marL="0" lvl="0" indent="0" algn="just" fontAlgn="base">
              <a:buNone/>
            </a:pPr>
            <a:endParaRPr lang="en-AE" sz="2800" dirty="0"/>
          </a:p>
          <a:p>
            <a:pPr lvl="0" algn="just" fontAlgn="base"/>
            <a:r>
              <a:rPr lang="en-AE" sz="2800" dirty="0"/>
              <a:t>If there are things you feel insecure about, try working on making </a:t>
            </a:r>
            <a:r>
              <a:rPr lang="en-AE" sz="2800" dirty="0" smtClean="0"/>
              <a:t>improvements</a:t>
            </a:r>
            <a:r>
              <a:rPr lang="en-US" sz="2800" dirty="0" smtClean="0"/>
              <a:t> </a:t>
            </a:r>
            <a:r>
              <a:rPr lang="en-AE" sz="2800" dirty="0" smtClean="0"/>
              <a:t>in </a:t>
            </a:r>
            <a:r>
              <a:rPr lang="en-AE" sz="2800" dirty="0"/>
              <a:t>those areas so you feel more skilled and capable.</a:t>
            </a:r>
          </a:p>
          <a:p>
            <a:pPr algn="just"/>
            <a:endParaRPr lang="en-AE" sz="2800" dirty="0"/>
          </a:p>
          <a:p>
            <a:pPr algn="just"/>
            <a:endParaRPr lang="en-AE" sz="2800" dirty="0"/>
          </a:p>
        </p:txBody>
      </p:sp>
    </p:spTree>
    <p:extLst>
      <p:ext uri="{BB962C8B-B14F-4D97-AF65-F5344CB8AC3E}">
        <p14:creationId xmlns:p14="http://schemas.microsoft.com/office/powerpoint/2010/main" val="34804657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3408"/>
            <a:ext cx="8229600" cy="1143000"/>
          </a:xfrm>
        </p:spPr>
        <p:txBody>
          <a:bodyPr/>
          <a:lstStyle/>
          <a:p>
            <a:r>
              <a:rPr lang="en-US" dirty="0" smtClean="0"/>
              <a:t>Theories of motivation</a:t>
            </a:r>
            <a:endParaRPr lang="en-AE" dirty="0"/>
          </a:p>
        </p:txBody>
      </p:sp>
      <p:sp>
        <p:nvSpPr>
          <p:cNvPr id="3" name="Content Placeholder 2"/>
          <p:cNvSpPr>
            <a:spLocks noGrp="1"/>
          </p:cNvSpPr>
          <p:nvPr>
            <p:ph idx="1"/>
          </p:nvPr>
        </p:nvSpPr>
        <p:spPr>
          <a:xfrm>
            <a:off x="457200" y="1052736"/>
            <a:ext cx="8229600" cy="4525963"/>
          </a:xfrm>
        </p:spPr>
        <p:txBody>
          <a:bodyPr>
            <a:noAutofit/>
          </a:bodyPr>
          <a:lstStyle/>
          <a:p>
            <a:pPr algn="just"/>
            <a:r>
              <a:rPr lang="en-AE" sz="2800" dirty="0"/>
              <a:t>Throughout history, psychologists have proposed different theories to explain what motivates human behavior. </a:t>
            </a:r>
            <a:endParaRPr lang="en-US" sz="2800" dirty="0" smtClean="0"/>
          </a:p>
          <a:p>
            <a:pPr marL="0" indent="0" algn="just" fontAlgn="base">
              <a:buNone/>
            </a:pPr>
            <a:r>
              <a:rPr lang="en-AE" sz="2800" b="1" u="sng" dirty="0"/>
              <a:t>Instincts</a:t>
            </a:r>
          </a:p>
          <a:p>
            <a:pPr algn="just" fontAlgn="base"/>
            <a:r>
              <a:rPr lang="en-AE" sz="2800" dirty="0"/>
              <a:t>The </a:t>
            </a:r>
            <a:r>
              <a:rPr lang="en-AE" sz="2800" u="sng" dirty="0">
                <a:hlinkClick r:id="rId2"/>
              </a:rPr>
              <a:t>instinct theory of motivation</a:t>
            </a:r>
            <a:r>
              <a:rPr lang="en-AE" sz="2800" dirty="0"/>
              <a:t> suggests that behaviors are motivated by instincts, which are fixed and inborn patterns of </a:t>
            </a:r>
            <a:r>
              <a:rPr lang="en-AE" sz="2800" dirty="0" smtClean="0"/>
              <a:t>behavior.</a:t>
            </a:r>
            <a:r>
              <a:rPr lang="en-US" sz="2800" baseline="30000" dirty="0"/>
              <a:t> </a:t>
            </a:r>
            <a:endParaRPr lang="en-US" sz="2800" baseline="30000" dirty="0" smtClean="0"/>
          </a:p>
          <a:p>
            <a:pPr algn="just" fontAlgn="base"/>
            <a:r>
              <a:rPr lang="en-AE" sz="2800" dirty="0" smtClean="0"/>
              <a:t>Psychologists have </a:t>
            </a:r>
            <a:r>
              <a:rPr lang="en-AE" sz="2800" dirty="0"/>
              <a:t>proposed several basic human drives that motivate behavior. </a:t>
            </a:r>
            <a:endParaRPr lang="en-US" sz="2800" dirty="0" smtClean="0"/>
          </a:p>
          <a:p>
            <a:pPr algn="just" fontAlgn="base"/>
            <a:r>
              <a:rPr lang="en-AE" sz="2800" dirty="0" smtClean="0"/>
              <a:t>They </a:t>
            </a:r>
            <a:r>
              <a:rPr lang="en-AE" sz="2800" dirty="0"/>
              <a:t>include biological instincts that are important for an organism's survival—such as fear, cleanliness, and love.</a:t>
            </a:r>
          </a:p>
          <a:p>
            <a:pPr algn="just"/>
            <a:endParaRPr lang="en-AE" sz="2800" dirty="0"/>
          </a:p>
        </p:txBody>
      </p:sp>
    </p:spTree>
    <p:extLst>
      <p:ext uri="{BB962C8B-B14F-4D97-AF65-F5344CB8AC3E}">
        <p14:creationId xmlns:p14="http://schemas.microsoft.com/office/powerpoint/2010/main" val="23653976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9432"/>
            <a:ext cx="8229600" cy="1143000"/>
          </a:xfrm>
        </p:spPr>
        <p:txBody>
          <a:bodyPr/>
          <a:lstStyle/>
          <a:p>
            <a:r>
              <a:rPr lang="en-US" dirty="0" smtClean="0"/>
              <a:t>Theories of motivation</a:t>
            </a:r>
            <a:endParaRPr lang="en-AE" dirty="0"/>
          </a:p>
        </p:txBody>
      </p:sp>
      <p:sp>
        <p:nvSpPr>
          <p:cNvPr id="5" name="Rectangle 4"/>
          <p:cNvSpPr/>
          <p:nvPr/>
        </p:nvSpPr>
        <p:spPr>
          <a:xfrm>
            <a:off x="179512" y="620688"/>
            <a:ext cx="8964488" cy="5693866"/>
          </a:xfrm>
          <a:prstGeom prst="rect">
            <a:avLst/>
          </a:prstGeom>
        </p:spPr>
        <p:txBody>
          <a:bodyPr wrap="square">
            <a:spAutoFit/>
          </a:bodyPr>
          <a:lstStyle/>
          <a:p>
            <a:pPr fontAlgn="base"/>
            <a:r>
              <a:rPr lang="en-AE" sz="2800" b="1" u="sng" dirty="0"/>
              <a:t>Drives and Needs</a:t>
            </a:r>
          </a:p>
          <a:p>
            <a:pPr marL="457200" indent="-457200" fontAlgn="base">
              <a:buFont typeface="Arial" panose="020B0604020202020204" pitchFamily="34" charset="0"/>
              <a:buChar char="•"/>
            </a:pPr>
            <a:r>
              <a:rPr lang="en-AE" sz="2800" dirty="0"/>
              <a:t>Many behaviors such as eating, drinking, and sleeping are motivated by biology. We have a biological need for food, water, and sleep. Therefore, we are motivated to eat, drink, and sleep. </a:t>
            </a:r>
            <a:endParaRPr lang="en-US" sz="2800" dirty="0" smtClean="0"/>
          </a:p>
          <a:p>
            <a:pPr marL="457200" indent="-457200" fontAlgn="base">
              <a:buFont typeface="Arial" panose="020B0604020202020204" pitchFamily="34" charset="0"/>
              <a:buChar char="•"/>
            </a:pPr>
            <a:r>
              <a:rPr lang="en-AE" sz="2800" dirty="0" smtClean="0"/>
              <a:t>The</a:t>
            </a:r>
            <a:r>
              <a:rPr lang="en-AE" sz="2800" dirty="0"/>
              <a:t> </a:t>
            </a:r>
            <a:r>
              <a:rPr lang="en-AE" sz="2800" u="sng" dirty="0">
                <a:hlinkClick r:id="rId2"/>
              </a:rPr>
              <a:t>drive reduction theory of motivation</a:t>
            </a:r>
            <a:r>
              <a:rPr lang="en-AE" sz="2800" dirty="0"/>
              <a:t> suggests that people have these basic biological drives, and our behaviors are motivated by the need to fulfill these </a:t>
            </a:r>
            <a:r>
              <a:rPr lang="en-AE" sz="2800" dirty="0" smtClean="0"/>
              <a:t>drives</a:t>
            </a:r>
            <a:endParaRPr lang="en-AE" sz="2800" dirty="0"/>
          </a:p>
          <a:p>
            <a:pPr marL="457200" indent="-457200" fontAlgn="base">
              <a:buFont typeface="Arial" panose="020B0604020202020204" pitchFamily="34" charset="0"/>
              <a:buChar char="•"/>
            </a:pPr>
            <a:r>
              <a:rPr lang="en-AE" sz="2800" dirty="0"/>
              <a:t>Abraham Maslow's </a:t>
            </a:r>
            <a:r>
              <a:rPr lang="en-AE" sz="2800" u="sng" dirty="0">
                <a:hlinkClick r:id="rId3"/>
              </a:rPr>
              <a:t>hierarchy of needs</a:t>
            </a:r>
            <a:r>
              <a:rPr lang="en-AE" sz="2800" dirty="0"/>
              <a:t> is another motivation theory based on a desire to fulfill basic physiological needs. Once those needs are met, it expands to our other needs, such as those related to safety and security, social needs, self-esteem, and self-actualization.</a:t>
            </a:r>
          </a:p>
        </p:txBody>
      </p:sp>
    </p:spTree>
    <p:extLst>
      <p:ext uri="{BB962C8B-B14F-4D97-AF65-F5344CB8AC3E}">
        <p14:creationId xmlns:p14="http://schemas.microsoft.com/office/powerpoint/2010/main" val="2279037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3408"/>
            <a:ext cx="8229600" cy="1143000"/>
          </a:xfrm>
        </p:spPr>
        <p:txBody>
          <a:bodyPr/>
          <a:lstStyle/>
          <a:p>
            <a:r>
              <a:rPr lang="en-US" dirty="0" smtClean="0"/>
              <a:t>Theories of motivation</a:t>
            </a:r>
            <a:endParaRPr lang="en-AE" dirty="0"/>
          </a:p>
        </p:txBody>
      </p:sp>
      <p:sp>
        <p:nvSpPr>
          <p:cNvPr id="3" name="Rectangle 2"/>
          <p:cNvSpPr/>
          <p:nvPr/>
        </p:nvSpPr>
        <p:spPr>
          <a:xfrm>
            <a:off x="467544" y="908720"/>
            <a:ext cx="7776864" cy="4688463"/>
          </a:xfrm>
          <a:prstGeom prst="rect">
            <a:avLst/>
          </a:prstGeom>
        </p:spPr>
        <p:txBody>
          <a:bodyPr wrap="square">
            <a:spAutoFit/>
          </a:bodyPr>
          <a:lstStyle/>
          <a:p>
            <a:pPr algn="just" fontAlgn="base"/>
            <a:r>
              <a:rPr lang="en-AE" sz="2800" u="sng" dirty="0"/>
              <a:t>Arousal </a:t>
            </a:r>
            <a:r>
              <a:rPr lang="en-AE" sz="2800" u="sng" dirty="0" smtClean="0"/>
              <a:t>Levels</a:t>
            </a:r>
            <a:endParaRPr lang="en-US" sz="2800" u="sng" dirty="0" smtClean="0"/>
          </a:p>
          <a:p>
            <a:pPr algn="just" fontAlgn="base"/>
            <a:endParaRPr lang="en-AE" sz="2800" u="sng" dirty="0"/>
          </a:p>
          <a:p>
            <a:pPr marL="457200" indent="-457200" algn="just" fontAlgn="base">
              <a:buFont typeface="Arial" panose="020B0604020202020204" pitchFamily="34" charset="0"/>
              <a:buChar char="•"/>
            </a:pPr>
            <a:r>
              <a:rPr lang="en-AE" sz="2800" dirty="0"/>
              <a:t>The </a:t>
            </a:r>
            <a:r>
              <a:rPr lang="en-AE" sz="2800" u="sng" dirty="0">
                <a:hlinkClick r:id="rId2"/>
              </a:rPr>
              <a:t>arousal theory of motivation</a:t>
            </a:r>
            <a:r>
              <a:rPr lang="en-AE" sz="2800" dirty="0"/>
              <a:t> suggests that people are motivated to engage in behaviors that help them maintain their optimal level of </a:t>
            </a:r>
            <a:r>
              <a:rPr lang="en-AE" sz="2800" dirty="0" smtClean="0"/>
              <a:t>arousal.</a:t>
            </a:r>
            <a:r>
              <a:rPr lang="en-US" sz="2800" baseline="30000" dirty="0"/>
              <a:t> </a:t>
            </a:r>
            <a:endParaRPr lang="en-US" sz="2800" baseline="30000" dirty="0" smtClean="0"/>
          </a:p>
          <a:p>
            <a:pPr marL="457200" indent="-457200" algn="just" fontAlgn="base">
              <a:buFont typeface="Arial" panose="020B0604020202020204" pitchFamily="34" charset="0"/>
              <a:buChar char="•"/>
            </a:pPr>
            <a:endParaRPr lang="en-US" sz="2800" baseline="30000" dirty="0"/>
          </a:p>
          <a:p>
            <a:pPr marL="457200" indent="-457200" algn="just" fontAlgn="base">
              <a:buFont typeface="Arial" panose="020B0604020202020204" pitchFamily="34" charset="0"/>
              <a:buChar char="•"/>
            </a:pPr>
            <a:r>
              <a:rPr lang="en-AE" sz="2800" dirty="0" smtClean="0"/>
              <a:t>A </a:t>
            </a:r>
            <a:r>
              <a:rPr lang="en-AE" sz="2800" dirty="0"/>
              <a:t>person with low arousal needs might pursue relaxing activities such as reading a book, while those with high arousal needs might be motivated to engage in exciting, thrill-seeking behaviors such as motorcycle racing.</a:t>
            </a:r>
          </a:p>
        </p:txBody>
      </p:sp>
    </p:spTree>
    <p:extLst>
      <p:ext uri="{BB962C8B-B14F-4D97-AF65-F5344CB8AC3E}">
        <p14:creationId xmlns:p14="http://schemas.microsoft.com/office/powerpoint/2010/main" val="1781053470"/>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Angles">
  <a:themeElements>
    <a:clrScheme name="Angles">
      <a:dk1>
        <a:srgbClr val="000000"/>
      </a:dk1>
      <a:lt1>
        <a:srgbClr val="FFFFFF"/>
      </a:lt1>
      <a:dk2>
        <a:srgbClr val="434342"/>
      </a:dk2>
      <a:lt2>
        <a:srgbClr val="CDD7D9"/>
      </a:lt2>
      <a:accent1>
        <a:srgbClr val="797B7E"/>
      </a:accent1>
      <a:accent2>
        <a:srgbClr val="F96A1B"/>
      </a:accent2>
      <a:accent3>
        <a:srgbClr val="08A1D9"/>
      </a:accent3>
      <a:accent4>
        <a:srgbClr val="7C984A"/>
      </a:accent4>
      <a:accent5>
        <a:srgbClr val="C2AD8D"/>
      </a:accent5>
      <a:accent6>
        <a:srgbClr val="506E94"/>
      </a:accent6>
      <a:hlink>
        <a:srgbClr val="5F5F5F"/>
      </a:hlink>
      <a:folHlink>
        <a:srgbClr val="969696"/>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blipFill rotWithShape="1">
          <a:blip xmlns:r="http://schemas.openxmlformats.org/officeDocument/2006/relationships" r:embed="rId1">
            <a:duotone>
              <a:schemeClr val="phClr">
                <a:tint val="90000"/>
                <a:shade val="85000"/>
              </a:schemeClr>
              <a:schemeClr val="phClr">
                <a:tint val="95000"/>
                <a:shade val="99000"/>
              </a:schemeClr>
            </a:duotone>
          </a:blip>
          <a:tile tx="0" ty="0" sx="100000" sy="100000" flip="none" algn="tl"/>
        </a:blipFill>
        <a:blipFill rotWithShape="1">
          <a:blip xmlns:r="http://schemas.openxmlformats.org/officeDocument/2006/relationships" r:embed="rId2">
            <a:duotone>
              <a:schemeClr val="phClr">
                <a:tint val="93000"/>
                <a:shade val="85000"/>
              </a:schemeClr>
              <a:schemeClr val="phClr">
                <a:tint val="96000"/>
                <a:shade val="99000"/>
              </a:schemeClr>
            </a:duotone>
          </a:blip>
          <a:tile tx="0" ty="0" sx="90000" sy="9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Angles</Template>
  <TotalTime>599</TotalTime>
  <Words>430</Words>
  <Application>Microsoft Office PowerPoint</Application>
  <PresentationFormat>On-screen Show (4:3)</PresentationFormat>
  <Paragraphs>84</Paragraphs>
  <Slides>15</Slides>
  <Notes>1</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Angles</vt:lpstr>
      <vt:lpstr>Chapter (10)</vt:lpstr>
      <vt:lpstr>Introduction </vt:lpstr>
      <vt:lpstr>Definition </vt:lpstr>
      <vt:lpstr>Types of motivation</vt:lpstr>
      <vt:lpstr>Types of motivation</vt:lpstr>
      <vt:lpstr>Types of motivation </vt:lpstr>
      <vt:lpstr>Motivation importance </vt:lpstr>
      <vt:lpstr>Components of motivation</vt:lpstr>
      <vt:lpstr>Components of motivation</vt:lpstr>
      <vt:lpstr>How to improve motivation</vt:lpstr>
      <vt:lpstr>How to improve motivation</vt:lpstr>
      <vt:lpstr>How to improve motivation</vt:lpstr>
      <vt:lpstr>Theories of motivation</vt:lpstr>
      <vt:lpstr>Theories of motivation</vt:lpstr>
      <vt:lpstr>Theories of motivation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(4)</dc:title>
  <dc:creator>Nancy karma</dc:creator>
  <cp:lastModifiedBy>Nancy karma</cp:lastModifiedBy>
  <cp:revision>16</cp:revision>
  <dcterms:created xsi:type="dcterms:W3CDTF">2023-06-17T09:35:32Z</dcterms:created>
  <dcterms:modified xsi:type="dcterms:W3CDTF">2023-09-01T08:03:41Z</dcterms:modified>
</cp:coreProperties>
</file>