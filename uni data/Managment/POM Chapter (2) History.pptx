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63" r:id="rId5"/>
    <p:sldId id="258" r:id="rId6"/>
    <p:sldId id="259" r:id="rId7"/>
    <p:sldId id="257"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B7266354-FE70-46E0-BF2A-CAB3DB9957F0}" type="datetimeFigureOut">
              <a:rPr lang="en-US" smtClean="0"/>
              <a:t>7/5/2023</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B4AA022-923B-4A22-B960-CA34CF1FC076}"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266354-FE70-46E0-BF2A-CAB3DB9957F0}"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A022-923B-4A22-B960-CA34CF1FC076}"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266354-FE70-46E0-BF2A-CAB3DB9957F0}"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A022-923B-4A22-B960-CA34CF1FC07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7266354-FE70-46E0-BF2A-CAB3DB9957F0}"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A022-923B-4A22-B960-CA34CF1FC076}"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7266354-FE70-46E0-BF2A-CAB3DB9957F0}" type="datetimeFigureOut">
              <a:rPr lang="en-US" smtClean="0"/>
              <a:t>7/5/2023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4AA022-923B-4A22-B960-CA34CF1FC076}"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7266354-FE70-46E0-BF2A-CAB3DB9957F0}" type="datetimeFigureOut">
              <a:rPr lang="en-US" smtClean="0"/>
              <a:t>7/5/2023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4AA022-923B-4A22-B960-CA34CF1FC076}"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66354-FE70-46E0-BF2A-CAB3DB9957F0}" type="datetimeFigureOut">
              <a:rPr lang="en-US" smtClean="0"/>
              <a:t>7/5/2023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4AA022-923B-4A22-B960-CA34CF1FC07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266354-FE70-46E0-BF2A-CAB3DB9957F0}"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A022-923B-4A22-B960-CA34CF1FC07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266354-FE70-46E0-BF2A-CAB3DB9957F0}"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AA022-923B-4A22-B960-CA34CF1FC07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266354-FE70-46E0-BF2A-CAB3DB9957F0}"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A022-923B-4A22-B960-CA34CF1FC076}"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266354-FE70-46E0-BF2A-CAB3DB9957F0}"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AA022-923B-4A22-B960-CA34CF1FC076}"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B7266354-FE70-46E0-BF2A-CAB3DB9957F0}" type="datetimeFigureOut">
              <a:rPr lang="en-US" smtClean="0"/>
              <a:t>7/5/2023</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9B4AA022-923B-4A22-B960-CA34CF1FC07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“2”</a:t>
            </a:r>
            <a:endParaRPr lang="en-US" dirty="0"/>
          </a:p>
        </p:txBody>
      </p:sp>
      <p:sp>
        <p:nvSpPr>
          <p:cNvPr id="3" name="Subtitle 2"/>
          <p:cNvSpPr>
            <a:spLocks noGrp="1"/>
          </p:cNvSpPr>
          <p:nvPr>
            <p:ph type="subTitle" idx="1"/>
          </p:nvPr>
        </p:nvSpPr>
        <p:spPr/>
        <p:txBody>
          <a:bodyPr>
            <a:normAutofit/>
          </a:bodyPr>
          <a:lstStyle/>
          <a:p>
            <a:r>
              <a:rPr lang="en-US" sz="4800" dirty="0" smtClean="0"/>
              <a:t>History of management</a:t>
            </a:r>
            <a:endParaRPr lang="en-US" sz="4800" dirty="0"/>
          </a:p>
        </p:txBody>
      </p:sp>
    </p:spTree>
    <p:extLst>
      <p:ext uri="{BB962C8B-B14F-4D97-AF65-F5344CB8AC3E}">
        <p14:creationId xmlns:p14="http://schemas.microsoft.com/office/powerpoint/2010/main" val="26636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1988841"/>
            <a:ext cx="7745505" cy="4752528"/>
          </a:xfrm>
        </p:spPr>
        <p:txBody>
          <a:bodyPr>
            <a:normAutofit/>
          </a:bodyPr>
          <a:lstStyle/>
          <a:p>
            <a:pPr algn="just"/>
            <a:r>
              <a:rPr lang="en-US" dirty="0"/>
              <a:t>The concept of management has been around for thousands of years. </a:t>
            </a:r>
            <a:endParaRPr lang="en-US" dirty="0" smtClean="0"/>
          </a:p>
          <a:p>
            <a:pPr algn="just"/>
            <a:r>
              <a:rPr lang="en-US" dirty="0" smtClean="0"/>
              <a:t>Management </a:t>
            </a:r>
            <a:r>
              <a:rPr lang="en-US" dirty="0"/>
              <a:t>history utilizes the tools and methods of traditional historical analysis as well as drawing insights from business disciplines and the social sciences</a:t>
            </a:r>
            <a:r>
              <a:rPr lang="en-US" dirty="0" smtClean="0"/>
              <a:t>.</a:t>
            </a:r>
          </a:p>
          <a:p>
            <a:pPr algn="just"/>
            <a:r>
              <a:rPr lang="en-US" dirty="0"/>
              <a:t>Understanding the evolution of management thought is important as it helps determine what management principles and practices work best for your team and your organization. It can help you manage your team and workplace more effectively. </a:t>
            </a:r>
            <a:endParaRPr lang="en-US" dirty="0" smtClean="0"/>
          </a:p>
        </p:txBody>
      </p:sp>
      <p:sp>
        <p:nvSpPr>
          <p:cNvPr id="3" name="Title 2"/>
          <p:cNvSpPr>
            <a:spLocks noGrp="1"/>
          </p:cNvSpPr>
          <p:nvPr>
            <p:ph type="title"/>
          </p:nvPr>
        </p:nvSpPr>
        <p:spPr/>
        <p:txBody>
          <a:bodyPr/>
          <a:lstStyle/>
          <a:p>
            <a:r>
              <a:rPr lang="en-US" dirty="0"/>
              <a:t>O</a:t>
            </a:r>
            <a:r>
              <a:rPr lang="en-US" dirty="0" smtClean="0"/>
              <a:t>verview</a:t>
            </a:r>
            <a:endParaRPr lang="en-US" dirty="0"/>
          </a:p>
        </p:txBody>
      </p:sp>
    </p:spTree>
    <p:extLst>
      <p:ext uri="{BB962C8B-B14F-4D97-AF65-F5344CB8AC3E}">
        <p14:creationId xmlns:p14="http://schemas.microsoft.com/office/powerpoint/2010/main" val="437775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1988840"/>
            <a:ext cx="7745505" cy="4869160"/>
          </a:xfrm>
        </p:spPr>
        <p:txBody>
          <a:bodyPr>
            <a:normAutofit/>
          </a:bodyPr>
          <a:lstStyle/>
          <a:p>
            <a:pPr marL="0" indent="0" algn="just">
              <a:buNone/>
            </a:pPr>
            <a:r>
              <a:rPr lang="en-US" b="1" u="sng" dirty="0" smtClean="0"/>
              <a:t>Ancient ages: </a:t>
            </a:r>
          </a:p>
          <a:p>
            <a:pPr algn="just"/>
            <a:r>
              <a:rPr lang="en-US" dirty="0" smtClean="0"/>
              <a:t>the </a:t>
            </a:r>
            <a:r>
              <a:rPr lang="en-US" dirty="0"/>
              <a:t>process of “getting work done through people.” Studying management in the ancient world presents unique problems. The boundaries between public and private sectors are often highly fluid, and exchanges often took place for motives other than profit. </a:t>
            </a:r>
            <a:endParaRPr lang="en-US" dirty="0" smtClean="0"/>
          </a:p>
          <a:p>
            <a:pPr algn="just"/>
            <a:r>
              <a:rPr lang="en-US" dirty="0"/>
              <a:t>“Management” in the context of Antiquity may be defined as the organization and supervision of production, and as exchange in agriculture, manufacturing, and/or services such as public administration of taxation systems or </a:t>
            </a:r>
            <a:r>
              <a:rPr lang="en-US" dirty="0" smtClean="0"/>
              <a:t>treasury</a:t>
            </a:r>
          </a:p>
          <a:p>
            <a:pPr algn="just"/>
            <a:endParaRPr lang="en-US" dirty="0"/>
          </a:p>
        </p:txBody>
      </p:sp>
      <p:sp>
        <p:nvSpPr>
          <p:cNvPr id="3" name="Title 2"/>
          <p:cNvSpPr>
            <a:spLocks noGrp="1"/>
          </p:cNvSpPr>
          <p:nvPr>
            <p:ph type="title"/>
          </p:nvPr>
        </p:nvSpPr>
        <p:spPr/>
        <p:txBody>
          <a:bodyPr/>
          <a:lstStyle/>
          <a:p>
            <a:r>
              <a:rPr lang="en-US" sz="4400" dirty="0" smtClean="0"/>
              <a:t>Evolution of management</a:t>
            </a:r>
            <a:endParaRPr lang="en-US" sz="4400" dirty="0"/>
          </a:p>
        </p:txBody>
      </p:sp>
    </p:spTree>
    <p:extLst>
      <p:ext uri="{BB962C8B-B14F-4D97-AF65-F5344CB8AC3E}">
        <p14:creationId xmlns:p14="http://schemas.microsoft.com/office/powerpoint/2010/main" val="2711320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1988840"/>
            <a:ext cx="7745505" cy="4869160"/>
          </a:xfrm>
        </p:spPr>
        <p:txBody>
          <a:bodyPr>
            <a:normAutofit fontScale="92500" lnSpcReduction="10000"/>
          </a:bodyPr>
          <a:lstStyle/>
          <a:p>
            <a:pPr marL="0" indent="0" algn="just">
              <a:buNone/>
            </a:pPr>
            <a:r>
              <a:rPr lang="en-US" b="1" u="sng" dirty="0" smtClean="0"/>
              <a:t>Industrial revolution:</a:t>
            </a:r>
          </a:p>
          <a:p>
            <a:pPr algn="just"/>
            <a:r>
              <a:rPr lang="en-US" dirty="0"/>
              <a:t>Prior to the Industrial Revolution, goods and services lacked standardization and were produced at home in small </a:t>
            </a:r>
            <a:r>
              <a:rPr lang="en-US" dirty="0" smtClean="0"/>
              <a:t>batches. The </a:t>
            </a:r>
            <a:r>
              <a:rPr lang="en-US" dirty="0"/>
              <a:t>Industrial Revolution saw work shift from family-led home production to factory production</a:t>
            </a:r>
            <a:r>
              <a:rPr lang="en-US" dirty="0" smtClean="0"/>
              <a:t>.</a:t>
            </a:r>
          </a:p>
          <a:p>
            <a:pPr algn="just"/>
            <a:r>
              <a:rPr lang="en-US" dirty="0"/>
              <a:t>With the invention of the steam engine, numerous innovations occurred, including the automated movement of coal from underground mines, powering factories that now mass-produced </a:t>
            </a:r>
            <a:r>
              <a:rPr lang="en-US" dirty="0" smtClean="0"/>
              <a:t>goods, </a:t>
            </a:r>
            <a:r>
              <a:rPr lang="en-US" dirty="0"/>
              <a:t>and railroad </a:t>
            </a:r>
            <a:r>
              <a:rPr lang="en-US" dirty="0" smtClean="0"/>
              <a:t>trains </a:t>
            </a:r>
            <a:r>
              <a:rPr lang="en-US" dirty="0"/>
              <a:t>that could move products and materials across nations in a timely and efficient manner. </a:t>
            </a:r>
            <a:endParaRPr lang="en-US" dirty="0" smtClean="0"/>
          </a:p>
          <a:p>
            <a:pPr algn="just"/>
            <a:r>
              <a:rPr lang="en-US" dirty="0"/>
              <a:t>As these facilities became more substantial and productive, the need for managing and coordination became an essential factor.</a:t>
            </a:r>
            <a:endParaRPr lang="en-US" dirty="0" smtClean="0"/>
          </a:p>
          <a:p>
            <a:pPr algn="just"/>
            <a:endParaRPr lang="en-US" dirty="0"/>
          </a:p>
        </p:txBody>
      </p:sp>
      <p:sp>
        <p:nvSpPr>
          <p:cNvPr id="3" name="Title 2"/>
          <p:cNvSpPr>
            <a:spLocks noGrp="1"/>
          </p:cNvSpPr>
          <p:nvPr>
            <p:ph type="title"/>
          </p:nvPr>
        </p:nvSpPr>
        <p:spPr/>
        <p:txBody>
          <a:bodyPr/>
          <a:lstStyle/>
          <a:p>
            <a:r>
              <a:rPr lang="en-US" sz="4400" dirty="0" smtClean="0"/>
              <a:t>Evolution of management</a:t>
            </a:r>
            <a:endParaRPr lang="en-US" sz="4400" dirty="0"/>
          </a:p>
        </p:txBody>
      </p:sp>
    </p:spTree>
    <p:extLst>
      <p:ext uri="{BB962C8B-B14F-4D97-AF65-F5344CB8AC3E}">
        <p14:creationId xmlns:p14="http://schemas.microsoft.com/office/powerpoint/2010/main" val="3392012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Overview </a:t>
            </a:r>
            <a:endParaRPr lang="en-US" dirty="0"/>
          </a:p>
        </p:txBody>
      </p:sp>
      <p:sp>
        <p:nvSpPr>
          <p:cNvPr id="4" name="Content Placeholder 3"/>
          <p:cNvSpPr>
            <a:spLocks noGrp="1"/>
          </p:cNvSpPr>
          <p:nvPr>
            <p:ph idx="1"/>
          </p:nvPr>
        </p:nvSpPr>
        <p:spPr/>
        <p:txBody>
          <a:bodyPr>
            <a:normAutofit fontScale="92500" lnSpcReduction="20000"/>
          </a:bodyPr>
          <a:lstStyle/>
          <a:p>
            <a:pPr marL="0" indent="0" algn="just">
              <a:buNone/>
            </a:pPr>
            <a:r>
              <a:rPr lang="en-US" b="1" u="sng" dirty="0" smtClean="0"/>
              <a:t>The </a:t>
            </a:r>
            <a:r>
              <a:rPr lang="en-US" b="1" u="sng" dirty="0"/>
              <a:t>Modern </a:t>
            </a:r>
            <a:r>
              <a:rPr lang="en-US" b="1" u="sng" dirty="0" smtClean="0"/>
              <a:t>Era:</a:t>
            </a:r>
          </a:p>
          <a:p>
            <a:pPr algn="just"/>
            <a:r>
              <a:rPr lang="en-US" dirty="0"/>
              <a:t>Management by </a:t>
            </a:r>
            <a:r>
              <a:rPr lang="en-US" dirty="0" smtClean="0"/>
              <a:t>Objective (MBO) </a:t>
            </a:r>
            <a:r>
              <a:rPr lang="en-US" dirty="0"/>
              <a:t>is the process of defining specific objectives necessary to achieve the organization’s goals. </a:t>
            </a:r>
            <a:endParaRPr lang="en-US" dirty="0" smtClean="0"/>
          </a:p>
          <a:p>
            <a:pPr algn="just"/>
            <a:r>
              <a:rPr lang="en-US" dirty="0" smtClean="0"/>
              <a:t>MBO </a:t>
            </a:r>
            <a:r>
              <a:rPr lang="en-US" dirty="0"/>
              <a:t>concept </a:t>
            </a:r>
            <a:r>
              <a:rPr lang="en-US" dirty="0" smtClean="0"/>
              <a:t>provided </a:t>
            </a:r>
            <a:r>
              <a:rPr lang="en-US" dirty="0"/>
              <a:t>employees a clear view of their organization’s objectives and defined their individual responsibilities</a:t>
            </a:r>
            <a:r>
              <a:rPr lang="en-US" dirty="0" smtClean="0"/>
              <a:t>.</a:t>
            </a:r>
          </a:p>
          <a:p>
            <a:pPr algn="just"/>
            <a:r>
              <a:rPr lang="en-US" dirty="0"/>
              <a:t>The role of management is now to support, monitor, and evaluate performance. Should a problem arise, it is management’s responsibility to take corrective </a:t>
            </a:r>
            <a:r>
              <a:rPr lang="en-US" dirty="0" smtClean="0"/>
              <a:t>action.</a:t>
            </a:r>
          </a:p>
          <a:p>
            <a:pPr algn="just"/>
            <a:r>
              <a:rPr lang="en-US" dirty="0"/>
              <a:t>This MBO cycle applies to every department within an organization, large or small, and </a:t>
            </a:r>
            <a:r>
              <a:rPr lang="en-US" dirty="0" smtClean="0"/>
              <a:t>never-ending.</a:t>
            </a:r>
          </a:p>
          <a:p>
            <a:pPr algn="just"/>
            <a:endParaRPr lang="en-US" dirty="0"/>
          </a:p>
        </p:txBody>
      </p:sp>
    </p:spTree>
    <p:extLst>
      <p:ext uri="{BB962C8B-B14F-4D97-AF65-F5344CB8AC3E}">
        <p14:creationId xmlns:p14="http://schemas.microsoft.com/office/powerpoint/2010/main" val="378457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Overview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525" y="2216993"/>
            <a:ext cx="6076950" cy="452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225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smtClean="0"/>
              <a:t>Management theories</a:t>
            </a:r>
            <a:endParaRPr lang="en-US" sz="4400" dirty="0"/>
          </a:p>
        </p:txBody>
      </p:sp>
      <p:sp>
        <p:nvSpPr>
          <p:cNvPr id="4" name="Content Placeholder 3"/>
          <p:cNvSpPr>
            <a:spLocks noGrp="1"/>
          </p:cNvSpPr>
          <p:nvPr>
            <p:ph idx="1"/>
          </p:nvPr>
        </p:nvSpPr>
        <p:spPr>
          <a:xfrm>
            <a:off x="699247" y="2060848"/>
            <a:ext cx="7745505" cy="4680519"/>
          </a:xfrm>
        </p:spPr>
        <p:txBody>
          <a:bodyPr>
            <a:normAutofit fontScale="92500" lnSpcReduction="20000"/>
          </a:bodyPr>
          <a:lstStyle/>
          <a:p>
            <a:pPr algn="just"/>
            <a:r>
              <a:rPr lang="en-US" dirty="0"/>
              <a:t>Management theories help organizations to focus, communicate, and evolve. Using management theory in the workplace allows leadership to focus on their main goals</a:t>
            </a:r>
            <a:r>
              <a:rPr lang="en-US" dirty="0" smtClean="0"/>
              <a:t>.</a:t>
            </a:r>
          </a:p>
          <a:p>
            <a:pPr algn="just"/>
            <a:r>
              <a:rPr lang="en-US" dirty="0"/>
              <a:t>By understanding management theory, basic assumptions about management styles and goals can be assumed and can save time during daily interactions and meetings within an organization</a:t>
            </a:r>
            <a:r>
              <a:rPr lang="en-US" dirty="0" smtClean="0"/>
              <a:t>.</a:t>
            </a:r>
          </a:p>
          <a:p>
            <a:pPr algn="just"/>
            <a:r>
              <a:rPr lang="en-US" dirty="0"/>
              <a:t>While some theories can stand the test of time, other theories may grow to be irrelevant and new theories will develop in their place</a:t>
            </a:r>
            <a:r>
              <a:rPr lang="en-US" dirty="0" smtClean="0"/>
              <a:t>.</a:t>
            </a:r>
          </a:p>
          <a:p>
            <a:pPr algn="just"/>
            <a:r>
              <a:rPr lang="en-US" dirty="0"/>
              <a:t>While the Industrial Revolution sparked these new theories, even more innovation came in the decades that followed as companies changed to adapt to business needs.</a:t>
            </a:r>
          </a:p>
        </p:txBody>
      </p:sp>
    </p:spTree>
    <p:extLst>
      <p:ext uri="{BB962C8B-B14F-4D97-AF65-F5344CB8AC3E}">
        <p14:creationId xmlns:p14="http://schemas.microsoft.com/office/powerpoint/2010/main" val="919504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smtClean="0"/>
              <a:t>Management theories</a:t>
            </a:r>
            <a:endParaRPr lang="en-US" sz="4400" dirty="0"/>
          </a:p>
        </p:txBody>
      </p:sp>
      <p:sp>
        <p:nvSpPr>
          <p:cNvPr id="2" name="Content Placeholder 1"/>
          <p:cNvSpPr>
            <a:spLocks noGrp="1"/>
          </p:cNvSpPr>
          <p:nvPr>
            <p:ph idx="1"/>
          </p:nvPr>
        </p:nvSpPr>
        <p:spPr>
          <a:xfrm>
            <a:off x="35497" y="1988841"/>
            <a:ext cx="8928992" cy="4680519"/>
          </a:xfrm>
        </p:spPr>
        <p:txBody>
          <a:bodyPr>
            <a:noAutofit/>
          </a:bodyPr>
          <a:lstStyle/>
          <a:p>
            <a:pPr marL="0" indent="0" algn="just">
              <a:buNone/>
            </a:pPr>
            <a:r>
              <a:rPr lang="en-US" sz="2000" b="1" dirty="0" smtClean="0"/>
              <a:t>1- </a:t>
            </a:r>
            <a:r>
              <a:rPr lang="en-US" sz="2000" b="1" dirty="0" smtClean="0">
                <a:effectLst>
                  <a:outerShdw blurRad="38100" dist="38100" dir="2700000" algn="tl">
                    <a:srgbClr val="000000">
                      <a:alpha val="43137"/>
                    </a:srgbClr>
                  </a:outerShdw>
                </a:effectLst>
              </a:rPr>
              <a:t>Scientific </a:t>
            </a:r>
            <a:r>
              <a:rPr lang="en-US" sz="2000" b="1" dirty="0">
                <a:effectLst>
                  <a:outerShdw blurRad="38100" dist="38100" dir="2700000" algn="tl">
                    <a:srgbClr val="000000">
                      <a:alpha val="43137"/>
                    </a:srgbClr>
                  </a:outerShdw>
                </a:effectLst>
              </a:rPr>
              <a:t>Management Theory</a:t>
            </a:r>
          </a:p>
          <a:p>
            <a:pPr algn="just"/>
            <a:r>
              <a:rPr lang="en-US" sz="2000" dirty="0"/>
              <a:t>Frederick Winslow Taylor developed and published his Scientific Management Theory in 1909.</a:t>
            </a:r>
            <a:endParaRPr lang="en-US" sz="2000" dirty="0" smtClean="0"/>
          </a:p>
          <a:p>
            <a:pPr algn="just"/>
            <a:r>
              <a:rPr lang="en-US" sz="2000" dirty="0" smtClean="0"/>
              <a:t>Believes </a:t>
            </a:r>
            <a:r>
              <a:rPr lang="en-US" sz="2000" dirty="0"/>
              <a:t>that it is vital to find the most effective way to complete each and every task, no matter how small. </a:t>
            </a:r>
            <a:endParaRPr lang="en-US" sz="2000" dirty="0" smtClean="0"/>
          </a:p>
          <a:p>
            <a:pPr algn="just"/>
            <a:r>
              <a:rPr lang="en-US" sz="2000" dirty="0" smtClean="0"/>
              <a:t>Task should </a:t>
            </a:r>
            <a:r>
              <a:rPr lang="en-US" sz="2000" dirty="0"/>
              <a:t>be completed as efficiently as </a:t>
            </a:r>
            <a:r>
              <a:rPr lang="en-US" sz="2000" dirty="0" smtClean="0"/>
              <a:t>possible</a:t>
            </a:r>
            <a:r>
              <a:rPr lang="en-US" sz="2000" dirty="0"/>
              <a:t> </a:t>
            </a:r>
            <a:r>
              <a:rPr lang="en-US" sz="2000" dirty="0" smtClean="0"/>
              <a:t>and </a:t>
            </a:r>
            <a:r>
              <a:rPr lang="en-US" sz="2000" dirty="0"/>
              <a:t>everyone should be assigned a particular job based on their skills and abilities and must be evaluated based on the quantity and quality of their work. </a:t>
            </a:r>
            <a:endParaRPr lang="en-US" sz="2000" dirty="0" smtClean="0"/>
          </a:p>
          <a:p>
            <a:pPr algn="just"/>
            <a:r>
              <a:rPr lang="en-US" sz="2000" dirty="0" smtClean="0"/>
              <a:t>It was </a:t>
            </a:r>
            <a:r>
              <a:rPr lang="en-US" sz="2000" dirty="0"/>
              <a:t>extremely important to monitor and train your employees on the tasks they are assigned to. By ensuring your employees are efficient at their work, the output will be larger and of a higher quality</a:t>
            </a:r>
            <a:r>
              <a:rPr lang="en-US" sz="2000" dirty="0" smtClean="0"/>
              <a:t>.</a:t>
            </a:r>
          </a:p>
          <a:p>
            <a:pPr algn="just"/>
            <a:r>
              <a:rPr lang="en-US" sz="2000" dirty="0"/>
              <a:t>This theory had a huge impact on the way companies operated and how they were able to create a more balanced pay system, better training, and a more efficient workforce.</a:t>
            </a:r>
            <a:endParaRPr lang="en-US" sz="2000" dirty="0" smtClean="0"/>
          </a:p>
          <a:p>
            <a:pPr algn="just"/>
            <a:endParaRPr lang="en-US" sz="2000" dirty="0"/>
          </a:p>
        </p:txBody>
      </p:sp>
    </p:spTree>
    <p:extLst>
      <p:ext uri="{BB962C8B-B14F-4D97-AF65-F5344CB8AC3E}">
        <p14:creationId xmlns:p14="http://schemas.microsoft.com/office/powerpoint/2010/main" val="285124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smtClean="0"/>
              <a:t>Management theories</a:t>
            </a:r>
            <a:endParaRPr lang="en-US" sz="4400" dirty="0"/>
          </a:p>
        </p:txBody>
      </p:sp>
      <p:sp>
        <p:nvSpPr>
          <p:cNvPr id="4" name="Content Placeholder 3"/>
          <p:cNvSpPr>
            <a:spLocks noGrp="1"/>
          </p:cNvSpPr>
          <p:nvPr>
            <p:ph idx="1"/>
          </p:nvPr>
        </p:nvSpPr>
        <p:spPr/>
        <p:txBody>
          <a:bodyPr>
            <a:normAutofit fontScale="92500" lnSpcReduction="10000"/>
          </a:bodyPr>
          <a:lstStyle/>
          <a:p>
            <a:pPr marL="0" indent="0" algn="just">
              <a:buNone/>
            </a:pPr>
            <a:r>
              <a:rPr lang="en-US" b="1" dirty="0" smtClean="0">
                <a:effectLst>
                  <a:outerShdw blurRad="38100" dist="38100" dir="2700000" algn="tl">
                    <a:srgbClr val="000000">
                      <a:alpha val="43137"/>
                    </a:srgbClr>
                  </a:outerShdw>
                </a:effectLst>
              </a:rPr>
              <a:t>2-Administrative </a:t>
            </a:r>
            <a:r>
              <a:rPr lang="en-US" b="1" dirty="0">
                <a:effectLst>
                  <a:outerShdw blurRad="38100" dist="38100" dir="2700000" algn="tl">
                    <a:srgbClr val="000000">
                      <a:alpha val="43137"/>
                    </a:srgbClr>
                  </a:outerShdw>
                </a:effectLst>
              </a:rPr>
              <a:t>Management Theory</a:t>
            </a:r>
          </a:p>
          <a:p>
            <a:pPr algn="just"/>
            <a:r>
              <a:rPr lang="en-US" dirty="0"/>
              <a:t>Administrative management theory was developed by Henri Fayol in the early 1900s</a:t>
            </a:r>
            <a:endParaRPr lang="en-US" dirty="0" smtClean="0"/>
          </a:p>
          <a:p>
            <a:pPr algn="just"/>
            <a:r>
              <a:rPr lang="en-US" dirty="0" smtClean="0"/>
              <a:t>Considered </a:t>
            </a:r>
            <a:r>
              <a:rPr lang="en-US" dirty="0"/>
              <a:t>to be highly relevant even today. Fayol created fourteen principles which he believed outlined the basis for strong and successful companies</a:t>
            </a:r>
            <a:r>
              <a:rPr lang="en-US" dirty="0" smtClean="0"/>
              <a:t>.</a:t>
            </a:r>
          </a:p>
          <a:p>
            <a:pPr algn="just"/>
            <a:r>
              <a:rPr lang="en-US" dirty="0"/>
              <a:t>F</a:t>
            </a:r>
            <a:r>
              <a:rPr lang="en-US" dirty="0" smtClean="0"/>
              <a:t>ocused </a:t>
            </a:r>
            <a:r>
              <a:rPr lang="en-US" dirty="0"/>
              <a:t>on the process of completing the work most </a:t>
            </a:r>
            <a:r>
              <a:rPr lang="en-US" dirty="0" smtClean="0"/>
              <a:t>effectively and also focused </a:t>
            </a:r>
            <a:r>
              <a:rPr lang="en-US" dirty="0"/>
              <a:t>on the organizational structure of a company as a whole</a:t>
            </a:r>
            <a:r>
              <a:rPr lang="en-US" dirty="0" smtClean="0"/>
              <a:t>.</a:t>
            </a:r>
          </a:p>
          <a:p>
            <a:pPr algn="just"/>
            <a:r>
              <a:rPr lang="en-US" dirty="0" smtClean="0"/>
              <a:t>It is </a:t>
            </a:r>
            <a:r>
              <a:rPr lang="en-US" dirty="0"/>
              <a:t>the idea that everyone in a company should be aligned by organizational goals. </a:t>
            </a:r>
            <a:endParaRPr lang="en-US" dirty="0" smtClean="0"/>
          </a:p>
          <a:p>
            <a:pPr algn="just"/>
            <a:endParaRPr lang="en-US" dirty="0"/>
          </a:p>
        </p:txBody>
      </p:sp>
    </p:spTree>
    <p:extLst>
      <p:ext uri="{BB962C8B-B14F-4D97-AF65-F5344CB8AC3E}">
        <p14:creationId xmlns:p14="http://schemas.microsoft.com/office/powerpoint/2010/main" val="1140347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smtClean="0"/>
              <a:t>Management theories</a:t>
            </a:r>
            <a:endParaRPr lang="en-US" sz="4400" dirty="0"/>
          </a:p>
        </p:txBody>
      </p:sp>
      <p:sp>
        <p:nvSpPr>
          <p:cNvPr id="4" name="Content Placeholder 3"/>
          <p:cNvSpPr>
            <a:spLocks noGrp="1"/>
          </p:cNvSpPr>
          <p:nvPr>
            <p:ph idx="1"/>
          </p:nvPr>
        </p:nvSpPr>
        <p:spPr>
          <a:xfrm>
            <a:off x="107505" y="2027982"/>
            <a:ext cx="8928992" cy="4137322"/>
          </a:xfrm>
        </p:spPr>
        <p:txBody>
          <a:bodyPr>
            <a:noAutofit/>
          </a:bodyPr>
          <a:lstStyle/>
          <a:p>
            <a:pPr marL="0" indent="0" algn="just">
              <a:buNone/>
            </a:pPr>
            <a:r>
              <a:rPr lang="en-US" sz="2000" b="1" dirty="0" smtClean="0">
                <a:effectLst>
                  <a:outerShdw blurRad="38100" dist="38100" dir="2700000" algn="tl">
                    <a:srgbClr val="000000">
                      <a:alpha val="43137"/>
                    </a:srgbClr>
                  </a:outerShdw>
                </a:effectLst>
              </a:rPr>
              <a:t>3- Bureaucratic </a:t>
            </a:r>
            <a:r>
              <a:rPr lang="en-US" sz="2000" b="1" dirty="0">
                <a:effectLst>
                  <a:outerShdw blurRad="38100" dist="38100" dir="2700000" algn="tl">
                    <a:srgbClr val="000000">
                      <a:alpha val="43137"/>
                    </a:srgbClr>
                  </a:outerShdw>
                </a:effectLst>
              </a:rPr>
              <a:t>Management </a:t>
            </a:r>
            <a:r>
              <a:rPr lang="en-US" sz="2000" b="1" dirty="0" smtClean="0">
                <a:effectLst>
                  <a:outerShdw blurRad="38100" dist="38100" dir="2700000" algn="tl">
                    <a:srgbClr val="000000">
                      <a:alpha val="43137"/>
                    </a:srgbClr>
                  </a:outerShdw>
                </a:effectLst>
              </a:rPr>
              <a:t>Theory</a:t>
            </a:r>
          </a:p>
          <a:p>
            <a:pPr algn="just"/>
            <a:r>
              <a:rPr lang="en-US" sz="2000" dirty="0"/>
              <a:t>Max Weber created the bureaucratic management </a:t>
            </a:r>
            <a:r>
              <a:rPr lang="en-US" sz="2000" dirty="0" smtClean="0"/>
              <a:t>theory in 1921.</a:t>
            </a:r>
            <a:endParaRPr lang="en-US" sz="2000" dirty="0" smtClean="0"/>
          </a:p>
          <a:p>
            <a:pPr algn="just"/>
            <a:r>
              <a:rPr lang="en-US" sz="2000" dirty="0"/>
              <a:t>Weber believed efficiency in completing tasks was a key component to success and recommended detailed record keeping at all levels to monitor efficiency as well as areas of opportunity</a:t>
            </a:r>
            <a:r>
              <a:rPr lang="en-US" sz="2000" dirty="0" smtClean="0"/>
              <a:t>.</a:t>
            </a:r>
          </a:p>
          <a:p>
            <a:pPr algn="just"/>
            <a:r>
              <a:rPr lang="en-US" sz="2000" dirty="0" smtClean="0"/>
              <a:t>The increased </a:t>
            </a:r>
            <a:r>
              <a:rPr lang="en-US" sz="2000" dirty="0"/>
              <a:t>use of technology could have a negative impact on a company’s culture. Too much change can be harmful to company morale and create long lasting negative effects on company </a:t>
            </a:r>
            <a:r>
              <a:rPr lang="en-US" sz="2000" dirty="0" smtClean="0"/>
              <a:t>success</a:t>
            </a:r>
          </a:p>
          <a:p>
            <a:pPr algn="just"/>
            <a:r>
              <a:rPr lang="en-US" sz="2000" dirty="0" smtClean="0"/>
              <a:t>leaders</a:t>
            </a:r>
            <a:r>
              <a:rPr lang="en-US" sz="2000" dirty="0" smtClean="0"/>
              <a:t> </a:t>
            </a:r>
            <a:r>
              <a:rPr lang="en-US" sz="2000" dirty="0"/>
              <a:t>are viewed in a negative light while </a:t>
            </a:r>
            <a:r>
              <a:rPr lang="en-US" sz="2000" dirty="0" smtClean="0"/>
              <a:t>managers</a:t>
            </a:r>
            <a:r>
              <a:rPr lang="en-US" sz="2000" dirty="0" smtClean="0"/>
              <a:t> </a:t>
            </a:r>
            <a:r>
              <a:rPr lang="en-US" sz="2000" dirty="0"/>
              <a:t>are appreciated and recognized</a:t>
            </a:r>
            <a:r>
              <a:rPr lang="en-US" sz="2000" dirty="0" smtClean="0"/>
              <a:t>.</a:t>
            </a:r>
          </a:p>
          <a:p>
            <a:pPr algn="just"/>
            <a:r>
              <a:rPr lang="en-US" sz="2000" dirty="0"/>
              <a:t>To ensure the safety and longevity of a company’s culture, Weber believed hiring employees based on their personality was critical</a:t>
            </a:r>
            <a:r>
              <a:rPr lang="en-US" sz="2000" dirty="0" smtClean="0"/>
              <a:t>.</a:t>
            </a:r>
            <a:endParaRPr lang="en-US" sz="2000" dirty="0"/>
          </a:p>
        </p:txBody>
      </p:sp>
    </p:spTree>
    <p:extLst>
      <p:ext uri="{BB962C8B-B14F-4D97-AF65-F5344CB8AC3E}">
        <p14:creationId xmlns:p14="http://schemas.microsoft.com/office/powerpoint/2010/main" val="1140347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Managers in the 21st century must confront challenges their counterparts of even a few years ago could hardly imagine</a:t>
            </a:r>
            <a:r>
              <a:rPr lang="en-US" dirty="0" smtClean="0"/>
              <a:t>.</a:t>
            </a:r>
          </a:p>
          <a:p>
            <a:pPr algn="just"/>
            <a:endParaRPr lang="en-US" dirty="0" smtClean="0"/>
          </a:p>
          <a:p>
            <a:pPr algn="just"/>
            <a:r>
              <a:rPr lang="en-US" dirty="0"/>
              <a:t>The ever-growing wave of technology, the impact of artificial intelligence, the evolving nature of </a:t>
            </a:r>
            <a:r>
              <a:rPr lang="en-US" dirty="0" smtClean="0"/>
              <a:t>globalization </a:t>
            </a:r>
            <a:r>
              <a:rPr lang="en-US" dirty="0"/>
              <a:t>are chief among the demands today’s managers will face.</a:t>
            </a:r>
          </a:p>
          <a:p>
            <a:pPr algn="just"/>
            <a:endParaRPr lang="en-US" dirty="0"/>
          </a:p>
        </p:txBody>
      </p:sp>
      <p:sp>
        <p:nvSpPr>
          <p:cNvPr id="3" name="Title 2"/>
          <p:cNvSpPr>
            <a:spLocks noGrp="1"/>
          </p:cNvSpPr>
          <p:nvPr>
            <p:ph type="title"/>
          </p:nvPr>
        </p:nvSpPr>
        <p:spPr/>
        <p:txBody>
          <a:bodyPr/>
          <a:lstStyle/>
          <a:p>
            <a:r>
              <a:rPr lang="en-US" sz="4000" dirty="0" smtClean="0"/>
              <a:t>Management in the 21</a:t>
            </a:r>
            <a:r>
              <a:rPr lang="en-US" sz="4000" baseline="30000" dirty="0" smtClean="0"/>
              <a:t>st</a:t>
            </a:r>
            <a:r>
              <a:rPr lang="en-US" sz="4000" dirty="0" smtClean="0"/>
              <a:t> century </a:t>
            </a:r>
            <a:endParaRPr lang="en-US" sz="4000" dirty="0"/>
          </a:p>
        </p:txBody>
      </p:sp>
    </p:spTree>
    <p:extLst>
      <p:ext uri="{BB962C8B-B14F-4D97-AF65-F5344CB8AC3E}">
        <p14:creationId xmlns:p14="http://schemas.microsoft.com/office/powerpoint/2010/main" val="196846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t>Management in the 21</a:t>
            </a:r>
            <a:r>
              <a:rPr lang="en-US" sz="4000" baseline="30000" dirty="0" smtClean="0"/>
              <a:t>st</a:t>
            </a:r>
            <a:r>
              <a:rPr lang="en-US" sz="4000" dirty="0" smtClean="0"/>
              <a:t> century </a:t>
            </a:r>
            <a:endParaRPr lang="en-US" sz="4000" dirty="0"/>
          </a:p>
        </p:txBody>
      </p:sp>
      <p:sp>
        <p:nvSpPr>
          <p:cNvPr id="4" name="Content Placeholder 3"/>
          <p:cNvSpPr>
            <a:spLocks noGrp="1"/>
          </p:cNvSpPr>
          <p:nvPr>
            <p:ph idx="1"/>
          </p:nvPr>
        </p:nvSpPr>
        <p:spPr/>
        <p:txBody>
          <a:bodyPr/>
          <a:lstStyle/>
          <a:p>
            <a:pPr marL="0" indent="0" algn="just">
              <a:buNone/>
            </a:pPr>
            <a:r>
              <a:rPr lang="en-US" b="1" i="1" u="sng" dirty="0" smtClean="0"/>
              <a:t>Technology:</a:t>
            </a:r>
          </a:p>
          <a:p>
            <a:pPr algn="just"/>
            <a:r>
              <a:rPr lang="en-US" dirty="0"/>
              <a:t>Management today has to </a:t>
            </a:r>
            <a:r>
              <a:rPr lang="en-US" dirty="0" smtClean="0"/>
              <a:t>deal </a:t>
            </a:r>
            <a:r>
              <a:rPr lang="en-US" dirty="0"/>
              <a:t>with the explosion of data now available to facilitate business decisions</a:t>
            </a:r>
            <a:r>
              <a:rPr lang="en-US" dirty="0" smtClean="0"/>
              <a:t>.</a:t>
            </a:r>
          </a:p>
          <a:p>
            <a:pPr algn="just"/>
            <a:r>
              <a:rPr lang="en-US" dirty="0"/>
              <a:t>Collecting, organizing, utilizing data in a logical, timely, and cost-effective manner is creating an entirely new </a:t>
            </a:r>
            <a:r>
              <a:rPr lang="en-US" dirty="0" smtClean="0"/>
              <a:t>pattern </a:t>
            </a:r>
            <a:r>
              <a:rPr lang="en-US" dirty="0"/>
              <a:t>of managerial competence</a:t>
            </a:r>
            <a:r>
              <a:rPr lang="en-US" dirty="0" smtClean="0"/>
              <a:t>.</a:t>
            </a:r>
          </a:p>
          <a:p>
            <a:pPr algn="just"/>
            <a:r>
              <a:rPr lang="en-US" dirty="0" smtClean="0"/>
              <a:t> </a:t>
            </a:r>
            <a:r>
              <a:rPr lang="en-US" dirty="0"/>
              <a:t>Each of these opportunities requires a new degree of managerial competence which, in turn, creates opportunities for the modern-day manager.</a:t>
            </a:r>
          </a:p>
          <a:p>
            <a:pPr algn="just"/>
            <a:endParaRPr lang="en-US" dirty="0" smtClean="0"/>
          </a:p>
          <a:p>
            <a:pPr algn="just"/>
            <a:endParaRPr lang="en-US" b="1" i="1" u="sng" dirty="0" smtClean="0"/>
          </a:p>
          <a:p>
            <a:pPr algn="just"/>
            <a:endParaRPr lang="en-US" dirty="0"/>
          </a:p>
        </p:txBody>
      </p:sp>
    </p:spTree>
    <p:extLst>
      <p:ext uri="{BB962C8B-B14F-4D97-AF65-F5344CB8AC3E}">
        <p14:creationId xmlns:p14="http://schemas.microsoft.com/office/powerpoint/2010/main" val="1012710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t>Management in the 21</a:t>
            </a:r>
            <a:r>
              <a:rPr lang="en-US" sz="4000" baseline="30000" dirty="0" smtClean="0"/>
              <a:t>st</a:t>
            </a:r>
            <a:r>
              <a:rPr lang="en-US" sz="4000" dirty="0" smtClean="0"/>
              <a:t> century </a:t>
            </a:r>
            <a:endParaRPr lang="en-US" sz="4000" dirty="0"/>
          </a:p>
        </p:txBody>
      </p:sp>
      <p:sp>
        <p:nvSpPr>
          <p:cNvPr id="4" name="Content Placeholder 3"/>
          <p:cNvSpPr>
            <a:spLocks noGrp="1"/>
          </p:cNvSpPr>
          <p:nvPr>
            <p:ph idx="1"/>
          </p:nvPr>
        </p:nvSpPr>
        <p:spPr/>
        <p:txBody>
          <a:bodyPr>
            <a:normAutofit fontScale="92500"/>
          </a:bodyPr>
          <a:lstStyle/>
          <a:p>
            <a:pPr marL="0" indent="0">
              <a:buNone/>
            </a:pPr>
            <a:r>
              <a:rPr lang="en-US" b="1" i="1" u="sng" dirty="0" smtClean="0"/>
              <a:t>Artificial </a:t>
            </a:r>
            <a:r>
              <a:rPr lang="en-US" b="1" i="1" u="sng" dirty="0"/>
              <a:t>Intelligence</a:t>
            </a:r>
          </a:p>
          <a:p>
            <a:pPr algn="just"/>
            <a:r>
              <a:rPr lang="en-US" dirty="0"/>
              <a:t>Will robots replace workers? To be sure, this has already happened to some degree in many industries. </a:t>
            </a:r>
            <a:endParaRPr lang="en-US" dirty="0" smtClean="0"/>
          </a:p>
          <a:p>
            <a:pPr algn="just"/>
            <a:r>
              <a:rPr lang="en-US" dirty="0"/>
              <a:t>AI has the ability to eliminate </a:t>
            </a:r>
            <a:r>
              <a:rPr lang="en-US" dirty="0" smtClean="0"/>
              <a:t>ordinary </a:t>
            </a:r>
            <a:r>
              <a:rPr lang="en-US" dirty="0"/>
              <a:t>tasks and free managers to focus on the </a:t>
            </a:r>
            <a:r>
              <a:rPr lang="en-US" dirty="0" smtClean="0"/>
              <a:t>core </a:t>
            </a:r>
            <a:r>
              <a:rPr lang="en-US" dirty="0"/>
              <a:t>of their job</a:t>
            </a:r>
            <a:r>
              <a:rPr lang="en-US" dirty="0" smtClean="0"/>
              <a:t>.</a:t>
            </a:r>
          </a:p>
          <a:p>
            <a:pPr algn="just"/>
            <a:r>
              <a:rPr lang="en-US" dirty="0"/>
              <a:t>Human skills such as empathy, teaching and coaching employees, focusing on people development and freeing time for creative thinking will become increasingly important as AI continues to develop as a critically important tool for today’s manager.</a:t>
            </a:r>
          </a:p>
          <a:p>
            <a:pPr algn="just"/>
            <a:endParaRPr lang="en-US" dirty="0" smtClean="0"/>
          </a:p>
          <a:p>
            <a:pPr algn="just"/>
            <a:endParaRPr lang="en-US" dirty="0" smtClean="0"/>
          </a:p>
          <a:p>
            <a:pPr algn="just"/>
            <a:endParaRPr lang="en-US" b="1" i="1" u="sng" dirty="0" smtClean="0"/>
          </a:p>
          <a:p>
            <a:pPr algn="just"/>
            <a:endParaRPr lang="en-US" dirty="0"/>
          </a:p>
        </p:txBody>
      </p:sp>
    </p:spTree>
    <p:extLst>
      <p:ext uri="{BB962C8B-B14F-4D97-AF65-F5344CB8AC3E}">
        <p14:creationId xmlns:p14="http://schemas.microsoft.com/office/powerpoint/2010/main" val="389339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t>Management in the 21</a:t>
            </a:r>
            <a:r>
              <a:rPr lang="en-US" sz="4000" baseline="30000" dirty="0" smtClean="0"/>
              <a:t>st</a:t>
            </a:r>
            <a:r>
              <a:rPr lang="en-US" sz="4000" dirty="0" smtClean="0"/>
              <a:t> century </a:t>
            </a:r>
            <a:endParaRPr lang="en-US" sz="4000" dirty="0"/>
          </a:p>
        </p:txBody>
      </p:sp>
      <p:sp>
        <p:nvSpPr>
          <p:cNvPr id="4" name="Content Placeholder 3"/>
          <p:cNvSpPr>
            <a:spLocks noGrp="1"/>
          </p:cNvSpPr>
          <p:nvPr>
            <p:ph idx="1"/>
          </p:nvPr>
        </p:nvSpPr>
        <p:spPr>
          <a:xfrm>
            <a:off x="699247" y="2060849"/>
            <a:ext cx="7745505" cy="4680520"/>
          </a:xfrm>
        </p:spPr>
        <p:txBody>
          <a:bodyPr>
            <a:normAutofit fontScale="92500" lnSpcReduction="10000"/>
          </a:bodyPr>
          <a:lstStyle/>
          <a:p>
            <a:pPr marL="0" indent="0">
              <a:buNone/>
            </a:pPr>
            <a:r>
              <a:rPr lang="en-US" b="1" i="1" u="sng" dirty="0"/>
              <a:t>Globalization</a:t>
            </a:r>
            <a:endParaRPr lang="en-US" i="1" u="sng" dirty="0"/>
          </a:p>
          <a:p>
            <a:r>
              <a:rPr lang="en-US" dirty="0"/>
              <a:t>Globalization has been defined as the interdependence of the world’s economies and has been on a steady march forward since the end of World War II</a:t>
            </a:r>
            <a:r>
              <a:rPr lang="en-US" dirty="0" smtClean="0"/>
              <a:t>.</a:t>
            </a:r>
          </a:p>
          <a:p>
            <a:r>
              <a:rPr lang="en-US" dirty="0"/>
              <a:t>Managing in the era of globalization brought a new set of </a:t>
            </a:r>
            <a:r>
              <a:rPr lang="en-US" dirty="0" smtClean="0"/>
              <a:t>challenges (new </a:t>
            </a:r>
            <a:r>
              <a:rPr lang="en-US" dirty="0"/>
              <a:t>cultures, </a:t>
            </a:r>
            <a:r>
              <a:rPr lang="en-US" dirty="0" smtClean="0"/>
              <a:t>different laws, import/export </a:t>
            </a:r>
            <a:r>
              <a:rPr lang="en-US" dirty="0"/>
              <a:t>regulations, </a:t>
            </a:r>
            <a:r>
              <a:rPr lang="en-US" dirty="0" smtClean="0"/>
              <a:t>logistics</a:t>
            </a:r>
            <a:r>
              <a:rPr lang="en-US" dirty="0"/>
              <a:t>, </a:t>
            </a:r>
            <a:r>
              <a:rPr lang="en-US" dirty="0" smtClean="0"/>
              <a:t>currency, government intervention ….etc.) </a:t>
            </a:r>
            <a:r>
              <a:rPr lang="en-US" dirty="0"/>
              <a:t>are among the demands facing the 21st century global </a:t>
            </a:r>
            <a:r>
              <a:rPr lang="en-US" dirty="0" smtClean="0"/>
              <a:t>manager.</a:t>
            </a:r>
          </a:p>
          <a:p>
            <a:r>
              <a:rPr lang="en-US" dirty="0"/>
              <a:t>Despite these enormous challenges, trade among the world’s nations has grown at an unprecedented rate. </a:t>
            </a:r>
            <a:endParaRPr lang="en-US" dirty="0" smtClean="0"/>
          </a:p>
          <a:p>
            <a:r>
              <a:rPr lang="en-US" dirty="0"/>
              <a:t>World trade jumped from around 20% of world </a:t>
            </a:r>
            <a:r>
              <a:rPr lang="en-US" dirty="0" smtClean="0"/>
              <a:t>GDP (Gross </a:t>
            </a:r>
            <a:r>
              <a:rPr lang="en-US" smtClean="0"/>
              <a:t>Domestic Product) </a:t>
            </a:r>
            <a:r>
              <a:rPr lang="en-US" dirty="0"/>
              <a:t>in 1960 to almost 60% in 2017.</a:t>
            </a:r>
          </a:p>
          <a:p>
            <a:endParaRPr lang="en-US" b="1" i="1" u="sng" dirty="0"/>
          </a:p>
          <a:p>
            <a:pPr algn="just"/>
            <a:endParaRPr lang="en-US" dirty="0" smtClean="0"/>
          </a:p>
          <a:p>
            <a:pPr algn="just"/>
            <a:endParaRPr lang="en-US" dirty="0" smtClean="0"/>
          </a:p>
          <a:p>
            <a:pPr algn="just"/>
            <a:endParaRPr lang="en-US" b="1" i="1" u="sng" dirty="0" smtClean="0"/>
          </a:p>
          <a:p>
            <a:pPr algn="just"/>
            <a:endParaRPr lang="en-US" dirty="0"/>
          </a:p>
        </p:txBody>
      </p:sp>
    </p:spTree>
    <p:extLst>
      <p:ext uri="{BB962C8B-B14F-4D97-AF65-F5344CB8AC3E}">
        <p14:creationId xmlns:p14="http://schemas.microsoft.com/office/powerpoint/2010/main" val="366328339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282</TotalTime>
  <Words>967</Words>
  <Application>Microsoft Office PowerPoint</Application>
  <PresentationFormat>On-screen Show (4:3)</PresentationFormat>
  <Paragraphs>73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Hardcover</vt:lpstr>
      <vt:lpstr>Chapter “2”</vt:lpstr>
      <vt:lpstr>Overview</vt:lpstr>
      <vt:lpstr>Evolution of management</vt:lpstr>
      <vt:lpstr>Evolution of management</vt:lpstr>
      <vt:lpstr>Overview </vt:lpstr>
      <vt:lpstr>Overview </vt:lpstr>
      <vt:lpstr>Management theories</vt:lpstr>
      <vt:lpstr>Management theories</vt:lpstr>
      <vt:lpstr>Management theories</vt:lpstr>
      <vt:lpstr>Management theories</vt:lpstr>
      <vt:lpstr>Management in the 21st century </vt:lpstr>
      <vt:lpstr>Management in the 21st century </vt:lpstr>
      <vt:lpstr>Management in the 21st century </vt:lpstr>
      <vt:lpstr>Management in the 21st century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Nancy karma</dc:creator>
  <cp:lastModifiedBy>Nancy karma</cp:lastModifiedBy>
  <cp:revision>23</cp:revision>
  <dcterms:created xsi:type="dcterms:W3CDTF">2023-06-30T08:24:54Z</dcterms:created>
  <dcterms:modified xsi:type="dcterms:W3CDTF">2023-07-05T07:18:26Z</dcterms:modified>
</cp:coreProperties>
</file>