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2" r:id="rId7"/>
    <p:sldId id="261" r:id="rId8"/>
    <p:sldId id="263" r:id="rId9"/>
    <p:sldId id="264" r:id="rId10"/>
    <p:sldId id="265" r:id="rId11"/>
    <p:sldId id="267" r:id="rId12"/>
    <p:sldId id="266"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9" d="100"/>
          <a:sy n="79" d="100"/>
        </p:scale>
        <p:origin x="-1469"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ubtitl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1D8BD707-D9CF-40AE-B4C6-C98DA3205C09}" type="datetimeFigureOut">
              <a:rPr lang="en-US" smtClean="0"/>
              <a:pPr/>
              <a:t>8/30/2023</a:t>
            </a:fld>
            <a:endParaRPr lang="en-US"/>
          </a:p>
        </p:txBody>
      </p:sp>
      <p:sp>
        <p:nvSpPr>
          <p:cNvPr id="17" name="Footer Placeholder 16"/>
          <p:cNvSpPr>
            <a:spLocks noGrp="1"/>
          </p:cNvSpPr>
          <p:nvPr>
            <p:ph type="ftr" sz="quarter" idx="11"/>
          </p:nvPr>
        </p:nvSpPr>
        <p:spPr/>
        <p:txBody>
          <a:bodyPr/>
          <a:lstStyle/>
          <a:p>
            <a:endParaRPr lang="en-US"/>
          </a:p>
        </p:txBody>
      </p:sp>
      <p:sp>
        <p:nvSpPr>
          <p:cNvPr id="7" name="Straight Connector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Oval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B6F15528-21DE-4FAA-801E-634DDDAF4B2B}" type="slidenum">
              <a:rPr lang="en-US" smtClean="0"/>
              <a:pPr/>
              <a:t>‹#›</a:t>
            </a:fld>
            <a:endParaRPr lang="en-US"/>
          </a:p>
        </p:txBody>
      </p:sp>
      <p:sp>
        <p:nvSpPr>
          <p:cNvPr id="8" name="Titl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8/30/2023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361688" y="1026372"/>
            <a:ext cx="457200" cy="441325"/>
          </a:xfrm>
        </p:spPr>
        <p:txBody>
          <a:body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301752" y="1527048"/>
            <a:ext cx="850392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8/30/2023</a:t>
            </a:fld>
            <a:endParaRPr lang="en-US"/>
          </a:p>
        </p:txBody>
      </p:sp>
      <p:sp>
        <p:nvSpPr>
          <p:cNvPr id="8" name="Straight Connector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Oval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B6F15528-21DE-4FAA-801E-634DDDAF4B2B}" type="slidenum">
              <a:rPr lang="en-US" smtClean="0"/>
              <a:pPr/>
              <a:t>‹#›</a:t>
            </a:fld>
            <a:endParaRPr lang="en-US"/>
          </a:p>
        </p:txBody>
      </p:sp>
      <p:sp>
        <p:nvSpPr>
          <p:cNvPr id="2" name="Titl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01752" y="228600"/>
            <a:ext cx="8534400" cy="758952"/>
          </a:xfrm>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a:xfrm>
            <a:off x="5791200" y="6409944"/>
            <a:ext cx="3044952" cy="365760"/>
          </a:xfrm>
        </p:spPr>
        <p:txBody>
          <a:bodyPr/>
          <a:lstStyle/>
          <a:p>
            <a:fld id="{1D8BD707-D9CF-40AE-B4C6-C98DA3205C09}" type="datetimeFigureOut">
              <a:rPr lang="en-US" smtClean="0"/>
              <a:pPr/>
              <a:t>8/30/2023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Straight Connector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Content Placeholder 9"/>
          <p:cNvSpPr>
            <a:spLocks noGrp="1"/>
          </p:cNvSpPr>
          <p:nvPr>
            <p:ph sz="half" idx="1"/>
          </p:nvPr>
        </p:nvSpPr>
        <p:spPr>
          <a:xfrm>
            <a:off x="301752" y="1371600"/>
            <a:ext cx="403860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Content Placeholder 11"/>
          <p:cNvSpPr>
            <a:spLocks noGrp="1"/>
          </p:cNvSpPr>
          <p:nvPr>
            <p:ph sz="half" idx="2"/>
          </p:nvPr>
        </p:nvSpPr>
        <p:spPr>
          <a:xfrm>
            <a:off x="4800600" y="1371600"/>
            <a:ext cx="403860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1D8BD707-D9CF-40AE-B4C6-C98DA3205C09}" type="datetimeFigureOut">
              <a:rPr lang="en-US" smtClean="0"/>
              <a:pPr/>
              <a:t>8/30/2023</a:t>
            </a:fld>
            <a:endParaRPr lang="en-US"/>
          </a:p>
        </p:txBody>
      </p:sp>
      <p:sp>
        <p:nvSpPr>
          <p:cNvPr id="8" name="Footer Placeholder 7"/>
          <p:cNvSpPr>
            <a:spLocks noGrp="1"/>
          </p:cNvSpPr>
          <p:nvPr>
            <p:ph type="ftr" sz="quarter" idx="11"/>
          </p:nvPr>
        </p:nvSpPr>
        <p:spPr>
          <a:xfrm>
            <a:off x="304800" y="6409944"/>
            <a:ext cx="3581400" cy="365760"/>
          </a:xfrm>
        </p:spPr>
        <p:txBody>
          <a:bodyPr/>
          <a:lstStyle/>
          <a:p>
            <a:endParaRPr lang="en-US"/>
          </a:p>
        </p:txBody>
      </p:sp>
      <p:sp>
        <p:nvSpPr>
          <p:cNvPr id="15" name="Straight Connector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Content Placeholder 23"/>
          <p:cNvSpPr>
            <a:spLocks noGrp="1"/>
          </p:cNvSpPr>
          <p:nvPr>
            <p:ph sz="quarter" idx="2"/>
          </p:nvPr>
        </p:nvSpPr>
        <p:spPr>
          <a:xfrm>
            <a:off x="301752" y="2471383"/>
            <a:ext cx="4041648" cy="3818404"/>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Content Placeholder 25"/>
          <p:cNvSpPr>
            <a:spLocks noGrp="1"/>
          </p:cNvSpPr>
          <p:nvPr>
            <p:ph sz="quarter" idx="4"/>
          </p:nvPr>
        </p:nvSpPr>
        <p:spPr>
          <a:xfrm>
            <a:off x="4800600" y="2471383"/>
            <a:ext cx="4038600" cy="382219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5" name="Oval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Oval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lide Number Placeholder 8"/>
          <p:cNvSpPr>
            <a:spLocks noGrp="1"/>
          </p:cNvSpPr>
          <p:nvPr>
            <p:ph type="sldNum" sz="quarter" idx="12"/>
          </p:nvPr>
        </p:nvSpPr>
        <p:spPr>
          <a:xfrm>
            <a:off x="4343400" y="1042416"/>
            <a:ext cx="457200" cy="441325"/>
          </a:xfrm>
        </p:spPr>
        <p:txBody>
          <a:bodyPr/>
          <a:lstStyle>
            <a:lvl1pPr algn="ctr">
              <a:defRPr/>
            </a:lvl1pPr>
          </a:lstStyle>
          <a:p>
            <a:fld id="{B6F15528-21DE-4FAA-801E-634DDDAF4B2B}" type="slidenum">
              <a:rPr lang="en-US" smtClean="0"/>
              <a:pPr/>
              <a:t>‹#›</a:t>
            </a:fld>
            <a:endParaRPr lang="en-US"/>
          </a:p>
        </p:txBody>
      </p:sp>
      <p:sp>
        <p:nvSpPr>
          <p:cNvPr id="23" name="Title 22"/>
          <p:cNvSpPr>
            <a:spLocks noGrp="1"/>
          </p:cNvSpPr>
          <p:nvPr>
            <p:ph type="title"/>
          </p:nvPr>
        </p:nvSpPr>
        <p:spPr/>
        <p:txBody>
          <a:bodyPr rtlCol="0" anchor="b" anchorCtr="0"/>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pPr/>
              <a:t>8/30/2023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4343400" y="1036020"/>
            <a:ext cx="457200" cy="441325"/>
          </a:xfr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fld id="{1D8BD707-D9CF-40AE-B4C6-C98DA3205C09}" type="datetimeFigureOut">
              <a:rPr lang="en-US" smtClean="0"/>
              <a:pPr/>
              <a:t>8/30/2023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4267200" y="6324600"/>
            <a:ext cx="609600" cy="441324"/>
          </a:xfrm>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traight Connector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Content Placeholder 19"/>
          <p:cNvSpPr>
            <a:spLocks noGrp="1"/>
          </p:cNvSpPr>
          <p:nvPr>
            <p:ph sz="quarter" idx="1"/>
          </p:nvPr>
        </p:nvSpPr>
        <p:spPr>
          <a:xfrm>
            <a:off x="3124200" y="685800"/>
            <a:ext cx="5638800" cy="5410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Oval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B6F15528-21DE-4FAA-801E-634DDDAF4B2B}" type="slidenum">
              <a:rPr lang="en-US" smtClean="0"/>
              <a:pPr/>
              <a:t>‹#›</a:t>
            </a:fld>
            <a:endParaRPr lang="en-US"/>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8/30/2023</a:t>
            </a:fld>
            <a:endParaRPr lang="en-US"/>
          </a:p>
        </p:txBody>
      </p:sp>
      <p:sp>
        <p:nvSpPr>
          <p:cNvPr id="6" name="Footer Placeholder 5"/>
          <p:cNvSpPr>
            <a:spLocks noGrp="1"/>
          </p:cNvSpPr>
          <p:nvPr>
            <p:ph type="ftr" sz="quarter" idx="11"/>
          </p:nvPr>
        </p:nvSpPr>
        <p:spPr>
          <a:xfrm>
            <a:off x="301752" y="6410848"/>
            <a:ext cx="3383280" cy="365760"/>
          </a:xfrm>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Oval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p>
            <a:fld id="{B6F15528-21DE-4FAA-801E-634DDDAF4B2B}" type="slidenum">
              <a:rPr lang="en-US" smtClean="0"/>
              <a:pPr/>
              <a:t>‹#›</a:t>
            </a:fld>
            <a:endParaRPr lang="en-US"/>
          </a:p>
        </p:txBody>
      </p:sp>
      <p:sp>
        <p:nvSpPr>
          <p:cNvPr id="2" name="Titl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3000375" y="609600"/>
            <a:ext cx="5867400" cy="4267200"/>
          </a:xfrm>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a:xfrm>
            <a:off x="5788152" y="6404984"/>
            <a:ext cx="3044952" cy="365760"/>
          </a:xfrm>
        </p:spPr>
        <p:txBody>
          <a:bodyPr/>
          <a:lstStyle/>
          <a:p>
            <a:fld id="{1D8BD707-D9CF-40AE-B4C6-C98DA3205C09}" type="datetimeFigureOut">
              <a:rPr lang="en-US" smtClean="0"/>
              <a:pPr/>
              <a:t>8/30/2023</a:t>
            </a:fld>
            <a:endParaRPr lang="en-US"/>
          </a:p>
        </p:txBody>
      </p:sp>
      <p:sp>
        <p:nvSpPr>
          <p:cNvPr id="6" name="Footer Placeholder 5"/>
          <p:cNvSpPr>
            <a:spLocks noGrp="1"/>
          </p:cNvSpPr>
          <p:nvPr>
            <p:ph type="ftr" sz="quarter" idx="11"/>
          </p:nvPr>
        </p:nvSpPr>
        <p:spPr>
          <a:xfrm>
            <a:off x="301752" y="6410848"/>
            <a:ext cx="3584448" cy="365760"/>
          </a:xfrm>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8/30/2023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Straight Connector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Oval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6915912" y="3009901"/>
            <a:ext cx="457200" cy="441325"/>
          </a:xfrm>
        </p:spPr>
        <p:txBody>
          <a:bodyPr/>
          <a:lstStyle/>
          <a:p>
            <a:fld id="{B6F15528-21DE-4FAA-801E-634DDDAF4B2B}" type="slidenum">
              <a:rPr lang="en-US" smtClean="0"/>
              <a:pPr/>
              <a:t>‹#›</a:t>
            </a:fld>
            <a:endParaRPr lang="en-US"/>
          </a:p>
        </p:txBody>
      </p:sp>
      <p:sp>
        <p:nvSpPr>
          <p:cNvPr id="3" name="Vertical Text Placeholder 2"/>
          <p:cNvSpPr>
            <a:spLocks noGrp="1"/>
          </p:cNvSpPr>
          <p:nvPr>
            <p:ph type="body" orient="vert" idx="1"/>
          </p:nvPr>
        </p:nvSpPr>
        <p:spPr>
          <a:xfrm>
            <a:off x="304800" y="304800"/>
            <a:ext cx="6553200" cy="5821366"/>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8/30/2023</a:t>
            </a:fld>
            <a:endParaRPr lang="en-US"/>
          </a:p>
        </p:txBody>
      </p:sp>
      <p:sp>
        <p:nvSpPr>
          <p:cNvPr id="5" name="Footer Placeholder 4"/>
          <p:cNvSpPr>
            <a:spLocks noGrp="1"/>
          </p:cNvSpPr>
          <p:nvPr>
            <p:ph type="ftr" sz="quarter" idx="11"/>
          </p:nvPr>
        </p:nvSpPr>
        <p:spPr/>
        <p:txBody>
          <a:bodyPr/>
          <a:lstStyle/>
          <a:p>
            <a:endParaRPr lang="en-US"/>
          </a:p>
        </p:txBody>
      </p:sp>
      <p:sp>
        <p:nvSpPr>
          <p:cNvPr id="2" name="Vertical Title 1"/>
          <p:cNvSpPr>
            <a:spLocks noGrp="1"/>
          </p:cNvSpPr>
          <p:nvPr>
            <p:ph type="title" orient="vert"/>
          </p:nvPr>
        </p:nvSpPr>
        <p:spPr>
          <a:xfrm>
            <a:off x="7391400" y="304801"/>
            <a:ext cx="1447800" cy="5851525"/>
          </a:xfrm>
        </p:spPr>
        <p:txBody>
          <a:bodyPr vert="eaVert"/>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Date Placeholder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fld id="{1D8BD707-D9CF-40AE-B4C6-C98DA3205C09}" type="datetimeFigureOut">
              <a:rPr lang="en-US" smtClean="0"/>
              <a:pPr/>
              <a:t>8/30/2023</a:t>
            </a:fld>
            <a:endParaRPr lang="en-US"/>
          </a:p>
        </p:txBody>
      </p:sp>
      <p:sp>
        <p:nvSpPr>
          <p:cNvPr id="3" name="Footer Placeholder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endParaRPr lang="en-US"/>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B6F15528-21DE-4FAA-801E-634DDDAF4B2B}" type="slidenum">
              <a:rPr lang="en-US" smtClean="0"/>
              <a:pPr/>
              <a:t>‹#›</a:t>
            </a:fld>
            <a:endParaRPr lang="en-US"/>
          </a:p>
        </p:txBody>
      </p:sp>
      <p:sp>
        <p:nvSpPr>
          <p:cNvPr id="22" name="Title Placeholder 21"/>
          <p:cNvSpPr>
            <a:spLocks noGrp="1"/>
          </p:cNvSpPr>
          <p:nvPr>
            <p:ph type="title"/>
          </p:nvPr>
        </p:nvSpPr>
        <p:spPr>
          <a:xfrm>
            <a:off x="301752" y="228600"/>
            <a:ext cx="8534400" cy="758952"/>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smtClean="0"/>
              <a:t>Strategic Planning </a:t>
            </a:r>
            <a:endParaRPr lang="en-US" dirty="0"/>
          </a:p>
        </p:txBody>
      </p:sp>
      <p:sp>
        <p:nvSpPr>
          <p:cNvPr id="2" name="Title 1"/>
          <p:cNvSpPr>
            <a:spLocks noGrp="1"/>
          </p:cNvSpPr>
          <p:nvPr>
            <p:ph type="ctrTitle"/>
          </p:nvPr>
        </p:nvSpPr>
        <p:spPr/>
        <p:txBody>
          <a:bodyPr/>
          <a:lstStyle/>
          <a:p>
            <a:r>
              <a:rPr lang="en-US" dirty="0" smtClean="0"/>
              <a:t>Chapter (8)</a:t>
            </a:r>
            <a:endParaRPr lang="en-US" dirty="0"/>
          </a:p>
        </p:txBody>
      </p:sp>
    </p:spTree>
    <p:extLst>
      <p:ext uri="{BB962C8B-B14F-4D97-AF65-F5344CB8AC3E}">
        <p14:creationId xmlns:p14="http://schemas.microsoft.com/office/powerpoint/2010/main" val="34292999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sz="quarter" idx="1"/>
          </p:nvPr>
        </p:nvSpPr>
        <p:spPr/>
        <p:txBody>
          <a:bodyPr>
            <a:normAutofit fontScale="92500" lnSpcReduction="10000"/>
          </a:bodyPr>
          <a:lstStyle/>
          <a:p>
            <a:pPr algn="just"/>
            <a:r>
              <a:rPr lang="en-US" dirty="0"/>
              <a:t>It involved the use of formal and systematic design techniques. It concentrated on long-term plans and not concerned with implementation. </a:t>
            </a:r>
            <a:endParaRPr lang="en-US" dirty="0" smtClean="0"/>
          </a:p>
          <a:p>
            <a:pPr algn="just"/>
            <a:endParaRPr lang="en-US" dirty="0"/>
          </a:p>
          <a:p>
            <a:pPr algn="just"/>
            <a:r>
              <a:rPr lang="en-US" dirty="0" smtClean="0"/>
              <a:t>It </a:t>
            </a:r>
            <a:r>
              <a:rPr lang="en-US" dirty="0"/>
              <a:t>ignores the human element. It is also based on quantitative aspect and focused externally. </a:t>
            </a:r>
            <a:endParaRPr lang="en-US" dirty="0" smtClean="0"/>
          </a:p>
          <a:p>
            <a:pPr algn="just"/>
            <a:endParaRPr lang="en-US" dirty="0"/>
          </a:p>
          <a:p>
            <a:pPr algn="just"/>
            <a:r>
              <a:rPr lang="en-US" dirty="0"/>
              <a:t>L</a:t>
            </a:r>
            <a:r>
              <a:rPr lang="en-US" dirty="0" smtClean="0"/>
              <a:t>ater </a:t>
            </a:r>
            <a:r>
              <a:rPr lang="en-US" dirty="0"/>
              <a:t>writers </a:t>
            </a:r>
            <a:r>
              <a:rPr lang="en-US" dirty="0" smtClean="0"/>
              <a:t>emphasized </a:t>
            </a:r>
            <a:r>
              <a:rPr lang="en-US" dirty="0"/>
              <a:t>on human and qualitative aspect of strategy. They saw “strategy” as evolutionary. It showed that “</a:t>
            </a:r>
            <a:r>
              <a:rPr lang="en-US" dirty="0" smtClean="0"/>
              <a:t>organizational behavior</a:t>
            </a:r>
            <a:r>
              <a:rPr lang="en-US" dirty="0"/>
              <a:t>” as part of </a:t>
            </a:r>
            <a:r>
              <a:rPr lang="en-US" dirty="0" smtClean="0"/>
              <a:t>organizational </a:t>
            </a:r>
            <a:r>
              <a:rPr lang="en-US" dirty="0"/>
              <a:t>processes. </a:t>
            </a:r>
          </a:p>
        </p:txBody>
      </p:sp>
    </p:spTree>
    <p:extLst>
      <p:ext uri="{BB962C8B-B14F-4D97-AF65-F5344CB8AC3E}">
        <p14:creationId xmlns:p14="http://schemas.microsoft.com/office/powerpoint/2010/main" val="14010652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Strategic Planning – Meaning </a:t>
            </a:r>
          </a:p>
        </p:txBody>
      </p:sp>
      <p:sp>
        <p:nvSpPr>
          <p:cNvPr id="3" name="Content Placeholder 2"/>
          <p:cNvSpPr>
            <a:spLocks noGrp="1"/>
          </p:cNvSpPr>
          <p:nvPr>
            <p:ph sz="quarter" idx="1"/>
          </p:nvPr>
        </p:nvSpPr>
        <p:spPr>
          <a:xfrm>
            <a:off x="301752" y="1371600"/>
            <a:ext cx="8503920" cy="5410200"/>
          </a:xfrm>
        </p:spPr>
        <p:txBody>
          <a:bodyPr>
            <a:normAutofit fontScale="92500" lnSpcReduction="10000"/>
          </a:bodyPr>
          <a:lstStyle/>
          <a:p>
            <a:pPr algn="just"/>
            <a:r>
              <a:rPr lang="en-US" dirty="0"/>
              <a:t>Strategic planning means planning for strategies and implementing them to achieve </a:t>
            </a:r>
            <a:r>
              <a:rPr lang="en-US" dirty="0" smtClean="0"/>
              <a:t>organizational </a:t>
            </a:r>
            <a:r>
              <a:rPr lang="en-US" dirty="0"/>
              <a:t>goals</a:t>
            </a:r>
            <a:r>
              <a:rPr lang="en-US" dirty="0" smtClean="0"/>
              <a:t>.</a:t>
            </a:r>
          </a:p>
          <a:p>
            <a:pPr algn="just"/>
            <a:r>
              <a:rPr lang="en-US" dirty="0" smtClean="0"/>
              <a:t>It </a:t>
            </a:r>
            <a:r>
              <a:rPr lang="en-US" dirty="0"/>
              <a:t>starts by asking oneself simple questions </a:t>
            </a:r>
            <a:r>
              <a:rPr lang="en-US" dirty="0" smtClean="0"/>
              <a:t>like What </a:t>
            </a:r>
            <a:r>
              <a:rPr lang="en-US" dirty="0"/>
              <a:t>are we doing? Should we continue to do it or change our product line or the way of working? What is the impact of social, political, technological and other environmental factors on our operations? Are we prepared to accept these changes etc.? </a:t>
            </a:r>
            <a:endParaRPr lang="en-US" dirty="0" smtClean="0"/>
          </a:p>
          <a:p>
            <a:pPr algn="just"/>
            <a:r>
              <a:rPr lang="en-US" dirty="0" smtClean="0"/>
              <a:t>Strategic </a:t>
            </a:r>
            <a:r>
              <a:rPr lang="en-US" dirty="0"/>
              <a:t>planning helps in knowing what we are and where we want to go so that environmental threats and opportunities can be exploited, given the strengths and weaknesses of the </a:t>
            </a:r>
            <a:r>
              <a:rPr lang="en-US" dirty="0" smtClean="0"/>
              <a:t>organization</a:t>
            </a:r>
            <a:r>
              <a:rPr lang="en-US" dirty="0"/>
              <a:t>. Strategic planning is “a thorough </a:t>
            </a:r>
            <a:r>
              <a:rPr lang="en-US" dirty="0" smtClean="0"/>
              <a:t>self examination </a:t>
            </a:r>
            <a:r>
              <a:rPr lang="en-US" dirty="0"/>
              <a:t>regarding the goals and means of their accomplishment so that the enterprise is given both direction and cohesion.”</a:t>
            </a:r>
          </a:p>
        </p:txBody>
      </p:sp>
    </p:spTree>
    <p:extLst>
      <p:ext uri="{BB962C8B-B14F-4D97-AF65-F5344CB8AC3E}">
        <p14:creationId xmlns:p14="http://schemas.microsoft.com/office/powerpoint/2010/main" val="31196813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Strategic Planning – Definition</a:t>
            </a:r>
          </a:p>
        </p:txBody>
      </p:sp>
      <p:sp>
        <p:nvSpPr>
          <p:cNvPr id="3" name="Content Placeholder 2"/>
          <p:cNvSpPr>
            <a:spLocks noGrp="1"/>
          </p:cNvSpPr>
          <p:nvPr>
            <p:ph sz="quarter" idx="1"/>
          </p:nvPr>
        </p:nvSpPr>
        <p:spPr/>
        <p:txBody>
          <a:bodyPr/>
          <a:lstStyle/>
          <a:p>
            <a:pPr algn="just"/>
            <a:endParaRPr lang="en-US" dirty="0" smtClean="0"/>
          </a:p>
          <a:p>
            <a:pPr algn="just"/>
            <a:r>
              <a:rPr lang="en-US" dirty="0" smtClean="0"/>
              <a:t>Strategic </a:t>
            </a:r>
            <a:r>
              <a:rPr lang="en-US" dirty="0"/>
              <a:t>planning is the process of determining a company’s long-term goals and then identifying the best approach for achieving those goals. </a:t>
            </a:r>
            <a:endParaRPr lang="en-US" dirty="0" smtClean="0"/>
          </a:p>
          <a:p>
            <a:pPr algn="just"/>
            <a:endParaRPr lang="en-US" dirty="0"/>
          </a:p>
          <a:p>
            <a:pPr algn="just"/>
            <a:r>
              <a:rPr lang="en-US" dirty="0" smtClean="0"/>
              <a:t>Strategic </a:t>
            </a:r>
            <a:r>
              <a:rPr lang="en-US" dirty="0"/>
              <a:t>planning is an organization’s process of defining its strategy or direction and making decisions on allocating its resources to pursue this strategy, including its capital and people. </a:t>
            </a:r>
          </a:p>
        </p:txBody>
      </p:sp>
    </p:spTree>
    <p:extLst>
      <p:ext uri="{BB962C8B-B14F-4D97-AF65-F5344CB8AC3E}">
        <p14:creationId xmlns:p14="http://schemas.microsoft.com/office/powerpoint/2010/main" val="9111207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1752" y="1527048"/>
            <a:ext cx="8503920" cy="4797552"/>
          </a:xfrm>
        </p:spPr>
        <p:txBody>
          <a:bodyPr>
            <a:normAutofit fontScale="85000" lnSpcReduction="10000"/>
          </a:bodyPr>
          <a:lstStyle/>
          <a:p>
            <a:pPr marL="0" indent="0" algn="just">
              <a:buNone/>
            </a:pPr>
            <a:r>
              <a:rPr lang="en-US" u="sng" dirty="0"/>
              <a:t>Defining Mission Statement: </a:t>
            </a:r>
            <a:endParaRPr lang="en-US" u="sng" dirty="0" smtClean="0"/>
          </a:p>
          <a:p>
            <a:pPr algn="just"/>
            <a:r>
              <a:rPr lang="en-US" dirty="0" smtClean="0"/>
              <a:t>The </a:t>
            </a:r>
            <a:r>
              <a:rPr lang="en-US" dirty="0"/>
              <a:t>mission statement is a short, concise statement that describes what the organization will strive to bring about </a:t>
            </a:r>
            <a:r>
              <a:rPr lang="en-US" dirty="0" smtClean="0"/>
              <a:t>the </a:t>
            </a:r>
            <a:r>
              <a:rPr lang="en-US" dirty="0"/>
              <a:t>reason why the company exists in terms of its impact on the rest of the world. </a:t>
            </a:r>
            <a:endParaRPr lang="en-US" dirty="0" smtClean="0"/>
          </a:p>
          <a:p>
            <a:pPr algn="just"/>
            <a:endParaRPr lang="en-US" dirty="0" smtClean="0"/>
          </a:p>
          <a:p>
            <a:pPr marL="0" indent="0" algn="just">
              <a:buNone/>
            </a:pPr>
            <a:r>
              <a:rPr lang="en-US" u="sng" dirty="0" smtClean="0"/>
              <a:t>Defining </a:t>
            </a:r>
            <a:r>
              <a:rPr lang="en-US" u="sng" dirty="0"/>
              <a:t>Vision Statement</a:t>
            </a:r>
            <a:r>
              <a:rPr lang="en-US" u="sng" dirty="0" smtClean="0"/>
              <a:t>:</a:t>
            </a:r>
          </a:p>
          <a:p>
            <a:pPr algn="just"/>
            <a:r>
              <a:rPr lang="en-US" dirty="0" smtClean="0"/>
              <a:t>One </a:t>
            </a:r>
            <a:r>
              <a:rPr lang="en-US" dirty="0"/>
              <a:t>of the functions of strategic planning is to inspire people in the organization to work towards the creation of a new state of affairs. The vision is a means of describing this desired future, but it works best to inspire and motivate if it’s </a:t>
            </a:r>
            <a:r>
              <a:rPr lang="en-US" dirty="0" smtClean="0"/>
              <a:t>bright, in </a:t>
            </a:r>
            <a:r>
              <a:rPr lang="en-US" dirty="0"/>
              <a:t>other words, a vision should be a “picture” of the future. The visioning process is usually the very first step in the strategic planning process. </a:t>
            </a:r>
          </a:p>
        </p:txBody>
      </p:sp>
      <p:sp>
        <p:nvSpPr>
          <p:cNvPr id="4" name="Title 1"/>
          <p:cNvSpPr>
            <a:spLocks noGrp="1"/>
          </p:cNvSpPr>
          <p:nvPr>
            <p:ph type="title"/>
          </p:nvPr>
        </p:nvSpPr>
        <p:spPr/>
        <p:txBody>
          <a:bodyPr/>
          <a:lstStyle/>
          <a:p>
            <a:r>
              <a:rPr lang="en-US" dirty="0"/>
              <a:t>Strategic Planning – Definition</a:t>
            </a:r>
          </a:p>
        </p:txBody>
      </p:sp>
    </p:spTree>
    <p:extLst>
      <p:ext uri="{BB962C8B-B14F-4D97-AF65-F5344CB8AC3E}">
        <p14:creationId xmlns:p14="http://schemas.microsoft.com/office/powerpoint/2010/main" val="32806659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lstStyle/>
          <a:p>
            <a:r>
              <a:rPr lang="en-US" dirty="0"/>
              <a:t>Strategic Planning – Definition</a:t>
            </a:r>
          </a:p>
        </p:txBody>
      </p:sp>
      <p:sp>
        <p:nvSpPr>
          <p:cNvPr id="2" name="Content Placeholder 1"/>
          <p:cNvSpPr>
            <a:spLocks noGrp="1"/>
          </p:cNvSpPr>
          <p:nvPr>
            <p:ph sz="quarter" idx="1"/>
          </p:nvPr>
        </p:nvSpPr>
        <p:spPr/>
        <p:txBody>
          <a:bodyPr>
            <a:normAutofit/>
          </a:bodyPr>
          <a:lstStyle/>
          <a:p>
            <a:pPr marL="0" indent="0" algn="just">
              <a:buNone/>
            </a:pPr>
            <a:r>
              <a:rPr lang="en-US" u="sng" dirty="0"/>
              <a:t>Defining Role Statement: </a:t>
            </a:r>
            <a:endParaRPr lang="en-US" u="sng" dirty="0" smtClean="0"/>
          </a:p>
          <a:p>
            <a:pPr algn="just"/>
            <a:r>
              <a:rPr lang="en-US" dirty="0" smtClean="0"/>
              <a:t>The </a:t>
            </a:r>
            <a:r>
              <a:rPr lang="en-US" dirty="0"/>
              <a:t>mission statement would focus on results and outcomes, while the role </a:t>
            </a:r>
            <a:r>
              <a:rPr lang="en-US" dirty="0" smtClean="0"/>
              <a:t>statement </a:t>
            </a:r>
            <a:r>
              <a:rPr lang="en-US" dirty="0"/>
              <a:t>gets more into the “how’s</a:t>
            </a:r>
            <a:r>
              <a:rPr lang="en-US" dirty="0" smtClean="0"/>
              <a:t>”.</a:t>
            </a:r>
          </a:p>
          <a:p>
            <a:pPr algn="just"/>
            <a:r>
              <a:rPr lang="en-US" dirty="0"/>
              <a:t>A good way to think about this is to first state your mission, add a byline to it, and then add a role. </a:t>
            </a:r>
            <a:endParaRPr lang="en-US" dirty="0" smtClean="0"/>
          </a:p>
          <a:p>
            <a:pPr algn="just"/>
            <a:r>
              <a:rPr lang="en-US" dirty="0" smtClean="0"/>
              <a:t>For </a:t>
            </a:r>
            <a:r>
              <a:rPr lang="en-US" dirty="0"/>
              <a:t>example, if the Mission of a startup </a:t>
            </a:r>
            <a:r>
              <a:rPr lang="en-US" dirty="0" smtClean="0"/>
              <a:t>organization </a:t>
            </a:r>
            <a:r>
              <a:rPr lang="en-US" dirty="0"/>
              <a:t>is to “go where no man has gone before” there might be a set of role statements </a:t>
            </a:r>
            <a:endParaRPr lang="en-US" dirty="0" smtClean="0"/>
          </a:p>
          <a:p>
            <a:pPr algn="just"/>
            <a:r>
              <a:rPr lang="en-US" dirty="0" smtClean="0"/>
              <a:t>Usually </a:t>
            </a:r>
            <a:r>
              <a:rPr lang="en-US" dirty="0"/>
              <a:t>there will be more than </a:t>
            </a:r>
            <a:r>
              <a:rPr lang="en-US" dirty="0" smtClean="0"/>
              <a:t>one role statement. </a:t>
            </a:r>
            <a:endParaRPr lang="en-US" dirty="0"/>
          </a:p>
        </p:txBody>
      </p:sp>
    </p:spTree>
    <p:extLst>
      <p:ext uri="{BB962C8B-B14F-4D97-AF65-F5344CB8AC3E}">
        <p14:creationId xmlns:p14="http://schemas.microsoft.com/office/powerpoint/2010/main" val="8738355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Strategic </a:t>
            </a:r>
            <a:r>
              <a:rPr lang="en-US" dirty="0" smtClean="0"/>
              <a:t>Planning Goals</a:t>
            </a:r>
            <a:endParaRPr lang="en-US" dirty="0"/>
          </a:p>
        </p:txBody>
      </p:sp>
      <p:sp>
        <p:nvSpPr>
          <p:cNvPr id="3" name="Content Placeholder 2"/>
          <p:cNvSpPr>
            <a:spLocks noGrp="1"/>
          </p:cNvSpPr>
          <p:nvPr>
            <p:ph sz="quarter" idx="1"/>
          </p:nvPr>
        </p:nvSpPr>
        <p:spPr/>
        <p:txBody>
          <a:bodyPr>
            <a:normAutofit fontScale="92500" lnSpcReduction="20000"/>
          </a:bodyPr>
          <a:lstStyle/>
          <a:p>
            <a:pPr algn="just"/>
            <a:r>
              <a:rPr lang="en-US" dirty="0"/>
              <a:t>Once we established a vision, mission and role, and done internal and external scans, we should have enough information to set goals for the period that our strategic plan covers. </a:t>
            </a:r>
            <a:endParaRPr lang="en-US" dirty="0" smtClean="0"/>
          </a:p>
          <a:p>
            <a:pPr algn="just"/>
            <a:r>
              <a:rPr lang="en-US" dirty="0" smtClean="0"/>
              <a:t>Goals </a:t>
            </a:r>
            <a:r>
              <a:rPr lang="en-US" dirty="0"/>
              <a:t>in strategic planning can be either result oriented, or process oriented, although, it’s probably better to have results oriented goals. For example – increase share price by 5%, increase return on capital investments by 10%, reduce employee turnover by 10%, bring three new products to market, and register 3 new patents. </a:t>
            </a:r>
            <a:endParaRPr lang="en-US" dirty="0" smtClean="0"/>
          </a:p>
          <a:p>
            <a:pPr algn="just"/>
            <a:r>
              <a:rPr lang="en-US" dirty="0" smtClean="0"/>
              <a:t>Bad </a:t>
            </a:r>
            <a:r>
              <a:rPr lang="en-US" dirty="0"/>
              <a:t>and non-strategic goals are, for example, become the most regarded company in our field (too vague, hard to measure, improve customer service (vague), hire and retain more talented staff (vague).</a:t>
            </a:r>
          </a:p>
        </p:txBody>
      </p:sp>
    </p:spTree>
    <p:extLst>
      <p:ext uri="{BB962C8B-B14F-4D97-AF65-F5344CB8AC3E}">
        <p14:creationId xmlns:p14="http://schemas.microsoft.com/office/powerpoint/2010/main" val="32308244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Strategic Planning – Features</a:t>
            </a:r>
          </a:p>
        </p:txBody>
      </p:sp>
      <p:sp>
        <p:nvSpPr>
          <p:cNvPr id="3" name="Content Placeholder 2"/>
          <p:cNvSpPr>
            <a:spLocks noGrp="1"/>
          </p:cNvSpPr>
          <p:nvPr>
            <p:ph sz="quarter" idx="1"/>
          </p:nvPr>
        </p:nvSpPr>
        <p:spPr>
          <a:xfrm>
            <a:off x="301752" y="1527048"/>
            <a:ext cx="8503920" cy="4873752"/>
          </a:xfrm>
        </p:spPr>
        <p:txBody>
          <a:bodyPr>
            <a:normAutofit fontScale="92500" lnSpcReduction="20000"/>
          </a:bodyPr>
          <a:lstStyle/>
          <a:p>
            <a:pPr marL="514350" indent="-514350" algn="just">
              <a:buAutoNum type="arabicPeriod"/>
            </a:pPr>
            <a:r>
              <a:rPr lang="en-US" i="1" dirty="0" smtClean="0"/>
              <a:t>Process </a:t>
            </a:r>
            <a:r>
              <a:rPr lang="en-US" i="1" dirty="0"/>
              <a:t>of Questioning: </a:t>
            </a:r>
            <a:endParaRPr lang="en-US" i="1" dirty="0" smtClean="0"/>
          </a:p>
          <a:p>
            <a:pPr marL="0" indent="0" algn="just">
              <a:buNone/>
            </a:pPr>
            <a:r>
              <a:rPr lang="en-US" dirty="0" smtClean="0"/>
              <a:t>It </a:t>
            </a:r>
            <a:r>
              <a:rPr lang="en-US" dirty="0"/>
              <a:t>answers questions like where we are and where we want to go, what we are and what we should be. </a:t>
            </a:r>
            <a:endParaRPr lang="en-US" dirty="0" smtClean="0"/>
          </a:p>
          <a:p>
            <a:pPr marL="514350" indent="-514350" algn="just">
              <a:buFont typeface="+mj-lt"/>
              <a:buAutoNum type="arabicPeriod" startAt="2"/>
            </a:pPr>
            <a:r>
              <a:rPr lang="en-US" i="1" dirty="0" smtClean="0"/>
              <a:t>Time </a:t>
            </a:r>
            <a:r>
              <a:rPr lang="en-US" i="1" dirty="0"/>
              <a:t>Horizon: </a:t>
            </a:r>
            <a:endParaRPr lang="en-US" i="1" dirty="0" smtClean="0"/>
          </a:p>
          <a:p>
            <a:pPr marL="0" indent="0" algn="just">
              <a:buNone/>
            </a:pPr>
            <a:r>
              <a:rPr lang="en-US" dirty="0" smtClean="0"/>
              <a:t>It </a:t>
            </a:r>
            <a:r>
              <a:rPr lang="en-US" dirty="0"/>
              <a:t>aims at long-term planning, keeping in view the present and future environmental opportunities. It helps </a:t>
            </a:r>
            <a:r>
              <a:rPr lang="en-US" dirty="0" smtClean="0"/>
              <a:t>organizations analyze </a:t>
            </a:r>
            <a:r>
              <a:rPr lang="en-US" dirty="0"/>
              <a:t>their strengths and weaknesses and adapt to the environment. Managers should be farsighted to make strategic planning meaningful. </a:t>
            </a:r>
            <a:endParaRPr lang="en-US" dirty="0" smtClean="0"/>
          </a:p>
          <a:p>
            <a:pPr marL="514350" indent="-514350" algn="just">
              <a:buFont typeface="+mj-lt"/>
              <a:buAutoNum type="arabicPeriod" startAt="2"/>
            </a:pPr>
            <a:r>
              <a:rPr lang="en-US" i="1" dirty="0" smtClean="0"/>
              <a:t>Pervasive </a:t>
            </a:r>
            <a:r>
              <a:rPr lang="en-US" i="1" dirty="0"/>
              <a:t>Process: </a:t>
            </a:r>
            <a:endParaRPr lang="en-US" i="1" dirty="0" smtClean="0"/>
          </a:p>
          <a:p>
            <a:pPr marL="0" indent="0" algn="just">
              <a:buNone/>
            </a:pPr>
            <a:r>
              <a:rPr lang="en-US" dirty="0" smtClean="0"/>
              <a:t>It </a:t>
            </a:r>
            <a:r>
              <a:rPr lang="en-US" dirty="0"/>
              <a:t>is done for all </a:t>
            </a:r>
            <a:r>
              <a:rPr lang="en-US" dirty="0" smtClean="0"/>
              <a:t>organizations</a:t>
            </a:r>
            <a:r>
              <a:rPr lang="en-US" dirty="0"/>
              <a:t>, at all levels; nevertheless, it involves top executives more than middle or lower-level managers since top executives envision the future better than others. </a:t>
            </a:r>
          </a:p>
        </p:txBody>
      </p:sp>
    </p:spTree>
    <p:extLst>
      <p:ext uri="{BB962C8B-B14F-4D97-AF65-F5344CB8AC3E}">
        <p14:creationId xmlns:p14="http://schemas.microsoft.com/office/powerpoint/2010/main" val="29454134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Strategic Planning – Features</a:t>
            </a:r>
          </a:p>
        </p:txBody>
      </p:sp>
      <p:sp>
        <p:nvSpPr>
          <p:cNvPr id="4" name="Content Placeholder 3"/>
          <p:cNvSpPr>
            <a:spLocks noGrp="1"/>
          </p:cNvSpPr>
          <p:nvPr>
            <p:ph sz="quarter" idx="1"/>
          </p:nvPr>
        </p:nvSpPr>
        <p:spPr/>
        <p:txBody>
          <a:bodyPr>
            <a:normAutofit fontScale="85000" lnSpcReduction="10000"/>
          </a:bodyPr>
          <a:lstStyle/>
          <a:p>
            <a:pPr marL="514350" indent="-514350" algn="just">
              <a:buFont typeface="+mj-lt"/>
              <a:buAutoNum type="arabicPeriod" startAt="4"/>
            </a:pPr>
            <a:r>
              <a:rPr lang="en-US" i="1" dirty="0" smtClean="0"/>
              <a:t>Focus </a:t>
            </a:r>
            <a:r>
              <a:rPr lang="en-US" i="1" dirty="0"/>
              <a:t>of Attention: </a:t>
            </a:r>
            <a:endParaRPr lang="en-US" i="1" dirty="0" smtClean="0"/>
          </a:p>
          <a:p>
            <a:pPr marL="0" indent="0" algn="just">
              <a:buNone/>
            </a:pPr>
            <a:r>
              <a:rPr lang="en-US" dirty="0" smtClean="0"/>
              <a:t>It </a:t>
            </a:r>
            <a:r>
              <a:rPr lang="en-US" dirty="0"/>
              <a:t>focuses </a:t>
            </a:r>
            <a:r>
              <a:rPr lang="en-US" dirty="0" smtClean="0"/>
              <a:t>organization’s </a:t>
            </a:r>
            <a:r>
              <a:rPr lang="en-US" dirty="0"/>
              <a:t>strengths and resources on important and high-priority activities rather than routine and day-to-day activities. It reallocates resources from non-priority to priority sectors</a:t>
            </a:r>
            <a:r>
              <a:rPr lang="en-US" dirty="0" smtClean="0"/>
              <a:t>.</a:t>
            </a:r>
          </a:p>
          <a:p>
            <a:pPr marL="514350" indent="-514350" algn="just">
              <a:buFont typeface="+mj-lt"/>
              <a:buAutoNum type="arabicPeriod" startAt="5"/>
            </a:pPr>
            <a:r>
              <a:rPr lang="en-US" i="1" dirty="0" smtClean="0"/>
              <a:t>Continuous </a:t>
            </a:r>
            <a:r>
              <a:rPr lang="en-US" i="1" dirty="0"/>
              <a:t>Process: </a:t>
            </a:r>
            <a:endParaRPr lang="en-US" i="1" dirty="0" smtClean="0"/>
          </a:p>
          <a:p>
            <a:pPr marL="0" indent="0" algn="just">
              <a:buNone/>
            </a:pPr>
            <a:r>
              <a:rPr lang="en-US" dirty="0" smtClean="0"/>
              <a:t>Strategic </a:t>
            </a:r>
            <a:r>
              <a:rPr lang="en-US" dirty="0"/>
              <a:t>planning is a continuous process that enables </a:t>
            </a:r>
            <a:r>
              <a:rPr lang="en-US" dirty="0" smtClean="0"/>
              <a:t>organizations </a:t>
            </a:r>
            <a:r>
              <a:rPr lang="en-US" dirty="0"/>
              <a:t>to adapt to the ever-changing, dynamic environment. </a:t>
            </a:r>
            <a:endParaRPr lang="en-US" dirty="0" smtClean="0"/>
          </a:p>
          <a:p>
            <a:pPr marL="514350" indent="-514350" algn="just">
              <a:buFont typeface="+mj-lt"/>
              <a:buAutoNum type="arabicPeriod" startAt="6"/>
            </a:pPr>
            <a:r>
              <a:rPr lang="en-US" i="1" dirty="0" smtClean="0"/>
              <a:t>Co-Ordination</a:t>
            </a:r>
            <a:r>
              <a:rPr lang="en-US" i="1" dirty="0"/>
              <a:t>: </a:t>
            </a:r>
            <a:endParaRPr lang="en-US" i="1" dirty="0" smtClean="0"/>
          </a:p>
          <a:p>
            <a:pPr marL="0" indent="0" algn="just">
              <a:buNone/>
            </a:pPr>
            <a:r>
              <a:rPr lang="en-US" dirty="0" smtClean="0"/>
              <a:t>It </a:t>
            </a:r>
            <a:r>
              <a:rPr lang="en-US" dirty="0"/>
              <a:t>coordinates </a:t>
            </a:r>
            <a:r>
              <a:rPr lang="en-US" dirty="0" smtClean="0"/>
              <a:t>organizations </a:t>
            </a:r>
            <a:r>
              <a:rPr lang="en-US" dirty="0"/>
              <a:t>internal environment with the external environment, financial resources with non- financial resources and short-term plans with </a:t>
            </a:r>
            <a:r>
              <a:rPr lang="en-US" dirty="0" smtClean="0"/>
              <a:t>long-term </a:t>
            </a:r>
            <a:r>
              <a:rPr lang="en-US" dirty="0"/>
              <a:t>plans. </a:t>
            </a:r>
          </a:p>
          <a:p>
            <a:pPr algn="just"/>
            <a:endParaRPr lang="en-US" dirty="0"/>
          </a:p>
        </p:txBody>
      </p:sp>
    </p:spTree>
    <p:extLst>
      <p:ext uri="{BB962C8B-B14F-4D97-AF65-F5344CB8AC3E}">
        <p14:creationId xmlns:p14="http://schemas.microsoft.com/office/powerpoint/2010/main" val="8630079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Difference Between Planning and Strategy</a:t>
            </a:r>
          </a:p>
        </p:txBody>
      </p:sp>
      <p:sp>
        <p:nvSpPr>
          <p:cNvPr id="3" name="Content Placeholder 2"/>
          <p:cNvSpPr>
            <a:spLocks noGrp="1"/>
          </p:cNvSpPr>
          <p:nvPr>
            <p:ph sz="quarter" idx="1"/>
          </p:nvPr>
        </p:nvSpPr>
        <p:spPr>
          <a:xfrm>
            <a:off x="301752" y="1447800"/>
            <a:ext cx="8503920" cy="5257800"/>
          </a:xfrm>
        </p:spPr>
        <p:txBody>
          <a:bodyPr>
            <a:normAutofit fontScale="85000" lnSpcReduction="20000"/>
          </a:bodyPr>
          <a:lstStyle/>
          <a:p>
            <a:pPr marL="0" indent="0" algn="just">
              <a:buNone/>
            </a:pPr>
            <a:r>
              <a:rPr lang="en-US" dirty="0"/>
              <a:t>The most simple difference between strategy and planning Put very simply, imagine a box on the floor that represents your </a:t>
            </a:r>
            <a:r>
              <a:rPr lang="en-US" dirty="0" smtClean="0"/>
              <a:t>organization</a:t>
            </a:r>
            <a:r>
              <a:rPr lang="en-US" dirty="0"/>
              <a:t>: </a:t>
            </a:r>
            <a:endParaRPr lang="en-US" dirty="0" smtClean="0"/>
          </a:p>
          <a:p>
            <a:pPr algn="just"/>
            <a:r>
              <a:rPr lang="en-US" dirty="0" smtClean="0"/>
              <a:t>Strategy </a:t>
            </a:r>
            <a:r>
              <a:rPr lang="en-US" dirty="0"/>
              <a:t>is choosing where to put the box, its size and even whether it is even a box. </a:t>
            </a:r>
            <a:endParaRPr lang="en-US" dirty="0" smtClean="0"/>
          </a:p>
          <a:p>
            <a:pPr algn="just"/>
            <a:r>
              <a:rPr lang="en-US" dirty="0" smtClean="0"/>
              <a:t>Planning </a:t>
            </a:r>
            <a:r>
              <a:rPr lang="en-US" dirty="0"/>
              <a:t>is working inside the box, deciding what to do about the choices that were made. Of course you still need action, executing those choices. </a:t>
            </a:r>
            <a:endParaRPr lang="en-US" dirty="0" smtClean="0"/>
          </a:p>
          <a:p>
            <a:pPr algn="just"/>
            <a:endParaRPr lang="en-US" dirty="0"/>
          </a:p>
          <a:p>
            <a:pPr marL="0" indent="0" algn="just">
              <a:buNone/>
            </a:pPr>
            <a:r>
              <a:rPr lang="en-US" dirty="0" smtClean="0"/>
              <a:t>Another </a:t>
            </a:r>
            <a:r>
              <a:rPr lang="en-US" dirty="0"/>
              <a:t>way of looking at it is </a:t>
            </a:r>
            <a:endParaRPr lang="en-US" dirty="0" smtClean="0"/>
          </a:p>
          <a:p>
            <a:pPr algn="just"/>
            <a:r>
              <a:rPr lang="en-US" dirty="0" smtClean="0"/>
              <a:t>Strategy </a:t>
            </a:r>
            <a:r>
              <a:rPr lang="en-US" dirty="0"/>
              <a:t>is about understanding your environment and making choices about what you will do. Think, if you like, of where and how to play. </a:t>
            </a:r>
            <a:endParaRPr lang="en-US" dirty="0" smtClean="0"/>
          </a:p>
          <a:p>
            <a:pPr algn="just"/>
            <a:r>
              <a:rPr lang="en-US" dirty="0" smtClean="0"/>
              <a:t>Planning </a:t>
            </a:r>
            <a:r>
              <a:rPr lang="en-US" dirty="0"/>
              <a:t>is about making choices about how to use the resources you have and the actions you will take to achieve the choices made inside your strategy.</a:t>
            </a:r>
          </a:p>
        </p:txBody>
      </p:sp>
    </p:spTree>
    <p:extLst>
      <p:ext uri="{BB962C8B-B14F-4D97-AF65-F5344CB8AC3E}">
        <p14:creationId xmlns:p14="http://schemas.microsoft.com/office/powerpoint/2010/main" val="30816505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Difference Between Planning and Strategy</a:t>
            </a:r>
          </a:p>
        </p:txBody>
      </p:sp>
      <p:sp>
        <p:nvSpPr>
          <p:cNvPr id="4" name="Content Placeholder 3"/>
          <p:cNvSpPr>
            <a:spLocks noGrp="1"/>
          </p:cNvSpPr>
          <p:nvPr>
            <p:ph sz="quarter" idx="1"/>
          </p:nvPr>
        </p:nvSpPr>
        <p:spPr/>
        <p:txBody>
          <a:bodyPr/>
          <a:lstStyle/>
          <a:p>
            <a:pPr marL="0" indent="0">
              <a:buNone/>
            </a:pPr>
            <a:r>
              <a:rPr lang="en-US" b="1" i="1" dirty="0"/>
              <a:t>Planning </a:t>
            </a:r>
            <a:endParaRPr lang="en-US" b="1" i="1" dirty="0" smtClean="0"/>
          </a:p>
          <a:p>
            <a:r>
              <a:rPr lang="en-US" dirty="0" smtClean="0"/>
              <a:t>It is </a:t>
            </a:r>
            <a:r>
              <a:rPr lang="en-US" dirty="0"/>
              <a:t>“Thinking before the action takes place”. </a:t>
            </a:r>
            <a:endParaRPr lang="en-US" dirty="0" smtClean="0"/>
          </a:p>
          <a:p>
            <a:r>
              <a:rPr lang="en-US" dirty="0" smtClean="0"/>
              <a:t>It </a:t>
            </a:r>
            <a:r>
              <a:rPr lang="en-US" dirty="0"/>
              <a:t>decides beforehand, what, when, how the task is to be accomplished. </a:t>
            </a:r>
            <a:endParaRPr lang="en-US" dirty="0" smtClean="0"/>
          </a:p>
          <a:p>
            <a:r>
              <a:rPr lang="en-US" dirty="0" smtClean="0"/>
              <a:t>It </a:t>
            </a:r>
            <a:r>
              <a:rPr lang="en-US" dirty="0"/>
              <a:t>is not exactly same as strategy, which is nothing but “a comprehensive plan.” </a:t>
            </a:r>
            <a:endParaRPr lang="en-US" dirty="0" smtClean="0"/>
          </a:p>
          <a:p>
            <a:r>
              <a:rPr lang="en-US" dirty="0" smtClean="0"/>
              <a:t>The </a:t>
            </a:r>
            <a:r>
              <a:rPr lang="en-US" dirty="0"/>
              <a:t>strategy is all about using a trick to gain success in a particular purpose. </a:t>
            </a:r>
            <a:endParaRPr lang="en-US" dirty="0" smtClean="0"/>
          </a:p>
          <a:p>
            <a:r>
              <a:rPr lang="en-US" dirty="0" smtClean="0"/>
              <a:t>It </a:t>
            </a:r>
            <a:r>
              <a:rPr lang="en-US" dirty="0"/>
              <a:t>is the skill of managing affairs of the enterprise. </a:t>
            </a:r>
          </a:p>
        </p:txBody>
      </p:sp>
    </p:spTree>
    <p:extLst>
      <p:ext uri="{BB962C8B-B14F-4D97-AF65-F5344CB8AC3E}">
        <p14:creationId xmlns:p14="http://schemas.microsoft.com/office/powerpoint/2010/main" val="31654111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lstStyle/>
          <a:p>
            <a:r>
              <a:rPr lang="en-US" dirty="0"/>
              <a:t>Difference Between Planning and Strategy</a:t>
            </a:r>
          </a:p>
        </p:txBody>
      </p:sp>
      <p:pic>
        <p:nvPicPr>
          <p:cNvPr id="1026" name="Picture 2"/>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914400" y="1371600"/>
            <a:ext cx="7010399" cy="533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23836737"/>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c">
  <a:themeElements>
    <a:clrScheme name="Executive">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39</TotalTime>
  <Words>1042</Words>
  <Application>Microsoft Office PowerPoint</Application>
  <PresentationFormat>On-screen Show (4:3)</PresentationFormat>
  <Paragraphs>63</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Civic</vt:lpstr>
      <vt:lpstr>Chapter (8)</vt:lpstr>
      <vt:lpstr>Introduction</vt:lpstr>
      <vt:lpstr>Strategic Planning – Meaning </vt:lpstr>
      <vt:lpstr>Strategic Planning – Definition</vt:lpstr>
      <vt:lpstr>Strategic Planning – Definition</vt:lpstr>
      <vt:lpstr>Strategic Planning – Definition</vt:lpstr>
      <vt:lpstr>Strategic Planning Goals</vt:lpstr>
      <vt:lpstr>Strategic Planning – Features</vt:lpstr>
      <vt:lpstr>Strategic Planning – Features</vt:lpstr>
      <vt:lpstr>Difference Between Planning and Strategy</vt:lpstr>
      <vt:lpstr>Difference Between Planning and Strategy</vt:lpstr>
      <vt:lpstr>Difference Between Planning and Strategy</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(8)</dc:title>
  <dc:creator>Nancy karma</dc:creator>
  <cp:lastModifiedBy>Nancy karma</cp:lastModifiedBy>
  <cp:revision>6</cp:revision>
  <dcterms:created xsi:type="dcterms:W3CDTF">2006-08-16T00:00:00Z</dcterms:created>
  <dcterms:modified xsi:type="dcterms:W3CDTF">2023-08-30T07:36:00Z</dcterms:modified>
</cp:coreProperties>
</file>