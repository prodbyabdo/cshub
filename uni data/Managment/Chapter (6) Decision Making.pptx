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2045" y="-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Chapter (6)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Decision </a:t>
            </a:r>
            <a:r>
              <a:rPr lang="en-US" smtClean="0"/>
              <a:t>making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957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Decision Making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4864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The process followed for identifying and choosing a course of action in order to solve a specific problem is known as decision making. </a:t>
            </a:r>
            <a:endParaRPr lang="en-US" dirty="0" smtClean="0"/>
          </a:p>
          <a:p>
            <a:pPr algn="just"/>
            <a:r>
              <a:rPr lang="en-US" dirty="0" smtClean="0"/>
              <a:t>Decision </a:t>
            </a:r>
            <a:r>
              <a:rPr lang="en-US" dirty="0"/>
              <a:t>making is both, a managerial function as well as an </a:t>
            </a:r>
            <a:r>
              <a:rPr lang="en-US" dirty="0" smtClean="0"/>
              <a:t>organizational </a:t>
            </a:r>
            <a:r>
              <a:rPr lang="en-US" dirty="0"/>
              <a:t>process. </a:t>
            </a:r>
            <a:endParaRPr lang="en-US" dirty="0" smtClean="0"/>
          </a:p>
          <a:p>
            <a:pPr algn="just"/>
            <a:r>
              <a:rPr lang="en-US" dirty="0" smtClean="0"/>
              <a:t>It </a:t>
            </a:r>
            <a:r>
              <a:rPr lang="en-US" dirty="0"/>
              <a:t>is </a:t>
            </a:r>
            <a:r>
              <a:rPr lang="en-US" dirty="0" smtClean="0"/>
              <a:t>organizational </a:t>
            </a:r>
            <a:r>
              <a:rPr lang="en-US" dirty="0"/>
              <a:t>in the sense that many decisions transcend the individual manager and become the products of groups, teams, committees, etc. </a:t>
            </a:r>
            <a:endParaRPr lang="en-US" dirty="0" smtClean="0"/>
          </a:p>
          <a:p>
            <a:pPr algn="just"/>
            <a:r>
              <a:rPr lang="en-US" dirty="0" smtClean="0"/>
              <a:t>It </a:t>
            </a:r>
            <a:r>
              <a:rPr lang="en-US" dirty="0"/>
              <a:t>is managerial in the sense that decision making is the basic responsibility of a Manager, whether it is giving shape to a company's planning or choosing alternatives, etc. </a:t>
            </a:r>
            <a:endParaRPr lang="en-US" dirty="0" smtClean="0"/>
          </a:p>
          <a:p>
            <a:pPr algn="just"/>
            <a:r>
              <a:rPr lang="en-US" dirty="0" smtClean="0"/>
              <a:t>Managers </a:t>
            </a:r>
            <a:r>
              <a:rPr lang="en-US" dirty="0"/>
              <a:t>have to take decisions and hence need to develop skills for decision making and problem solving. </a:t>
            </a:r>
          </a:p>
        </p:txBody>
      </p:sp>
    </p:spTree>
    <p:extLst>
      <p:ext uri="{BB962C8B-B14F-4D97-AF65-F5344CB8AC3E}">
        <p14:creationId xmlns:p14="http://schemas.microsoft.com/office/powerpoint/2010/main" val="3123210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Decision Making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4102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No Managerial function or responsibility whether it is planning, </a:t>
            </a:r>
            <a:r>
              <a:rPr lang="en-US" dirty="0" smtClean="0"/>
              <a:t>organizing </a:t>
            </a:r>
            <a:r>
              <a:rPr lang="en-US" dirty="0"/>
              <a:t>or controlling can be complete without decision making. </a:t>
            </a:r>
            <a:endParaRPr lang="en-US" dirty="0" smtClean="0"/>
          </a:p>
          <a:p>
            <a:pPr algn="just"/>
            <a:r>
              <a:rPr lang="en-US" dirty="0" smtClean="0"/>
              <a:t>In </a:t>
            </a:r>
            <a:r>
              <a:rPr lang="en-US" dirty="0"/>
              <a:t>each function, </a:t>
            </a:r>
            <a:r>
              <a:rPr lang="en-US" dirty="0" smtClean="0"/>
              <a:t>decision </a:t>
            </a:r>
            <a:r>
              <a:rPr lang="en-US" dirty="0"/>
              <a:t>making holds a central place. </a:t>
            </a:r>
            <a:endParaRPr lang="en-US" dirty="0" smtClean="0"/>
          </a:p>
          <a:p>
            <a:pPr algn="just"/>
            <a:r>
              <a:rPr lang="en-US" dirty="0" smtClean="0"/>
              <a:t>It</a:t>
            </a:r>
            <a:r>
              <a:rPr lang="en-US" dirty="0"/>
              <a:t>, in fact, </a:t>
            </a:r>
            <a:r>
              <a:rPr lang="en-US" dirty="0" smtClean="0"/>
              <a:t>is an </a:t>
            </a:r>
            <a:r>
              <a:rPr lang="en-US" dirty="0"/>
              <a:t>inherent or in-built function in all the managerial responsibilities. For example, f in planning one has to take decisions for setting objectives, scheduling the project, budgeting etc. </a:t>
            </a:r>
            <a:endParaRPr lang="en-US" dirty="0" smtClean="0"/>
          </a:p>
          <a:p>
            <a:pPr algn="just"/>
            <a:r>
              <a:rPr lang="en-US" dirty="0" smtClean="0"/>
              <a:t>Similarly</a:t>
            </a:r>
            <a:r>
              <a:rPr lang="en-US" dirty="0"/>
              <a:t>, in </a:t>
            </a:r>
            <a:r>
              <a:rPr lang="en-US" dirty="0" smtClean="0"/>
              <a:t>organizing</a:t>
            </a:r>
            <a:r>
              <a:rPr lang="en-US" dirty="0"/>
              <a:t>, decisions have to be taken regarding delegating project 1 implementation, establishment of communication channels etc.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position in controlling is also the same where decision making is required for performance, evaluation, etc.</a:t>
            </a:r>
          </a:p>
        </p:txBody>
      </p:sp>
    </p:spTree>
    <p:extLst>
      <p:ext uri="{BB962C8B-B14F-4D97-AF65-F5344CB8AC3E}">
        <p14:creationId xmlns:p14="http://schemas.microsoft.com/office/powerpoint/2010/main" val="1166435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Decision Making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Decision making involves three aspects of human </a:t>
            </a:r>
            <a:r>
              <a:rPr lang="en-US" dirty="0" smtClean="0"/>
              <a:t>behavior </a:t>
            </a:r>
            <a:r>
              <a:rPr lang="en-US" dirty="0"/>
              <a:t>: </a:t>
            </a:r>
            <a:endParaRPr lang="en-US" dirty="0" smtClean="0"/>
          </a:p>
          <a:p>
            <a:pPr marL="651510" indent="-514350">
              <a:buAutoNum type="arabicParenR"/>
            </a:pPr>
            <a:r>
              <a:rPr lang="en-US" dirty="0" smtClean="0"/>
              <a:t>Cognition </a:t>
            </a:r>
            <a:r>
              <a:rPr lang="en-US" dirty="0"/>
              <a:t>- i.e. activities of the mind associated with </a:t>
            </a:r>
            <a:r>
              <a:rPr lang="en-US" dirty="0" smtClean="0"/>
              <a:t>knowledge.</a:t>
            </a:r>
          </a:p>
          <a:p>
            <a:pPr marL="651510" indent="-514350">
              <a:buAutoNum type="arabicParenR"/>
            </a:pPr>
            <a:r>
              <a:rPr lang="en-US" dirty="0" smtClean="0"/>
              <a:t>Conation </a:t>
            </a:r>
            <a:r>
              <a:rPr lang="en-US" dirty="0"/>
              <a:t>- i.e. the action of mind implied by such words as willingness, desire and / aversion. </a:t>
            </a:r>
            <a:endParaRPr lang="en-US" dirty="0" smtClean="0"/>
          </a:p>
          <a:p>
            <a:pPr marL="651510" indent="-514350">
              <a:buAutoNum type="arabicParenR"/>
            </a:pPr>
            <a:r>
              <a:rPr lang="en-US" dirty="0" smtClean="0"/>
              <a:t>Affectation </a:t>
            </a:r>
            <a:r>
              <a:rPr lang="en-US" dirty="0"/>
              <a:t>- i.e. the aspect of mind associated with emotion, feeling, mood and temperament. .</a:t>
            </a:r>
          </a:p>
        </p:txBody>
      </p:sp>
    </p:spTree>
    <p:extLst>
      <p:ext uri="{BB962C8B-B14F-4D97-AF65-F5344CB8AC3E}">
        <p14:creationId xmlns:p14="http://schemas.microsoft.com/office/powerpoint/2010/main" val="1585640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 DECISION 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181600"/>
          </a:xfrm>
        </p:spPr>
        <p:txBody>
          <a:bodyPr/>
          <a:lstStyle/>
          <a:p>
            <a:r>
              <a:rPr lang="en-US" dirty="0"/>
              <a:t>Managers follow certain steps which help them to understand the decision making process and provide a process to be adopted for rational decision making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Generally</a:t>
            </a:r>
            <a:r>
              <a:rPr lang="en-US" dirty="0"/>
              <a:t>, the following steps are adopted for decision making. </a:t>
            </a:r>
            <a:endParaRPr lang="en-US" dirty="0" smtClean="0"/>
          </a:p>
          <a:p>
            <a:r>
              <a:rPr lang="en-US" dirty="0" smtClean="0"/>
              <a:t>Before </a:t>
            </a:r>
            <a:r>
              <a:rPr lang="en-US" dirty="0"/>
              <a:t>we outline the steps, we must make it clear that the decision making process is required for achieving certain specific objectives</a:t>
            </a:r>
          </a:p>
        </p:txBody>
      </p:sp>
    </p:spTree>
    <p:extLst>
      <p:ext uri="{BB962C8B-B14F-4D97-AF65-F5344CB8AC3E}">
        <p14:creationId xmlns:p14="http://schemas.microsoft.com/office/powerpoint/2010/main" val="1257171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 DECISION MAKING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257800"/>
          </a:xfrm>
        </p:spPr>
        <p:txBody>
          <a:bodyPr/>
          <a:lstStyle/>
          <a:p>
            <a:pPr marL="651510" indent="-514350" algn="just">
              <a:buAutoNum type="arabicParenR"/>
            </a:pPr>
            <a:r>
              <a:rPr lang="en-US" b="1" u="sng" dirty="0" smtClean="0"/>
              <a:t>Identifying/Defining </a:t>
            </a:r>
            <a:r>
              <a:rPr lang="en-US" b="1" u="sng" dirty="0"/>
              <a:t>the Problem </a:t>
            </a:r>
            <a:endParaRPr lang="en-US" b="1" u="sng" dirty="0" smtClean="0"/>
          </a:p>
          <a:p>
            <a:pPr marL="137160" indent="0" algn="just">
              <a:buNone/>
            </a:pPr>
            <a:endParaRPr lang="en-US" b="1" u="sng" dirty="0" smtClean="0"/>
          </a:p>
          <a:p>
            <a:pPr marL="806450" indent="-411163" algn="just"/>
            <a:r>
              <a:rPr lang="en-US" dirty="0" smtClean="0"/>
              <a:t>This </a:t>
            </a:r>
            <a:r>
              <a:rPr lang="en-US" dirty="0"/>
              <a:t>marks the beginning of the decision making process. </a:t>
            </a:r>
            <a:endParaRPr lang="en-US" dirty="0" smtClean="0"/>
          </a:p>
          <a:p>
            <a:pPr marL="806450" indent="-411163" algn="just"/>
            <a:r>
              <a:rPr lang="en-US" dirty="0" smtClean="0"/>
              <a:t>A </a:t>
            </a:r>
            <a:r>
              <a:rPr lang="en-US" dirty="0"/>
              <a:t>Manager should be clear in defining the problem in relation to the </a:t>
            </a:r>
            <a:r>
              <a:rPr lang="en-US" dirty="0" smtClean="0"/>
              <a:t>organizational </a:t>
            </a:r>
            <a:r>
              <a:rPr lang="en-US" dirty="0"/>
              <a:t>objectives. </a:t>
            </a:r>
            <a:endParaRPr lang="en-US" dirty="0" smtClean="0"/>
          </a:p>
          <a:p>
            <a:pPr marL="806450" indent="-411163" algn="just"/>
            <a:r>
              <a:rPr lang="en-US" dirty="0" smtClean="0"/>
              <a:t>Unless </a:t>
            </a:r>
            <a:r>
              <a:rPr lang="en-US" dirty="0"/>
              <a:t>as a Manager, you define what the problem is, you may move in the wrong direction asking wrong questions and making wrong decisions.</a:t>
            </a:r>
          </a:p>
        </p:txBody>
      </p:sp>
    </p:spTree>
    <p:extLst>
      <p:ext uri="{BB962C8B-B14F-4D97-AF65-F5344CB8AC3E}">
        <p14:creationId xmlns:p14="http://schemas.microsoft.com/office/powerpoint/2010/main" val="973191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 DECISION 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410200"/>
          </a:xfrm>
        </p:spPr>
        <p:txBody>
          <a:bodyPr>
            <a:normAutofit fontScale="92500" lnSpcReduction="20000"/>
          </a:bodyPr>
          <a:lstStyle/>
          <a:p>
            <a:pPr marL="137160" indent="0">
              <a:buNone/>
            </a:pPr>
            <a:r>
              <a:rPr lang="en-US" b="1" u="sng" dirty="0"/>
              <a:t>2) </a:t>
            </a:r>
            <a:r>
              <a:rPr lang="en-US" b="1" u="sng" dirty="0" smtClean="0"/>
              <a:t>Analyzing </a:t>
            </a:r>
            <a:r>
              <a:rPr lang="en-US" b="1" u="sng" dirty="0"/>
              <a:t>the Situation </a:t>
            </a:r>
            <a:endParaRPr lang="en-US" b="1" u="sng" dirty="0" smtClean="0"/>
          </a:p>
          <a:p>
            <a:pPr marL="137160" indent="0">
              <a:buNone/>
            </a:pPr>
            <a:endParaRPr lang="en-US" u="sng" dirty="0" smtClean="0"/>
          </a:p>
          <a:p>
            <a:r>
              <a:rPr lang="en-US" dirty="0" smtClean="0"/>
              <a:t>Once </a:t>
            </a:r>
            <a:r>
              <a:rPr lang="en-US" dirty="0"/>
              <a:t>the problem has been defined, as a Manager one must </a:t>
            </a:r>
            <a:r>
              <a:rPr lang="en-US" dirty="0" smtClean="0"/>
              <a:t>analyze </a:t>
            </a:r>
            <a:r>
              <a:rPr lang="en-US" dirty="0"/>
              <a:t>the situation. For example, what are the several elements the problem consists of and what must be solved or what should not be solved. </a:t>
            </a:r>
            <a:endParaRPr lang="en-US" dirty="0" smtClean="0"/>
          </a:p>
          <a:p>
            <a:r>
              <a:rPr lang="en-US" dirty="0" smtClean="0"/>
              <a:t>At </a:t>
            </a:r>
            <a:r>
              <a:rPr lang="en-US" dirty="0"/>
              <a:t>the same time, the manager should attempt to understand the sources/causes of the problem. </a:t>
            </a:r>
            <a:endParaRPr lang="en-US" dirty="0" smtClean="0"/>
          </a:p>
          <a:p>
            <a:r>
              <a:rPr lang="en-US" dirty="0" smtClean="0"/>
              <a:t>Sometimes</a:t>
            </a:r>
            <a:r>
              <a:rPr lang="en-US" dirty="0"/>
              <a:t>, the problems and the causes may be simple, whereas sometimes they may be complex. </a:t>
            </a:r>
            <a:endParaRPr lang="en-US" dirty="0" smtClean="0"/>
          </a:p>
          <a:p>
            <a:r>
              <a:rPr lang="en-US" dirty="0" smtClean="0"/>
              <a:t>Hence</a:t>
            </a:r>
            <a:r>
              <a:rPr lang="en-US" dirty="0"/>
              <a:t>, you must be extremely cautious in dealing with the problem and coming to decisions for solving them.</a:t>
            </a:r>
          </a:p>
        </p:txBody>
      </p:sp>
    </p:spTree>
    <p:extLst>
      <p:ext uri="{BB962C8B-B14F-4D97-AF65-F5344CB8AC3E}">
        <p14:creationId xmlns:p14="http://schemas.microsoft.com/office/powerpoint/2010/main" val="1345298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 DECISION MAKING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7160" indent="0">
              <a:buNone/>
            </a:pPr>
            <a:r>
              <a:rPr lang="en-US" b="1" u="sng" dirty="0"/>
              <a:t>3) Gathering </a:t>
            </a:r>
            <a:r>
              <a:rPr lang="en-US" b="1" u="sng" dirty="0" smtClean="0"/>
              <a:t>Information</a:t>
            </a:r>
          </a:p>
          <a:p>
            <a:pPr marL="137160" indent="0">
              <a:buNone/>
            </a:pP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problem once identified and stated has to be solved. </a:t>
            </a:r>
            <a:endParaRPr lang="en-US" dirty="0" smtClean="0"/>
          </a:p>
          <a:p>
            <a:r>
              <a:rPr lang="en-US" dirty="0" smtClean="0"/>
              <a:t>But </a:t>
            </a:r>
            <a:r>
              <a:rPr lang="en-US" dirty="0"/>
              <a:t>for solving it, a Manager must gather information about different courses of action.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this, time as well as resources </a:t>
            </a:r>
            <a:r>
              <a:rPr lang="en-US" dirty="0" smtClean="0"/>
              <a:t>is </a:t>
            </a:r>
            <a:r>
              <a:rPr lang="en-US" dirty="0"/>
              <a:t>crucial. </a:t>
            </a:r>
            <a:endParaRPr lang="en-US" dirty="0" smtClean="0"/>
          </a:p>
          <a:p>
            <a:r>
              <a:rPr lang="en-US" dirty="0" smtClean="0"/>
              <a:t>At </a:t>
            </a:r>
            <a:r>
              <a:rPr lang="en-US" dirty="0"/>
              <a:t>times, gathering information is a costly affair.</a:t>
            </a:r>
          </a:p>
        </p:txBody>
      </p:sp>
    </p:spTree>
    <p:extLst>
      <p:ext uri="{BB962C8B-B14F-4D97-AF65-F5344CB8AC3E}">
        <p14:creationId xmlns:p14="http://schemas.microsoft.com/office/powerpoint/2010/main" val="3907627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715000"/>
          </a:xfrm>
        </p:spPr>
        <p:txBody>
          <a:bodyPr>
            <a:normAutofit fontScale="85000" lnSpcReduction="20000"/>
          </a:bodyPr>
          <a:lstStyle/>
          <a:p>
            <a:pPr marL="137160" indent="0" algn="just">
              <a:buNone/>
            </a:pPr>
            <a:r>
              <a:rPr lang="en-US" b="1" u="sng" dirty="0"/>
              <a:t>4) Search for Alternatives </a:t>
            </a:r>
            <a:endParaRPr lang="en-US" b="1" u="sng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decision maker must try to look for various alternatives available, in order to get satisfactory results from a decision. </a:t>
            </a:r>
            <a:endParaRPr lang="en-US" dirty="0" smtClean="0"/>
          </a:p>
          <a:p>
            <a:pPr algn="just"/>
            <a:r>
              <a:rPr lang="en-US" dirty="0" smtClean="0"/>
              <a:t>To </a:t>
            </a:r>
            <a:r>
              <a:rPr lang="en-US" dirty="0"/>
              <a:t>find out the various alternatives, the Manager should go for individual or group brainstorming sessions. </a:t>
            </a:r>
            <a:endParaRPr lang="en-US" dirty="0" smtClean="0"/>
          </a:p>
          <a:p>
            <a:pPr algn="just"/>
            <a:r>
              <a:rPr lang="en-US" dirty="0" smtClean="0"/>
              <a:t>For </a:t>
            </a:r>
            <a:r>
              <a:rPr lang="en-US" dirty="0"/>
              <a:t>example, you are a Manager in a Tour Operating company. The person who used to look after the marketing aspect has left. Now, to face this problem, you can have the following alternatives : </a:t>
            </a:r>
            <a:endParaRPr lang="en-US" dirty="0" smtClean="0"/>
          </a:p>
          <a:p>
            <a:pPr marL="1162050" indent="-198438" algn="just">
              <a:buFont typeface="+mj-lt"/>
              <a:buAutoNum type="arabicPeriod"/>
            </a:pPr>
            <a:r>
              <a:rPr lang="en-US" dirty="0"/>
              <a:t>L</a:t>
            </a:r>
            <a:r>
              <a:rPr lang="en-US" dirty="0" smtClean="0"/>
              <a:t>eave </a:t>
            </a:r>
            <a:r>
              <a:rPr lang="en-US" dirty="0"/>
              <a:t>the vacancy </a:t>
            </a:r>
            <a:r>
              <a:rPr lang="en-US" dirty="0" smtClean="0"/>
              <a:t>unfilled</a:t>
            </a:r>
          </a:p>
          <a:p>
            <a:pPr marL="1162050" indent="-198438" algn="just">
              <a:buFont typeface="+mj-lt"/>
              <a:buAutoNum type="arabicPeriod"/>
            </a:pPr>
            <a:r>
              <a:rPr lang="en-US" dirty="0" smtClean="0"/>
              <a:t>Appoint </a:t>
            </a:r>
            <a:r>
              <a:rPr lang="en-US" dirty="0"/>
              <a:t>a permanent </a:t>
            </a:r>
            <a:r>
              <a:rPr lang="en-US" dirty="0" smtClean="0"/>
              <a:t>person</a:t>
            </a:r>
          </a:p>
          <a:p>
            <a:pPr marL="1162050" indent="-198438" algn="just">
              <a:buFont typeface="+mj-lt"/>
              <a:buAutoNum type="arabicPeriod"/>
            </a:pPr>
            <a:r>
              <a:rPr lang="en-US" dirty="0" smtClean="0"/>
              <a:t>Promote </a:t>
            </a:r>
            <a:r>
              <a:rPr lang="en-US" dirty="0"/>
              <a:t>the next person in </a:t>
            </a:r>
            <a:r>
              <a:rPr lang="en-US" dirty="0" smtClean="0"/>
              <a:t>hierarchy </a:t>
            </a:r>
          </a:p>
          <a:p>
            <a:pPr marL="1162050" indent="-198438" algn="just">
              <a:buFont typeface="+mj-lt"/>
              <a:buAutoNum type="arabicPeriod"/>
            </a:pPr>
            <a:r>
              <a:rPr lang="en-US" dirty="0" smtClean="0"/>
              <a:t>hire </a:t>
            </a:r>
            <a:r>
              <a:rPr lang="en-US" dirty="0"/>
              <a:t>the services of a temporary person. </a:t>
            </a:r>
          </a:p>
          <a:p>
            <a:pPr marL="539750" indent="-452438" algn="just"/>
            <a:r>
              <a:rPr lang="en-US" dirty="0" smtClean="0"/>
              <a:t>For </a:t>
            </a:r>
            <a:r>
              <a:rPr lang="en-US" dirty="0"/>
              <a:t>a good Manager, it is a must that instead of one alternative, </a:t>
            </a:r>
            <a:r>
              <a:rPr lang="en-US" dirty="0" smtClean="0"/>
              <a:t>he </a:t>
            </a:r>
            <a:r>
              <a:rPr lang="en-US" dirty="0"/>
              <a:t>should think of various alternatives. 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 DECISION MAKING</a:t>
            </a:r>
          </a:p>
        </p:txBody>
      </p:sp>
    </p:spTree>
    <p:extLst>
      <p:ext uri="{BB962C8B-B14F-4D97-AF65-F5344CB8AC3E}">
        <p14:creationId xmlns:p14="http://schemas.microsoft.com/office/powerpoint/2010/main" val="3031890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 DECISION 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486400"/>
          </a:xfrm>
        </p:spPr>
        <p:txBody>
          <a:bodyPr>
            <a:normAutofit fontScale="92500"/>
          </a:bodyPr>
          <a:lstStyle/>
          <a:p>
            <a:pPr marL="137160" indent="0" algn="just">
              <a:buNone/>
            </a:pPr>
            <a:r>
              <a:rPr lang="en-US" b="1" u="sng" dirty="0"/>
              <a:t>5) Evaluation of Alternatives</a:t>
            </a:r>
            <a:r>
              <a:rPr lang="en-US" dirty="0"/>
              <a:t> </a:t>
            </a:r>
            <a:endParaRPr lang="en-US" dirty="0" smtClean="0"/>
          </a:p>
          <a:p>
            <a:pPr algn="just"/>
            <a:r>
              <a:rPr lang="en-US" dirty="0" smtClean="0"/>
              <a:t>Once </a:t>
            </a:r>
            <a:r>
              <a:rPr lang="en-US" dirty="0"/>
              <a:t>a set of alternatives is available, a Manager must evaluate the alternatives keeping in view the advantages and disadvantages of each alternative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One </a:t>
            </a:r>
            <a:r>
              <a:rPr lang="en-US" dirty="0"/>
              <a:t>should also ask questions about the feasibility of the alternatives and the consequences of the alternatives. </a:t>
            </a:r>
            <a:endParaRPr lang="en-US" dirty="0" smtClean="0"/>
          </a:p>
          <a:p>
            <a:pPr algn="just"/>
            <a:r>
              <a:rPr lang="en-US" dirty="0" smtClean="0"/>
              <a:t>This </a:t>
            </a:r>
            <a:r>
              <a:rPr lang="en-US" dirty="0"/>
              <a:t>takes us to the choice of alternatives. </a:t>
            </a:r>
            <a:endParaRPr lang="en-US" dirty="0" smtClean="0"/>
          </a:p>
          <a:p>
            <a:pPr algn="just"/>
            <a:r>
              <a:rPr lang="en-US" dirty="0" smtClean="0"/>
              <a:t>While </a:t>
            </a:r>
            <a:r>
              <a:rPr lang="en-US" dirty="0"/>
              <a:t>choosing an alternative, besides comparative analyses of various alternatives, one may also take into </a:t>
            </a:r>
            <a:r>
              <a:rPr lang="en-US" dirty="0" smtClean="0"/>
              <a:t>account </a:t>
            </a:r>
            <a:r>
              <a:rPr lang="en-US" dirty="0"/>
              <a:t>earlier experiences, experimentation, research and analyses.</a:t>
            </a:r>
          </a:p>
        </p:txBody>
      </p:sp>
    </p:spTree>
    <p:extLst>
      <p:ext uri="{BB962C8B-B14F-4D97-AF65-F5344CB8AC3E}">
        <p14:creationId xmlns:p14="http://schemas.microsoft.com/office/powerpoint/2010/main" val="2510307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 DECISION MAKING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7160" indent="0">
              <a:buNone/>
            </a:pPr>
            <a:r>
              <a:rPr lang="en-US" b="1" u="sng" dirty="0"/>
              <a:t>6) Action </a:t>
            </a:r>
            <a:endParaRPr lang="en-US" b="1" u="sng" dirty="0" smtClean="0"/>
          </a:p>
          <a:p>
            <a:pPr marL="137160" indent="0">
              <a:buNone/>
            </a:pPr>
            <a:endParaRPr lang="en-US" b="1" u="sng" dirty="0" smtClean="0"/>
          </a:p>
          <a:p>
            <a:r>
              <a:rPr lang="en-US" dirty="0" smtClean="0"/>
              <a:t>Once </a:t>
            </a:r>
            <a:r>
              <a:rPr lang="en-US" dirty="0"/>
              <a:t>the best alternative has been chosen, generally it is felt that the process of decision making has ended. </a:t>
            </a:r>
            <a:endParaRPr lang="en-US" dirty="0" smtClean="0"/>
          </a:p>
          <a:p>
            <a:r>
              <a:rPr lang="en-US" dirty="0" smtClean="0"/>
              <a:t>However</a:t>
            </a:r>
            <a:r>
              <a:rPr lang="en-US" dirty="0"/>
              <a:t>, decision making is a continuous and on-going process and at this stage it is the responsibility of the Manager to convert the decision into something operationally effective,</a:t>
            </a:r>
          </a:p>
        </p:txBody>
      </p:sp>
    </p:spTree>
    <p:extLst>
      <p:ext uri="{BB962C8B-B14F-4D97-AF65-F5344CB8AC3E}">
        <p14:creationId xmlns:p14="http://schemas.microsoft.com/office/powerpoint/2010/main" val="926131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decision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562600"/>
          </a:xfrm>
        </p:spPr>
        <p:txBody>
          <a:bodyPr>
            <a:normAutofit/>
          </a:bodyPr>
          <a:lstStyle/>
          <a:p>
            <a:pPr marL="137160" indent="0" algn="just">
              <a:buNone/>
            </a:pPr>
            <a:r>
              <a:rPr lang="en-US" dirty="0"/>
              <a:t>Managerial decision making is </a:t>
            </a:r>
            <a:r>
              <a:rPr lang="en-US" dirty="0" smtClean="0"/>
              <a:t>categorized </a:t>
            </a:r>
            <a:r>
              <a:rPr lang="en-US" dirty="0"/>
              <a:t>as </a:t>
            </a:r>
            <a:r>
              <a:rPr lang="en-US" dirty="0" smtClean="0"/>
              <a:t>:</a:t>
            </a:r>
          </a:p>
          <a:p>
            <a:pPr algn="just"/>
            <a:r>
              <a:rPr lang="en-US" dirty="0" smtClean="0"/>
              <a:t> </a:t>
            </a:r>
            <a:r>
              <a:rPr lang="en-US" u="sng" dirty="0" smtClean="0"/>
              <a:t>Programmed decisions</a:t>
            </a:r>
          </a:p>
          <a:p>
            <a:pPr marL="137160" indent="0" algn="just">
              <a:buNone/>
            </a:pPr>
            <a:r>
              <a:rPr lang="en-US" dirty="0" smtClean="0"/>
              <a:t>They are </a:t>
            </a:r>
            <a:r>
              <a:rPr lang="en-US" dirty="0"/>
              <a:t>as per the written or stated procedures, rules or policies and are generally used for dealing with both complex as well as simple issues</a:t>
            </a:r>
            <a:endParaRPr lang="en-US" dirty="0" smtClean="0"/>
          </a:p>
          <a:p>
            <a:pPr algn="just"/>
            <a:r>
              <a:rPr lang="en-US" u="sng" dirty="0" smtClean="0"/>
              <a:t>Non-programmed </a:t>
            </a:r>
            <a:r>
              <a:rPr lang="en-US" u="sng" dirty="0"/>
              <a:t>decisions </a:t>
            </a:r>
            <a:endParaRPr lang="en-US" u="sng" dirty="0" smtClean="0"/>
          </a:p>
          <a:p>
            <a:pPr marL="137160" indent="0" algn="just">
              <a:buNone/>
            </a:pPr>
            <a:r>
              <a:rPr lang="en-US" dirty="0" smtClean="0"/>
              <a:t>They are exceptional </a:t>
            </a:r>
            <a:r>
              <a:rPr lang="en-US" dirty="0"/>
              <a:t>or unusual problems are dealt with through non- </a:t>
            </a:r>
            <a:r>
              <a:rPr lang="en-US" dirty="0" smtClean="0"/>
              <a:t>programmed </a:t>
            </a:r>
            <a:r>
              <a:rPr lang="en-US" dirty="0"/>
              <a:t>decisions. But one' must remember here that a certain amount of risk is involved in all decisions.</a:t>
            </a:r>
          </a:p>
        </p:txBody>
      </p:sp>
    </p:spTree>
    <p:extLst>
      <p:ext uri="{BB962C8B-B14F-4D97-AF65-F5344CB8AC3E}">
        <p14:creationId xmlns:p14="http://schemas.microsoft.com/office/powerpoint/2010/main" val="3959391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Grid">
      <a:dk1>
        <a:sysClr val="windowText" lastClr="000000"/>
      </a:dk1>
      <a:lt1>
        <a:sysClr val="window" lastClr="FFFFFF"/>
      </a:lt1>
      <a:dk2>
        <a:srgbClr val="534949"/>
      </a:dk2>
      <a:lt2>
        <a:srgbClr val="CCD1B9"/>
      </a:lt2>
      <a:accent1>
        <a:srgbClr val="C66951"/>
      </a:accent1>
      <a:accent2>
        <a:srgbClr val="BF974D"/>
      </a:accent2>
      <a:accent3>
        <a:srgbClr val="928B70"/>
      </a:accent3>
      <a:accent4>
        <a:srgbClr val="87706B"/>
      </a:accent4>
      <a:accent5>
        <a:srgbClr val="94734E"/>
      </a:accent5>
      <a:accent6>
        <a:srgbClr val="6F777D"/>
      </a:accent6>
      <a:hlink>
        <a:srgbClr val="CC9900"/>
      </a:hlink>
      <a:folHlink>
        <a:srgbClr val="C0C0C0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65</TotalTime>
  <Words>935</Words>
  <Application>Microsoft Office PowerPoint</Application>
  <PresentationFormat>On-screen Show (4:3)</PresentationFormat>
  <Paragraphs>70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Apex</vt:lpstr>
      <vt:lpstr>Chapter (6)</vt:lpstr>
      <vt:lpstr>Decision Making</vt:lpstr>
      <vt:lpstr>Decision Making</vt:lpstr>
      <vt:lpstr>Decision Making</vt:lpstr>
      <vt:lpstr>STEPS IN DECISION MAKING</vt:lpstr>
      <vt:lpstr>STEPS IN DECISION MAKING</vt:lpstr>
      <vt:lpstr>STEPS IN DECISION MAKING</vt:lpstr>
      <vt:lpstr>STEPS IN DECISION MAKING</vt:lpstr>
      <vt:lpstr>STEPS IN DECISION MAKING</vt:lpstr>
      <vt:lpstr>STEPS IN DECISION MAKING</vt:lpstr>
      <vt:lpstr>STEPS IN DECISION MAKING</vt:lpstr>
      <vt:lpstr>Types of decision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(6)</dc:title>
  <dc:creator>Nancy karma</dc:creator>
  <cp:lastModifiedBy>Nancy karma</cp:lastModifiedBy>
  <cp:revision>8</cp:revision>
  <dcterms:created xsi:type="dcterms:W3CDTF">2006-08-16T00:00:00Z</dcterms:created>
  <dcterms:modified xsi:type="dcterms:W3CDTF">2023-08-21T08:51:19Z</dcterms:modified>
</cp:coreProperties>
</file>