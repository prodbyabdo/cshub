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589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8/21/2023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(7)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12802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22427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Planning </a:t>
            </a:r>
            <a:r>
              <a:rPr lang="en-US" dirty="0"/>
              <a:t>is not something very recent, but has evolved over the years because of two factors: </a:t>
            </a:r>
            <a:endParaRPr lang="en-US" dirty="0" smtClean="0"/>
          </a:p>
          <a:p>
            <a:pPr algn="just"/>
            <a:endParaRPr lang="en-US" dirty="0" smtClean="0"/>
          </a:p>
          <a:p>
            <a:pPr marL="979488" indent="-266700" algn="just">
              <a:buAutoNum type="romanLcParenR"/>
              <a:tabLst>
                <a:tab pos="1165225" algn="l"/>
              </a:tabLst>
            </a:pPr>
            <a:r>
              <a:rPr lang="en-US" dirty="0" smtClean="0"/>
              <a:t>Planning </a:t>
            </a:r>
            <a:r>
              <a:rPr lang="en-US" dirty="0"/>
              <a:t>has indeed become </a:t>
            </a:r>
            <a:r>
              <a:rPr lang="en-US" dirty="0" smtClean="0"/>
              <a:t>specialized</a:t>
            </a:r>
            <a:r>
              <a:rPr lang="en-US" dirty="0"/>
              <a:t>, being applied to more and more aspects of our business and personal lives. </a:t>
            </a:r>
            <a:endParaRPr lang="en-US" dirty="0" smtClean="0"/>
          </a:p>
          <a:p>
            <a:pPr marL="712788" indent="0" algn="just">
              <a:buNone/>
              <a:tabLst>
                <a:tab pos="1165225" algn="l"/>
              </a:tabLst>
            </a:pPr>
            <a:endParaRPr lang="en-US" dirty="0" smtClean="0"/>
          </a:p>
          <a:p>
            <a:pPr marL="979488" indent="-266700" algn="just">
              <a:buAutoNum type="romanLcParenR"/>
              <a:tabLst>
                <a:tab pos="1165225" algn="l"/>
              </a:tabLst>
            </a:pPr>
            <a:r>
              <a:rPr lang="en-US" dirty="0" smtClean="0"/>
              <a:t>ii</a:t>
            </a:r>
            <a:r>
              <a:rPr lang="en-US" dirty="0"/>
              <a:t>) While planning was once an </a:t>
            </a:r>
            <a:r>
              <a:rPr lang="en-US" dirty="0" smtClean="0"/>
              <a:t>activity </a:t>
            </a:r>
            <a:r>
              <a:rPr lang="en-US" dirty="0"/>
              <a:t>in which one engaged in order to get through crisis situations or to fill unoccupied time, now it is clearly </a:t>
            </a:r>
            <a:r>
              <a:rPr lang="en-US" dirty="0" smtClean="0"/>
              <a:t>recognized </a:t>
            </a:r>
            <a:r>
              <a:rPr lang="en-US" dirty="0"/>
              <a:t>as a task essential </a:t>
            </a:r>
            <a:r>
              <a:rPr lang="en-US" dirty="0" smtClean="0"/>
              <a:t>to </a:t>
            </a:r>
            <a:r>
              <a:rPr lang="en-US" dirty="0"/>
              <a:t>business and personal well being.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21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Planning is a process that involves the determination of any future </a:t>
            </a:r>
            <a:r>
              <a:rPr lang="en-US" dirty="0" smtClean="0"/>
              <a:t>course </a:t>
            </a:r>
            <a:r>
              <a:rPr lang="en-US" dirty="0"/>
              <a:t>of action, i.e. why take an action, what action, how to take action and when to take action.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why, what, how and when are related with different aspects of the planning process. All these </a:t>
            </a:r>
            <a:r>
              <a:rPr lang="en-US" dirty="0" smtClean="0"/>
              <a:t>aspects </a:t>
            </a:r>
            <a:r>
              <a:rPr lang="en-US" dirty="0"/>
              <a:t>are the parts of the process which determines in advance the future accomplishments and the means to achieve them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8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A </a:t>
            </a:r>
            <a:r>
              <a:rPr lang="en-US" dirty="0"/>
              <a:t>process rather than </a:t>
            </a:r>
            <a:r>
              <a:rPr lang="en-US" dirty="0" smtClean="0"/>
              <a:t>behavior </a:t>
            </a:r>
            <a:r>
              <a:rPr lang="en-US" dirty="0"/>
              <a:t>at a given point of time. It is the process which determines the future course of action. </a:t>
            </a:r>
            <a:endParaRPr lang="en-US" dirty="0" smtClean="0"/>
          </a:p>
          <a:p>
            <a:pPr algn="just"/>
            <a:r>
              <a:rPr lang="en-US" dirty="0"/>
              <a:t>C</a:t>
            </a:r>
            <a:r>
              <a:rPr lang="en-US" dirty="0" smtClean="0"/>
              <a:t>oncerned </a:t>
            </a:r>
            <a:r>
              <a:rPr lang="en-US" dirty="0"/>
              <a:t>basically with the future and requires forecasting of the future situation. ; the process of selection of a suitable course of action keeping in view the </a:t>
            </a:r>
            <a:r>
              <a:rPr lang="en-US" dirty="0" smtClean="0"/>
              <a:t>available </a:t>
            </a:r>
            <a:r>
              <a:rPr lang="en-US" dirty="0"/>
              <a:t>resources. </a:t>
            </a:r>
            <a:endParaRPr lang="en-US" dirty="0" smtClean="0"/>
          </a:p>
          <a:p>
            <a:pPr algn="just"/>
            <a:r>
              <a:rPr lang="en-US" dirty="0" smtClean="0"/>
              <a:t>Not </a:t>
            </a:r>
            <a:r>
              <a:rPr lang="en-US" dirty="0"/>
              <a:t>restricted to a certain section of the </a:t>
            </a:r>
            <a:r>
              <a:rPr lang="en-US" dirty="0" smtClean="0"/>
              <a:t>organization </a:t>
            </a:r>
            <a:r>
              <a:rPr lang="en-US" dirty="0"/>
              <a:t>but is undertaken at all levels. This is because all levels of management are concerned with the determination of the future course of action. </a:t>
            </a:r>
            <a:endParaRPr lang="en-US" dirty="0" smtClean="0"/>
          </a:p>
          <a:p>
            <a:pPr algn="just"/>
            <a:r>
              <a:rPr lang="en-US" dirty="0" smtClean="0"/>
              <a:t>Flexible </a:t>
            </a:r>
            <a:r>
              <a:rPr lang="en-US" dirty="0"/>
              <a:t>as commitment is based on future conditions which are always dynamic. As such an adjustment is needed between the various factors and planning. </a:t>
            </a:r>
            <a:endParaRPr lang="en-US" dirty="0" smtClean="0"/>
          </a:p>
          <a:p>
            <a:pPr algn="just"/>
            <a:r>
              <a:rPr lang="en-US" dirty="0" smtClean="0"/>
              <a:t>Pervasive </a:t>
            </a:r>
            <a:r>
              <a:rPr lang="en-US" dirty="0"/>
              <a:t>and continuous management function involving complex processes of perception, analysis, conceptual thought, decision and action.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3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148072"/>
          </a:xfrm>
        </p:spPr>
        <p:txBody>
          <a:bodyPr/>
          <a:lstStyle/>
          <a:p>
            <a:pPr algn="just"/>
            <a:r>
              <a:rPr lang="en-US" dirty="0" smtClean="0"/>
              <a:t>You </a:t>
            </a:r>
            <a:r>
              <a:rPr lang="en-US" dirty="0"/>
              <a:t>can direct the activities in an orderly way for achieving the </a:t>
            </a:r>
            <a:r>
              <a:rPr lang="en-US" dirty="0" smtClean="0"/>
              <a:t>goal.</a:t>
            </a:r>
          </a:p>
          <a:p>
            <a:pPr algn="just"/>
            <a:r>
              <a:rPr lang="en-US" dirty="0"/>
              <a:t>U</a:t>
            </a:r>
            <a:r>
              <a:rPr lang="en-US" dirty="0" smtClean="0"/>
              <a:t>nproductive </a:t>
            </a:r>
            <a:r>
              <a:rPr lang="en-US" dirty="0"/>
              <a:t>work and wastage can be </a:t>
            </a:r>
            <a:r>
              <a:rPr lang="en-US" dirty="0" smtClean="0"/>
              <a:t>minimized</a:t>
            </a:r>
            <a:r>
              <a:rPr lang="en-US" dirty="0"/>
              <a:t>.</a:t>
            </a:r>
            <a:endParaRPr lang="en-US" dirty="0" smtClean="0"/>
          </a:p>
          <a:p>
            <a:pPr algn="just"/>
            <a:r>
              <a:rPr lang="en-US" dirty="0"/>
              <a:t>P</a:t>
            </a:r>
            <a:r>
              <a:rPr lang="en-US" dirty="0" smtClean="0"/>
              <a:t>roper </a:t>
            </a:r>
            <a:r>
              <a:rPr lang="en-US" dirty="0"/>
              <a:t>resource allotment can be done, </a:t>
            </a:r>
            <a:endParaRPr lang="en-US" dirty="0" smtClean="0"/>
          </a:p>
          <a:p>
            <a:pPr algn="just"/>
            <a:r>
              <a:rPr lang="en-US" dirty="0"/>
              <a:t>B</a:t>
            </a:r>
            <a:r>
              <a:rPr lang="en-US" dirty="0" smtClean="0"/>
              <a:t>etter </a:t>
            </a:r>
            <a:r>
              <a:rPr lang="en-US" dirty="0"/>
              <a:t>utilization of available resources is possible, </a:t>
            </a:r>
            <a:endParaRPr lang="en-US" dirty="0" smtClean="0"/>
          </a:p>
          <a:p>
            <a:pPr algn="just"/>
            <a:r>
              <a:rPr lang="en-US" dirty="0"/>
              <a:t>P</a:t>
            </a:r>
            <a:r>
              <a:rPr lang="en-US" dirty="0" smtClean="0"/>
              <a:t>roblems </a:t>
            </a:r>
            <a:r>
              <a:rPr lang="en-US" dirty="0"/>
              <a:t>and competition, etc. can be anticipated, </a:t>
            </a:r>
            <a:endParaRPr lang="en-US" dirty="0" smtClean="0"/>
          </a:p>
          <a:p>
            <a:pPr algn="just"/>
            <a:r>
              <a:rPr lang="en-US" dirty="0"/>
              <a:t>T</a:t>
            </a:r>
            <a:r>
              <a:rPr lang="en-US" dirty="0" smtClean="0"/>
              <a:t>hings </a:t>
            </a:r>
            <a:r>
              <a:rPr lang="en-US" dirty="0"/>
              <a:t>can be looked at in totality, </a:t>
            </a:r>
            <a:r>
              <a:rPr lang="en-US" dirty="0" err="1"/>
              <a:t>etc</a:t>
            </a:r>
            <a:r>
              <a:rPr lang="en-US" dirty="0"/>
              <a:t>,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2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Predictions </a:t>
            </a:r>
            <a:r>
              <a:rPr lang="en-US" dirty="0"/>
              <a:t>cannot always be </a:t>
            </a:r>
            <a:r>
              <a:rPr lang="en-US" dirty="0" smtClean="0"/>
              <a:t>accurate.</a:t>
            </a:r>
          </a:p>
          <a:p>
            <a:pPr algn="just"/>
            <a:r>
              <a:rPr lang="en-US" dirty="0" smtClean="0"/>
              <a:t>Planning </a:t>
            </a:r>
            <a:r>
              <a:rPr lang="en-US" dirty="0"/>
              <a:t>makes you work in a preconceived framework and discourages initiative and </a:t>
            </a:r>
            <a:r>
              <a:rPr lang="en-US" dirty="0" smtClean="0"/>
              <a:t>innovation. </a:t>
            </a:r>
          </a:p>
          <a:p>
            <a:pPr algn="just"/>
            <a:r>
              <a:rPr lang="en-US" dirty="0" smtClean="0"/>
              <a:t>Planners </a:t>
            </a:r>
            <a:r>
              <a:rPr lang="en-US" dirty="0"/>
              <a:t>overdo their job; some feel planning is only theoretical, etc. </a:t>
            </a:r>
            <a:endParaRPr lang="en-US" dirty="0" smtClean="0"/>
          </a:p>
          <a:p>
            <a:pPr algn="just"/>
            <a:endParaRPr lang="en-US" dirty="0"/>
          </a:p>
          <a:p>
            <a:pPr marL="109728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should remember that the magnitude of planning is too vast in managerial tasks. </a:t>
            </a:r>
            <a:endParaRPr lang="en-US" dirty="0" smtClean="0"/>
          </a:p>
          <a:p>
            <a:pPr marL="109728" indent="0" algn="just">
              <a:buNone/>
            </a:pPr>
            <a:endParaRPr lang="en-US" dirty="0"/>
          </a:p>
          <a:p>
            <a:pPr marL="109728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need a plan to </a:t>
            </a:r>
            <a:r>
              <a:rPr lang="en-US" dirty="0" smtClean="0"/>
              <a:t>organize</a:t>
            </a:r>
            <a:r>
              <a:rPr lang="en-US" dirty="0"/>
              <a:t>, </a:t>
            </a:r>
            <a:r>
              <a:rPr lang="en-US" dirty="0" smtClean="0"/>
              <a:t>mobilize</a:t>
            </a:r>
            <a:r>
              <a:rPr lang="en-US" dirty="0"/>
              <a:t>, allocate, </a:t>
            </a:r>
            <a:r>
              <a:rPr lang="en-US" dirty="0" smtClean="0"/>
              <a:t>operationalize</a:t>
            </a:r>
            <a:r>
              <a:rPr lang="en-US" dirty="0"/>
              <a:t>, finance, market compete, monitor</a:t>
            </a:r>
            <a:r>
              <a:rPr lang="en-US" dirty="0" smtClean="0"/>
              <a:t>, control, </a:t>
            </a:r>
            <a:r>
              <a:rPr lang="en-US" dirty="0"/>
              <a:t>improve, change or innovate, etc.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0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 algn="just">
              <a:buNone/>
            </a:pPr>
            <a:r>
              <a:rPr lang="en-US" dirty="0" err="1"/>
              <a:t>i</a:t>
            </a:r>
            <a:r>
              <a:rPr lang="en-US" dirty="0"/>
              <a:t>) Strategic plans </a:t>
            </a:r>
            <a:endParaRPr lang="en-US" dirty="0" smtClean="0"/>
          </a:p>
          <a:p>
            <a:pPr marL="109728" indent="0" algn="just">
              <a:buNone/>
            </a:pPr>
            <a:r>
              <a:rPr lang="en-US" dirty="0" smtClean="0"/>
              <a:t>ii</a:t>
            </a:r>
            <a:r>
              <a:rPr lang="en-US" dirty="0"/>
              <a:t>) Operational or Tactical plans </a:t>
            </a:r>
            <a:endParaRPr lang="en-US" dirty="0" smtClean="0"/>
          </a:p>
          <a:p>
            <a:pPr marL="109728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Strategic </a:t>
            </a:r>
            <a:r>
              <a:rPr lang="en-US" dirty="0"/>
              <a:t>plans are devised to meet the </a:t>
            </a:r>
            <a:r>
              <a:rPr lang="en-US" dirty="0" smtClean="0"/>
              <a:t>organizational </a:t>
            </a:r>
            <a:r>
              <a:rPr lang="en-US" dirty="0"/>
              <a:t>goals whereas, operational plans are devised to implement the strategic plans. </a:t>
            </a:r>
            <a:endParaRPr lang="en-US" dirty="0" smtClean="0"/>
          </a:p>
          <a:p>
            <a:pPr algn="just"/>
            <a:r>
              <a:rPr lang="en-US" dirty="0" smtClean="0"/>
              <a:t>However</a:t>
            </a:r>
            <a:r>
              <a:rPr lang="en-US" dirty="0"/>
              <a:t>, above all these is the mission statement which defines the </a:t>
            </a:r>
            <a:r>
              <a:rPr lang="en-US" dirty="0" smtClean="0"/>
              <a:t>organization's </a:t>
            </a:r>
            <a:r>
              <a:rPr lang="en-US" dirty="0"/>
              <a:t>goals.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4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plans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715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719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24272"/>
          </a:xfrm>
        </p:spPr>
        <p:txBody>
          <a:bodyPr>
            <a:normAutofit fontScale="92500" lnSpcReduction="10000"/>
          </a:bodyPr>
          <a:lstStyle/>
          <a:p>
            <a:pPr marL="109728" indent="0" algn="just">
              <a:buNone/>
            </a:pPr>
            <a:r>
              <a:rPr lang="en-US" u="sng" dirty="0" smtClean="0"/>
              <a:t>Strategic plans</a:t>
            </a:r>
          </a:p>
          <a:p>
            <a:pPr algn="just"/>
            <a:r>
              <a:rPr lang="en-US" dirty="0"/>
              <a:t>Strategic plans decide the aims and policies of the </a:t>
            </a:r>
            <a:r>
              <a:rPr lang="en-US" dirty="0" smtClean="0"/>
              <a:t>organization.</a:t>
            </a:r>
          </a:p>
          <a:p>
            <a:pPr algn="just"/>
            <a:r>
              <a:rPr lang="en-US" dirty="0"/>
              <a:t>For formulating a strategic plan you can begin with asking the following questions: </a:t>
            </a:r>
            <a:endParaRPr lang="en-US" dirty="0" smtClean="0"/>
          </a:p>
          <a:p>
            <a:pPr algn="just"/>
            <a:endParaRPr lang="en-US" dirty="0" smtClean="0"/>
          </a:p>
          <a:p>
            <a:pPr marL="889000" indent="-269875" algn="just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service is to be provided by you? </a:t>
            </a:r>
            <a:endParaRPr lang="en-US" dirty="0" smtClean="0"/>
          </a:p>
          <a:p>
            <a:pPr marL="889000" indent="-269875" algn="just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sort of competition do you have? </a:t>
            </a:r>
            <a:endParaRPr lang="en-US" dirty="0" smtClean="0"/>
          </a:p>
          <a:p>
            <a:pPr marL="889000" indent="-269875" algn="just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are the resources and infrastructural needs? </a:t>
            </a:r>
            <a:endParaRPr lang="en-US" dirty="0" smtClean="0"/>
          </a:p>
          <a:p>
            <a:pPr marL="889000" indent="-269875" algn="just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kind of social, economic or political environment is there? </a:t>
            </a:r>
            <a:endParaRPr lang="en-US" dirty="0" smtClean="0"/>
          </a:p>
          <a:p>
            <a:pPr marL="889000" indent="-269875" algn="just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unique features you offer? etc.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352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Operational </a:t>
            </a:r>
            <a:r>
              <a:rPr lang="en-US" dirty="0"/>
              <a:t>planning determines the tasks to be accomplished, determines responsibility, allocates resources and sets measurements for every task.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8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Besides these two types of plans, there are certain other types of plans dealt with by managers in their routine.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may involve individual activity, departmental activity or entire </a:t>
            </a:r>
            <a:r>
              <a:rPr lang="en-US" dirty="0" smtClean="0"/>
              <a:t>organizational </a:t>
            </a:r>
            <a:r>
              <a:rPr lang="en-US" dirty="0"/>
              <a:t>activity.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Such </a:t>
            </a:r>
            <a:r>
              <a:rPr lang="en-US" dirty="0"/>
              <a:t>plans are related to policy matters, procedures, methodologies, </a:t>
            </a:r>
            <a:r>
              <a:rPr lang="en-US" dirty="0" smtClean="0"/>
              <a:t>quality assurance</a:t>
            </a:r>
            <a:r>
              <a:rPr lang="en-US" dirty="0"/>
              <a:t>, budgets, projects or technologies.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19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3152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571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u="sng" dirty="0" smtClean="0"/>
              <a:t>1)	Perception </a:t>
            </a:r>
            <a:r>
              <a:rPr lang="en-US" u="sng" dirty="0"/>
              <a:t>of Opportunities: </a:t>
            </a:r>
            <a:endParaRPr lang="en-US" u="sng" dirty="0" smtClean="0"/>
          </a:p>
          <a:p>
            <a:pPr marL="109728" indent="0">
              <a:buNone/>
            </a:pPr>
            <a:r>
              <a:rPr lang="en-US" dirty="0" smtClean="0"/>
              <a:t>It </a:t>
            </a:r>
            <a:r>
              <a:rPr lang="en-US" dirty="0"/>
              <a:t>includes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A </a:t>
            </a:r>
            <a:r>
              <a:rPr lang="en-US" dirty="0"/>
              <a:t>preliminary look at possible </a:t>
            </a:r>
            <a:r>
              <a:rPr lang="en-US" dirty="0" smtClean="0"/>
              <a:t>opportunities </a:t>
            </a:r>
            <a:r>
              <a:rPr lang="en-US" dirty="0"/>
              <a:t>and the </a:t>
            </a:r>
            <a:r>
              <a:rPr lang="en-US" dirty="0" smtClean="0"/>
              <a:t>ability </a:t>
            </a:r>
            <a:r>
              <a:rPr lang="en-US" dirty="0"/>
              <a:t>to see them clearly and completely, </a:t>
            </a:r>
            <a:endParaRPr lang="en-US" dirty="0" smtClean="0"/>
          </a:p>
          <a:p>
            <a:r>
              <a:rPr lang="en-US" dirty="0" smtClean="0"/>
              <a:t>A knowledge </a:t>
            </a:r>
            <a:r>
              <a:rPr lang="en-US" dirty="0"/>
              <a:t>of where the </a:t>
            </a:r>
            <a:r>
              <a:rPr lang="en-US" dirty="0" smtClean="0"/>
              <a:t>organization </a:t>
            </a:r>
            <a:r>
              <a:rPr lang="en-US" dirty="0"/>
              <a:t>stands in the light of its strength and weaknesses, 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n </a:t>
            </a:r>
            <a:r>
              <a:rPr lang="en-US" dirty="0"/>
              <a:t>understanding of why the </a:t>
            </a:r>
            <a:r>
              <a:rPr lang="en-US" dirty="0" smtClean="0"/>
              <a:t>organization </a:t>
            </a:r>
            <a:r>
              <a:rPr lang="en-US" dirty="0"/>
              <a:t>wants to solve </a:t>
            </a:r>
            <a:r>
              <a:rPr lang="en-US" dirty="0" smtClean="0"/>
              <a:t>uncertainties, </a:t>
            </a:r>
            <a:r>
              <a:rPr lang="en-US" dirty="0"/>
              <a:t>and a </a:t>
            </a:r>
            <a:r>
              <a:rPr lang="en-US" dirty="0" err="1"/>
              <a:t>a</a:t>
            </a:r>
            <a:r>
              <a:rPr lang="en-US" dirty="0"/>
              <a:t> vision of what is expected to be gained.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4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u="sng" dirty="0" smtClean="0"/>
              <a:t>2)	Establishing </a:t>
            </a:r>
            <a:r>
              <a:rPr lang="en-US" u="sng" dirty="0"/>
              <a:t>Objectives: </a:t>
            </a:r>
            <a:endParaRPr lang="en-US" u="sng" dirty="0" smtClean="0"/>
          </a:p>
          <a:p>
            <a:pPr marL="109728" indent="0">
              <a:buNone/>
            </a:pPr>
            <a:r>
              <a:rPr lang="en-US" dirty="0" smtClean="0"/>
              <a:t>Major organizational </a:t>
            </a:r>
            <a:r>
              <a:rPr lang="en-US" dirty="0"/>
              <a:t>and unit objectives are set at this stage. They specify the results expected and indicate the end points of: </a:t>
            </a:r>
            <a:endParaRPr lang="en-US" dirty="0" smtClean="0"/>
          </a:p>
          <a:p>
            <a:pPr marL="109728" indent="0">
              <a:buNone/>
            </a:pPr>
            <a:endParaRPr lang="en-US" dirty="0" smtClean="0"/>
          </a:p>
          <a:p>
            <a:r>
              <a:rPr lang="en-US" dirty="0"/>
              <a:t>W</a:t>
            </a:r>
            <a:r>
              <a:rPr lang="en-US" dirty="0" smtClean="0"/>
              <a:t>hat </a:t>
            </a:r>
            <a:r>
              <a:rPr lang="en-US" dirty="0"/>
              <a:t>is to be done, </a:t>
            </a:r>
            <a:endParaRPr lang="en-US" dirty="0" smtClean="0"/>
          </a:p>
          <a:p>
            <a:r>
              <a:rPr lang="en-US" dirty="0"/>
              <a:t>W</a:t>
            </a:r>
            <a:r>
              <a:rPr lang="en-US" dirty="0" smtClean="0"/>
              <a:t>here </a:t>
            </a:r>
            <a:r>
              <a:rPr lang="en-US" dirty="0"/>
              <a:t>the primary emphasis is to </a:t>
            </a:r>
            <a:r>
              <a:rPr lang="en-US" dirty="0" smtClean="0"/>
              <a:t>be </a:t>
            </a:r>
            <a:r>
              <a:rPr lang="en-US" dirty="0"/>
              <a:t>placed, </a:t>
            </a:r>
            <a:endParaRPr lang="en-US" dirty="0" smtClean="0"/>
          </a:p>
          <a:p>
            <a:r>
              <a:rPr lang="en-US" dirty="0"/>
              <a:t>W</a:t>
            </a:r>
            <a:r>
              <a:rPr lang="en-US" dirty="0" smtClean="0"/>
              <a:t>hat </a:t>
            </a:r>
            <a:r>
              <a:rPr lang="en-US" dirty="0"/>
              <a:t>is to be accomplished by various types of plans.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218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09728" indent="0" algn="just">
              <a:buNone/>
            </a:pPr>
            <a:r>
              <a:rPr lang="en-US" u="sng" dirty="0" smtClean="0"/>
              <a:t>3)	Planning </a:t>
            </a:r>
            <a:r>
              <a:rPr lang="en-US" u="sng" dirty="0"/>
              <a:t>Premises: </a:t>
            </a:r>
            <a:endParaRPr lang="en-US" u="sng" dirty="0" smtClean="0"/>
          </a:p>
          <a:p>
            <a:pPr algn="just"/>
            <a:r>
              <a:rPr lang="en-US" dirty="0" smtClean="0"/>
              <a:t>Planning </a:t>
            </a:r>
            <a:r>
              <a:rPr lang="en-US" dirty="0"/>
              <a:t>premises are planning assumptions - the expected environment and internal conditions. </a:t>
            </a:r>
            <a:endParaRPr lang="en-US" dirty="0" smtClean="0"/>
          </a:p>
          <a:p>
            <a:pPr algn="just"/>
            <a:r>
              <a:rPr lang="en-US" dirty="0" smtClean="0"/>
              <a:t>Thus </a:t>
            </a:r>
            <a:r>
              <a:rPr lang="en-US" dirty="0"/>
              <a:t>planning premises are both, external as well as internal: </a:t>
            </a:r>
            <a:endParaRPr lang="en-US" dirty="0" smtClean="0"/>
          </a:p>
          <a:p>
            <a:pPr algn="just"/>
            <a:r>
              <a:rPr lang="en-US" dirty="0" smtClean="0"/>
              <a:t>External </a:t>
            </a:r>
            <a:r>
              <a:rPr lang="en-US" dirty="0"/>
              <a:t>premises include total factors in task environment like political, social, technological, competitors' plans and actions, government policies, etc. </a:t>
            </a:r>
            <a:endParaRPr lang="en-US" dirty="0" smtClean="0"/>
          </a:p>
          <a:p>
            <a:pPr algn="just"/>
            <a:r>
              <a:rPr lang="en-US" dirty="0" smtClean="0"/>
              <a:t>Internal </a:t>
            </a:r>
            <a:r>
              <a:rPr lang="en-US" dirty="0"/>
              <a:t>factors include the </a:t>
            </a:r>
            <a:r>
              <a:rPr lang="en-US" dirty="0" smtClean="0"/>
              <a:t>organization's </a:t>
            </a:r>
            <a:r>
              <a:rPr lang="en-US" dirty="0"/>
              <a:t>policies, resources of various types and the ability of the </a:t>
            </a:r>
            <a:r>
              <a:rPr lang="en-US" dirty="0" smtClean="0"/>
              <a:t>organization </a:t>
            </a:r>
            <a:r>
              <a:rPr lang="en-US" dirty="0"/>
              <a:t>to withstand the environmental pressures.</a:t>
            </a:r>
          </a:p>
        </p:txBody>
      </p:sp>
    </p:spTree>
    <p:extLst>
      <p:ext uri="{BB962C8B-B14F-4D97-AF65-F5344CB8AC3E}">
        <p14:creationId xmlns:p14="http://schemas.microsoft.com/office/powerpoint/2010/main" val="2127910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u="sng" dirty="0" smtClean="0"/>
              <a:t>4)	Identification </a:t>
            </a:r>
            <a:r>
              <a:rPr lang="en-US" u="sng" dirty="0"/>
              <a:t>of Alternatives: </a:t>
            </a:r>
            <a:endParaRPr lang="en-US" u="sng" dirty="0" smtClean="0"/>
          </a:p>
          <a:p>
            <a:r>
              <a:rPr lang="en-US" dirty="0" smtClean="0"/>
              <a:t>At </a:t>
            </a:r>
            <a:r>
              <a:rPr lang="en-US" dirty="0"/>
              <a:t>this stage, various alternatives are identified based on the </a:t>
            </a:r>
            <a:r>
              <a:rPr lang="en-US" dirty="0" smtClean="0"/>
              <a:t>organizational </a:t>
            </a:r>
            <a:r>
              <a:rPr lang="en-US" dirty="0"/>
              <a:t>objectives and planning premises.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selected alternatives are then reduced so that the most promising ones may be taken for detailed analysis.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concept of various alternatives suggests that a particular objective can be achieved through various actions. </a:t>
            </a:r>
          </a:p>
        </p:txBody>
      </p:sp>
    </p:spTree>
    <p:extLst>
      <p:ext uri="{BB962C8B-B14F-4D97-AF65-F5344CB8AC3E}">
        <p14:creationId xmlns:p14="http://schemas.microsoft.com/office/powerpoint/2010/main" val="39991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u="sng" dirty="0" smtClean="0"/>
              <a:t>5)	Evaluation </a:t>
            </a:r>
            <a:r>
              <a:rPr lang="en-US" u="sng" dirty="0"/>
              <a:t>of Alternatives: </a:t>
            </a:r>
            <a:endParaRPr lang="en-US" u="sng" dirty="0" smtClean="0"/>
          </a:p>
          <a:p>
            <a:r>
              <a:rPr lang="en-US" dirty="0" smtClean="0"/>
              <a:t>At </a:t>
            </a:r>
            <a:r>
              <a:rPr lang="en-US" dirty="0"/>
              <a:t>this stage, an attempt is made to evaluate how each alternative contributes to the </a:t>
            </a:r>
            <a:r>
              <a:rPr lang="en-US" dirty="0" smtClean="0"/>
              <a:t>organizational </a:t>
            </a:r>
            <a:r>
              <a:rPr lang="en-US" dirty="0"/>
              <a:t>objectives in the light of its resources and constraints.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0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 fontScale="85000" lnSpcReduction="20000"/>
          </a:bodyPr>
          <a:lstStyle/>
          <a:p>
            <a:pPr marL="109728" indent="0" algn="just">
              <a:buNone/>
            </a:pPr>
            <a:r>
              <a:rPr lang="en-US" u="sng" dirty="0" smtClean="0"/>
              <a:t>6) </a:t>
            </a:r>
            <a:r>
              <a:rPr lang="en-US" u="sng" dirty="0"/>
              <a:t>Choice of Alternatives: </a:t>
            </a:r>
            <a:endParaRPr lang="en-US" u="sng" dirty="0" smtClean="0"/>
          </a:p>
          <a:p>
            <a:pPr algn="just"/>
            <a:r>
              <a:rPr lang="en-US" dirty="0" smtClean="0"/>
              <a:t>Once </a:t>
            </a:r>
            <a:r>
              <a:rPr lang="en-US" dirty="0"/>
              <a:t>the alternatives are evaluated, the one which fits best in the </a:t>
            </a:r>
            <a:r>
              <a:rPr lang="en-US" dirty="0" smtClean="0"/>
              <a:t>organization </a:t>
            </a:r>
            <a:r>
              <a:rPr lang="en-US" dirty="0"/>
              <a:t>is selected. </a:t>
            </a:r>
            <a:endParaRPr lang="en-US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case, of more than one alternative fitting the </a:t>
            </a:r>
            <a:r>
              <a:rPr lang="en-US" dirty="0" smtClean="0"/>
              <a:t>organizational </a:t>
            </a:r>
            <a:r>
              <a:rPr lang="en-US" dirty="0"/>
              <a:t>needs and constraints, the planner should choose more than one alternative.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provides the </a:t>
            </a:r>
            <a:r>
              <a:rPr lang="en-US" dirty="0" smtClean="0"/>
              <a:t>flexibility </a:t>
            </a:r>
            <a:r>
              <a:rPr lang="en-US" dirty="0"/>
              <a:t>to the plan and the contingency plan (i.e. the alternate plan) can be implemented in changed situations. </a:t>
            </a:r>
            <a:endParaRPr lang="en-US" dirty="0" smtClean="0"/>
          </a:p>
          <a:p>
            <a:pPr algn="just"/>
            <a:endParaRPr lang="en-US" dirty="0"/>
          </a:p>
          <a:p>
            <a:pPr marL="109728" indent="0" algn="just">
              <a:buNone/>
            </a:pPr>
            <a:r>
              <a:rPr lang="en-US" u="sng" dirty="0" smtClean="0"/>
              <a:t>7) </a:t>
            </a:r>
            <a:r>
              <a:rPr lang="en-US" u="sng" dirty="0"/>
              <a:t>Formulation of Supporting Plans: </a:t>
            </a:r>
            <a:endParaRPr lang="en-US" u="sng" dirty="0" smtClean="0"/>
          </a:p>
          <a:p>
            <a:pPr algn="just"/>
            <a:r>
              <a:rPr lang="en-US" dirty="0" smtClean="0"/>
              <a:t>Once </a:t>
            </a:r>
            <a:r>
              <a:rPr lang="en-US" dirty="0"/>
              <a:t>the basic plan is formulated, various plans are derived so as to support the main plan.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derivative plans are formulated out of the main plan and, therefore, they support 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54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8) Establishing </a:t>
            </a:r>
            <a:r>
              <a:rPr lang="en-US" dirty="0"/>
              <a:t>Sequence of </a:t>
            </a:r>
            <a:r>
              <a:rPr lang="en-US" dirty="0" smtClean="0"/>
              <a:t>Activities</a:t>
            </a:r>
            <a:r>
              <a:rPr lang="en-US"/>
              <a:t>: </a:t>
            </a:r>
            <a:endParaRPr lang="en-US" smtClean="0"/>
          </a:p>
          <a:p>
            <a:pPr marL="109728" indent="0">
              <a:buNone/>
            </a:pPr>
            <a:endParaRPr lang="en-US"/>
          </a:p>
          <a:p>
            <a:r>
              <a:rPr lang="en-US" dirty="0" smtClean="0"/>
              <a:t>After </a:t>
            </a:r>
            <a:r>
              <a:rPr lang="en-US" dirty="0"/>
              <a:t>formulating the basic and derivative plans, the sequence of activities is determined so that plans are put into action.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50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</TotalTime>
  <Words>831</Words>
  <Application>Microsoft Office PowerPoint</Application>
  <PresentationFormat>On-screen Show (4:3)</PresentationFormat>
  <Paragraphs>101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Chapter (7)</vt:lpstr>
      <vt:lpstr>Introduction</vt:lpstr>
      <vt:lpstr>Definition </vt:lpstr>
      <vt:lpstr>Features of planning</vt:lpstr>
      <vt:lpstr>Advantages of planning</vt:lpstr>
      <vt:lpstr>Challenges of planning</vt:lpstr>
      <vt:lpstr>Types of plans</vt:lpstr>
      <vt:lpstr>Types of plans</vt:lpstr>
      <vt:lpstr>Types of plans</vt:lpstr>
      <vt:lpstr>Types of plans</vt:lpstr>
      <vt:lpstr>Types of plans</vt:lpstr>
      <vt:lpstr>Steps of planning</vt:lpstr>
      <vt:lpstr>Steps of planning</vt:lpstr>
      <vt:lpstr>Steps of planning</vt:lpstr>
      <vt:lpstr>Steps of planning</vt:lpstr>
      <vt:lpstr>Steps of planning</vt:lpstr>
      <vt:lpstr>Steps of planning</vt:lpstr>
      <vt:lpstr>Steps of planning</vt:lpstr>
      <vt:lpstr>Steps of planning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(7)</dc:title>
  <dc:creator>Nancy karma</dc:creator>
  <cp:lastModifiedBy>Nancy karma</cp:lastModifiedBy>
  <cp:revision>8</cp:revision>
  <dcterms:created xsi:type="dcterms:W3CDTF">2006-08-16T00:00:00Z</dcterms:created>
  <dcterms:modified xsi:type="dcterms:W3CDTF">2023-08-21T10:14:58Z</dcterms:modified>
</cp:coreProperties>
</file>