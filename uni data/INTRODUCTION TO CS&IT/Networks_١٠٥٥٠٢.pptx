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302" r:id="rId2"/>
    <p:sldId id="262" r:id="rId3"/>
    <p:sldId id="301" r:id="rId4"/>
    <p:sldId id="263" r:id="rId5"/>
    <p:sldId id="264" r:id="rId6"/>
    <p:sldId id="265" r:id="rId7"/>
    <p:sldId id="266" r:id="rId8"/>
    <p:sldId id="267" r:id="rId9"/>
    <p:sldId id="268" r:id="rId10"/>
    <p:sldId id="269" r:id="rId11"/>
    <p:sldId id="270" r:id="rId12"/>
    <p:sldId id="271" r:id="rId13"/>
    <p:sldId id="272" r:id="rId14"/>
    <p:sldId id="273" r:id="rId15"/>
    <p:sldId id="274" r:id="rId16"/>
    <p:sldId id="280" r:id="rId17"/>
    <p:sldId id="281" r:id="rId18"/>
    <p:sldId id="282" r:id="rId19"/>
    <p:sldId id="303" r:id="rId20"/>
    <p:sldId id="284" r:id="rId21"/>
    <p:sldId id="285" r:id="rId22"/>
    <p:sldId id="286" r:id="rId23"/>
    <p:sldId id="287" r:id="rId24"/>
    <p:sldId id="288" r:id="rId25"/>
    <p:sldId id="289" r:id="rId26"/>
    <p:sldId id="290" r:id="rId27"/>
    <p:sldId id="291" r:id="rId28"/>
    <p:sldId id="292" r:id="rId29"/>
    <p:sldId id="293" r:id="rId30"/>
    <p:sldId id="298" r:id="rId31"/>
    <p:sldId id="294" r:id="rId32"/>
    <p:sldId id="295" r:id="rId33"/>
    <p:sldId id="296" r:id="rId34"/>
    <p:sldId id="297" r:id="rId35"/>
    <p:sldId id="299" r:id="rId36"/>
    <p:sldId id="30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56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9629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2887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5855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extLst>
      <p:ext uri="{BB962C8B-B14F-4D97-AF65-F5344CB8AC3E}">
        <p14:creationId xmlns:p14="http://schemas.microsoft.com/office/powerpoint/2010/main" val="1708546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0071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82282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1878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2A54C80-263E-416B-A8E0-580EDEADCBDC}" type="datetimeFigureOut">
              <a:rPr lang="en-US" smtClean="0"/>
              <a:pPr/>
              <a:t>10/24/2025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278306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73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9420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8292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48950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8516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79080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2125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val="3400515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4931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12801" y="228601"/>
            <a:ext cx="10875433" cy="5897563"/>
          </a:xfrm>
        </p:spPr>
        <p:txBody>
          <a:bodyPr/>
          <a:lstStyle>
            <a:lvl1pPr>
              <a:defRPr sz="2200"/>
            </a:lvl1pPr>
            <a:lvl2pPr>
              <a:defRPr sz="2200"/>
            </a:lvl2pPr>
            <a:lvl3pPr>
              <a:defRPr sz="2200"/>
            </a:lvl3pPr>
            <a:lvl4pPr>
              <a:defRPr sz="2200"/>
            </a:lvl4pPr>
            <a:lvl5pPr>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p:cNvSpPr>
            <a:spLocks noGrp="1"/>
          </p:cNvSpPr>
          <p:nvPr>
            <p:ph type="dt" sz="half" idx="10"/>
          </p:nvPr>
        </p:nvSpPr>
        <p:spPr/>
        <p:txBody>
          <a:bodyPr/>
          <a:lstStyle>
            <a:lvl1pPr>
              <a:defRPr/>
            </a:lvl1pPr>
          </a:lstStyle>
          <a:p>
            <a:pPr>
              <a:defRPr/>
            </a:pPr>
            <a:endParaRPr lang="en-US"/>
          </a:p>
        </p:txBody>
      </p:sp>
      <p:sp>
        <p:nvSpPr>
          <p:cNvPr id="4" name="Slide Number Placeholder 3"/>
          <p:cNvSpPr>
            <a:spLocks noGrp="1"/>
          </p:cNvSpPr>
          <p:nvPr>
            <p:ph type="sldNum" sz="quarter" idx="11"/>
          </p:nvPr>
        </p:nvSpPr>
        <p:spPr>
          <a:xfrm>
            <a:off x="0" y="6613526"/>
            <a:ext cx="711200" cy="244475"/>
          </a:xfrm>
        </p:spPr>
        <p:txBody>
          <a:bodyPr>
            <a:noAutofit/>
          </a:bodyPr>
          <a:lstStyle>
            <a:lvl1pPr>
              <a:defRPr sz="1000">
                <a:solidFill>
                  <a:schemeClr val="tx1"/>
                </a:solidFill>
              </a:defRPr>
            </a:lvl1pPr>
          </a:lstStyle>
          <a:p>
            <a:pPr>
              <a:defRPr/>
            </a:pPr>
            <a:fld id="{459A7D09-09D1-4991-A3E9-436BFD270027}" type="slidenum">
              <a:rPr lang="ar-SA" altLang="en-US"/>
              <a:pPr>
                <a:defRPr/>
              </a:pPr>
              <a:t>‹#›</a:t>
            </a:fld>
            <a:endParaRPr lang="en-US" altLang="en-US"/>
          </a:p>
        </p:txBody>
      </p:sp>
      <p:sp>
        <p:nvSpPr>
          <p:cNvPr id="5" name="Footer Placeholder 4"/>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3096889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10/24/2025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95187150"/>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42516" y="1773382"/>
            <a:ext cx="10005391" cy="2268218"/>
          </a:xfrm>
        </p:spPr>
        <p:txBody>
          <a:bodyPr/>
          <a:lstStyle/>
          <a:p>
            <a:pPr algn="ctr"/>
            <a:r>
              <a:rPr lang="en-US" dirty="0">
                <a:solidFill>
                  <a:schemeClr val="accent2">
                    <a:lumMod val="60000"/>
                    <a:lumOff val="40000"/>
                  </a:schemeClr>
                </a:solidFill>
                <a:latin typeface="Andalus" panose="02020603050405020304" pitchFamily="18" charset="-78"/>
                <a:cs typeface="Andalus" panose="02020603050405020304" pitchFamily="18" charset="-78"/>
              </a:rPr>
              <a:t>Introduction to Computer Science</a:t>
            </a:r>
            <a:endParaRPr lang="en-US" dirty="0"/>
          </a:p>
        </p:txBody>
      </p:sp>
      <p:sp>
        <p:nvSpPr>
          <p:cNvPr id="5" name="Subtitle 4"/>
          <p:cNvSpPr>
            <a:spLocks noGrp="1"/>
          </p:cNvSpPr>
          <p:nvPr>
            <p:ph type="subTitle" idx="1"/>
          </p:nvPr>
        </p:nvSpPr>
        <p:spPr>
          <a:xfrm>
            <a:off x="1173428" y="4389452"/>
            <a:ext cx="8825658" cy="861420"/>
          </a:xfrm>
        </p:spPr>
        <p:txBody>
          <a:bodyPr/>
          <a:lstStyle/>
          <a:p>
            <a:pPr algn="ctr"/>
            <a:r>
              <a:rPr lang="en-US" sz="2400" b="1" dirty="0">
                <a:solidFill>
                  <a:schemeClr val="accent2">
                    <a:lumMod val="60000"/>
                    <a:lumOff val="40000"/>
                  </a:schemeClr>
                </a:solidFill>
                <a:latin typeface="Andalus" panose="02020603050405020304" pitchFamily="18" charset="-78"/>
                <a:cs typeface="Andalus" panose="02020603050405020304" pitchFamily="18" charset="-78"/>
              </a:rPr>
              <a:t>Lecture 4_Part1</a:t>
            </a:r>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18266" y="2558184"/>
            <a:ext cx="7770284" cy="1598613"/>
          </a:xfrm>
        </p:spPr>
        <p:txBody>
          <a:bodyPr/>
          <a:lstStyle/>
          <a:p>
            <a:pPr algn="ctr" rtl="1" eaLnBrk="1" hangingPunct="1">
              <a:spcBef>
                <a:spcPts val="700"/>
              </a:spcBef>
              <a:buClr>
                <a:schemeClr val="accent2"/>
              </a:buClr>
              <a:buSzPct val="60000"/>
              <a:defRPr/>
            </a:pPr>
            <a:r>
              <a:rPr lang="en-US" altLang="en-US" sz="3600" b="1" dirty="0">
                <a:solidFill>
                  <a:schemeClr val="tx1"/>
                </a:solidFill>
                <a:latin typeface="Copperplate Gothic Bold" panose="020E0705020206020404" pitchFamily="34" charset="0"/>
                <a:cs typeface="Arial" panose="020B0604020202020204" pitchFamily="34" charset="0"/>
              </a:rPr>
              <a:t>Computer Networks</a:t>
            </a:r>
          </a:p>
          <a:p>
            <a:pPr>
              <a:defRPr/>
            </a:pP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OBJECTIVES AND INTENDED OUTCOMES</a:t>
            </a:r>
            <a:r>
              <a:rPr lang="en-US" dirty="0"/>
              <a:t/>
            </a:r>
            <a:br>
              <a:rPr lang="en-US" dirty="0"/>
            </a:br>
            <a:endParaRPr lang="en-US" dirty="0"/>
          </a:p>
        </p:txBody>
      </p:sp>
      <p:sp>
        <p:nvSpPr>
          <p:cNvPr id="3" name="Content Placeholder 2"/>
          <p:cNvSpPr>
            <a:spLocks noGrp="1"/>
          </p:cNvSpPr>
          <p:nvPr>
            <p:ph idx="1"/>
          </p:nvPr>
        </p:nvSpPr>
        <p:spPr>
          <a:xfrm>
            <a:off x="677334" y="1502229"/>
            <a:ext cx="8596668" cy="4539133"/>
          </a:xfrm>
        </p:spPr>
        <p:txBody>
          <a:bodyPr>
            <a:normAutofit lnSpcReduction="10000"/>
          </a:bodyPr>
          <a:lstStyle/>
          <a:p>
            <a:pPr>
              <a:buFont typeface="Wingdings" pitchFamily="2" charset="2"/>
              <a:buChar char="q"/>
            </a:pPr>
            <a:r>
              <a:rPr lang="en-US" sz="2000" b="1" dirty="0"/>
              <a:t>By the end of this lesson the learner is expected to:</a:t>
            </a:r>
          </a:p>
          <a:p>
            <a:pPr lvl="1">
              <a:buFont typeface="Wingdings" pitchFamily="2" charset="2"/>
              <a:buChar char="q"/>
            </a:pPr>
            <a:r>
              <a:rPr lang="en-US" dirty="0"/>
              <a:t>Understand the concept of the network, communication and Protocols.</a:t>
            </a:r>
          </a:p>
          <a:p>
            <a:pPr lvl="1">
              <a:buFont typeface="Wingdings" pitchFamily="2" charset="2"/>
              <a:buChar char="q"/>
            </a:pPr>
            <a:r>
              <a:rPr lang="en-US" dirty="0"/>
              <a:t> Learn about the Benefits of computer networks.</a:t>
            </a:r>
          </a:p>
          <a:p>
            <a:pPr lvl="1">
              <a:buFont typeface="Wingdings" pitchFamily="2" charset="2"/>
              <a:buChar char="q"/>
            </a:pPr>
            <a:r>
              <a:rPr lang="en-US" dirty="0"/>
              <a:t> Learn about the computer network components.</a:t>
            </a:r>
            <a:r>
              <a:rPr lang="en-US" i="1" dirty="0"/>
              <a:t> </a:t>
            </a:r>
            <a:endParaRPr lang="en-US" dirty="0"/>
          </a:p>
          <a:p>
            <a:pPr lvl="1">
              <a:buFont typeface="Wingdings" pitchFamily="2" charset="2"/>
              <a:buChar char="q"/>
            </a:pPr>
            <a:r>
              <a:rPr lang="en-US" dirty="0"/>
              <a:t> Learn about the Computer Network Types and Topologies.</a:t>
            </a:r>
          </a:p>
          <a:p>
            <a:pPr lvl="1">
              <a:buFont typeface="Wingdings" pitchFamily="2" charset="2"/>
              <a:buChar char="q"/>
            </a:pPr>
            <a:r>
              <a:rPr lang="en-US" dirty="0"/>
              <a:t> Learn about the type and Functions of Computer Network Protocols.</a:t>
            </a:r>
          </a:p>
          <a:p>
            <a:pPr lvl="1">
              <a:buFont typeface="Wingdings" pitchFamily="2" charset="2"/>
              <a:buChar char="q"/>
            </a:pPr>
            <a:r>
              <a:rPr lang="en-US" dirty="0"/>
              <a:t>Understand the concept of the internet, World Wide Web and </a:t>
            </a:r>
            <a:r>
              <a:rPr lang="fr-FR" dirty="0"/>
              <a:t>websites</a:t>
            </a:r>
            <a:r>
              <a:rPr lang="en-US" dirty="0"/>
              <a:t>.</a:t>
            </a:r>
            <a:endParaRPr lang="en-US" sz="2200" dirty="0"/>
          </a:p>
          <a:p>
            <a:pPr lvl="1">
              <a:buFont typeface="Wingdings" pitchFamily="2" charset="2"/>
              <a:buChar char="q"/>
            </a:pPr>
            <a:r>
              <a:rPr lang="en-US" dirty="0"/>
              <a:t>Understand the Difference between World Wide Web and Internet, Intranet, and Extranet,</a:t>
            </a:r>
            <a:endParaRPr lang="en-US" sz="2200" dirty="0"/>
          </a:p>
          <a:p>
            <a:pPr lvl="1">
              <a:buFont typeface="Wingdings" pitchFamily="2" charset="2"/>
              <a:buChar char="q"/>
            </a:pPr>
            <a:r>
              <a:rPr lang="en-US" dirty="0"/>
              <a:t> Learn about How the World Wide Web Works.</a:t>
            </a:r>
            <a:endParaRPr lang="en-US" sz="2200" dirty="0"/>
          </a:p>
          <a:p>
            <a:pPr lvl="1">
              <a:buFont typeface="Wingdings" pitchFamily="2" charset="2"/>
              <a:buChar char="q"/>
            </a:pPr>
            <a:r>
              <a:rPr lang="en-US" dirty="0"/>
              <a:t> Learn about Technologies of Transferring Web Pages.</a:t>
            </a:r>
            <a:r>
              <a:rPr lang="en-US" i="1" dirty="0"/>
              <a:t> </a:t>
            </a:r>
            <a:endParaRPr lang="en-US" sz="2200" dirty="0"/>
          </a:p>
          <a:p>
            <a:pPr lvl="2">
              <a:buFont typeface="Wingdings" pitchFamily="2" charset="2"/>
              <a:buChar char="q"/>
            </a:pP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190501" y="188913"/>
            <a:ext cx="9554633" cy="584200"/>
          </a:xfrm>
          <a:prstGeom prst="rect">
            <a:avLst/>
          </a:prstGeom>
          <a:noFill/>
          <a:ln w="9525">
            <a:noFill/>
            <a:miter lim="800000"/>
            <a:headEnd/>
            <a:tailEnd/>
          </a:ln>
        </p:spPr>
        <p:txBody>
          <a:bodyPr anchor="ctr">
            <a:spAutoFit/>
          </a:bodyPr>
          <a:lstStyle/>
          <a:p>
            <a:r>
              <a:rPr lang="en-US" altLang="en-US" sz="3200" b="1">
                <a:solidFill>
                  <a:schemeClr val="accent2"/>
                </a:solidFill>
                <a:latin typeface="Arial" charset="0"/>
              </a:rPr>
              <a:t>Introduction</a:t>
            </a:r>
          </a:p>
        </p:txBody>
      </p:sp>
      <p:sp>
        <p:nvSpPr>
          <p:cNvPr id="7171" name="Slide Number Placeholder 5"/>
          <p:cNvSpPr>
            <a:spLocks noGrp="1"/>
          </p:cNvSpPr>
          <p:nvPr>
            <p:ph type="sldNum" sz="quarter" idx="11"/>
          </p:nvPr>
        </p:nvSpPr>
        <p:spPr bwMode="auto">
          <a:noFill/>
          <a:ln>
            <a:miter lim="800000"/>
            <a:headEnd/>
            <a:tailEnd/>
          </a:ln>
        </p:spPr>
        <p:txBody>
          <a:bodyPr/>
          <a:lstStyle/>
          <a:p>
            <a:fld id="{A0F4B51B-8D5C-4699-9FA9-B670091257E3}" type="slidenum">
              <a:rPr lang="ar-SA" altLang="en-US" smtClean="0">
                <a:latin typeface="Arial" charset="0"/>
                <a:cs typeface="Arial" charset="0"/>
              </a:rPr>
              <a:pPr/>
              <a:t>4</a:t>
            </a:fld>
            <a:endParaRPr lang="en-US" altLang="en-US">
              <a:latin typeface="Arial" charset="0"/>
              <a:cs typeface="Arial" charset="0"/>
            </a:endParaRPr>
          </a:p>
        </p:txBody>
      </p:sp>
      <p:sp>
        <p:nvSpPr>
          <p:cNvPr id="5" name="Rectangle 3"/>
          <p:cNvSpPr txBox="1">
            <a:spLocks/>
          </p:cNvSpPr>
          <p:nvPr/>
        </p:nvSpPr>
        <p:spPr>
          <a:xfrm>
            <a:off x="190500" y="876300"/>
            <a:ext cx="9384574" cy="5410200"/>
          </a:xfrm>
          <a:prstGeom prst="rect">
            <a:avLst/>
          </a:prstGeom>
        </p:spPr>
        <p:txBody>
          <a:bodyPr/>
          <a:lstStyle/>
          <a:p>
            <a:pPr marL="228600" indent="-165100" algn="justLow" fontAlgn="auto">
              <a:spcBef>
                <a:spcPts val="700"/>
              </a:spcBef>
              <a:spcAft>
                <a:spcPts val="0"/>
              </a:spcAft>
              <a:buClr>
                <a:schemeClr val="accent2"/>
              </a:buClr>
              <a:buSzPct val="85000"/>
              <a:buFont typeface="Wingdings" pitchFamily="2" charset="2"/>
              <a:buChar char="§"/>
              <a:defRPr/>
            </a:pPr>
            <a:endParaRPr lang="ar-SA" sz="800" kern="0" dirty="0">
              <a:latin typeface="+mn-lt"/>
              <a:cs typeface="+mn-cs"/>
            </a:endParaRPr>
          </a:p>
          <a:p>
            <a:pPr marL="228600" indent="-165100" algn="justLow" fontAlgn="auto">
              <a:spcBef>
                <a:spcPts val="700"/>
              </a:spcBef>
              <a:spcAft>
                <a:spcPts val="0"/>
              </a:spcAft>
              <a:buClr>
                <a:schemeClr val="accent2"/>
              </a:buClr>
              <a:buSzPct val="85000"/>
              <a:buFont typeface="Wingdings" pitchFamily="2" charset="2"/>
              <a:buChar char="q"/>
              <a:defRPr/>
            </a:pPr>
            <a:r>
              <a:rPr lang="en-US" sz="2000" dirty="0">
                <a:cs typeface="+mn-cs"/>
              </a:rPr>
              <a:t>Computer networks today enable you to: </a:t>
            </a:r>
          </a:p>
          <a:p>
            <a:pPr marL="685800" lvl="1" indent="-165100" algn="justLow" fontAlgn="auto">
              <a:spcBef>
                <a:spcPts val="700"/>
              </a:spcBef>
              <a:spcAft>
                <a:spcPts val="0"/>
              </a:spcAft>
              <a:buClr>
                <a:schemeClr val="accent2"/>
              </a:buClr>
              <a:buSzPct val="85000"/>
              <a:buFont typeface="Wingdings" pitchFamily="2" charset="2"/>
              <a:buChar char="q"/>
              <a:defRPr/>
            </a:pPr>
            <a:r>
              <a:rPr lang="en-US" sz="2000" dirty="0">
                <a:cs typeface="+mn-cs"/>
              </a:rPr>
              <a:t>Send a message consisting of several pages, pictures, sounds and animations to a group of people anywhere at once and in a few minutes.</a:t>
            </a:r>
          </a:p>
          <a:p>
            <a:pPr marL="685800" lvl="1" indent="-165100" algn="justLow" fontAlgn="auto">
              <a:spcBef>
                <a:spcPts val="700"/>
              </a:spcBef>
              <a:spcAft>
                <a:spcPts val="0"/>
              </a:spcAft>
              <a:buClr>
                <a:schemeClr val="accent2"/>
              </a:buClr>
              <a:buSzPct val="85000"/>
              <a:buFont typeface="Wingdings" pitchFamily="2" charset="2"/>
              <a:buChar char="q"/>
              <a:defRPr/>
            </a:pPr>
            <a:r>
              <a:rPr lang="en-US" sz="2000" dirty="0">
                <a:cs typeface="+mn-cs"/>
              </a:rPr>
              <a:t> You connect from your home or work computer to international information banks, companies and libraries to obtain the information that interests you. </a:t>
            </a:r>
          </a:p>
          <a:p>
            <a:pPr marL="685800" lvl="1" indent="-165100" algn="justLow" fontAlgn="auto">
              <a:spcBef>
                <a:spcPts val="700"/>
              </a:spcBef>
              <a:spcAft>
                <a:spcPts val="0"/>
              </a:spcAft>
              <a:buClr>
                <a:schemeClr val="accent2"/>
              </a:buClr>
              <a:buSzPct val="85000"/>
              <a:buFont typeface="Wingdings" pitchFamily="2" charset="2"/>
              <a:buChar char="q"/>
              <a:defRPr/>
            </a:pPr>
            <a:r>
              <a:rPr lang="en-US" sz="2000" dirty="0">
                <a:cs typeface="+mn-cs"/>
              </a:rPr>
              <a:t>Holding interactive conferences and seminars for remote parties via the Internet.</a:t>
            </a:r>
          </a:p>
          <a:p>
            <a:pPr marL="685800" lvl="1" indent="-165100" algn="justLow" fontAlgn="auto">
              <a:spcBef>
                <a:spcPts val="700"/>
              </a:spcBef>
              <a:spcAft>
                <a:spcPts val="0"/>
              </a:spcAft>
              <a:buClr>
                <a:schemeClr val="accent2"/>
              </a:buClr>
              <a:buSzPct val="85000"/>
              <a:buFont typeface="Wingdings" pitchFamily="2" charset="2"/>
              <a:buChar char="q"/>
              <a:defRPr/>
            </a:pPr>
            <a:r>
              <a:rPr lang="en-US" sz="2000" dirty="0">
                <a:cs typeface="+mn-cs"/>
              </a:rPr>
              <a:t> E-Learning, E-Commerce and E-Government. </a:t>
            </a:r>
          </a:p>
          <a:p>
            <a:pPr marL="685800" lvl="1" indent="-165100" algn="justLow" fontAlgn="auto">
              <a:spcBef>
                <a:spcPts val="700"/>
              </a:spcBef>
              <a:spcAft>
                <a:spcPts val="0"/>
              </a:spcAft>
              <a:buClr>
                <a:schemeClr val="accent2"/>
              </a:buClr>
              <a:buSzPct val="85000"/>
              <a:buFont typeface="Wingdings" pitchFamily="2" charset="2"/>
              <a:buChar char="q"/>
              <a:defRPr/>
            </a:pPr>
            <a:endParaRPr lang="en-US" sz="2000" dirty="0">
              <a:cs typeface="+mn-cs"/>
            </a:endParaRPr>
          </a:p>
          <a:p>
            <a:pPr marL="228600" indent="-165100" algn="justLow" fontAlgn="auto">
              <a:spcBef>
                <a:spcPts val="700"/>
              </a:spcBef>
              <a:spcAft>
                <a:spcPts val="0"/>
              </a:spcAft>
              <a:buClr>
                <a:schemeClr val="accent2"/>
              </a:buClr>
              <a:buSzPct val="85000"/>
              <a:buFont typeface="Wingdings" pitchFamily="2" charset="2"/>
              <a:buChar char="q"/>
              <a:defRPr/>
            </a:pPr>
            <a:r>
              <a:rPr lang="en-US" dirty="0">
                <a:solidFill>
                  <a:srgbClr val="FFFF00"/>
                </a:solidFill>
                <a:cs typeface="+mn-cs"/>
              </a:rPr>
              <a:t>All this would not have been possible without the integration between communication technology and computer technology and the creation of the so-called computer network.</a:t>
            </a:r>
            <a:endParaRPr lang="en-US" sz="1600" b="1" kern="0" dirty="0">
              <a:solidFill>
                <a:srgbClr val="FFFF00"/>
              </a:solidFill>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 calcmode="lin" valueType="num">
                                      <p:cBhvr additive="base">
                                        <p:cTn id="3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noChangeArrowheads="1"/>
          </p:cNvSpPr>
          <p:nvPr>
            <p:ph type="sldNum" sz="quarter" idx="12"/>
          </p:nvPr>
        </p:nvSpPr>
        <p:spPr bwMode="auto">
          <a:noFill/>
          <a:ln>
            <a:miter lim="800000"/>
            <a:headEnd/>
            <a:tailEnd/>
          </a:ln>
        </p:spPr>
        <p:txBody>
          <a:bodyPr/>
          <a:lstStyle/>
          <a:p>
            <a:fld id="{BB0443FC-DD3C-4C8C-BF77-488D20BC3E85}" type="slidenum">
              <a:rPr lang="ar-SA" altLang="en-US" sz="1200" smtClean="0">
                <a:solidFill>
                  <a:srgbClr val="898989"/>
                </a:solidFill>
                <a:latin typeface="Arial" charset="0"/>
                <a:cs typeface="Arial" charset="0"/>
              </a:rPr>
              <a:pPr/>
              <a:t>5</a:t>
            </a:fld>
            <a:endParaRPr lang="en-US" altLang="en-US" sz="1200">
              <a:solidFill>
                <a:srgbClr val="898989"/>
              </a:solidFill>
              <a:latin typeface="Arial" charset="0"/>
              <a:cs typeface="Arial" charset="0"/>
            </a:endParaRPr>
          </a:p>
        </p:txBody>
      </p:sp>
      <p:sp>
        <p:nvSpPr>
          <p:cNvPr id="8195" name="Rectangle 3"/>
          <p:cNvSpPr>
            <a:spLocks noChangeArrowheads="1"/>
          </p:cNvSpPr>
          <p:nvPr/>
        </p:nvSpPr>
        <p:spPr bwMode="auto">
          <a:xfrm>
            <a:off x="1143000" y="549276"/>
            <a:ext cx="8409517" cy="708025"/>
          </a:xfrm>
          <a:prstGeom prst="rect">
            <a:avLst/>
          </a:prstGeom>
          <a:noFill/>
          <a:ln w="9525">
            <a:noFill/>
            <a:miter lim="800000"/>
            <a:headEnd/>
            <a:tailEnd/>
          </a:ln>
        </p:spPr>
        <p:txBody>
          <a:bodyPr anchor="ctr">
            <a:spAutoFit/>
          </a:bodyPr>
          <a:lstStyle/>
          <a:p>
            <a:r>
              <a:rPr lang="en-US" altLang="en-US" sz="4000" b="1">
                <a:solidFill>
                  <a:schemeClr val="accent2"/>
                </a:solidFill>
                <a:latin typeface="Arial" charset="0"/>
              </a:rPr>
              <a:t>Network</a:t>
            </a:r>
            <a:endParaRPr lang="en-US" altLang="en-US" sz="3200" b="1">
              <a:solidFill>
                <a:schemeClr val="accent2"/>
              </a:solidFill>
              <a:latin typeface="Arial" charset="0"/>
            </a:endParaRPr>
          </a:p>
        </p:txBody>
      </p:sp>
      <p:sp>
        <p:nvSpPr>
          <p:cNvPr id="6" name="Rectangle 3"/>
          <p:cNvSpPr txBox="1">
            <a:spLocks/>
          </p:cNvSpPr>
          <p:nvPr/>
        </p:nvSpPr>
        <p:spPr>
          <a:xfrm>
            <a:off x="581900" y="1613263"/>
            <a:ext cx="8588223" cy="4400550"/>
          </a:xfrm>
          <a:prstGeom prst="rect">
            <a:avLst/>
          </a:prstGeom>
        </p:spPr>
        <p:txBody>
          <a:bodyPr/>
          <a:lstStyle/>
          <a:p>
            <a:pPr marL="63500" algn="just" rtl="1" fontAlgn="auto">
              <a:lnSpc>
                <a:spcPct val="150000"/>
              </a:lnSpc>
              <a:spcBef>
                <a:spcPts val="700"/>
              </a:spcBef>
              <a:spcAft>
                <a:spcPts val="0"/>
              </a:spcAft>
              <a:buClr>
                <a:schemeClr val="accent2"/>
              </a:buClr>
              <a:buSzPct val="85000"/>
              <a:buFont typeface="Wingdings" pitchFamily="2" charset="2"/>
              <a:buChar char="§"/>
              <a:defRPr/>
            </a:pPr>
            <a:endParaRPr lang="ar-SA" sz="900" kern="0" dirty="0">
              <a:latin typeface="+mn-lt"/>
              <a:cs typeface="+mn-cs"/>
            </a:endParaRPr>
          </a:p>
          <a:p>
            <a:pPr marL="63500" algn="just" fontAlgn="auto">
              <a:lnSpc>
                <a:spcPct val="150000"/>
              </a:lnSpc>
              <a:spcBef>
                <a:spcPts val="700"/>
              </a:spcBef>
              <a:spcAft>
                <a:spcPts val="0"/>
              </a:spcAft>
              <a:buClr>
                <a:schemeClr val="accent2"/>
              </a:buClr>
              <a:buSzPct val="85000"/>
              <a:buFont typeface="Wingdings" pitchFamily="2" charset="2"/>
              <a:buChar char="q"/>
              <a:defRPr/>
            </a:pPr>
            <a:r>
              <a:rPr lang="en-US" sz="2000" dirty="0">
                <a:cs typeface="+mn-cs"/>
              </a:rPr>
              <a:t>A network consists of two or more computers that are linked in order to share resources (such as printers and CDs), exchange files, or allow electronic communications.</a:t>
            </a:r>
          </a:p>
          <a:p>
            <a:pPr marL="63500" algn="just" fontAlgn="auto">
              <a:lnSpc>
                <a:spcPct val="150000"/>
              </a:lnSpc>
              <a:spcBef>
                <a:spcPts val="700"/>
              </a:spcBef>
              <a:spcAft>
                <a:spcPts val="0"/>
              </a:spcAft>
              <a:buClr>
                <a:schemeClr val="accent2"/>
              </a:buClr>
              <a:buSzPct val="85000"/>
              <a:defRPr/>
            </a:pPr>
            <a:r>
              <a:rPr lang="ar-SA" sz="2000" kern="0" dirty="0">
                <a:latin typeface="+mn-lt"/>
                <a:cs typeface="+mn-cs"/>
              </a:rPr>
              <a:t> </a:t>
            </a:r>
            <a:endParaRPr lang="en-US" sz="2000" kern="0" dirty="0">
              <a:latin typeface="+mn-lt"/>
              <a:cs typeface="+mn-cs"/>
            </a:endParaRPr>
          </a:p>
          <a:p>
            <a:pPr marL="63500" algn="just" fontAlgn="auto">
              <a:lnSpc>
                <a:spcPct val="150000"/>
              </a:lnSpc>
              <a:spcBef>
                <a:spcPts val="700"/>
              </a:spcBef>
              <a:spcAft>
                <a:spcPts val="0"/>
              </a:spcAft>
              <a:buClr>
                <a:schemeClr val="accent2"/>
              </a:buClr>
              <a:buSzPct val="85000"/>
              <a:buFont typeface="Wingdings" pitchFamily="2" charset="2"/>
              <a:buChar char="q"/>
              <a:defRPr/>
            </a:pPr>
            <a:r>
              <a:rPr lang="en-US" sz="2000" dirty="0">
                <a:cs typeface="+mn-cs"/>
              </a:rPr>
              <a:t>The computers on a network may be linked Wire or Wireless</a:t>
            </a:r>
          </a:p>
          <a:p>
            <a:pPr marL="520700" lvl="1" algn="just" fontAlgn="auto">
              <a:lnSpc>
                <a:spcPct val="150000"/>
              </a:lnSpc>
              <a:spcBef>
                <a:spcPts val="700"/>
              </a:spcBef>
              <a:spcAft>
                <a:spcPts val="0"/>
              </a:spcAft>
              <a:buClr>
                <a:schemeClr val="accent2"/>
              </a:buClr>
              <a:buSzPct val="85000"/>
              <a:buFont typeface="Wingdings" pitchFamily="2" charset="2"/>
              <a:buChar char="q"/>
              <a:defRPr/>
            </a:pPr>
            <a:r>
              <a:rPr lang="en-US" sz="2000" dirty="0">
                <a:cs typeface="+mn-cs"/>
              </a:rPr>
              <a:t>through cables, telephone lines, radio waves, satellites, or infrared light beams. </a:t>
            </a:r>
            <a:endParaRPr lang="ar-SA" sz="2000" kern="0" dirty="0">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 calcmode="lin" valueType="num">
                                      <p:cBhvr additive="base">
                                        <p:cTn id="1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12801" y="428626"/>
            <a:ext cx="8464551" cy="790575"/>
          </a:xfrm>
        </p:spPr>
        <p:txBody>
          <a:bodyPr/>
          <a:lstStyle/>
          <a:p>
            <a:pPr eaLnBrk="1" hangingPunct="1"/>
            <a:r>
              <a:rPr lang="en-US" sz="3200" b="1" dirty="0"/>
              <a:t>Benefits of Computer Networks</a:t>
            </a:r>
            <a:endParaRPr lang="en-US" altLang="en-US" sz="3200" b="1" dirty="0">
              <a:solidFill>
                <a:schemeClr val="accent2"/>
              </a:solidFill>
              <a:cs typeface="Times New Roman" pitchFamily="18" charset="0"/>
            </a:endParaRPr>
          </a:p>
        </p:txBody>
      </p:sp>
      <p:sp>
        <p:nvSpPr>
          <p:cNvPr id="9219" name="Slide Number Placeholder 6"/>
          <p:cNvSpPr>
            <a:spLocks noGrp="1" noChangeArrowheads="1"/>
          </p:cNvSpPr>
          <p:nvPr>
            <p:ph type="sldNum" sz="quarter" idx="12"/>
          </p:nvPr>
        </p:nvSpPr>
        <p:spPr bwMode="auto">
          <a:noFill/>
          <a:ln>
            <a:miter lim="800000"/>
            <a:headEnd/>
            <a:tailEnd/>
          </a:ln>
        </p:spPr>
        <p:txBody>
          <a:bodyPr/>
          <a:lstStyle/>
          <a:p>
            <a:fld id="{A15EAFA1-5DB2-44C1-BF0C-CDAB29EABCDD}" type="slidenum">
              <a:rPr lang="ar-SA" altLang="en-US" sz="1200" smtClean="0">
                <a:solidFill>
                  <a:srgbClr val="898989"/>
                </a:solidFill>
                <a:latin typeface="Arial" charset="0"/>
                <a:cs typeface="Arial" charset="0"/>
              </a:rPr>
              <a:pPr/>
              <a:t>6</a:t>
            </a:fld>
            <a:endParaRPr lang="en-US" altLang="en-US" sz="1200">
              <a:solidFill>
                <a:srgbClr val="898989"/>
              </a:solidFill>
              <a:latin typeface="Arial" charset="0"/>
              <a:cs typeface="Arial" charset="0"/>
            </a:endParaRPr>
          </a:p>
        </p:txBody>
      </p:sp>
      <p:sp>
        <p:nvSpPr>
          <p:cNvPr id="6" name="Rectangle 3"/>
          <p:cNvSpPr txBox="1">
            <a:spLocks/>
          </p:cNvSpPr>
          <p:nvPr/>
        </p:nvSpPr>
        <p:spPr>
          <a:xfrm>
            <a:off x="817033" y="1285875"/>
            <a:ext cx="9118600" cy="4840288"/>
          </a:xfrm>
          <a:prstGeom prst="rect">
            <a:avLst/>
          </a:prstGeom>
        </p:spPr>
        <p:txBody>
          <a:bodyPr/>
          <a:lstStyle/>
          <a:p>
            <a:pPr marL="342900" indent="-279400" algn="just" rtl="1" fontAlgn="auto">
              <a:lnSpc>
                <a:spcPct val="150000"/>
              </a:lnSpc>
              <a:spcBef>
                <a:spcPts val="700"/>
              </a:spcBef>
              <a:spcAft>
                <a:spcPts val="0"/>
              </a:spcAft>
              <a:buClr>
                <a:schemeClr val="accent2"/>
              </a:buClr>
              <a:buSzPct val="85000"/>
              <a:buFont typeface="+mj-lt"/>
              <a:buAutoNum type="arabicPeriod"/>
              <a:defRPr/>
            </a:pPr>
            <a:endParaRPr lang="ar-SA" sz="1200" kern="0" dirty="0">
              <a:latin typeface="+mn-lt"/>
              <a:cs typeface="+mn-cs"/>
            </a:endParaRPr>
          </a:p>
          <a:p>
            <a:pPr marL="342900" indent="-279400" algn="just" fontAlgn="auto">
              <a:spcBef>
                <a:spcPts val="0"/>
              </a:spcBef>
              <a:spcAft>
                <a:spcPts val="0"/>
              </a:spcAft>
              <a:buClr>
                <a:schemeClr val="accent2"/>
              </a:buClr>
              <a:buSzPct val="85000"/>
              <a:buFont typeface="Wingdings" pitchFamily="2" charset="2"/>
              <a:buChar char="q"/>
              <a:defRPr/>
            </a:pPr>
            <a:r>
              <a:rPr lang="en-US" sz="2000" dirty="0">
                <a:cs typeface="+mn-cs"/>
              </a:rPr>
              <a:t>File sharing - you can easily share data between different users, or access it remotely if you keep it on other connected devices.</a:t>
            </a:r>
          </a:p>
          <a:p>
            <a:pPr marL="342900" indent="-279400" algn="just" fontAlgn="auto">
              <a:spcBef>
                <a:spcPts val="0"/>
              </a:spcBef>
              <a:spcAft>
                <a:spcPts val="0"/>
              </a:spcAft>
              <a:buClr>
                <a:schemeClr val="accent2"/>
              </a:buClr>
              <a:buSzPct val="85000"/>
              <a:buFont typeface="Wingdings" pitchFamily="2" charset="2"/>
              <a:buChar char="q"/>
              <a:defRPr/>
            </a:pPr>
            <a:endParaRPr lang="en-US" sz="2000" dirty="0">
              <a:cs typeface="+mn-cs"/>
            </a:endParaRPr>
          </a:p>
          <a:p>
            <a:pPr marL="342900" indent="-279400" algn="just" fontAlgn="auto">
              <a:spcBef>
                <a:spcPts val="0"/>
              </a:spcBef>
              <a:spcAft>
                <a:spcPts val="0"/>
              </a:spcAft>
              <a:buClr>
                <a:schemeClr val="accent2"/>
              </a:buClr>
              <a:buSzPct val="85000"/>
              <a:buFont typeface="Wingdings" pitchFamily="2" charset="2"/>
              <a:buChar char="q"/>
              <a:defRPr/>
            </a:pPr>
            <a:r>
              <a:rPr lang="en-US" sz="2000" dirty="0">
                <a:cs typeface="+mn-cs"/>
              </a:rPr>
              <a:t>Resource sharing - using network-connected peripheral devices like printers, scanners and copiers, or sharing software between multiple users, saves money.</a:t>
            </a:r>
          </a:p>
          <a:p>
            <a:pPr marL="342900" indent="-279400" algn="just" fontAlgn="auto">
              <a:spcBef>
                <a:spcPts val="0"/>
              </a:spcBef>
              <a:spcAft>
                <a:spcPts val="0"/>
              </a:spcAft>
              <a:buClr>
                <a:schemeClr val="accent2"/>
              </a:buClr>
              <a:buSzPct val="85000"/>
              <a:buFont typeface="Wingdings" pitchFamily="2" charset="2"/>
              <a:buChar char="q"/>
              <a:defRPr/>
            </a:pPr>
            <a:endParaRPr lang="en-US" sz="2000" dirty="0">
              <a:cs typeface="+mn-cs"/>
            </a:endParaRPr>
          </a:p>
          <a:p>
            <a:pPr marL="342900" indent="-279400" algn="just" fontAlgn="auto">
              <a:spcBef>
                <a:spcPts val="0"/>
              </a:spcBef>
              <a:spcAft>
                <a:spcPts val="0"/>
              </a:spcAft>
              <a:buClr>
                <a:schemeClr val="accent2"/>
              </a:buClr>
              <a:buSzPct val="85000"/>
              <a:buFont typeface="Wingdings" pitchFamily="2" charset="2"/>
              <a:buChar char="q"/>
              <a:defRPr/>
            </a:pPr>
            <a:r>
              <a:rPr lang="en-US" sz="2000" dirty="0">
                <a:cs typeface="+mn-cs"/>
              </a:rPr>
              <a:t>information sharing and get in touch more easily.</a:t>
            </a:r>
          </a:p>
          <a:p>
            <a:pPr marL="342900" indent="-279400" algn="just" fontAlgn="auto">
              <a:spcBef>
                <a:spcPts val="0"/>
              </a:spcBef>
              <a:spcAft>
                <a:spcPts val="0"/>
              </a:spcAft>
              <a:buClr>
                <a:schemeClr val="accent2"/>
              </a:buClr>
              <a:buSzPct val="85000"/>
              <a:buFont typeface="Wingdings" pitchFamily="2" charset="2"/>
              <a:buChar char="q"/>
              <a:defRPr/>
            </a:pPr>
            <a:endParaRPr lang="en-US" sz="2000" dirty="0">
              <a:cs typeface="+mn-cs"/>
            </a:endParaRPr>
          </a:p>
          <a:p>
            <a:pPr marL="342900" indent="-279400" algn="just" fontAlgn="auto">
              <a:spcBef>
                <a:spcPts val="0"/>
              </a:spcBef>
              <a:spcAft>
                <a:spcPts val="0"/>
              </a:spcAft>
              <a:buClr>
                <a:schemeClr val="accent2"/>
              </a:buClr>
              <a:buSzPct val="85000"/>
              <a:buFont typeface="Wingdings" pitchFamily="2" charset="2"/>
              <a:buChar char="q"/>
              <a:defRPr/>
            </a:pPr>
            <a:r>
              <a:rPr lang="en-US" sz="2000" dirty="0">
                <a:cs typeface="+mn-cs"/>
              </a:rPr>
              <a:t>Business becomes more efficient </a:t>
            </a:r>
          </a:p>
          <a:p>
            <a:pPr marL="1257300" lvl="2" indent="-279400" algn="just" fontAlgn="auto">
              <a:spcBef>
                <a:spcPts val="0"/>
              </a:spcBef>
              <a:spcAft>
                <a:spcPts val="0"/>
              </a:spcAft>
              <a:buClr>
                <a:schemeClr val="accent2"/>
              </a:buClr>
              <a:buSzPct val="85000"/>
              <a:buFont typeface="Wingdings" pitchFamily="2" charset="2"/>
              <a:buChar char="q"/>
              <a:defRPr/>
            </a:pPr>
            <a:r>
              <a:rPr lang="en-US" sz="2000" dirty="0">
                <a:cs typeface="+mn-cs"/>
              </a:rPr>
              <a:t>Ex. networked access to a common database can avoid the same data being keyed multiple times, saving time and preventing errors</a:t>
            </a:r>
          </a:p>
          <a:p>
            <a:pPr marL="342900" indent="-279400" algn="just" fontAlgn="auto">
              <a:spcBef>
                <a:spcPts val="0"/>
              </a:spcBef>
              <a:spcAft>
                <a:spcPts val="0"/>
              </a:spcAft>
              <a:buClr>
                <a:schemeClr val="accent2"/>
              </a:buClr>
              <a:buSzPct val="85000"/>
              <a:buFont typeface="Wingdings" pitchFamily="2" charset="2"/>
              <a:buChar char="q"/>
              <a:defRPr/>
            </a:pPr>
            <a:endParaRPr lang="en-US" sz="19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 calcmode="lin" valueType="num">
                                      <p:cBhvr additive="base">
                                        <p:cTn id="19"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 calcmode="lin" valueType="num">
                                      <p:cBhvr additive="base">
                                        <p:cTn id="25"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anim calcmode="lin" valueType="num">
                                      <p:cBhvr additive="base">
                                        <p:cTn id="29"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12801" y="428626"/>
            <a:ext cx="8464551" cy="790575"/>
          </a:xfrm>
        </p:spPr>
        <p:txBody>
          <a:bodyPr/>
          <a:lstStyle/>
          <a:p>
            <a:r>
              <a:rPr lang="en-US" sz="3200" b="1" dirty="0"/>
              <a:t>Computer Network Components</a:t>
            </a:r>
          </a:p>
        </p:txBody>
      </p:sp>
      <p:sp>
        <p:nvSpPr>
          <p:cNvPr id="10243" name="Slide Number Placeholder 5"/>
          <p:cNvSpPr>
            <a:spLocks noGrp="1" noChangeArrowheads="1"/>
          </p:cNvSpPr>
          <p:nvPr>
            <p:ph type="sldNum" sz="quarter" idx="12"/>
          </p:nvPr>
        </p:nvSpPr>
        <p:spPr bwMode="auto">
          <a:xfrm>
            <a:off x="9732434" y="6453189"/>
            <a:ext cx="683684" cy="365125"/>
          </a:xfrm>
          <a:noFill/>
          <a:ln>
            <a:miter lim="800000"/>
            <a:headEnd/>
            <a:tailEnd/>
          </a:ln>
        </p:spPr>
        <p:txBody>
          <a:bodyPr/>
          <a:lstStyle/>
          <a:p>
            <a:fld id="{477AFA68-D6BD-45D7-BD71-1B2616CB8FCF}" type="slidenum">
              <a:rPr lang="ar-SA" altLang="en-US" sz="1200" smtClean="0">
                <a:solidFill>
                  <a:srgbClr val="898989"/>
                </a:solidFill>
                <a:latin typeface="Arial" charset="0"/>
                <a:cs typeface="Arial" charset="0"/>
              </a:rPr>
              <a:pPr/>
              <a:t>7</a:t>
            </a:fld>
            <a:endParaRPr lang="en-US" altLang="en-US" sz="1200">
              <a:solidFill>
                <a:srgbClr val="898989"/>
              </a:solidFill>
              <a:latin typeface="Arial" charset="0"/>
              <a:cs typeface="Arial" charset="0"/>
            </a:endParaRPr>
          </a:p>
        </p:txBody>
      </p:sp>
      <p:sp>
        <p:nvSpPr>
          <p:cNvPr id="6" name="Rectangle 3"/>
          <p:cNvSpPr txBox="1">
            <a:spLocks/>
          </p:cNvSpPr>
          <p:nvPr/>
        </p:nvSpPr>
        <p:spPr>
          <a:xfrm>
            <a:off x="817033" y="1600201"/>
            <a:ext cx="10871200" cy="4525963"/>
          </a:xfrm>
          <a:prstGeom prst="rect">
            <a:avLst/>
          </a:prstGeom>
        </p:spPr>
        <p:txBody>
          <a:bodyPr/>
          <a:lstStyle/>
          <a:p>
            <a:pPr marL="63500" algn="just" rtl="1" fontAlgn="auto">
              <a:lnSpc>
                <a:spcPct val="150000"/>
              </a:lnSpc>
              <a:spcBef>
                <a:spcPts val="700"/>
              </a:spcBef>
              <a:spcAft>
                <a:spcPts val="0"/>
              </a:spcAft>
              <a:buClr>
                <a:schemeClr val="accent2"/>
              </a:buClr>
              <a:buSzPct val="85000"/>
              <a:buFont typeface="Wingdings" pitchFamily="2" charset="2"/>
              <a:buChar char="§"/>
              <a:defRPr/>
            </a:pPr>
            <a:endParaRPr lang="en-US" sz="1000" kern="0" dirty="0">
              <a:latin typeface="+mn-lt"/>
              <a:cs typeface="+mn-cs"/>
            </a:endParaRPr>
          </a:p>
          <a:p>
            <a:pPr marL="63500" algn="just" rtl="1" fontAlgn="auto">
              <a:lnSpc>
                <a:spcPct val="150000"/>
              </a:lnSpc>
              <a:spcBef>
                <a:spcPts val="700"/>
              </a:spcBef>
              <a:spcAft>
                <a:spcPts val="0"/>
              </a:spcAft>
              <a:buClr>
                <a:schemeClr val="accent2"/>
              </a:buClr>
              <a:buSzPct val="85000"/>
              <a:buFont typeface="Wingdings" pitchFamily="2" charset="2"/>
              <a:buChar char="§"/>
              <a:defRPr/>
            </a:pPr>
            <a:endParaRPr lang="ar-SA" sz="1000" kern="0" dirty="0">
              <a:latin typeface="+mn-lt"/>
              <a:cs typeface="+mn-cs"/>
            </a:endParaRPr>
          </a:p>
        </p:txBody>
      </p:sp>
      <p:sp>
        <p:nvSpPr>
          <p:cNvPr id="7" name="Rectangle 3"/>
          <p:cNvSpPr txBox="1">
            <a:spLocks/>
          </p:cNvSpPr>
          <p:nvPr/>
        </p:nvSpPr>
        <p:spPr>
          <a:xfrm>
            <a:off x="571500" y="1285875"/>
            <a:ext cx="8742317" cy="4929188"/>
          </a:xfrm>
          <a:prstGeom prst="rect">
            <a:avLst/>
          </a:prstGeom>
        </p:spPr>
        <p:txBody>
          <a:bodyPr/>
          <a:lstStyle/>
          <a:p>
            <a:pPr algn="just" fontAlgn="auto">
              <a:spcBef>
                <a:spcPts val="0"/>
              </a:spcBef>
              <a:spcAft>
                <a:spcPts val="0"/>
              </a:spcAft>
              <a:buFont typeface="Wingdings" pitchFamily="2" charset="2"/>
              <a:buChar char="q"/>
              <a:defRPr/>
            </a:pPr>
            <a:r>
              <a:rPr lang="en-US" sz="2400" dirty="0">
                <a:cs typeface="+mn-cs"/>
              </a:rPr>
              <a:t>A computer network consists of several parts, each part has its own function in the networked system, and these parts are:</a:t>
            </a:r>
            <a:r>
              <a:rPr lang="ar-SA" sz="1300" dirty="0">
                <a:latin typeface="Arial" charset="0"/>
              </a:rPr>
              <a:t> </a:t>
            </a:r>
            <a:endParaRPr lang="en-US" sz="1300" dirty="0">
              <a:latin typeface="Arial" charset="0"/>
            </a:endParaRPr>
          </a:p>
          <a:p>
            <a:pPr algn="just" fontAlgn="auto">
              <a:spcBef>
                <a:spcPts val="0"/>
              </a:spcBef>
              <a:spcAft>
                <a:spcPts val="0"/>
              </a:spcAft>
              <a:defRPr/>
            </a:pPr>
            <a:endParaRPr lang="en-US" sz="1300" dirty="0">
              <a:latin typeface="Arial" charset="0"/>
            </a:endParaRP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latin typeface="Arial" charset="0"/>
              </a:rPr>
              <a:t>Server</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cs typeface="+mn-cs"/>
              </a:rPr>
              <a:t>Clients </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cs typeface="+mn-cs"/>
              </a:rPr>
              <a:t>Transmission Media</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latin typeface="Arial" charset="0"/>
              </a:rPr>
              <a:t>Network Interface Card</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latin typeface="Arial" charset="0"/>
              </a:rPr>
              <a:t>Peripherals </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latin typeface="Arial" charset="0"/>
              </a:rPr>
              <a:t>Communication Switches</a:t>
            </a:r>
          </a:p>
          <a:p>
            <a:pPr marL="977900" indent="-292100" algn="just" fontAlgn="auto">
              <a:lnSpc>
                <a:spcPct val="150000"/>
              </a:lnSpc>
              <a:spcBef>
                <a:spcPts val="0"/>
              </a:spcBef>
              <a:spcAft>
                <a:spcPts val="0"/>
              </a:spcAft>
              <a:buClr>
                <a:schemeClr val="accent2"/>
              </a:buClr>
              <a:buSzPct val="85000"/>
              <a:buFont typeface="Wingdings" pitchFamily="2" charset="2"/>
              <a:buChar char="q"/>
              <a:defRPr/>
            </a:pPr>
            <a:r>
              <a:rPr lang="en-US" sz="2000" dirty="0">
                <a:cs typeface="+mn-cs"/>
              </a:rPr>
              <a:t>Network Operating System</a:t>
            </a:r>
            <a:endParaRPr lang="en-US" sz="2000" dirty="0">
              <a:latin typeface="Arial" charset="0"/>
            </a:endParaRPr>
          </a:p>
        </p:txBody>
      </p:sp>
      <p:pic>
        <p:nvPicPr>
          <p:cNvPr id="10246" name="Picture 5"/>
          <p:cNvPicPr>
            <a:picLocks noChangeAspect="1" noChangeArrowheads="1"/>
          </p:cNvPicPr>
          <p:nvPr/>
        </p:nvPicPr>
        <p:blipFill>
          <a:blip r:embed="rId2"/>
          <a:srcRect/>
          <a:stretch>
            <a:fillRect/>
          </a:stretch>
        </p:blipFill>
        <p:spPr bwMode="auto">
          <a:xfrm>
            <a:off x="7048500" y="3071813"/>
            <a:ext cx="3048000" cy="1828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6"/>
                                        </p:tgtEl>
                                        <p:attrNameLst>
                                          <p:attrName>style.visibility</p:attrName>
                                        </p:attrNameLst>
                                      </p:cBhvr>
                                      <p:to>
                                        <p:strVal val="visible"/>
                                      </p:to>
                                    </p:set>
                                    <p:anim calcmode="lin" valueType="num">
                                      <p:cBhvr additive="base">
                                        <p:cTn id="13" dur="500" fill="hold"/>
                                        <p:tgtEl>
                                          <p:spTgt spid="10246"/>
                                        </p:tgtEl>
                                        <p:attrNameLst>
                                          <p:attrName>ppt_x</p:attrName>
                                        </p:attrNameLst>
                                      </p:cBhvr>
                                      <p:tavLst>
                                        <p:tav tm="0">
                                          <p:val>
                                            <p:strVal val="#ppt_x"/>
                                          </p:val>
                                        </p:tav>
                                        <p:tav tm="100000">
                                          <p:val>
                                            <p:strVal val="#ppt_x"/>
                                          </p:val>
                                        </p:tav>
                                      </p:tavLst>
                                    </p:anim>
                                    <p:anim calcmode="lin" valueType="num">
                                      <p:cBhvr additive="base">
                                        <p:cTn id="14" dur="500" fill="hold"/>
                                        <p:tgtEl>
                                          <p:spTgt spid="1024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 calcmode="lin" valueType="num">
                                      <p:cBhvr additive="base">
                                        <p:cTn id="23"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 calcmode="lin" valueType="num">
                                      <p:cBhvr additive="base">
                                        <p:cTn id="2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anim calcmode="lin" valueType="num">
                                      <p:cBhvr additive="base">
                                        <p:cTn id="31"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anim calcmode="lin" valueType="num">
                                      <p:cBhvr additive="base">
                                        <p:cTn id="35"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7" end="7"/>
                                            </p:txEl>
                                          </p:spTgt>
                                        </p:tgtEl>
                                        <p:attrNameLst>
                                          <p:attrName>style.visibility</p:attrName>
                                        </p:attrNameLst>
                                      </p:cBhvr>
                                      <p:to>
                                        <p:strVal val="visible"/>
                                      </p:to>
                                    </p:set>
                                    <p:anim calcmode="lin" valueType="num">
                                      <p:cBhvr additive="base">
                                        <p:cTn id="3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
                                            <p:txEl>
                                              <p:pRg st="8" end="8"/>
                                            </p:txEl>
                                          </p:spTgt>
                                        </p:tgtEl>
                                        <p:attrNameLst>
                                          <p:attrName>style.visibility</p:attrName>
                                        </p:attrNameLst>
                                      </p:cBhvr>
                                      <p:to>
                                        <p:strVal val="visible"/>
                                      </p:to>
                                    </p:set>
                                    <p:anim calcmode="lin" valueType="num">
                                      <p:cBhvr additive="base">
                                        <p:cTn id="43"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endParaRPr lang="en-US"/>
          </a:p>
        </p:txBody>
      </p:sp>
      <p:pic>
        <p:nvPicPr>
          <p:cNvPr id="11268" name="Picture 2"/>
          <p:cNvPicPr>
            <a:picLocks noGrp="1" noChangeAspect="1" noChangeArrowheads="1"/>
          </p:cNvPicPr>
          <p:nvPr>
            <p:ph idx="1"/>
          </p:nvPr>
        </p:nvPicPr>
        <p:blipFill>
          <a:blip r:embed="rId2"/>
          <a:srcRect/>
          <a:stretch>
            <a:fillRect/>
          </a:stretch>
        </p:blipFill>
        <p:spPr>
          <a:xfrm>
            <a:off x="571501" y="500063"/>
            <a:ext cx="10953751" cy="5541962"/>
          </a:xfrm>
        </p:spPr>
      </p:pic>
      <p:sp>
        <p:nvSpPr>
          <p:cNvPr id="11267" name="Slide Number Placeholder 3"/>
          <p:cNvSpPr>
            <a:spLocks noGrp="1"/>
          </p:cNvSpPr>
          <p:nvPr>
            <p:ph type="sldNum" sz="quarter" idx="12"/>
          </p:nvPr>
        </p:nvSpPr>
        <p:spPr bwMode="auto">
          <a:ln>
            <a:miter lim="800000"/>
            <a:headEnd/>
            <a:tailEnd/>
          </a:ln>
        </p:spPr>
        <p:txBody>
          <a:bodyPr/>
          <a:lstStyle/>
          <a:p>
            <a:pPr>
              <a:defRPr/>
            </a:pPr>
            <a:fld id="{A9CF807E-7CAF-4611-831E-FE9233FC6BA9}" type="slidenum">
              <a:rPr lang="ar-SA" altLang="en-US" smtClean="0"/>
              <a:pPr>
                <a:defRPr/>
              </a:pPr>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812801" y="428626"/>
            <a:ext cx="10426700" cy="790575"/>
          </a:xfrm>
        </p:spPr>
        <p:txBody>
          <a:bodyPr/>
          <a:lstStyle/>
          <a:p>
            <a:pPr eaLnBrk="1" hangingPunct="1"/>
            <a:r>
              <a:rPr lang="en-US" sz="3200" b="1" dirty="0"/>
              <a:t>Computer Network Components Cont..</a:t>
            </a:r>
            <a:endParaRPr lang="en-US" altLang="en-US" sz="3200" b="1" dirty="0">
              <a:solidFill>
                <a:schemeClr val="accent2"/>
              </a:solidFill>
              <a:cs typeface="Times New Roman" pitchFamily="18" charset="0"/>
            </a:endParaRPr>
          </a:p>
        </p:txBody>
      </p:sp>
      <p:sp>
        <p:nvSpPr>
          <p:cNvPr id="12291" name="Slide Number Placeholder 5"/>
          <p:cNvSpPr>
            <a:spLocks noGrp="1" noChangeArrowheads="1"/>
          </p:cNvSpPr>
          <p:nvPr>
            <p:ph type="sldNum" sz="quarter" idx="12"/>
          </p:nvPr>
        </p:nvSpPr>
        <p:spPr bwMode="auto">
          <a:noFill/>
          <a:ln>
            <a:miter lim="800000"/>
            <a:headEnd/>
            <a:tailEnd/>
          </a:ln>
        </p:spPr>
        <p:txBody>
          <a:bodyPr/>
          <a:lstStyle/>
          <a:p>
            <a:fld id="{879F317A-75D4-456F-A63A-786B19D90914}" type="slidenum">
              <a:rPr lang="ar-SA" altLang="en-US" sz="1200" smtClean="0">
                <a:solidFill>
                  <a:srgbClr val="898989"/>
                </a:solidFill>
                <a:latin typeface="Arial" charset="0"/>
                <a:cs typeface="Arial" charset="0"/>
              </a:rPr>
              <a:pPr/>
              <a:t>9</a:t>
            </a:fld>
            <a:endParaRPr lang="en-US" altLang="en-US" sz="1200">
              <a:solidFill>
                <a:srgbClr val="898989"/>
              </a:solidFill>
              <a:latin typeface="Arial" charset="0"/>
              <a:cs typeface="Arial" charset="0"/>
            </a:endParaRPr>
          </a:p>
        </p:txBody>
      </p:sp>
      <p:sp>
        <p:nvSpPr>
          <p:cNvPr id="4" name="Rectangle 3"/>
          <p:cNvSpPr txBox="1">
            <a:spLocks/>
          </p:cNvSpPr>
          <p:nvPr/>
        </p:nvSpPr>
        <p:spPr>
          <a:xfrm>
            <a:off x="239184" y="1033463"/>
            <a:ext cx="9505949" cy="4895850"/>
          </a:xfrm>
          <a:prstGeom prst="rect">
            <a:avLst/>
          </a:prstGeom>
        </p:spPr>
        <p:txBody>
          <a:bodyPr/>
          <a:lstStyle/>
          <a:p>
            <a:pPr algn="just" rtl="1" fontAlgn="auto">
              <a:spcBef>
                <a:spcPts val="0"/>
              </a:spcBef>
              <a:spcAft>
                <a:spcPts val="0"/>
              </a:spcAft>
              <a:defRPr/>
            </a:pPr>
            <a:r>
              <a:rPr lang="ar-SA" sz="1400" dirty="0">
                <a:latin typeface="Arial" charset="0"/>
              </a:rPr>
              <a:t> </a:t>
            </a:r>
            <a:endParaRPr lang="en-US" sz="1400" dirty="0">
              <a:latin typeface="Arial" charset="0"/>
            </a:endParaRPr>
          </a:p>
          <a:p>
            <a:pPr marL="342900" indent="-342900" algn="just" fontAlgn="auto">
              <a:spcBef>
                <a:spcPts val="0"/>
              </a:spcBef>
              <a:spcAft>
                <a:spcPts val="0"/>
              </a:spcAft>
              <a:buClr>
                <a:schemeClr val="accent2"/>
              </a:buClr>
              <a:buSzPct val="85000"/>
              <a:buFont typeface="Wingdings" pitchFamily="2" charset="2"/>
              <a:buChar char="q"/>
              <a:defRPr/>
            </a:pPr>
            <a:r>
              <a:rPr lang="en-US" sz="2400" b="1" dirty="0">
                <a:cs typeface="+mn-cs"/>
              </a:rPr>
              <a:t>Servers</a:t>
            </a:r>
            <a:r>
              <a:rPr lang="ar-SA" sz="2400" b="1" dirty="0">
                <a:cs typeface="+mn-cs"/>
              </a:rPr>
              <a:t>:</a:t>
            </a:r>
            <a:r>
              <a:rPr lang="en-US" sz="2000" dirty="0">
                <a:cs typeface="+mn-cs"/>
              </a:rPr>
              <a:t> Servers are computers that hold shared files, programs, and the network operating system. Servers provide access to network resources to all the users of the network. It is characterized by high processing speed and large storage capacity</a:t>
            </a:r>
            <a:endParaRPr lang="ar-SA" sz="2000" dirty="0">
              <a:cs typeface="+mn-cs"/>
            </a:endParaRPr>
          </a:p>
          <a:p>
            <a:pPr marL="342900" indent="-342900" algn="just" fontAlgn="auto">
              <a:spcBef>
                <a:spcPts val="0"/>
              </a:spcBef>
              <a:spcAft>
                <a:spcPts val="0"/>
              </a:spcAft>
              <a:buClr>
                <a:schemeClr val="accent2"/>
              </a:buClr>
              <a:buSzPct val="85000"/>
              <a:defRPr/>
            </a:pPr>
            <a:r>
              <a:rPr lang="en-US" sz="2000" dirty="0">
                <a:cs typeface="+mn-cs"/>
              </a:rPr>
              <a:t> </a:t>
            </a:r>
            <a:endParaRPr lang="ar-SA" sz="2000" dirty="0">
              <a:cs typeface="+mn-cs"/>
            </a:endParaRPr>
          </a:p>
          <a:p>
            <a:pPr marL="342900" indent="-342900" algn="just" fontAlgn="auto">
              <a:spcBef>
                <a:spcPts val="0"/>
              </a:spcBef>
              <a:spcAft>
                <a:spcPts val="0"/>
              </a:spcAft>
              <a:buClr>
                <a:schemeClr val="accent2"/>
              </a:buClr>
              <a:buSzPct val="85000"/>
              <a:buFont typeface="Wingdings" pitchFamily="2" charset="2"/>
              <a:buChar char="q"/>
              <a:defRPr/>
            </a:pPr>
            <a:r>
              <a:rPr lang="en-US" sz="2400" b="1" dirty="0">
                <a:cs typeface="+mn-cs"/>
              </a:rPr>
              <a:t>Clients (Workstations) </a:t>
            </a:r>
            <a:r>
              <a:rPr lang="en-US" sz="2000" b="1" dirty="0">
                <a:cs typeface="+mn-cs"/>
              </a:rPr>
              <a:t>− Clients are computers that request and receive service from the servers to access and use the network resources.</a:t>
            </a:r>
          </a:p>
          <a:p>
            <a:pPr marL="342900" indent="-342900" algn="just" fontAlgn="auto">
              <a:spcBef>
                <a:spcPts val="0"/>
              </a:spcBef>
              <a:spcAft>
                <a:spcPts val="0"/>
              </a:spcAft>
              <a:buClr>
                <a:schemeClr val="accent2"/>
              </a:buClr>
              <a:buSzPct val="85000"/>
              <a:defRPr/>
            </a:pPr>
            <a:endParaRPr lang="en-US" sz="2000" b="1" dirty="0">
              <a:cs typeface="+mn-cs"/>
            </a:endParaRPr>
          </a:p>
          <a:p>
            <a:pPr marL="342900" indent="-342900" algn="just" fontAlgn="auto">
              <a:spcBef>
                <a:spcPts val="0"/>
              </a:spcBef>
              <a:spcAft>
                <a:spcPts val="0"/>
              </a:spcAft>
              <a:buClr>
                <a:schemeClr val="accent2"/>
              </a:buClr>
              <a:buSzPct val="85000"/>
              <a:buFont typeface="Wingdings" pitchFamily="2" charset="2"/>
              <a:buChar char="q"/>
              <a:defRPr/>
            </a:pPr>
            <a:r>
              <a:rPr lang="en-US" sz="2400" b="1" dirty="0">
                <a:cs typeface="+mn-cs"/>
              </a:rPr>
              <a:t>Transmission media </a:t>
            </a:r>
            <a:r>
              <a:rPr lang="en-US" sz="2000" dirty="0">
                <a:cs typeface="+mn-cs"/>
              </a:rPr>
              <a:t>are the channels through which data is transferred from one device to another in a network. Transmission media may be guided media like coaxial cable, fiber optic cables etc; or maybe unguided media like microwaves, infra-red waves etc.</a:t>
            </a:r>
          </a:p>
          <a:p>
            <a:pPr marL="342900" indent="-342900" algn="just" fontAlgn="auto">
              <a:spcBef>
                <a:spcPts val="0"/>
              </a:spcBef>
              <a:spcAft>
                <a:spcPts val="0"/>
              </a:spcAft>
              <a:buClr>
                <a:schemeClr val="accent2"/>
              </a:buClr>
              <a:buSzPct val="85000"/>
              <a:buFont typeface="Wingdings" pitchFamily="2" charset="2"/>
              <a:buChar char="q"/>
              <a:defRPr/>
            </a:pPr>
            <a:endParaRPr lang="en-US" sz="2300" dirty="0">
              <a:solidFill>
                <a:schemeClr val="accent2"/>
              </a:solidFill>
              <a:latin typeface="Arial" charset="0"/>
            </a:endParaRPr>
          </a:p>
          <a:p>
            <a:pPr marL="342900" indent="-342900" algn="just" fontAlgn="auto">
              <a:spcBef>
                <a:spcPts val="0"/>
              </a:spcBef>
              <a:spcAft>
                <a:spcPts val="0"/>
              </a:spcAft>
              <a:buClr>
                <a:schemeClr val="accent2"/>
              </a:buClr>
              <a:buSzPct val="85000"/>
              <a:buFont typeface="Wingdings" pitchFamily="2" charset="2"/>
              <a:buChar char="q"/>
              <a:defRPr/>
            </a:pPr>
            <a:endParaRPr lang="ar-SA"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6"/>
          <p:cNvSpPr>
            <a:spLocks noGrp="1" noChangeArrowheads="1"/>
          </p:cNvSpPr>
          <p:nvPr>
            <p:ph type="sldNum" sz="quarter" idx="12"/>
          </p:nvPr>
        </p:nvSpPr>
        <p:spPr bwMode="auto">
          <a:noFill/>
          <a:ln>
            <a:miter lim="800000"/>
            <a:headEnd/>
            <a:tailEnd/>
          </a:ln>
        </p:spPr>
        <p:txBody>
          <a:bodyPr/>
          <a:lstStyle/>
          <a:p>
            <a:fld id="{60B1940C-3A4F-4215-8534-94D20CF19888}" type="slidenum">
              <a:rPr lang="ar-SA" altLang="en-US" sz="1200" smtClean="0">
                <a:solidFill>
                  <a:srgbClr val="898989"/>
                </a:solidFill>
                <a:latin typeface="Arial" charset="0"/>
                <a:cs typeface="Arial" charset="0"/>
              </a:rPr>
              <a:pPr/>
              <a:t>10</a:t>
            </a:fld>
            <a:endParaRPr lang="en-US" altLang="en-US" sz="1200">
              <a:solidFill>
                <a:srgbClr val="898989"/>
              </a:solidFill>
              <a:latin typeface="Arial" charset="0"/>
              <a:cs typeface="Arial" charset="0"/>
            </a:endParaRPr>
          </a:p>
        </p:txBody>
      </p:sp>
      <p:sp>
        <p:nvSpPr>
          <p:cNvPr id="9" name="Rectangle 2"/>
          <p:cNvSpPr txBox="1">
            <a:spLocks/>
          </p:cNvSpPr>
          <p:nvPr/>
        </p:nvSpPr>
        <p:spPr bwMode="auto">
          <a:xfrm>
            <a:off x="812801" y="428626"/>
            <a:ext cx="10140951" cy="790575"/>
          </a:xfrm>
          <a:prstGeom prst="rect">
            <a:avLst/>
          </a:prstGeom>
          <a:noFill/>
          <a:ln w="9525">
            <a:noFill/>
            <a:miter lim="800000"/>
            <a:headEnd/>
            <a:tailEnd/>
          </a:ln>
        </p:spPr>
        <p:txBody>
          <a:bodyPr anchor="ctr"/>
          <a:lstStyle/>
          <a:p>
            <a:pPr fontAlgn="auto">
              <a:spcBef>
                <a:spcPts val="0"/>
              </a:spcBef>
              <a:spcAft>
                <a:spcPts val="0"/>
              </a:spcAft>
              <a:defRPr/>
            </a:pPr>
            <a:r>
              <a:rPr lang="en-US" sz="3200" b="1" dirty="0"/>
              <a:t>C</a:t>
            </a:r>
            <a:r>
              <a:rPr lang="en-US" sz="3200" b="1" dirty="0">
                <a:cs typeface="+mn-cs"/>
              </a:rPr>
              <a:t>omputer </a:t>
            </a:r>
            <a:r>
              <a:rPr lang="en-US" sz="3200" b="1" dirty="0"/>
              <a:t>N</a:t>
            </a:r>
            <a:r>
              <a:rPr lang="en-US" sz="3200" b="1" dirty="0">
                <a:cs typeface="+mn-cs"/>
              </a:rPr>
              <a:t>etwork </a:t>
            </a:r>
            <a:r>
              <a:rPr lang="en-US" sz="3200" b="1" dirty="0"/>
              <a:t>C</a:t>
            </a:r>
            <a:r>
              <a:rPr lang="en-US" sz="3200" b="1" dirty="0">
                <a:cs typeface="+mn-cs"/>
              </a:rPr>
              <a:t>omponents Cont..</a:t>
            </a:r>
            <a:endParaRPr lang="en-US" sz="3200" b="1" kern="0" dirty="0">
              <a:solidFill>
                <a:schemeClr val="accent2"/>
              </a:solidFill>
              <a:latin typeface="+mj-lt"/>
              <a:ea typeface="+mj-ea"/>
              <a:cs typeface="+mj-cs"/>
            </a:endParaRPr>
          </a:p>
        </p:txBody>
      </p:sp>
      <p:sp>
        <p:nvSpPr>
          <p:cNvPr id="13316" name="Rectangle 3"/>
          <p:cNvSpPr txBox="1">
            <a:spLocks/>
          </p:cNvSpPr>
          <p:nvPr/>
        </p:nvSpPr>
        <p:spPr bwMode="auto">
          <a:xfrm>
            <a:off x="285751" y="1403351"/>
            <a:ext cx="9573866" cy="4525963"/>
          </a:xfrm>
          <a:prstGeom prst="rect">
            <a:avLst/>
          </a:prstGeom>
          <a:noFill/>
          <a:ln w="9525">
            <a:noFill/>
            <a:miter lim="800000"/>
            <a:headEnd/>
            <a:tailEnd/>
          </a:ln>
        </p:spPr>
        <p:txBody>
          <a:bodyPr/>
          <a:lstStyle/>
          <a:p>
            <a:pPr algn="just">
              <a:buFont typeface="Wingdings" pitchFamily="2" charset="2"/>
              <a:buChar char="q"/>
            </a:pPr>
            <a:r>
              <a:rPr lang="en-US" altLang="en-US" sz="1400" b="1" dirty="0">
                <a:latin typeface="Arial" charset="0"/>
              </a:rPr>
              <a:t> </a:t>
            </a:r>
            <a:r>
              <a:rPr lang="en-US" sz="2000" b="1" dirty="0">
                <a:latin typeface="Arial" charset="0"/>
              </a:rPr>
              <a:t>Network Interface Card</a:t>
            </a:r>
            <a:r>
              <a:rPr lang="en-US" sz="2400" b="1" dirty="0">
                <a:latin typeface="Arial" charset="0"/>
              </a:rPr>
              <a:t>: </a:t>
            </a:r>
            <a:r>
              <a:rPr lang="en-US" sz="2000" b="1" dirty="0">
                <a:latin typeface="Arial" charset="0"/>
              </a:rPr>
              <a:t>e</a:t>
            </a:r>
            <a:r>
              <a:rPr lang="en-US" sz="2000" dirty="0"/>
              <a:t>ach computer in a network has a special expansion card called a network interface card (NIC). The NIC prepares(formats) and sends data, receives data, and controls data flow between the computer and the network.</a:t>
            </a:r>
          </a:p>
          <a:p>
            <a:pPr algn="just">
              <a:buFont typeface="Wingdings" pitchFamily="2" charset="2"/>
              <a:buChar char="q"/>
            </a:pPr>
            <a:endParaRPr lang="en-US" sz="2000" dirty="0"/>
          </a:p>
          <a:p>
            <a:pPr algn="just">
              <a:buFont typeface="Wingdings" pitchFamily="2" charset="2"/>
              <a:buChar char="q"/>
            </a:pPr>
            <a:endParaRPr lang="en-US" altLang="en-US" sz="2000" dirty="0">
              <a:latin typeface="Arial" charset="0"/>
            </a:endParaRPr>
          </a:p>
          <a:p>
            <a:pPr algn="just">
              <a:buFont typeface="Wingdings" pitchFamily="2" charset="2"/>
              <a:buChar char="q"/>
            </a:pPr>
            <a:r>
              <a:rPr lang="en-US" sz="2000" b="1" dirty="0">
                <a:latin typeface="Arial" charset="0"/>
              </a:rPr>
              <a:t>Peripherals: </a:t>
            </a:r>
            <a:r>
              <a:rPr lang="en-US" sz="2000" dirty="0"/>
              <a:t>peripherals are hardware resources provided to the users of the network by servers. Resources provided include printers, scanner, fax,…</a:t>
            </a:r>
          </a:p>
          <a:p>
            <a:pPr algn="just">
              <a:buFont typeface="Wingdings" pitchFamily="2" charset="2"/>
              <a:buChar char="q"/>
            </a:pPr>
            <a:endParaRPr lang="en-US" sz="2000" dirty="0"/>
          </a:p>
          <a:p>
            <a:pPr algn="just">
              <a:buFont typeface="Wingdings" pitchFamily="2" charset="2"/>
              <a:buChar char="q"/>
            </a:pPr>
            <a:endParaRPr lang="en-US" dirty="0">
              <a:solidFill>
                <a:schemeClr val="accent2"/>
              </a:solidFill>
              <a:latin typeface="Arial" charset="0"/>
            </a:endParaRPr>
          </a:p>
          <a:p>
            <a:pPr algn="just">
              <a:buFont typeface="Wingdings" pitchFamily="2" charset="2"/>
              <a:buChar char="q"/>
            </a:pPr>
            <a:r>
              <a:rPr lang="en-US" sz="2000" b="1" dirty="0">
                <a:latin typeface="Arial" charset="0"/>
              </a:rPr>
              <a:t>Communication Switches: </a:t>
            </a:r>
            <a:r>
              <a:rPr lang="en-US" sz="2000" dirty="0"/>
              <a:t>connecting devices act as middleware between networks or computers, by binding the network media together.</a:t>
            </a:r>
          </a:p>
          <a:p>
            <a:pPr lvl="2" algn="just">
              <a:buFont typeface="Wingdings" pitchFamily="2" charset="2"/>
              <a:buChar char="q"/>
            </a:pPr>
            <a:r>
              <a:rPr lang="en-US" sz="2000" dirty="0"/>
              <a:t>Ex: Routers, Hubs, Switches, Repeaters</a:t>
            </a:r>
          </a:p>
          <a:p>
            <a:pPr algn="just"/>
            <a:r>
              <a:rPr lang="en-US" sz="2000" dirty="0"/>
              <a:t>         </a:t>
            </a:r>
          </a:p>
          <a:p>
            <a:pPr algn="just">
              <a:buFont typeface="Wingdings" pitchFamily="2" charset="2"/>
              <a:buChar char="q"/>
            </a:pPr>
            <a:endParaRPr lang="en-US" sz="1400" dirty="0">
              <a:latin typeface="Arial" charset="0"/>
            </a:endParaRPr>
          </a:p>
          <a:p>
            <a:pPr algn="just">
              <a:buFont typeface="Wingdings" pitchFamily="2" charset="2"/>
              <a:buChar char="q"/>
            </a:pPr>
            <a:endParaRPr lang="en-US" altLang="en-US"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 calcmode="lin" valueType="num">
                                      <p:cBhvr additive="base">
                                        <p:cTn id="7" dur="500" fill="hold"/>
                                        <p:tgtEl>
                                          <p:spTgt spid="133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6">
                                            <p:txEl>
                                              <p:pRg st="3" end="3"/>
                                            </p:txEl>
                                          </p:spTgt>
                                        </p:tgtEl>
                                        <p:attrNameLst>
                                          <p:attrName>style.visibility</p:attrName>
                                        </p:attrNameLst>
                                      </p:cBhvr>
                                      <p:to>
                                        <p:strVal val="visible"/>
                                      </p:to>
                                    </p:set>
                                    <p:anim calcmode="lin" valueType="num">
                                      <p:cBhvr additive="base">
                                        <p:cTn id="13" dur="500" fill="hold"/>
                                        <p:tgtEl>
                                          <p:spTgt spid="1331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6">
                                            <p:txEl>
                                              <p:pRg st="6" end="6"/>
                                            </p:txEl>
                                          </p:spTgt>
                                        </p:tgtEl>
                                        <p:attrNameLst>
                                          <p:attrName>style.visibility</p:attrName>
                                        </p:attrNameLst>
                                      </p:cBhvr>
                                      <p:to>
                                        <p:strVal val="visible"/>
                                      </p:to>
                                    </p:set>
                                    <p:anim calcmode="lin" valueType="num">
                                      <p:cBhvr additive="base">
                                        <p:cTn id="19" dur="500" fill="hold"/>
                                        <p:tgtEl>
                                          <p:spTgt spid="1331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6">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316">
                                            <p:txEl>
                                              <p:pRg st="7" end="7"/>
                                            </p:txEl>
                                          </p:spTgt>
                                        </p:tgtEl>
                                        <p:attrNameLst>
                                          <p:attrName>style.visibility</p:attrName>
                                        </p:attrNameLst>
                                      </p:cBhvr>
                                      <p:to>
                                        <p:strVal val="visible"/>
                                      </p:to>
                                    </p:set>
                                    <p:anim calcmode="lin" valueType="num">
                                      <p:cBhvr additive="base">
                                        <p:cTn id="23" dur="500" fill="hold"/>
                                        <p:tgtEl>
                                          <p:spTgt spid="13316">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3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12801" y="638175"/>
            <a:ext cx="10140951" cy="790575"/>
          </a:xfrm>
        </p:spPr>
        <p:txBody>
          <a:bodyPr/>
          <a:lstStyle/>
          <a:p>
            <a:pPr fontAlgn="auto">
              <a:spcBef>
                <a:spcPts val="0"/>
              </a:spcBef>
              <a:spcAft>
                <a:spcPts val="0"/>
              </a:spcAft>
              <a:defRPr/>
            </a:pPr>
            <a:r>
              <a:rPr lang="en-US" sz="3200" b="1" dirty="0"/>
              <a:t>Computer Network Components Cont..</a:t>
            </a:r>
            <a:endParaRPr lang="en-US" sz="3200" b="1" kern="0" dirty="0">
              <a:solidFill>
                <a:schemeClr val="accent2"/>
              </a:solidFill>
            </a:endParaRPr>
          </a:p>
        </p:txBody>
      </p:sp>
      <p:sp>
        <p:nvSpPr>
          <p:cNvPr id="14339" name="Slide Number Placeholder 5"/>
          <p:cNvSpPr>
            <a:spLocks noGrp="1" noChangeArrowheads="1"/>
          </p:cNvSpPr>
          <p:nvPr>
            <p:ph type="sldNum" sz="quarter" idx="12"/>
          </p:nvPr>
        </p:nvSpPr>
        <p:spPr bwMode="auto">
          <a:xfrm>
            <a:off x="10117667" y="6042026"/>
            <a:ext cx="683684" cy="365125"/>
          </a:xfrm>
          <a:noFill/>
          <a:ln>
            <a:miter lim="800000"/>
            <a:headEnd/>
            <a:tailEnd/>
          </a:ln>
        </p:spPr>
        <p:txBody>
          <a:bodyPr/>
          <a:lstStyle/>
          <a:p>
            <a:fld id="{78584AD5-A567-43E2-A66F-0B3762E04B8F}" type="slidenum">
              <a:rPr lang="ar-SA" altLang="en-US" sz="1200" smtClean="0">
                <a:solidFill>
                  <a:srgbClr val="898989"/>
                </a:solidFill>
                <a:latin typeface="Arial" charset="0"/>
                <a:cs typeface="Arial" charset="0"/>
              </a:rPr>
              <a:pPr/>
              <a:t>11</a:t>
            </a:fld>
            <a:endParaRPr lang="en-US" altLang="en-US" sz="1200">
              <a:solidFill>
                <a:srgbClr val="898989"/>
              </a:solidFill>
              <a:latin typeface="Arial" charset="0"/>
              <a:cs typeface="Arial" charset="0"/>
            </a:endParaRPr>
          </a:p>
        </p:txBody>
      </p:sp>
      <p:sp>
        <p:nvSpPr>
          <p:cNvPr id="14340" name="Rectangle 3"/>
          <p:cNvSpPr txBox="1">
            <a:spLocks/>
          </p:cNvSpPr>
          <p:nvPr/>
        </p:nvSpPr>
        <p:spPr bwMode="auto">
          <a:xfrm>
            <a:off x="285752" y="1816101"/>
            <a:ext cx="9054192" cy="2398713"/>
          </a:xfrm>
          <a:prstGeom prst="rect">
            <a:avLst/>
          </a:prstGeom>
          <a:noFill/>
          <a:ln w="9525">
            <a:noFill/>
            <a:miter lim="800000"/>
            <a:headEnd/>
            <a:tailEnd/>
          </a:ln>
        </p:spPr>
        <p:txBody>
          <a:bodyPr/>
          <a:lstStyle/>
          <a:p>
            <a:pPr algn="justLow"/>
            <a:r>
              <a:rPr lang="en-US" sz="2400" b="1" dirty="0"/>
              <a:t>Network operating system </a:t>
            </a:r>
            <a:r>
              <a:rPr lang="en-US" sz="2000" dirty="0"/>
              <a:t>is a program that runs on computers and servers that allows the computers to communicate over the network</a:t>
            </a:r>
            <a:r>
              <a:rPr lang="en-US" dirty="0"/>
              <a:t>.</a:t>
            </a:r>
            <a:endParaRPr lang="en-US" dirty="0">
              <a:latin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12801" y="781051"/>
            <a:ext cx="8354484" cy="790575"/>
          </a:xfrm>
        </p:spPr>
        <p:txBody>
          <a:bodyPr/>
          <a:lstStyle/>
          <a:p>
            <a:r>
              <a:rPr lang="en-US" sz="3200" b="1"/>
              <a:t>Computer Network Types</a:t>
            </a:r>
          </a:p>
        </p:txBody>
      </p:sp>
      <p:sp>
        <p:nvSpPr>
          <p:cNvPr id="15363" name="Slide Number Placeholder 5"/>
          <p:cNvSpPr>
            <a:spLocks noGrp="1" noChangeArrowheads="1"/>
          </p:cNvSpPr>
          <p:nvPr>
            <p:ph type="sldNum" sz="quarter" idx="12"/>
          </p:nvPr>
        </p:nvSpPr>
        <p:spPr bwMode="auto">
          <a:xfrm>
            <a:off x="10117667" y="6042026"/>
            <a:ext cx="683684" cy="365125"/>
          </a:xfrm>
          <a:noFill/>
          <a:ln>
            <a:miter lim="800000"/>
            <a:headEnd/>
            <a:tailEnd/>
          </a:ln>
        </p:spPr>
        <p:txBody>
          <a:bodyPr/>
          <a:lstStyle/>
          <a:p>
            <a:fld id="{4A414EFA-06DD-4D8E-8D22-8DA8420905B4}" type="slidenum">
              <a:rPr lang="ar-SA" altLang="en-US" sz="1200" smtClean="0">
                <a:solidFill>
                  <a:srgbClr val="898989"/>
                </a:solidFill>
                <a:latin typeface="Arial" charset="0"/>
                <a:cs typeface="Arial" charset="0"/>
              </a:rPr>
              <a:pPr/>
              <a:t>12</a:t>
            </a:fld>
            <a:endParaRPr lang="en-US" altLang="en-US" sz="1200">
              <a:solidFill>
                <a:srgbClr val="898989"/>
              </a:solidFill>
              <a:latin typeface="Arial" charset="0"/>
              <a:cs typeface="Arial" charset="0"/>
            </a:endParaRPr>
          </a:p>
        </p:txBody>
      </p:sp>
      <p:sp>
        <p:nvSpPr>
          <p:cNvPr id="5" name="Rectangle 3"/>
          <p:cNvSpPr txBox="1">
            <a:spLocks/>
          </p:cNvSpPr>
          <p:nvPr/>
        </p:nvSpPr>
        <p:spPr>
          <a:xfrm>
            <a:off x="829734" y="1928813"/>
            <a:ext cx="8981017" cy="3143250"/>
          </a:xfrm>
          <a:prstGeom prst="rect">
            <a:avLst/>
          </a:prstGeom>
        </p:spPr>
        <p:txBody>
          <a:bodyPr/>
          <a:lstStyle/>
          <a:p>
            <a:pPr>
              <a:buFont typeface="Wingdings" pitchFamily="2" charset="2"/>
              <a:buChar char="q"/>
              <a:defRPr/>
            </a:pPr>
            <a:r>
              <a:rPr lang="en-US" sz="2000" dirty="0"/>
              <a:t> A computer network can be categorized by their size. A </a:t>
            </a:r>
            <a:r>
              <a:rPr lang="en-US" sz="2000" b="1" dirty="0"/>
              <a:t>computer network</a:t>
            </a:r>
            <a:r>
              <a:rPr lang="en-US" sz="2000" dirty="0"/>
              <a:t> is mainly of </a:t>
            </a:r>
            <a:r>
              <a:rPr lang="en-US" sz="2000" b="1" dirty="0"/>
              <a:t>three types:</a:t>
            </a:r>
          </a:p>
          <a:p>
            <a:pPr>
              <a:defRPr/>
            </a:pPr>
            <a:endParaRPr lang="en-US" sz="2000" b="1" dirty="0"/>
          </a:p>
          <a:p>
            <a:pPr lvl="1">
              <a:buFont typeface="Wingdings" pitchFamily="2" charset="2"/>
              <a:buChar char="q"/>
              <a:defRPr/>
            </a:pPr>
            <a:r>
              <a:rPr lang="en-US" sz="2000" dirty="0"/>
              <a:t>LAN (Local Area Network)</a:t>
            </a:r>
          </a:p>
          <a:p>
            <a:pPr lvl="1">
              <a:buFont typeface="Wingdings" pitchFamily="2" charset="2"/>
              <a:buChar char="q"/>
              <a:defRPr/>
            </a:pPr>
            <a:r>
              <a:rPr lang="en-US" sz="2000" dirty="0"/>
              <a:t>MAN (Metropolitan Area Network)</a:t>
            </a:r>
          </a:p>
          <a:p>
            <a:pPr lvl="1">
              <a:buFont typeface="Wingdings" pitchFamily="2" charset="2"/>
              <a:buChar char="q"/>
              <a:defRPr/>
            </a:pPr>
            <a:r>
              <a:rPr lang="en-US" sz="2000" dirty="0"/>
              <a:t>WAN (Wide Area Network)</a:t>
            </a:r>
          </a:p>
          <a:p>
            <a:pPr marL="977900" indent="-292100" algn="just" fontAlgn="auto">
              <a:lnSpc>
                <a:spcPct val="150000"/>
              </a:lnSpc>
              <a:spcBef>
                <a:spcPts val="0"/>
              </a:spcBef>
              <a:spcAft>
                <a:spcPts val="0"/>
              </a:spcAft>
              <a:buClr>
                <a:schemeClr val="accent2"/>
              </a:buClr>
              <a:buSzPct val="85000"/>
              <a:buFont typeface="+mj-lt"/>
              <a:buAutoNum type="arabicPeriod"/>
              <a:defRPr/>
            </a:pPr>
            <a:endParaRPr lang="en-US"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812801" y="609600"/>
            <a:ext cx="8464551" cy="1320800"/>
          </a:xfrm>
        </p:spPr>
        <p:txBody>
          <a:bodyPr/>
          <a:lstStyle/>
          <a:p>
            <a:pPr marL="342900" indent="-342900"/>
            <a:r>
              <a:rPr lang="en-US" sz="3200"/>
              <a:t>LAN (Local Area Network)</a:t>
            </a:r>
            <a:endParaRPr lang="en-US" sz="4800"/>
          </a:p>
        </p:txBody>
      </p:sp>
      <p:sp>
        <p:nvSpPr>
          <p:cNvPr id="3" name="Content Placeholder 2"/>
          <p:cNvSpPr>
            <a:spLocks noGrp="1"/>
          </p:cNvSpPr>
          <p:nvPr>
            <p:ph sz="half" idx="1"/>
          </p:nvPr>
        </p:nvSpPr>
        <p:spPr>
          <a:xfrm>
            <a:off x="812801" y="1714500"/>
            <a:ext cx="6997700" cy="4327525"/>
          </a:xfrm>
        </p:spPr>
        <p:txBody>
          <a:bodyPr>
            <a:normAutofit/>
          </a:bodyPr>
          <a:lstStyle/>
          <a:p>
            <a:pPr>
              <a:buFont typeface="Wingdings" pitchFamily="2" charset="2"/>
              <a:buChar char="q"/>
              <a:defRPr/>
            </a:pPr>
            <a:r>
              <a:rPr lang="en-US" sz="2400" dirty="0"/>
              <a:t>Local Area Network is a group of computers connected to each other in a small area such as building, office.</a:t>
            </a:r>
          </a:p>
          <a:p>
            <a:pPr>
              <a:buFont typeface="Wingdings" pitchFamily="2" charset="2"/>
              <a:buChar char="q"/>
              <a:defRPr/>
            </a:pPr>
            <a:endParaRPr lang="en-US" sz="2400" dirty="0"/>
          </a:p>
          <a:p>
            <a:pPr>
              <a:buFont typeface="Wingdings" pitchFamily="2" charset="2"/>
              <a:buChar char="q"/>
              <a:defRPr/>
            </a:pPr>
            <a:r>
              <a:rPr lang="en-US" sz="2400" dirty="0"/>
              <a:t>The data is transferred at an extremely faster rate in Local Area Network. </a:t>
            </a:r>
          </a:p>
          <a:p>
            <a:pPr>
              <a:buFont typeface="Wingdings" pitchFamily="2" charset="2"/>
              <a:buChar char="q"/>
              <a:defRPr/>
            </a:pPr>
            <a:endParaRPr lang="en-US" sz="2400" dirty="0"/>
          </a:p>
          <a:p>
            <a:pPr>
              <a:buFont typeface="Wingdings" pitchFamily="2" charset="2"/>
              <a:buChar char="q"/>
              <a:defRPr/>
            </a:pPr>
            <a:r>
              <a:rPr lang="en-US" sz="2400" dirty="0"/>
              <a:t>Local Area Network provides higher security.</a:t>
            </a:r>
          </a:p>
        </p:txBody>
      </p:sp>
      <p:pic>
        <p:nvPicPr>
          <p:cNvPr id="16389" name="Picture 3"/>
          <p:cNvPicPr>
            <a:picLocks noGrp="1" noChangeAspect="1" noChangeArrowheads="1"/>
          </p:cNvPicPr>
          <p:nvPr>
            <p:ph sz="half" idx="2"/>
          </p:nvPr>
        </p:nvPicPr>
        <p:blipFill>
          <a:blip r:embed="rId2"/>
          <a:srcRect/>
          <a:stretch>
            <a:fillRect/>
          </a:stretch>
        </p:blipFill>
        <p:spPr>
          <a:xfrm>
            <a:off x="7778751" y="2214564"/>
            <a:ext cx="3937000" cy="2447925"/>
          </a:xfrm>
          <a:noFill/>
        </p:spPr>
      </p:pic>
      <p:sp>
        <p:nvSpPr>
          <p:cNvPr id="4" name="Slide Number Placeholder 3"/>
          <p:cNvSpPr>
            <a:spLocks noGrp="1"/>
          </p:cNvSpPr>
          <p:nvPr>
            <p:ph type="sldNum" sz="quarter" idx="12"/>
          </p:nvPr>
        </p:nvSpPr>
        <p:spPr/>
        <p:txBody>
          <a:bodyPr/>
          <a:lstStyle/>
          <a:p>
            <a:pPr>
              <a:defRPr/>
            </a:pPr>
            <a:fld id="{D6A5DA4C-0B10-4EC9-86E2-A8D09D6607E8}" type="slidenum">
              <a:rPr lang="ar-SA" altLang="en-US" smtClean="0"/>
              <a:pPr>
                <a:defRPr/>
              </a:pPr>
              <a:t>13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additive="base">
                                        <p:cTn id="7" dur="500" fill="hold"/>
                                        <p:tgtEl>
                                          <p:spTgt spid="16389"/>
                                        </p:tgtEl>
                                        <p:attrNameLst>
                                          <p:attrName>ppt_x</p:attrName>
                                        </p:attrNameLst>
                                      </p:cBhvr>
                                      <p:tavLst>
                                        <p:tav tm="0">
                                          <p:val>
                                            <p:strVal val="#ppt_x"/>
                                          </p:val>
                                        </p:tav>
                                        <p:tav tm="100000">
                                          <p:val>
                                            <p:strVal val="#ppt_x"/>
                                          </p:val>
                                        </p:tav>
                                      </p:tavLst>
                                    </p:anim>
                                    <p:anim calcmode="lin" valueType="num">
                                      <p:cBhvr additive="base">
                                        <p:cTn id="8"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812801" y="609601"/>
            <a:ext cx="9759951" cy="747713"/>
          </a:xfrm>
        </p:spPr>
        <p:txBody>
          <a:bodyPr/>
          <a:lstStyle/>
          <a:p>
            <a:pPr marL="342900" indent="-342900"/>
            <a:r>
              <a:rPr lang="en-US" sz="3200" b="1"/>
              <a:t>MAN (Metropolitan Area Network)</a:t>
            </a:r>
            <a:endParaRPr lang="en-US" sz="4800" b="1"/>
          </a:p>
        </p:txBody>
      </p:sp>
      <p:sp>
        <p:nvSpPr>
          <p:cNvPr id="17411" name="Content Placeholder 2"/>
          <p:cNvSpPr>
            <a:spLocks noGrp="1"/>
          </p:cNvSpPr>
          <p:nvPr>
            <p:ph sz="half" idx="1"/>
          </p:nvPr>
        </p:nvSpPr>
        <p:spPr>
          <a:xfrm>
            <a:off x="476251" y="1571624"/>
            <a:ext cx="6381749" cy="4974949"/>
          </a:xfrm>
        </p:spPr>
        <p:txBody>
          <a:bodyPr>
            <a:normAutofit/>
          </a:bodyPr>
          <a:lstStyle/>
          <a:p>
            <a:pPr>
              <a:buFont typeface="Wingdings" pitchFamily="2" charset="2"/>
              <a:buChar char="q"/>
            </a:pPr>
            <a:r>
              <a:rPr lang="en-US" sz="2400" dirty="0"/>
              <a:t>A MAN is a network that covers a larger geographic area by interconnecting a different LAN to form a larger network.</a:t>
            </a:r>
          </a:p>
          <a:p>
            <a:pPr>
              <a:buFont typeface="Wingdings" pitchFamily="2" charset="2"/>
              <a:buChar char="q"/>
            </a:pPr>
            <a:endParaRPr lang="en-US" sz="2400" dirty="0"/>
          </a:p>
          <a:p>
            <a:pPr>
              <a:buFont typeface="Wingdings" pitchFamily="2" charset="2"/>
              <a:buChar char="q"/>
            </a:pPr>
            <a:r>
              <a:rPr lang="en-US" sz="2400" dirty="0"/>
              <a:t>In MAN, various LANs are connected to each other.</a:t>
            </a:r>
          </a:p>
          <a:p>
            <a:pPr>
              <a:buFont typeface="Wingdings" pitchFamily="2" charset="2"/>
              <a:buChar char="q"/>
            </a:pPr>
            <a:endParaRPr lang="en-US" sz="2400" dirty="0"/>
          </a:p>
          <a:p>
            <a:pPr>
              <a:buFont typeface="Wingdings" pitchFamily="2" charset="2"/>
              <a:buChar char="q"/>
            </a:pPr>
            <a:r>
              <a:rPr lang="en-US" sz="2400" dirty="0"/>
              <a:t>It has a higher range than LAN.</a:t>
            </a:r>
          </a:p>
        </p:txBody>
      </p:sp>
      <p:pic>
        <p:nvPicPr>
          <p:cNvPr id="17413" name="Picture 2"/>
          <p:cNvPicPr>
            <a:picLocks noGrp="1" noChangeAspect="1" noChangeArrowheads="1"/>
          </p:cNvPicPr>
          <p:nvPr>
            <p:ph sz="half" idx="2"/>
          </p:nvPr>
        </p:nvPicPr>
        <p:blipFill>
          <a:blip r:embed="rId2"/>
          <a:srcRect/>
          <a:stretch>
            <a:fillRect/>
          </a:stretch>
        </p:blipFill>
        <p:spPr>
          <a:xfrm>
            <a:off x="7158567" y="1928813"/>
            <a:ext cx="4842933" cy="3643312"/>
          </a:xfrm>
          <a:noFill/>
        </p:spPr>
      </p:pic>
      <p:sp>
        <p:nvSpPr>
          <p:cNvPr id="4" name="Slide Number Placeholder 3"/>
          <p:cNvSpPr>
            <a:spLocks noGrp="1"/>
          </p:cNvSpPr>
          <p:nvPr>
            <p:ph type="sldNum" sz="quarter" idx="12"/>
          </p:nvPr>
        </p:nvSpPr>
        <p:spPr/>
        <p:txBody>
          <a:bodyPr/>
          <a:lstStyle/>
          <a:p>
            <a:pPr>
              <a:defRPr/>
            </a:pPr>
            <a:fld id="{869B807B-1515-4FEB-9AFD-2D0BE1898211}" type="slidenum">
              <a:rPr lang="ar-SA" altLang="en-US" smtClean="0"/>
              <a:pPr>
                <a:defRPr/>
              </a:pPr>
              <a:t>14</a:t>
            </a:fld>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3"/>
                                        </p:tgtEl>
                                        <p:attrNameLst>
                                          <p:attrName>style.visibility</p:attrName>
                                        </p:attrNameLst>
                                      </p:cBhvr>
                                      <p:to>
                                        <p:strVal val="visible"/>
                                      </p:to>
                                    </p:set>
                                    <p:anim calcmode="lin" valueType="num">
                                      <p:cBhvr additive="base">
                                        <p:cTn id="7" dur="500" fill="hold"/>
                                        <p:tgtEl>
                                          <p:spTgt spid="17413"/>
                                        </p:tgtEl>
                                        <p:attrNameLst>
                                          <p:attrName>ppt_x</p:attrName>
                                        </p:attrNameLst>
                                      </p:cBhvr>
                                      <p:tavLst>
                                        <p:tav tm="0">
                                          <p:val>
                                            <p:strVal val="#ppt_x"/>
                                          </p:val>
                                        </p:tav>
                                        <p:tav tm="100000">
                                          <p:val>
                                            <p:strVal val="#ppt_x"/>
                                          </p:val>
                                        </p:tav>
                                      </p:tavLst>
                                    </p:anim>
                                    <p:anim calcmode="lin" valueType="num">
                                      <p:cBhvr additive="base">
                                        <p:cTn id="8"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 calcmode="lin" valueType="num">
                                      <p:cBhvr additive="base">
                                        <p:cTn id="13"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4" end="4"/>
                                            </p:txEl>
                                          </p:spTgt>
                                        </p:tgtEl>
                                        <p:attrNameLst>
                                          <p:attrName>style.visibility</p:attrName>
                                        </p:attrNameLst>
                                      </p:cBhvr>
                                      <p:to>
                                        <p:strVal val="visible"/>
                                      </p:to>
                                    </p:set>
                                    <p:anim calcmode="lin" valueType="num">
                                      <p:cBhvr additive="base">
                                        <p:cTn id="25"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12801" y="285750"/>
            <a:ext cx="8464551" cy="533400"/>
          </a:xfrm>
        </p:spPr>
        <p:txBody>
          <a:bodyPr>
            <a:normAutofit fontScale="90000"/>
          </a:bodyPr>
          <a:lstStyle/>
          <a:p>
            <a:r>
              <a:rPr lang="en-US" b="1"/>
              <a:t>WAN(Wide Area Network)</a:t>
            </a:r>
            <a:endParaRPr lang="en-US"/>
          </a:p>
        </p:txBody>
      </p:sp>
      <p:sp>
        <p:nvSpPr>
          <p:cNvPr id="18435" name="Content Placeholder 2"/>
          <p:cNvSpPr>
            <a:spLocks noGrp="1"/>
          </p:cNvSpPr>
          <p:nvPr>
            <p:ph sz="half" idx="1"/>
          </p:nvPr>
        </p:nvSpPr>
        <p:spPr>
          <a:xfrm>
            <a:off x="476252" y="1000125"/>
            <a:ext cx="6521449" cy="5500688"/>
          </a:xfrm>
        </p:spPr>
        <p:txBody>
          <a:bodyPr>
            <a:normAutofit lnSpcReduction="10000"/>
          </a:bodyPr>
          <a:lstStyle/>
          <a:p>
            <a:pPr>
              <a:buFont typeface="Wingdings" pitchFamily="2" charset="2"/>
              <a:buChar char="q"/>
            </a:pPr>
            <a:r>
              <a:rPr lang="en-US" sz="2000" dirty="0"/>
              <a:t>A Wide Area Network is a network that extends over a large geographical area such as states or countries.</a:t>
            </a:r>
          </a:p>
          <a:p>
            <a:pPr>
              <a:buFont typeface="Wingdings" pitchFamily="2" charset="2"/>
              <a:buChar char="q"/>
            </a:pPr>
            <a:endParaRPr lang="en-US" sz="2000" dirty="0"/>
          </a:p>
          <a:p>
            <a:pPr>
              <a:buFont typeface="Wingdings" pitchFamily="2" charset="2"/>
              <a:buChar char="q"/>
            </a:pPr>
            <a:r>
              <a:rPr lang="en-US" sz="2000" dirty="0"/>
              <a:t>A WAN is quite bigger network than the LAN.</a:t>
            </a:r>
          </a:p>
          <a:p>
            <a:pPr>
              <a:buFont typeface="Wingdings" pitchFamily="2" charset="2"/>
              <a:buChar char="q"/>
            </a:pPr>
            <a:endParaRPr lang="en-US" sz="2000" dirty="0"/>
          </a:p>
          <a:p>
            <a:pPr>
              <a:buFont typeface="Wingdings" pitchFamily="2" charset="2"/>
              <a:buChar char="q"/>
            </a:pPr>
            <a:r>
              <a:rPr lang="en-US" sz="2000" dirty="0"/>
              <a:t>A WAN is not limited to a single location, but it spans over a large geographical area through a telephone line, fiber optic cable or satellite links.</a:t>
            </a:r>
          </a:p>
          <a:p>
            <a:pPr>
              <a:buFont typeface="Wingdings" pitchFamily="2" charset="2"/>
              <a:buChar char="q"/>
            </a:pPr>
            <a:endParaRPr lang="en-US" sz="2000" dirty="0"/>
          </a:p>
          <a:p>
            <a:pPr>
              <a:buFont typeface="Wingdings" pitchFamily="2" charset="2"/>
              <a:buChar char="q"/>
            </a:pPr>
            <a:r>
              <a:rPr lang="en-US" sz="2000" dirty="0"/>
              <a:t>The internet is one of the biggest WAN in the world.</a:t>
            </a:r>
          </a:p>
          <a:p>
            <a:pPr>
              <a:buFont typeface="Wingdings" pitchFamily="2" charset="2"/>
              <a:buChar char="q"/>
            </a:pPr>
            <a:endParaRPr lang="en-US" sz="2000" dirty="0"/>
          </a:p>
          <a:p>
            <a:pPr>
              <a:buFont typeface="Wingdings" pitchFamily="2" charset="2"/>
              <a:buChar char="q"/>
            </a:pPr>
            <a:r>
              <a:rPr lang="en-US" sz="2000" dirty="0"/>
              <a:t>A WAN is widely used in the field of Business, government, and education.</a:t>
            </a:r>
          </a:p>
        </p:txBody>
      </p:sp>
      <p:pic>
        <p:nvPicPr>
          <p:cNvPr id="18437" name="Picture 2"/>
          <p:cNvPicPr>
            <a:picLocks noGrp="1" noChangeAspect="1" noChangeArrowheads="1"/>
          </p:cNvPicPr>
          <p:nvPr>
            <p:ph sz="half" idx="2"/>
          </p:nvPr>
        </p:nvPicPr>
        <p:blipFill>
          <a:blip r:embed="rId2"/>
          <a:srcRect/>
          <a:stretch>
            <a:fillRect/>
          </a:stretch>
        </p:blipFill>
        <p:spPr>
          <a:xfrm>
            <a:off x="6953251" y="1428750"/>
            <a:ext cx="5238749" cy="4643438"/>
          </a:xfrm>
          <a:noFill/>
        </p:spPr>
      </p:pic>
      <p:sp>
        <p:nvSpPr>
          <p:cNvPr id="5" name="Slide Number Placeholder 4"/>
          <p:cNvSpPr>
            <a:spLocks noGrp="1"/>
          </p:cNvSpPr>
          <p:nvPr>
            <p:ph type="sldNum" sz="quarter" idx="12"/>
          </p:nvPr>
        </p:nvSpPr>
        <p:spPr/>
        <p:txBody>
          <a:bodyPr/>
          <a:lstStyle/>
          <a:p>
            <a:pPr>
              <a:defRPr/>
            </a:pPr>
            <a:fld id="{2F840FB4-05FF-4194-8F50-FE780A7CA491}" type="slidenum">
              <a:rPr lang="ar-SA" altLang="en-US" smtClean="0"/>
              <a:pPr>
                <a:defRPr/>
              </a:pPr>
              <a:t>15</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anim calcmode="lin" valueType="num">
                                      <p:cBhvr additive="base">
                                        <p:cTn id="7" dur="500" fill="hold"/>
                                        <p:tgtEl>
                                          <p:spTgt spid="18437"/>
                                        </p:tgtEl>
                                        <p:attrNameLst>
                                          <p:attrName>ppt_x</p:attrName>
                                        </p:attrNameLst>
                                      </p:cBhvr>
                                      <p:tavLst>
                                        <p:tav tm="0">
                                          <p:val>
                                            <p:strVal val="#ppt_x"/>
                                          </p:val>
                                        </p:tav>
                                        <p:tav tm="100000">
                                          <p:val>
                                            <p:strVal val="#ppt_x"/>
                                          </p:val>
                                        </p:tav>
                                      </p:tavLst>
                                    </p:anim>
                                    <p:anim calcmode="lin" valueType="num">
                                      <p:cBhvr additive="base">
                                        <p:cTn id="8"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xEl>
                                              <p:pRg st="0" end="0"/>
                                            </p:txEl>
                                          </p:spTgt>
                                        </p:tgtEl>
                                        <p:attrNameLst>
                                          <p:attrName>style.visibility</p:attrName>
                                        </p:attrNameLst>
                                      </p:cBhvr>
                                      <p:to>
                                        <p:strVal val="visible"/>
                                      </p:to>
                                    </p:set>
                                    <p:anim calcmode="lin" valueType="num">
                                      <p:cBhvr additive="base">
                                        <p:cTn id="13"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435">
                                            <p:txEl>
                                              <p:pRg st="4" end="4"/>
                                            </p:txEl>
                                          </p:spTgt>
                                        </p:tgtEl>
                                        <p:attrNameLst>
                                          <p:attrName>style.visibility</p:attrName>
                                        </p:attrNameLst>
                                      </p:cBhvr>
                                      <p:to>
                                        <p:strVal val="visible"/>
                                      </p:to>
                                    </p:set>
                                    <p:anim calcmode="lin" valueType="num">
                                      <p:cBhvr additive="base">
                                        <p:cTn id="25"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435">
                                            <p:txEl>
                                              <p:pRg st="6" end="6"/>
                                            </p:txEl>
                                          </p:spTgt>
                                        </p:tgtEl>
                                        <p:attrNameLst>
                                          <p:attrName>style.visibility</p:attrName>
                                        </p:attrNameLst>
                                      </p:cBhvr>
                                      <p:to>
                                        <p:strVal val="visible"/>
                                      </p:to>
                                    </p:set>
                                    <p:anim calcmode="lin" valueType="num">
                                      <p:cBhvr additive="base">
                                        <p:cTn id="31" dur="5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435">
                                            <p:txEl>
                                              <p:pRg st="8" end="8"/>
                                            </p:txEl>
                                          </p:spTgt>
                                        </p:tgtEl>
                                        <p:attrNameLst>
                                          <p:attrName>style.visibility</p:attrName>
                                        </p:attrNameLst>
                                      </p:cBhvr>
                                      <p:to>
                                        <p:strVal val="visible"/>
                                      </p:to>
                                    </p:set>
                                    <p:anim calcmode="lin" valueType="num">
                                      <p:cBhvr additive="base">
                                        <p:cTn id="37" dur="500" fill="hold"/>
                                        <p:tgtEl>
                                          <p:spTgt spid="1843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84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12801" y="781051"/>
            <a:ext cx="8464551" cy="790575"/>
          </a:xfrm>
        </p:spPr>
        <p:txBody>
          <a:bodyPr/>
          <a:lstStyle/>
          <a:p>
            <a:r>
              <a:rPr lang="en-US" sz="3200" b="1"/>
              <a:t>Network Protocols</a:t>
            </a:r>
          </a:p>
        </p:txBody>
      </p:sp>
      <p:sp>
        <p:nvSpPr>
          <p:cNvPr id="24579" name="Slide Number Placeholder 5"/>
          <p:cNvSpPr>
            <a:spLocks noGrp="1" noChangeArrowheads="1"/>
          </p:cNvSpPr>
          <p:nvPr>
            <p:ph type="sldNum" sz="quarter" idx="12"/>
          </p:nvPr>
        </p:nvSpPr>
        <p:spPr bwMode="auto">
          <a:noFill/>
          <a:ln>
            <a:miter lim="800000"/>
            <a:headEnd/>
            <a:tailEnd/>
          </a:ln>
        </p:spPr>
        <p:txBody>
          <a:bodyPr/>
          <a:lstStyle/>
          <a:p>
            <a:fld id="{2EB8F79C-06C2-4F8F-96B0-8AC798F3C350}" type="slidenum">
              <a:rPr lang="ar-SA" altLang="en-US" sz="1200" smtClean="0">
                <a:solidFill>
                  <a:srgbClr val="898989"/>
                </a:solidFill>
                <a:latin typeface="Arial" charset="0"/>
                <a:cs typeface="Arial" charset="0"/>
              </a:rPr>
              <a:pPr/>
              <a:t>16</a:t>
            </a:fld>
            <a:endParaRPr lang="en-US" altLang="en-US" sz="1200">
              <a:solidFill>
                <a:srgbClr val="898989"/>
              </a:solidFill>
              <a:latin typeface="Arial" charset="0"/>
              <a:cs typeface="Arial" charset="0"/>
            </a:endParaRPr>
          </a:p>
        </p:txBody>
      </p:sp>
      <p:sp>
        <p:nvSpPr>
          <p:cNvPr id="24580" name="Rectangle 3"/>
          <p:cNvSpPr txBox="1">
            <a:spLocks/>
          </p:cNvSpPr>
          <p:nvPr/>
        </p:nvSpPr>
        <p:spPr bwMode="auto">
          <a:xfrm>
            <a:off x="571500" y="1974851"/>
            <a:ext cx="9076267" cy="4525963"/>
          </a:xfrm>
          <a:prstGeom prst="rect">
            <a:avLst/>
          </a:prstGeom>
          <a:noFill/>
          <a:ln w="9525">
            <a:noFill/>
            <a:miter lim="800000"/>
            <a:headEnd/>
            <a:tailEnd/>
          </a:ln>
        </p:spPr>
        <p:txBody>
          <a:bodyPr/>
          <a:lstStyle/>
          <a:p>
            <a:pPr algn="just">
              <a:buFont typeface="Wingdings" pitchFamily="2" charset="2"/>
              <a:buChar char="q"/>
            </a:pPr>
            <a:r>
              <a:rPr lang="en-US" sz="2800" b="1" dirty="0"/>
              <a:t>A network protocol </a:t>
            </a:r>
            <a:r>
              <a:rPr lang="en-US" sz="2800" dirty="0"/>
              <a:t>is </a:t>
            </a:r>
            <a:r>
              <a:rPr lang="en-US" sz="2800" b="1" dirty="0"/>
              <a:t>an established set of rules that determine how</a:t>
            </a:r>
            <a:r>
              <a:rPr lang="ar-SA" sz="2800" b="1" dirty="0"/>
              <a:t>:</a:t>
            </a:r>
          </a:p>
          <a:p>
            <a:pPr algn="just"/>
            <a:endParaRPr lang="ar-SA" sz="2400" dirty="0"/>
          </a:p>
          <a:p>
            <a:pPr lvl="1" algn="just">
              <a:buFont typeface="Wingdings" pitchFamily="2" charset="2"/>
              <a:buChar char="q"/>
            </a:pPr>
            <a:r>
              <a:rPr lang="en-US" sz="2000" dirty="0"/>
              <a:t> data is transmitted between different devices in the network.</a:t>
            </a:r>
            <a:endParaRPr lang="ar-SA" sz="2000" dirty="0"/>
          </a:p>
          <a:p>
            <a:pPr lvl="1" algn="just">
              <a:buFont typeface="Wingdings" pitchFamily="2" charset="2"/>
              <a:buChar char="q"/>
            </a:pPr>
            <a:r>
              <a:rPr lang="en-US" sz="2000" dirty="0"/>
              <a:t>devices communicate with each other.</a:t>
            </a:r>
            <a:endParaRPr lang="ar-SA" sz="2000" dirty="0"/>
          </a:p>
          <a:p>
            <a:pPr lvl="1" algn="just">
              <a:buFont typeface="Wingdings" pitchFamily="2" charset="2"/>
              <a:buChar char="q"/>
            </a:pPr>
            <a:r>
              <a:rPr lang="en-US" sz="2000" dirty="0"/>
              <a:t>send data between different devices .</a:t>
            </a:r>
          </a:p>
          <a:p>
            <a:pPr lvl="1" algn="just">
              <a:buFont typeface="Wingdings" pitchFamily="2" charset="2"/>
              <a:buChar char="q"/>
            </a:pPr>
            <a:r>
              <a:rPr lang="en-US" sz="2000" dirty="0"/>
              <a:t>deal with errors in the network.</a:t>
            </a:r>
            <a:endParaRPr lang="en-US" sz="2000" dirty="0">
              <a:latin typeface="Arial" charset="0"/>
            </a:endParaRPr>
          </a:p>
          <a:p>
            <a:pPr algn="just" rtl="1"/>
            <a:endParaRPr lang="en-US" sz="28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80">
                                            <p:txEl>
                                              <p:pRg st="0" end="0"/>
                                            </p:txEl>
                                          </p:spTgt>
                                        </p:tgtEl>
                                        <p:attrNameLst>
                                          <p:attrName>style.visibility</p:attrName>
                                        </p:attrNameLst>
                                      </p:cBhvr>
                                      <p:to>
                                        <p:strVal val="visible"/>
                                      </p:to>
                                    </p:set>
                                    <p:anim calcmode="lin" valueType="num">
                                      <p:cBhvr additive="base">
                                        <p:cTn id="7" dur="500" fill="hold"/>
                                        <p:tgtEl>
                                          <p:spTgt spid="245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80">
                                            <p:txEl>
                                              <p:pRg st="2" end="2"/>
                                            </p:txEl>
                                          </p:spTgt>
                                        </p:tgtEl>
                                        <p:attrNameLst>
                                          <p:attrName>style.visibility</p:attrName>
                                        </p:attrNameLst>
                                      </p:cBhvr>
                                      <p:to>
                                        <p:strVal val="visible"/>
                                      </p:to>
                                    </p:set>
                                    <p:anim calcmode="lin" valueType="num">
                                      <p:cBhvr additive="base">
                                        <p:cTn id="13" dur="500" fill="hold"/>
                                        <p:tgtEl>
                                          <p:spTgt spid="2458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80">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4580">
                                            <p:txEl>
                                              <p:pRg st="3" end="3"/>
                                            </p:txEl>
                                          </p:spTgt>
                                        </p:tgtEl>
                                        <p:attrNameLst>
                                          <p:attrName>style.visibility</p:attrName>
                                        </p:attrNameLst>
                                      </p:cBhvr>
                                      <p:to>
                                        <p:strVal val="visible"/>
                                      </p:to>
                                    </p:set>
                                    <p:anim calcmode="lin" valueType="num">
                                      <p:cBhvr additive="base">
                                        <p:cTn id="17" dur="500" fill="hold"/>
                                        <p:tgtEl>
                                          <p:spTgt spid="24580">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0">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4580">
                                            <p:txEl>
                                              <p:pRg st="4" end="4"/>
                                            </p:txEl>
                                          </p:spTgt>
                                        </p:tgtEl>
                                        <p:attrNameLst>
                                          <p:attrName>style.visibility</p:attrName>
                                        </p:attrNameLst>
                                      </p:cBhvr>
                                      <p:to>
                                        <p:strVal val="visible"/>
                                      </p:to>
                                    </p:set>
                                    <p:anim calcmode="lin" valueType="num">
                                      <p:cBhvr additive="base">
                                        <p:cTn id="21" dur="500" fill="hold"/>
                                        <p:tgtEl>
                                          <p:spTgt spid="24580">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580">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4580">
                                            <p:txEl>
                                              <p:pRg st="5" end="5"/>
                                            </p:txEl>
                                          </p:spTgt>
                                        </p:tgtEl>
                                        <p:attrNameLst>
                                          <p:attrName>style.visibility</p:attrName>
                                        </p:attrNameLst>
                                      </p:cBhvr>
                                      <p:to>
                                        <p:strVal val="visible"/>
                                      </p:to>
                                    </p:set>
                                    <p:anim calcmode="lin" valueType="num">
                                      <p:cBhvr additive="base">
                                        <p:cTn id="25" dur="500" fill="hold"/>
                                        <p:tgtEl>
                                          <p:spTgt spid="2458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8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812801" y="571501"/>
            <a:ext cx="8354484" cy="790575"/>
          </a:xfrm>
        </p:spPr>
        <p:txBody>
          <a:bodyPr/>
          <a:lstStyle/>
          <a:p>
            <a:pPr eaLnBrk="1" hangingPunct="1"/>
            <a:r>
              <a:rPr lang="en-US" altLang="en-US" sz="3200" b="1">
                <a:solidFill>
                  <a:schemeClr val="accent2"/>
                </a:solidFill>
              </a:rPr>
              <a:t>Types of Protocols</a:t>
            </a:r>
            <a:endParaRPr lang="en-US" altLang="en-US" sz="3200" b="1">
              <a:solidFill>
                <a:schemeClr val="accent2"/>
              </a:solidFill>
              <a:cs typeface="Times New Roman" pitchFamily="18" charset="0"/>
            </a:endParaRPr>
          </a:p>
        </p:txBody>
      </p:sp>
      <p:sp>
        <p:nvSpPr>
          <p:cNvPr id="25603" name="Slide Number Placeholder 5"/>
          <p:cNvSpPr>
            <a:spLocks noGrp="1" noChangeArrowheads="1"/>
          </p:cNvSpPr>
          <p:nvPr>
            <p:ph type="sldNum" sz="quarter" idx="12"/>
          </p:nvPr>
        </p:nvSpPr>
        <p:spPr bwMode="auto">
          <a:noFill/>
          <a:ln>
            <a:miter lim="800000"/>
            <a:headEnd/>
            <a:tailEnd/>
          </a:ln>
        </p:spPr>
        <p:txBody>
          <a:bodyPr/>
          <a:lstStyle/>
          <a:p>
            <a:fld id="{68D790BC-C0AE-438D-BE2E-304DF9839A9A}" type="slidenum">
              <a:rPr lang="ar-SA" altLang="en-US" sz="1200" smtClean="0">
                <a:solidFill>
                  <a:srgbClr val="898989"/>
                </a:solidFill>
                <a:latin typeface="Arial" charset="0"/>
                <a:cs typeface="Arial" charset="0"/>
              </a:rPr>
              <a:pPr/>
              <a:t>17</a:t>
            </a:fld>
            <a:endParaRPr lang="en-US" altLang="en-US" sz="1200">
              <a:solidFill>
                <a:srgbClr val="898989"/>
              </a:solidFill>
              <a:latin typeface="Arial" charset="0"/>
              <a:cs typeface="Arial" charset="0"/>
            </a:endParaRPr>
          </a:p>
        </p:txBody>
      </p:sp>
      <p:sp>
        <p:nvSpPr>
          <p:cNvPr id="25604" name="Rectangle 3"/>
          <p:cNvSpPr txBox="1">
            <a:spLocks/>
          </p:cNvSpPr>
          <p:nvPr/>
        </p:nvSpPr>
        <p:spPr bwMode="auto">
          <a:xfrm>
            <a:off x="239184" y="1428750"/>
            <a:ext cx="9505949" cy="4210050"/>
          </a:xfrm>
          <a:prstGeom prst="rect">
            <a:avLst/>
          </a:prstGeom>
          <a:noFill/>
          <a:ln w="9525">
            <a:noFill/>
            <a:miter lim="800000"/>
            <a:headEnd/>
            <a:tailEnd/>
          </a:ln>
        </p:spPr>
        <p:txBody>
          <a:bodyPr/>
          <a:lstStyle/>
          <a:p>
            <a:pPr algn="just" rtl="1">
              <a:spcAft>
                <a:spcPts val="300"/>
              </a:spcAft>
            </a:pPr>
            <a:endParaRPr lang="en-US" altLang="en-US" sz="1200" dirty="0">
              <a:latin typeface="Arial" charset="0"/>
            </a:endParaRPr>
          </a:p>
          <a:p>
            <a:pPr>
              <a:spcAft>
                <a:spcPts val="300"/>
              </a:spcAft>
              <a:buFont typeface="Wingdings" pitchFamily="2" charset="2"/>
              <a:buChar char="q"/>
            </a:pPr>
            <a:r>
              <a:rPr lang="en-US" sz="2400" b="1" dirty="0"/>
              <a:t>Transmission Control Protocol (TCP): </a:t>
            </a:r>
            <a:r>
              <a:rPr lang="en-US" sz="2400" dirty="0"/>
              <a:t>TCP is a popular communication protocol which is used for communicating over a network. It divides any message into series of packets that are sent from source to destination and there it gets reassembled at the destination.</a:t>
            </a:r>
            <a:r>
              <a:rPr lang="ar-SA" altLang="en-US" sz="2400" dirty="0">
                <a:latin typeface="Arial" charset="0"/>
              </a:rPr>
              <a:t> </a:t>
            </a:r>
            <a:endParaRPr lang="en-US" altLang="en-US" sz="2400" dirty="0">
              <a:latin typeface="Arial" charset="0"/>
            </a:endParaRPr>
          </a:p>
          <a:p>
            <a:pPr>
              <a:spcAft>
                <a:spcPts val="300"/>
              </a:spcAft>
            </a:pPr>
            <a:endParaRPr lang="en-US" altLang="en-US" sz="2400" dirty="0">
              <a:latin typeface="Arial" charset="0"/>
            </a:endParaRPr>
          </a:p>
          <a:p>
            <a:pPr>
              <a:spcAft>
                <a:spcPts val="300"/>
              </a:spcAft>
              <a:buFont typeface="Wingdings" pitchFamily="2" charset="2"/>
              <a:buChar char="q"/>
            </a:pPr>
            <a:r>
              <a:rPr lang="en-US" sz="2400" b="1" dirty="0"/>
              <a:t>Internet Protocol (IP): </a:t>
            </a:r>
            <a:r>
              <a:rPr lang="en-US" sz="2400" dirty="0"/>
              <a:t>IP is designed explicitly as addressing protocol. It is mostly used with TCP. The IP addresses in packets help in routing them through different nodes in a network until it reaches the destination system</a:t>
            </a:r>
            <a:endParaRPr lang="en-US" altLang="en-US" sz="24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anim calcmode="lin" valueType="num">
                                      <p:cBhvr additive="base">
                                        <p:cTn id="7" dur="500" fill="hold"/>
                                        <p:tgtEl>
                                          <p:spTgt spid="2560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5604">
                                            <p:txEl>
                                              <p:pRg st="3" end="3"/>
                                            </p:txEl>
                                          </p:spTgt>
                                        </p:tgtEl>
                                        <p:attrNameLst>
                                          <p:attrName>style.visibility</p:attrName>
                                        </p:attrNameLst>
                                      </p:cBhvr>
                                      <p:to>
                                        <p:strVal val="visible"/>
                                      </p:to>
                                    </p:set>
                                    <p:anim calcmode="lin" valueType="num">
                                      <p:cBhvr additive="base">
                                        <p:cTn id="13" dur="500" fill="hold"/>
                                        <p:tgtEl>
                                          <p:spTgt spid="2560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812801" y="752475"/>
            <a:ext cx="8464551" cy="1104900"/>
          </a:xfrm>
        </p:spPr>
        <p:txBody>
          <a:bodyPr/>
          <a:lstStyle/>
          <a:p>
            <a:r>
              <a:rPr lang="en-US" altLang="en-US" b="1">
                <a:solidFill>
                  <a:schemeClr val="accent2"/>
                </a:solidFill>
              </a:rPr>
              <a:t>Types of Protocols</a:t>
            </a:r>
            <a:endParaRPr lang="en-US"/>
          </a:p>
        </p:txBody>
      </p:sp>
      <p:sp>
        <p:nvSpPr>
          <p:cNvPr id="26627" name="Content Placeholder 2"/>
          <p:cNvSpPr>
            <a:spLocks noGrp="1"/>
          </p:cNvSpPr>
          <p:nvPr>
            <p:ph idx="1"/>
          </p:nvPr>
        </p:nvSpPr>
        <p:spPr>
          <a:xfrm>
            <a:off x="381000" y="2000251"/>
            <a:ext cx="9525000" cy="4041775"/>
          </a:xfrm>
        </p:spPr>
        <p:txBody>
          <a:bodyPr/>
          <a:lstStyle/>
          <a:p>
            <a:pPr>
              <a:spcAft>
                <a:spcPts val="300"/>
              </a:spcAft>
              <a:buFont typeface="Wingdings" pitchFamily="2" charset="2"/>
              <a:buChar char="q"/>
            </a:pPr>
            <a:r>
              <a:rPr lang="en-US" altLang="en-US" sz="2400" b="1" dirty="0">
                <a:latin typeface="Arial" charset="0"/>
              </a:rPr>
              <a:t>File Transfer Protocol (FTP)</a:t>
            </a:r>
            <a:r>
              <a:rPr lang="ar-SA" altLang="en-US" sz="2400" b="1" dirty="0">
                <a:latin typeface="Arial" charset="0"/>
              </a:rPr>
              <a:t>:</a:t>
            </a:r>
            <a:r>
              <a:rPr lang="ar-SA" altLang="en-US" sz="2400" dirty="0">
                <a:latin typeface="Arial" charset="0"/>
              </a:rPr>
              <a:t> </a:t>
            </a:r>
            <a:r>
              <a:rPr lang="en-US" altLang="en-US" sz="2400" dirty="0">
                <a:latin typeface="Arial" charset="0"/>
              </a:rPr>
              <a:t>File Transfer Protocol enables file sharing between hosts. The connection is used to transfer the actual file.</a:t>
            </a:r>
          </a:p>
          <a:p>
            <a:pPr>
              <a:spcAft>
                <a:spcPts val="300"/>
              </a:spcAft>
              <a:buFont typeface="Wingdings" pitchFamily="2" charset="2"/>
              <a:buChar char="q"/>
            </a:pPr>
            <a:r>
              <a:rPr lang="en-US" altLang="en-US" sz="2400" dirty="0">
                <a:latin typeface="Arial" charset="0"/>
              </a:rPr>
              <a:t> </a:t>
            </a:r>
            <a:r>
              <a:rPr lang="en-US" altLang="en-US" sz="2400" b="1" dirty="0">
                <a:latin typeface="Arial" charset="0"/>
              </a:rPr>
              <a:t>Hyper Text Transfer Protocol (HTTP): </a:t>
            </a:r>
            <a:r>
              <a:rPr lang="en-US" altLang="en-US" sz="2400" dirty="0">
                <a:latin typeface="Arial" charset="0"/>
              </a:rPr>
              <a:t>HTTP is designed for transferring a hypertext. World Wide Web used HTTP as a request and response type protocol, the client sends a request to the server, which is then processed by the server before sending a response back to the client.</a:t>
            </a:r>
          </a:p>
          <a:p>
            <a:endParaRPr lang="en-US" sz="2400" dirty="0"/>
          </a:p>
        </p:txBody>
      </p:sp>
      <p:sp>
        <p:nvSpPr>
          <p:cNvPr id="4" name="Slide Number Placeholder 3"/>
          <p:cNvSpPr>
            <a:spLocks noGrp="1"/>
          </p:cNvSpPr>
          <p:nvPr>
            <p:ph type="sldNum" sz="quarter" idx="12"/>
          </p:nvPr>
        </p:nvSpPr>
        <p:spPr/>
        <p:txBody>
          <a:bodyPr/>
          <a:lstStyle/>
          <a:p>
            <a:pPr>
              <a:defRPr/>
            </a:pPr>
            <a:fld id="{C3B95F50-9D3F-4C04-9F74-C067E6270E96}" type="slidenum">
              <a:rPr lang="ar-SA" altLang="en-US" smtClean="0"/>
              <a:pPr>
                <a:defRPr/>
              </a:pPr>
              <a:t>18</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22444" y="1745671"/>
            <a:ext cx="10005391" cy="2342109"/>
          </a:xfrm>
        </p:spPr>
        <p:txBody>
          <a:bodyPr/>
          <a:lstStyle/>
          <a:p>
            <a:pPr algn="ctr"/>
            <a:r>
              <a:rPr lang="en-US" dirty="0">
                <a:solidFill>
                  <a:schemeClr val="accent2">
                    <a:lumMod val="60000"/>
                    <a:lumOff val="40000"/>
                  </a:schemeClr>
                </a:solidFill>
                <a:latin typeface="Andalus" panose="02020603050405020304" pitchFamily="18" charset="-78"/>
                <a:cs typeface="Andalus" panose="02020603050405020304" pitchFamily="18" charset="-78"/>
              </a:rPr>
              <a:t>Introduction to Computer Science</a:t>
            </a:r>
            <a:endParaRPr lang="en-US" dirty="0"/>
          </a:p>
        </p:txBody>
      </p:sp>
      <p:sp>
        <p:nvSpPr>
          <p:cNvPr id="5" name="Subtitle 4"/>
          <p:cNvSpPr>
            <a:spLocks noGrp="1"/>
          </p:cNvSpPr>
          <p:nvPr>
            <p:ph type="subTitle" idx="1"/>
          </p:nvPr>
        </p:nvSpPr>
        <p:spPr>
          <a:xfrm>
            <a:off x="1312310" y="4398689"/>
            <a:ext cx="8825658" cy="861420"/>
          </a:xfrm>
        </p:spPr>
        <p:txBody>
          <a:bodyPr/>
          <a:lstStyle/>
          <a:p>
            <a:pPr algn="ctr"/>
            <a:r>
              <a:rPr lang="en-US" sz="2400" b="1" dirty="0">
                <a:solidFill>
                  <a:schemeClr val="accent2">
                    <a:lumMod val="60000"/>
                    <a:lumOff val="40000"/>
                  </a:schemeClr>
                </a:solidFill>
                <a:latin typeface="Andalus" panose="02020603050405020304" pitchFamily="18" charset="-78"/>
                <a:cs typeface="Andalus" panose="02020603050405020304" pitchFamily="18" charset="-78"/>
              </a:rPr>
              <a:t>Lecture 4_Part2</a:t>
            </a:r>
          </a:p>
          <a:p>
            <a:pPr algn="ct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1507067" y="2405064"/>
            <a:ext cx="7770284" cy="1646237"/>
          </a:xfrm>
        </p:spPr>
        <p:txBody>
          <a:bodyPr/>
          <a:lstStyle/>
          <a:p>
            <a:pPr algn="ctr" eaLnBrk="1" hangingPunct="1"/>
            <a:r>
              <a:rPr lang="en-US" b="1">
                <a:cs typeface="Tahoma" pitchFamily="34" charset="0"/>
              </a:rPr>
              <a:t>World Wide Web</a:t>
            </a:r>
            <a:br>
              <a:rPr lang="en-US" b="1">
                <a:cs typeface="Tahoma" pitchFamily="34" charset="0"/>
              </a:rPr>
            </a:br>
            <a:r>
              <a:rPr lang="en-US" b="1">
                <a:cs typeface="Tahoma" pitchFamily="34" charset="0"/>
              </a:rPr>
              <a:t>(www)</a:t>
            </a:r>
            <a:endParaRPr lang="en-US">
              <a:cs typeface="Tahoma"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812801" y="609601"/>
            <a:ext cx="8464551" cy="1033463"/>
          </a:xfrm>
        </p:spPr>
        <p:txBody>
          <a:bodyPr/>
          <a:lstStyle/>
          <a:p>
            <a:pPr eaLnBrk="1" hangingPunct="1"/>
            <a:r>
              <a:rPr lang="en-US" sz="4000" b="1">
                <a:cs typeface="Tahoma" pitchFamily="34" charset="0"/>
              </a:rPr>
              <a:t>World Wide Web</a:t>
            </a:r>
          </a:p>
        </p:txBody>
      </p:sp>
      <p:sp>
        <p:nvSpPr>
          <p:cNvPr id="6147" name="Content Placeholder 2"/>
          <p:cNvSpPr>
            <a:spLocks noGrp="1"/>
          </p:cNvSpPr>
          <p:nvPr>
            <p:ph idx="1"/>
          </p:nvPr>
        </p:nvSpPr>
        <p:spPr>
          <a:xfrm>
            <a:off x="571501" y="1643063"/>
            <a:ext cx="8917056" cy="4398962"/>
          </a:xfrm>
        </p:spPr>
        <p:txBody>
          <a:bodyPr>
            <a:normAutofit fontScale="92500" lnSpcReduction="10000"/>
          </a:bodyPr>
          <a:lstStyle/>
          <a:p>
            <a:pPr algn="justLow" eaLnBrk="1" hangingPunct="1">
              <a:buFont typeface="Wingdings" pitchFamily="2" charset="2"/>
              <a:buChar char="q"/>
            </a:pPr>
            <a:r>
              <a:rPr lang="en-US" sz="2200" dirty="0">
                <a:cs typeface="Tahoma" pitchFamily="34" charset="0"/>
              </a:rPr>
              <a:t>World Wide Web, which is also known as a Web, is a collection of websites or web pages stored in web servers and connected to local computers through the internet. </a:t>
            </a:r>
          </a:p>
          <a:p>
            <a:pPr algn="justLow" eaLnBrk="1" hangingPunct="1">
              <a:buFont typeface="Wingdings" pitchFamily="2" charset="2"/>
              <a:buChar char="q"/>
            </a:pPr>
            <a:endParaRPr lang="en-US" sz="2200" dirty="0">
              <a:cs typeface="Tahoma" pitchFamily="34" charset="0"/>
            </a:endParaRPr>
          </a:p>
          <a:p>
            <a:pPr algn="justLow" eaLnBrk="1" hangingPunct="1">
              <a:buFont typeface="Wingdings" pitchFamily="2" charset="2"/>
              <a:buChar char="q"/>
            </a:pPr>
            <a:r>
              <a:rPr lang="fr-FR" sz="2200" dirty="0">
                <a:cs typeface="Tahoma" pitchFamily="34" charset="0"/>
              </a:rPr>
              <a:t>Websites contain text pages, digital images, </a:t>
            </a:r>
            <a:r>
              <a:rPr lang="fr-FR" sz="2200" dirty="0" smtClean="0">
                <a:cs typeface="Tahoma" pitchFamily="34" charset="0"/>
              </a:rPr>
              <a:t>audois, videos, </a:t>
            </a:r>
            <a:r>
              <a:rPr lang="fr-FR" sz="2200" dirty="0">
                <a:cs typeface="Tahoma" pitchFamily="34" charset="0"/>
              </a:rPr>
              <a:t>etc.</a:t>
            </a:r>
          </a:p>
          <a:p>
            <a:pPr algn="justLow" eaLnBrk="1" hangingPunct="1">
              <a:buFont typeface="Wingdings" pitchFamily="2" charset="2"/>
              <a:buChar char="q"/>
            </a:pPr>
            <a:endParaRPr lang="fr-FR" sz="2200" dirty="0">
              <a:cs typeface="Tahoma" pitchFamily="34" charset="0"/>
            </a:endParaRPr>
          </a:p>
          <a:p>
            <a:pPr algn="justLow" eaLnBrk="1" hangingPunct="1">
              <a:buFont typeface="Wingdings" pitchFamily="2" charset="2"/>
              <a:buChar char="q"/>
            </a:pPr>
            <a:r>
              <a:rPr lang="en-US" sz="2200" dirty="0">
                <a:cs typeface="Tahoma" pitchFamily="34" charset="0"/>
              </a:rPr>
              <a:t>Users can access the content of these sites from any part of the world over the internet using their devices.</a:t>
            </a:r>
          </a:p>
          <a:p>
            <a:pPr algn="justLow" eaLnBrk="1" hangingPunct="1">
              <a:buNone/>
            </a:pPr>
            <a:r>
              <a:rPr lang="en-US" sz="2200" dirty="0">
                <a:cs typeface="Tahoma" pitchFamily="34" charset="0"/>
              </a:rPr>
              <a:t> </a:t>
            </a:r>
          </a:p>
          <a:p>
            <a:pPr algn="justLow" eaLnBrk="1" hangingPunct="1">
              <a:buFont typeface="Wingdings" pitchFamily="2" charset="2"/>
              <a:buChar char="q"/>
            </a:pPr>
            <a:r>
              <a:rPr lang="en-US" sz="2200" dirty="0">
                <a:cs typeface="Tahoma" pitchFamily="34" charset="0"/>
              </a:rPr>
              <a:t>The building blocks of the Web are web pages which are formatted in HTML and connected by links called "hypertext" or hyperlinks and accessed by HTTP.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anim calcmode="lin" valueType="num">
                                      <p:cBhvr additive="base">
                                        <p:cTn id="13"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anim calcmode="lin" valueType="num">
                                      <p:cBhvr additive="base">
                                        <p:cTn id="19"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147">
                                            <p:txEl>
                                              <p:pRg st="6" end="6"/>
                                            </p:txEl>
                                          </p:spTgt>
                                        </p:tgtEl>
                                        <p:attrNameLst>
                                          <p:attrName>style.visibility</p:attrName>
                                        </p:attrNameLst>
                                      </p:cBhvr>
                                      <p:to>
                                        <p:strVal val="visible"/>
                                      </p:to>
                                    </p:set>
                                    <p:anim calcmode="lin" valueType="num">
                                      <p:cBhvr additive="base">
                                        <p:cTn id="25" dur="500" fill="hold"/>
                                        <p:tgtEl>
                                          <p:spTgt spid="614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812801" y="609600"/>
            <a:ext cx="10426700" cy="1320800"/>
          </a:xfrm>
        </p:spPr>
        <p:txBody>
          <a:bodyPr/>
          <a:lstStyle/>
          <a:p>
            <a:pPr eaLnBrk="1" hangingPunct="1"/>
            <a:r>
              <a:rPr lang="en-US" b="1">
                <a:cs typeface="Tahoma" pitchFamily="34" charset="0"/>
              </a:rPr>
              <a:t>Uniform Resource Locator (URL)</a:t>
            </a:r>
          </a:p>
        </p:txBody>
      </p:sp>
      <p:sp>
        <p:nvSpPr>
          <p:cNvPr id="7171" name="Content Placeholder 2"/>
          <p:cNvSpPr>
            <a:spLocks noGrp="1"/>
          </p:cNvSpPr>
          <p:nvPr>
            <p:ph idx="1"/>
          </p:nvPr>
        </p:nvSpPr>
        <p:spPr>
          <a:xfrm>
            <a:off x="666752" y="1571625"/>
            <a:ext cx="9126606" cy="4470400"/>
          </a:xfrm>
        </p:spPr>
        <p:txBody>
          <a:bodyPr>
            <a:normAutofit lnSpcReduction="10000"/>
          </a:bodyPr>
          <a:lstStyle/>
          <a:p>
            <a:pPr eaLnBrk="1" hangingPunct="1">
              <a:buFont typeface="Wingdings" pitchFamily="2" charset="2"/>
              <a:buChar char="q"/>
            </a:pPr>
            <a:r>
              <a:rPr lang="en-US" sz="2400" dirty="0">
                <a:cs typeface="Tahoma" pitchFamily="34" charset="0"/>
              </a:rPr>
              <a:t>URL is web page address.</a:t>
            </a:r>
          </a:p>
          <a:p>
            <a:pPr eaLnBrk="1" hangingPunct="1">
              <a:buFont typeface="Wingdings" pitchFamily="2" charset="2"/>
              <a:buChar char="q"/>
            </a:pPr>
            <a:endParaRPr lang="en-US" sz="2400" dirty="0">
              <a:cs typeface="Tahoma" pitchFamily="34" charset="0"/>
            </a:endParaRPr>
          </a:p>
          <a:p>
            <a:pPr eaLnBrk="1" hangingPunct="1">
              <a:buFont typeface="Wingdings" pitchFamily="2" charset="2"/>
              <a:buChar char="q"/>
            </a:pPr>
            <a:r>
              <a:rPr lang="en-US" sz="2400" dirty="0">
                <a:cs typeface="Tahoma" pitchFamily="34" charset="0"/>
              </a:rPr>
              <a:t>A particular collection of web pages that belong to a specific URL is called a website</a:t>
            </a:r>
          </a:p>
          <a:p>
            <a:pPr lvl="1" eaLnBrk="1" hangingPunct="1">
              <a:buFont typeface="Wingdings" pitchFamily="2" charset="2"/>
              <a:buChar char="q"/>
            </a:pPr>
            <a:r>
              <a:rPr lang="en-US" sz="2000" dirty="0">
                <a:cs typeface="Tahoma" pitchFamily="34" charset="0"/>
              </a:rPr>
              <a:t>www.facebook.com, www.google.com </a:t>
            </a:r>
          </a:p>
          <a:p>
            <a:pPr lvl="1" eaLnBrk="1" hangingPunct="1">
              <a:buFont typeface="Wingdings" pitchFamily="2" charset="2"/>
              <a:buChar char="q"/>
            </a:pPr>
            <a:endParaRPr lang="en-US" sz="2000" dirty="0">
              <a:cs typeface="Tahoma" pitchFamily="34" charset="0"/>
            </a:endParaRPr>
          </a:p>
          <a:p>
            <a:pPr eaLnBrk="1" hangingPunct="1">
              <a:buFont typeface="Wingdings" pitchFamily="2" charset="2"/>
              <a:buChar char="q"/>
            </a:pPr>
            <a:r>
              <a:rPr lang="en-US" sz="2400" dirty="0">
                <a:cs typeface="Tahoma" pitchFamily="34" charset="0"/>
              </a:rPr>
              <a:t>Small websites store all of their WebPages on a single server, but big websites or organizations place their WebPages on different servers in different countries so that when users of a country search their site they could get the information quickly from the nearest server.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71">
                                            <p:txEl>
                                              <p:pRg st="3" end="3"/>
                                            </p:txEl>
                                          </p:spTgt>
                                        </p:tgtEl>
                                        <p:attrNameLst>
                                          <p:attrName>style.visibility</p:attrName>
                                        </p:attrNameLst>
                                      </p:cBhvr>
                                      <p:to>
                                        <p:strVal val="visible"/>
                                      </p:to>
                                    </p:set>
                                    <p:anim calcmode="lin" valueType="num">
                                      <p:cBhvr additive="base">
                                        <p:cTn id="17"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71">
                                            <p:txEl>
                                              <p:pRg st="5" end="5"/>
                                            </p:txEl>
                                          </p:spTgt>
                                        </p:tgtEl>
                                        <p:attrNameLst>
                                          <p:attrName>style.visibility</p:attrName>
                                        </p:attrNameLst>
                                      </p:cBhvr>
                                      <p:to>
                                        <p:strVal val="visible"/>
                                      </p:to>
                                    </p:set>
                                    <p:anim calcmode="lin" valueType="num">
                                      <p:cBhvr additive="base">
                                        <p:cTn id="23"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702364" y="533400"/>
            <a:ext cx="8759687" cy="1143000"/>
          </a:xfrm>
        </p:spPr>
        <p:txBody>
          <a:bodyPr>
            <a:normAutofit fontScale="90000"/>
          </a:bodyPr>
          <a:lstStyle/>
          <a:p>
            <a:pPr eaLnBrk="1" hangingPunct="1"/>
            <a:r>
              <a:rPr lang="en-US" sz="3200" b="1" dirty="0">
                <a:cs typeface="Tahoma" pitchFamily="34" charset="0"/>
              </a:rPr>
              <a:t>Difference between World Wide Web and Internet</a:t>
            </a:r>
            <a:br>
              <a:rPr lang="en-US" sz="3200" b="1" dirty="0">
                <a:cs typeface="Tahoma" pitchFamily="34" charset="0"/>
              </a:rPr>
            </a:br>
            <a:endParaRPr lang="en-US" sz="3200" dirty="0">
              <a:cs typeface="Tahoma" pitchFamily="34" charset="0"/>
            </a:endParaRPr>
          </a:p>
        </p:txBody>
      </p:sp>
      <p:sp>
        <p:nvSpPr>
          <p:cNvPr id="8195" name="Content Placeholder 2"/>
          <p:cNvSpPr>
            <a:spLocks noGrp="1"/>
          </p:cNvSpPr>
          <p:nvPr>
            <p:ph idx="1"/>
          </p:nvPr>
        </p:nvSpPr>
        <p:spPr>
          <a:xfrm>
            <a:off x="609601" y="1874838"/>
            <a:ext cx="9582151" cy="4525962"/>
          </a:xfrm>
        </p:spPr>
        <p:txBody>
          <a:bodyPr/>
          <a:lstStyle/>
          <a:p>
            <a:pPr eaLnBrk="1" hangingPunct="1">
              <a:buFont typeface="Wingdings" pitchFamily="2" charset="2"/>
              <a:buChar char="q"/>
            </a:pPr>
            <a:r>
              <a:rPr lang="en-US" sz="2400" dirty="0">
                <a:cs typeface="Tahoma" pitchFamily="34" charset="0"/>
              </a:rPr>
              <a:t>Internet It is a worldwide network of devices like computers, laptops, tablets, etc. It enables users to send emails to other users and chat with them online. For example, when you send an email or chatting with someone online, you are using the internet.</a:t>
            </a:r>
          </a:p>
          <a:p>
            <a:pPr eaLnBrk="1" hangingPunct="1">
              <a:buFont typeface="Wingdings" pitchFamily="2" charset="2"/>
              <a:buChar char="q"/>
            </a:pPr>
            <a:endParaRPr lang="ar-SA" sz="2400" dirty="0"/>
          </a:p>
          <a:p>
            <a:pPr eaLnBrk="1" hangingPunct="1">
              <a:buFont typeface="Wingdings" pitchFamily="2" charset="2"/>
              <a:buChar char="q"/>
            </a:pPr>
            <a:r>
              <a:rPr lang="en-US" sz="2400" dirty="0">
                <a:cs typeface="Tahoma" pitchFamily="34" charset="0"/>
              </a:rPr>
              <a:t>But, World Wide Web it is a webpage request from your computer using a browser, and the server Senders that page to your browser.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anim calcmode="lin" valueType="num">
                                      <p:cBhvr additive="base">
                                        <p:cTn id="13"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12800" y="609600"/>
            <a:ext cx="9569451" cy="1320800"/>
          </a:xfrm>
        </p:spPr>
        <p:txBody>
          <a:bodyPr/>
          <a:lstStyle/>
          <a:p>
            <a:pPr eaLnBrk="1" hangingPunct="1"/>
            <a:r>
              <a:rPr lang="en-US" b="1">
                <a:cs typeface="Tahoma" pitchFamily="34" charset="0"/>
              </a:rPr>
              <a:t>How the World Wide Web Works</a:t>
            </a:r>
            <a:endParaRPr lang="en-US">
              <a:cs typeface="Tahoma" pitchFamily="34" charset="0"/>
            </a:endParaRPr>
          </a:p>
        </p:txBody>
      </p:sp>
      <p:sp>
        <p:nvSpPr>
          <p:cNvPr id="9219" name="Content Placeholder 2"/>
          <p:cNvSpPr>
            <a:spLocks noGrp="1"/>
          </p:cNvSpPr>
          <p:nvPr>
            <p:ph idx="1"/>
          </p:nvPr>
        </p:nvSpPr>
        <p:spPr>
          <a:xfrm>
            <a:off x="812801" y="1643063"/>
            <a:ext cx="8755270" cy="4969772"/>
          </a:xfrm>
        </p:spPr>
        <p:txBody>
          <a:bodyPr>
            <a:normAutofit lnSpcReduction="10000"/>
          </a:bodyPr>
          <a:lstStyle/>
          <a:p>
            <a:pPr eaLnBrk="1" hangingPunct="1">
              <a:buFont typeface="Wingdings" pitchFamily="2" charset="2"/>
              <a:buChar char="q"/>
            </a:pPr>
            <a:r>
              <a:rPr lang="en-US" sz="2000" dirty="0">
                <a:cs typeface="Tahoma" pitchFamily="34" charset="0"/>
              </a:rPr>
              <a:t>The Web works as per the internet's basic client-server format.</a:t>
            </a:r>
          </a:p>
          <a:p>
            <a:pPr eaLnBrk="1" hangingPunct="1">
              <a:buFont typeface="Wingdings" pitchFamily="2" charset="2"/>
              <a:buChar char="q"/>
            </a:pPr>
            <a:endParaRPr lang="ar-SA" sz="2000" dirty="0"/>
          </a:p>
          <a:p>
            <a:pPr eaLnBrk="1" hangingPunct="1">
              <a:buFont typeface="Wingdings" pitchFamily="2" charset="2"/>
              <a:buChar char="q"/>
            </a:pPr>
            <a:r>
              <a:rPr lang="en-US" sz="2000" dirty="0">
                <a:cs typeface="Tahoma" pitchFamily="34" charset="0"/>
              </a:rPr>
              <a:t>The servers store and transfer web pages or information to user's computers on the network when requested by the users.</a:t>
            </a:r>
          </a:p>
          <a:p>
            <a:pPr eaLnBrk="1" hangingPunct="1">
              <a:buFont typeface="Wingdings" pitchFamily="2" charset="2"/>
              <a:buChar char="q"/>
            </a:pPr>
            <a:endParaRPr lang="ar-SA" sz="2000" dirty="0"/>
          </a:p>
          <a:p>
            <a:pPr eaLnBrk="1" hangingPunct="1">
              <a:buFont typeface="Wingdings" pitchFamily="2" charset="2"/>
              <a:buChar char="q"/>
            </a:pPr>
            <a:r>
              <a:rPr lang="en-US" sz="2000" dirty="0">
                <a:cs typeface="Tahoma" pitchFamily="34" charset="0"/>
              </a:rPr>
              <a:t>A web server is a software program which serves the web pages requested by web users using a browser.</a:t>
            </a:r>
          </a:p>
          <a:p>
            <a:pPr eaLnBrk="1" hangingPunct="1">
              <a:buFont typeface="Wingdings" pitchFamily="2" charset="2"/>
              <a:buChar char="q"/>
            </a:pPr>
            <a:endParaRPr lang="ar-SA" sz="2000" dirty="0"/>
          </a:p>
          <a:p>
            <a:pPr eaLnBrk="1" hangingPunct="1">
              <a:buFont typeface="Wingdings" pitchFamily="2" charset="2"/>
              <a:buChar char="q"/>
            </a:pPr>
            <a:r>
              <a:rPr lang="en-US" sz="2000" dirty="0">
                <a:cs typeface="Tahoma" pitchFamily="34" charset="0"/>
              </a:rPr>
              <a:t>The computer of a user who requests documents from a server is known as a client.</a:t>
            </a:r>
          </a:p>
          <a:p>
            <a:pPr eaLnBrk="1" hangingPunct="1">
              <a:buFont typeface="Wingdings" pitchFamily="2" charset="2"/>
              <a:buChar char="q"/>
            </a:pPr>
            <a:endParaRPr lang="ar-SA" sz="2000" dirty="0"/>
          </a:p>
          <a:p>
            <a:pPr eaLnBrk="1" hangingPunct="1">
              <a:buFont typeface="Wingdings" pitchFamily="2" charset="2"/>
              <a:buChar char="q"/>
            </a:pPr>
            <a:r>
              <a:rPr lang="en-US" sz="2000" dirty="0">
                <a:cs typeface="Tahoma" pitchFamily="34" charset="0"/>
              </a:rPr>
              <a:t>Browser, which is installed on the user' computer, allows users to view the retrieved documents.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additive="base">
                                        <p:cTn id="7" dur="500" fill="hold"/>
                                        <p:tgtEl>
                                          <p:spTgt spid="92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 calcmode="lin" valueType="num">
                                      <p:cBhvr additive="base">
                                        <p:cTn id="13"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anim calcmode="lin" valueType="num">
                                      <p:cBhvr additive="base">
                                        <p:cTn id="19"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219">
                                            <p:txEl>
                                              <p:pRg st="6" end="6"/>
                                            </p:txEl>
                                          </p:spTgt>
                                        </p:tgtEl>
                                        <p:attrNameLst>
                                          <p:attrName>style.visibility</p:attrName>
                                        </p:attrNameLst>
                                      </p:cBhvr>
                                      <p:to>
                                        <p:strVal val="visible"/>
                                      </p:to>
                                    </p:set>
                                    <p:anim calcmode="lin" valueType="num">
                                      <p:cBhvr additive="base">
                                        <p:cTn id="25" dur="500" fill="hold"/>
                                        <p:tgtEl>
                                          <p:spTgt spid="921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219">
                                            <p:txEl>
                                              <p:pRg st="8" end="8"/>
                                            </p:txEl>
                                          </p:spTgt>
                                        </p:tgtEl>
                                        <p:attrNameLst>
                                          <p:attrName>style.visibility</p:attrName>
                                        </p:attrNameLst>
                                      </p:cBhvr>
                                      <p:to>
                                        <p:strVal val="visible"/>
                                      </p:to>
                                    </p:set>
                                    <p:anim calcmode="lin" valueType="num">
                                      <p:cBhvr additive="base">
                                        <p:cTn id="31" dur="500" fill="hold"/>
                                        <p:tgtEl>
                                          <p:spTgt spid="9219">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2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812800" y="609600"/>
            <a:ext cx="9474200" cy="1320800"/>
          </a:xfrm>
        </p:spPr>
        <p:txBody>
          <a:bodyPr/>
          <a:lstStyle/>
          <a:p>
            <a:pPr eaLnBrk="1" hangingPunct="1"/>
            <a:r>
              <a:rPr lang="en-US" b="1">
                <a:cs typeface="Tahoma" pitchFamily="34" charset="0"/>
              </a:rPr>
              <a:t>How the World Wide Web Works</a:t>
            </a:r>
            <a:endParaRPr lang="en-US">
              <a:cs typeface="Tahoma" pitchFamily="34" charset="0"/>
            </a:endParaRPr>
          </a:p>
        </p:txBody>
      </p:sp>
      <p:pic>
        <p:nvPicPr>
          <p:cNvPr id="10243" name="Picture 2"/>
          <p:cNvPicPr>
            <a:picLocks noGrp="1" noChangeAspect="1" noChangeArrowheads="1"/>
          </p:cNvPicPr>
          <p:nvPr>
            <p:ph idx="1"/>
          </p:nvPr>
        </p:nvPicPr>
        <p:blipFill>
          <a:blip r:embed="rId2"/>
          <a:srcRect/>
          <a:stretch>
            <a:fillRect/>
          </a:stretch>
        </p:blipFill>
        <p:spPr>
          <a:xfrm>
            <a:off x="1238251" y="2338388"/>
            <a:ext cx="8178800" cy="30480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99922"/>
            <a:ext cx="10363200" cy="1143000"/>
          </a:xfrm>
        </p:spPr>
        <p:txBody>
          <a:bodyPr>
            <a:normAutofit/>
          </a:bodyPr>
          <a:lstStyle/>
          <a:p>
            <a:pPr eaLnBrk="1" hangingPunct="1">
              <a:defRPr/>
            </a:pPr>
            <a:r>
              <a:rPr lang="en-US" sz="4000" b="1" dirty="0"/>
              <a:t>Technologies of Transferring Web Pages</a:t>
            </a:r>
          </a:p>
        </p:txBody>
      </p:sp>
      <p:sp>
        <p:nvSpPr>
          <p:cNvPr id="11267" name="Content Placeholder 2"/>
          <p:cNvSpPr>
            <a:spLocks noGrp="1"/>
          </p:cNvSpPr>
          <p:nvPr>
            <p:ph idx="1"/>
          </p:nvPr>
        </p:nvSpPr>
        <p:spPr>
          <a:xfrm>
            <a:off x="666752" y="1948070"/>
            <a:ext cx="9020588" cy="4093956"/>
          </a:xfrm>
        </p:spPr>
        <p:txBody>
          <a:bodyPr/>
          <a:lstStyle/>
          <a:p>
            <a:pPr algn="justLow" eaLnBrk="1" hangingPunct="1">
              <a:buFont typeface="Wingdings" pitchFamily="2" charset="2"/>
              <a:buChar char="q"/>
            </a:pPr>
            <a:r>
              <a:rPr lang="en-US" sz="2400" dirty="0">
                <a:cs typeface="Tahoma" pitchFamily="34" charset="0"/>
              </a:rPr>
              <a:t>The moment you open the browser and type a URL in the address bar or search something on Google, the WWW starts working. </a:t>
            </a:r>
          </a:p>
          <a:p>
            <a:pPr algn="justLow" eaLnBrk="1" hangingPunct="1">
              <a:buFont typeface="Wingdings" pitchFamily="2" charset="2"/>
              <a:buChar char="q"/>
            </a:pPr>
            <a:endParaRPr lang="ar-SA" sz="2400" dirty="0"/>
          </a:p>
          <a:p>
            <a:pPr algn="justLow" eaLnBrk="1" hangingPunct="1">
              <a:buFont typeface="Wingdings" pitchFamily="2" charset="2"/>
              <a:buChar char="q"/>
            </a:pPr>
            <a:r>
              <a:rPr lang="en-US" sz="2400" dirty="0">
                <a:cs typeface="Tahoma" pitchFamily="34" charset="0"/>
              </a:rPr>
              <a:t>There are three main technologies involved in transferring (web pages) from servers to clients .</a:t>
            </a:r>
            <a:endParaRPr lang="ar-SA" sz="2400" dirty="0"/>
          </a:p>
          <a:p>
            <a:pPr lvl="1" algn="justLow" eaLnBrk="1" hangingPunct="1">
              <a:buFont typeface="Wingdings" pitchFamily="2" charset="2"/>
              <a:buChar char="q"/>
            </a:pPr>
            <a:r>
              <a:rPr lang="en-US" sz="2000" dirty="0">
                <a:cs typeface="Tahoma" pitchFamily="34" charset="0"/>
              </a:rPr>
              <a:t>Hypertext Markup Language (HTML)</a:t>
            </a:r>
            <a:endParaRPr lang="ar-SA" sz="2000" dirty="0"/>
          </a:p>
          <a:p>
            <a:pPr lvl="1" algn="justLow" eaLnBrk="1" hangingPunct="1">
              <a:buFont typeface="Wingdings" pitchFamily="2" charset="2"/>
              <a:buChar char="q"/>
            </a:pPr>
            <a:r>
              <a:rPr lang="en-US" sz="2000" dirty="0">
                <a:cs typeface="Tahoma" pitchFamily="34" charset="0"/>
              </a:rPr>
              <a:t> Hypertext Transfer Protocol (HTTP) </a:t>
            </a:r>
            <a:endParaRPr lang="ar-SA" sz="2000" dirty="0"/>
          </a:p>
          <a:p>
            <a:pPr lvl="1" algn="justLow" eaLnBrk="1" hangingPunct="1">
              <a:buFont typeface="Wingdings" pitchFamily="2" charset="2"/>
              <a:buChar char="q"/>
            </a:pPr>
            <a:r>
              <a:rPr lang="en-US" sz="2000" dirty="0">
                <a:cs typeface="Tahoma" pitchFamily="34" charset="0"/>
              </a:rPr>
              <a:t>Web browsers.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anim calcmode="lin" valueType="num">
                                      <p:cBhvr additive="base">
                                        <p:cTn id="13"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anim calcmode="lin" valueType="num">
                                      <p:cBhvr additive="base">
                                        <p:cTn id="17"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26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267">
                                            <p:txEl>
                                              <p:pRg st="4" end="4"/>
                                            </p:txEl>
                                          </p:spTgt>
                                        </p:tgtEl>
                                        <p:attrNameLst>
                                          <p:attrName>style.visibility</p:attrName>
                                        </p:attrNameLst>
                                      </p:cBhvr>
                                      <p:to>
                                        <p:strVal val="visible"/>
                                      </p:to>
                                    </p:set>
                                    <p:anim calcmode="lin" valueType="num">
                                      <p:cBhvr additive="base">
                                        <p:cTn id="21"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267">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1267">
                                            <p:txEl>
                                              <p:pRg st="5" end="5"/>
                                            </p:txEl>
                                          </p:spTgt>
                                        </p:tgtEl>
                                        <p:attrNameLst>
                                          <p:attrName>style.visibility</p:attrName>
                                        </p:attrNameLst>
                                      </p:cBhvr>
                                      <p:to>
                                        <p:strVal val="visible"/>
                                      </p:to>
                                    </p:set>
                                    <p:anim calcmode="lin" valueType="num">
                                      <p:cBhvr additive="base">
                                        <p:cTn id="25"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4"/>
          <p:cNvSpPr>
            <a:spLocks noGrp="1"/>
          </p:cNvSpPr>
          <p:nvPr>
            <p:ph type="title"/>
          </p:nvPr>
        </p:nvSpPr>
        <p:spPr>
          <a:xfrm>
            <a:off x="812801" y="609600"/>
            <a:ext cx="8464551" cy="1320800"/>
          </a:xfrm>
        </p:spPr>
        <p:txBody>
          <a:bodyPr/>
          <a:lstStyle/>
          <a:p>
            <a:pPr eaLnBrk="1" hangingPunct="1"/>
            <a:r>
              <a:rPr lang="en-US" b="1">
                <a:cs typeface="Tahoma" pitchFamily="34" charset="0"/>
              </a:rPr>
              <a:t>Hypertext Markup Language (HTML)</a:t>
            </a:r>
            <a:endParaRPr lang="en-US">
              <a:cs typeface="Tahoma" pitchFamily="34" charset="0"/>
            </a:endParaRPr>
          </a:p>
        </p:txBody>
      </p:sp>
      <p:sp>
        <p:nvSpPr>
          <p:cNvPr id="12291" name="Content Placeholder 2"/>
          <p:cNvSpPr>
            <a:spLocks noGrp="1"/>
          </p:cNvSpPr>
          <p:nvPr>
            <p:ph sz="half" idx="1"/>
          </p:nvPr>
        </p:nvSpPr>
        <p:spPr>
          <a:xfrm>
            <a:off x="762001" y="2071689"/>
            <a:ext cx="7524751" cy="4054475"/>
          </a:xfrm>
        </p:spPr>
        <p:txBody>
          <a:bodyPr/>
          <a:lstStyle/>
          <a:p>
            <a:pPr eaLnBrk="1" hangingPunct="1">
              <a:buFont typeface="Wingdings" pitchFamily="2" charset="2"/>
              <a:buChar char="q"/>
            </a:pPr>
            <a:r>
              <a:rPr lang="en-US" sz="2400" dirty="0">
                <a:cs typeface="Tahoma" pitchFamily="34" charset="0"/>
              </a:rPr>
              <a:t>HTML is a standard markup language which is used for creating web pages.</a:t>
            </a:r>
          </a:p>
          <a:p>
            <a:pPr eaLnBrk="1" hangingPunct="1">
              <a:buFont typeface="Wingdings" pitchFamily="2" charset="2"/>
              <a:buChar char="q"/>
            </a:pPr>
            <a:r>
              <a:rPr lang="en-US" sz="2400" dirty="0">
                <a:cs typeface="Tahoma" pitchFamily="34" charset="0"/>
              </a:rPr>
              <a:t>These language is used to organize the pieces of content such as 'heading,' 'paragraph,' 'table,' 'Image,' and more.</a:t>
            </a:r>
          </a:p>
          <a:p>
            <a:pPr lvl="1" eaLnBrk="1" hangingPunct="1">
              <a:buFont typeface="Wingdings" pitchFamily="2" charset="2"/>
              <a:buChar char="q"/>
            </a:pPr>
            <a:r>
              <a:rPr lang="en-US" sz="2000" dirty="0">
                <a:cs typeface="Tahoma" pitchFamily="34" charset="0"/>
              </a:rPr>
              <a:t>i.e. HTML is used to display text, images, and other resources through a Web browser.</a:t>
            </a:r>
          </a:p>
        </p:txBody>
      </p:sp>
      <p:pic>
        <p:nvPicPr>
          <p:cNvPr id="12292" name="Picture 3"/>
          <p:cNvPicPr>
            <a:picLocks noGrp="1" noChangeAspect="1" noChangeArrowheads="1"/>
          </p:cNvPicPr>
          <p:nvPr>
            <p:ph sz="half" idx="2"/>
          </p:nvPr>
        </p:nvPicPr>
        <p:blipFill>
          <a:blip r:embed="rId2"/>
          <a:srcRect/>
          <a:stretch>
            <a:fillRect/>
          </a:stretch>
        </p:blipFill>
        <p:spPr>
          <a:xfrm>
            <a:off x="8242301" y="1828800"/>
            <a:ext cx="3340100" cy="3810000"/>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12801" y="609600"/>
            <a:ext cx="8464551" cy="1320800"/>
          </a:xfrm>
        </p:spPr>
        <p:txBody>
          <a:bodyPr/>
          <a:lstStyle/>
          <a:p>
            <a:pPr eaLnBrk="1" hangingPunct="1"/>
            <a:r>
              <a:rPr lang="en-US" b="1">
                <a:cs typeface="Tahoma" pitchFamily="34" charset="0"/>
              </a:rPr>
              <a:t>Hypertext Transfer Protocol (HTTP)</a:t>
            </a:r>
            <a:endParaRPr lang="en-US">
              <a:cs typeface="Tahoma" pitchFamily="34" charset="0"/>
            </a:endParaRPr>
          </a:p>
        </p:txBody>
      </p:sp>
      <p:sp>
        <p:nvSpPr>
          <p:cNvPr id="13315" name="Content Placeholder 2"/>
          <p:cNvSpPr>
            <a:spLocks noGrp="1"/>
          </p:cNvSpPr>
          <p:nvPr>
            <p:ph sz="half" idx="1"/>
          </p:nvPr>
        </p:nvSpPr>
        <p:spPr>
          <a:xfrm>
            <a:off x="609600" y="2143125"/>
            <a:ext cx="10058400" cy="3754438"/>
          </a:xfrm>
        </p:spPr>
        <p:txBody>
          <a:bodyPr/>
          <a:lstStyle/>
          <a:p>
            <a:pPr eaLnBrk="1" hangingPunct="1">
              <a:buFont typeface="Wingdings" pitchFamily="2" charset="2"/>
              <a:buChar char="q"/>
            </a:pPr>
            <a:r>
              <a:rPr lang="en-US" sz="2000" dirty="0">
                <a:cs typeface="Tahoma" pitchFamily="34" charset="0"/>
              </a:rPr>
              <a:t>Hyper Text Transfer Protocol (HTTP) enables WWW to work smoothly and effectively.</a:t>
            </a:r>
          </a:p>
          <a:p>
            <a:pPr eaLnBrk="1" hangingPunct="1">
              <a:buFont typeface="Wingdings" pitchFamily="2" charset="2"/>
              <a:buChar char="q"/>
            </a:pPr>
            <a:endParaRPr lang="en-US" sz="2000" dirty="0">
              <a:cs typeface="Tahoma" pitchFamily="34" charset="0"/>
            </a:endParaRPr>
          </a:p>
          <a:p>
            <a:pPr eaLnBrk="1" hangingPunct="1">
              <a:buFont typeface="Wingdings" pitchFamily="2" charset="2"/>
              <a:buChar char="q"/>
            </a:pPr>
            <a:r>
              <a:rPr lang="en-US" sz="2000" dirty="0">
                <a:cs typeface="Tahoma" pitchFamily="34" charset="0"/>
              </a:rPr>
              <a:t>based on a client-server model.</a:t>
            </a:r>
          </a:p>
          <a:p>
            <a:pPr eaLnBrk="1" hangingPunct="1">
              <a:buFont typeface="Wingdings" pitchFamily="2" charset="2"/>
              <a:buChar char="q"/>
            </a:pPr>
            <a:endParaRPr lang="en-US" sz="2000" dirty="0">
              <a:cs typeface="Tahoma" pitchFamily="34" charset="0"/>
            </a:endParaRPr>
          </a:p>
          <a:p>
            <a:pPr eaLnBrk="1" hangingPunct="1">
              <a:buFont typeface="Wingdings" pitchFamily="2" charset="2"/>
              <a:buChar char="q"/>
            </a:pPr>
            <a:r>
              <a:rPr lang="en-US" sz="2000" dirty="0">
                <a:cs typeface="Tahoma" pitchFamily="34" charset="0"/>
              </a:rPr>
              <a:t>When you enter a URL in the browser, an HTTP command is sent to the Web server, and it transmits the requested Web Page. </a:t>
            </a:r>
          </a:p>
        </p:txBody>
      </p:sp>
      <p:pic>
        <p:nvPicPr>
          <p:cNvPr id="13316" name="Picture 2"/>
          <p:cNvPicPr>
            <a:picLocks noGrp="1" noChangeAspect="1" noChangeArrowheads="1"/>
          </p:cNvPicPr>
          <p:nvPr>
            <p:ph sz="half" idx="2"/>
          </p:nvPr>
        </p:nvPicPr>
        <p:blipFill>
          <a:blip r:embed="rId2"/>
          <a:stretch>
            <a:fillRect/>
          </a:stretch>
        </p:blipFill>
        <p:spPr>
          <a:xfrm>
            <a:off x="6476206" y="3441700"/>
            <a:ext cx="2752725" cy="142875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anim calcmode="lin" valueType="num">
                                      <p:cBhvr additive="base">
                                        <p:cTn id="13"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anim calcmode="lin" valueType="num">
                                      <p:cBhvr additive="base">
                                        <p:cTn id="19"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565827" y="2136679"/>
            <a:ext cx="10573091" cy="1646302"/>
          </a:xfrm>
        </p:spPr>
        <p:txBody>
          <a:bodyPr/>
          <a:lstStyle/>
          <a:p>
            <a:pPr algn="ctr"/>
            <a:r>
              <a:rPr lang="en-US" sz="8800" b="1" dirty="0">
                <a:latin typeface="Aldhabi" pitchFamily="2" charset="-78"/>
                <a:cs typeface="Aldhabi" pitchFamily="2" charset="-78"/>
              </a:rPr>
              <a:t>Internet, Intranet , and Extranet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753293"/>
            <a:ext cx="8596668" cy="1075509"/>
          </a:xfrm>
        </p:spPr>
        <p:txBody>
          <a:bodyPr/>
          <a:lstStyle/>
          <a:p>
            <a:r>
              <a:rPr lang="en-US" b="1" dirty="0"/>
              <a:t>Internet</a:t>
            </a:r>
          </a:p>
        </p:txBody>
      </p:sp>
      <p:sp>
        <p:nvSpPr>
          <p:cNvPr id="3" name="Content Placeholder 2"/>
          <p:cNvSpPr>
            <a:spLocks noGrp="1"/>
          </p:cNvSpPr>
          <p:nvPr>
            <p:ph idx="1"/>
          </p:nvPr>
        </p:nvSpPr>
        <p:spPr>
          <a:xfrm>
            <a:off x="677334" y="1886266"/>
            <a:ext cx="8596668" cy="3880773"/>
          </a:xfrm>
        </p:spPr>
        <p:txBody>
          <a:bodyPr/>
          <a:lstStyle/>
          <a:p>
            <a:pPr>
              <a:lnSpc>
                <a:spcPct val="150000"/>
              </a:lnSpc>
            </a:pPr>
            <a:endParaRPr lang="en-US" dirty="0"/>
          </a:p>
          <a:p>
            <a:pPr algn="just">
              <a:lnSpc>
                <a:spcPct val="150000"/>
              </a:lnSpc>
              <a:buFont typeface="Wingdings" pitchFamily="2" charset="2"/>
              <a:buChar char="q"/>
            </a:pPr>
            <a:r>
              <a:rPr lang="en-US" sz="2400" dirty="0"/>
              <a:t>The Internet is a global network of billions of computers and other electronic devices. With the Internet, it's possible to access almost any information, communicate with anyone else in the world, and do much more.</a:t>
            </a:r>
          </a:p>
          <a:p>
            <a:pPr>
              <a:lnSpc>
                <a:spcPct val="150000"/>
              </a:lnSpc>
            </a:pPr>
            <a:endParaRPr lang="en-US" dirty="0"/>
          </a:p>
          <a:p>
            <a:pPr>
              <a:lnSpc>
                <a:spcPct val="150000"/>
              </a:lnSpc>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87978"/>
            <a:ext cx="8596668" cy="931817"/>
          </a:xfrm>
        </p:spPr>
        <p:txBody>
          <a:bodyPr/>
          <a:lstStyle/>
          <a:p>
            <a:r>
              <a:rPr lang="en-US" b="1" dirty="0"/>
              <a:t>Intranet</a:t>
            </a:r>
          </a:p>
        </p:txBody>
      </p:sp>
      <p:sp>
        <p:nvSpPr>
          <p:cNvPr id="3" name="Content Placeholder 2"/>
          <p:cNvSpPr>
            <a:spLocks noGrp="1"/>
          </p:cNvSpPr>
          <p:nvPr>
            <p:ph idx="1"/>
          </p:nvPr>
        </p:nvSpPr>
        <p:spPr/>
        <p:txBody>
          <a:bodyPr>
            <a:normAutofit/>
          </a:bodyPr>
          <a:lstStyle/>
          <a:p>
            <a:pPr algn="justLow">
              <a:lnSpc>
                <a:spcPct val="150000"/>
              </a:lnSpc>
              <a:buFont typeface="Wingdings" pitchFamily="2" charset="2"/>
              <a:buChar char="q"/>
            </a:pPr>
            <a:r>
              <a:rPr lang="en-US" sz="2400" dirty="0"/>
              <a:t>An intranet is a private network contained within an enterprise that is used to securely share company information and computing resources among employees.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1817"/>
          </a:xfrm>
        </p:spPr>
        <p:txBody>
          <a:bodyPr/>
          <a:lstStyle/>
          <a:p>
            <a:r>
              <a:rPr lang="en-US" b="1" dirty="0"/>
              <a:t>Intranet Advantages </a:t>
            </a:r>
          </a:p>
        </p:txBody>
      </p:sp>
      <p:sp>
        <p:nvSpPr>
          <p:cNvPr id="3" name="Content Placeholder 2"/>
          <p:cNvSpPr>
            <a:spLocks noGrp="1"/>
          </p:cNvSpPr>
          <p:nvPr>
            <p:ph idx="1"/>
          </p:nvPr>
        </p:nvSpPr>
        <p:spPr>
          <a:xfrm>
            <a:off x="677334" y="1567543"/>
            <a:ext cx="8596668" cy="4885508"/>
          </a:xfrm>
        </p:spPr>
        <p:txBody>
          <a:bodyPr>
            <a:normAutofit/>
          </a:bodyPr>
          <a:lstStyle/>
          <a:p>
            <a:pPr marL="342900" lvl="2" indent="-342900" algn="justLow">
              <a:buFont typeface="Wingdings" pitchFamily="2" charset="2"/>
              <a:buChar char="q"/>
            </a:pPr>
            <a:r>
              <a:rPr lang="en-US" sz="1800" dirty="0"/>
              <a:t>They let employees easily access important information, links, applications, forms and databases of company records.</a:t>
            </a:r>
          </a:p>
          <a:p>
            <a:pPr marL="342900" lvl="2" indent="-342900" algn="justLow">
              <a:buFont typeface="Wingdings" pitchFamily="2" charset="2"/>
              <a:buChar char="q"/>
            </a:pPr>
            <a:r>
              <a:rPr lang="en-US" sz="1800" dirty="0"/>
              <a:t>A database that includes all the usernames of employees who have access rights to the network is often used to maintain intranet security.</a:t>
            </a:r>
          </a:p>
          <a:p>
            <a:pPr marL="342900" lvl="2" indent="-342900" algn="justLow">
              <a:buFont typeface="Wingdings" pitchFamily="2" charset="2"/>
              <a:buChar char="q"/>
            </a:pPr>
            <a:r>
              <a:rPr lang="en-US" sz="1800" dirty="0"/>
              <a:t> Stores securely document.</a:t>
            </a:r>
          </a:p>
          <a:p>
            <a:pPr marL="342900" lvl="2" indent="-342900" algn="justLow">
              <a:buFont typeface="Wingdings" pitchFamily="2" charset="2"/>
              <a:buChar char="q"/>
            </a:pPr>
            <a:r>
              <a:rPr lang="en-US" sz="1800" dirty="0"/>
              <a:t> knowledge sharing.</a:t>
            </a:r>
          </a:p>
          <a:p>
            <a:pPr marL="342900" lvl="2" indent="-342900" algn="justLow">
              <a:buFont typeface="Wingdings" pitchFamily="2" charset="2"/>
              <a:buChar char="q"/>
            </a:pPr>
            <a:r>
              <a:rPr lang="en-US" sz="1800" dirty="0"/>
              <a:t>Increases internal communication</a:t>
            </a:r>
          </a:p>
          <a:p>
            <a:pPr marL="342900" lvl="2" indent="-342900" algn="justLow">
              <a:buFont typeface="Wingdings" pitchFamily="2" charset="2"/>
              <a:buChar char="q"/>
            </a:pPr>
            <a:r>
              <a:rPr lang="en-US" sz="1800" dirty="0"/>
              <a:t> Connects employees</a:t>
            </a:r>
          </a:p>
          <a:p>
            <a:pPr marL="342900" lvl="2" indent="-342900" algn="justLow">
              <a:buFont typeface="Wingdings" pitchFamily="2" charset="2"/>
              <a:buChar char="q"/>
            </a:pPr>
            <a:r>
              <a:rPr lang="en-US" sz="1800" dirty="0"/>
              <a:t>Automation. Intranets streamline everyday activities by helping to automate repeatable tasks (Increases employee productivity )</a:t>
            </a:r>
          </a:p>
          <a:p>
            <a:pPr marL="342900" lvl="2" indent="-342900" algn="justLow">
              <a:buFont typeface="Wingdings" pitchFamily="2" charset="2"/>
              <a:buChar char="q"/>
            </a:pPr>
            <a:r>
              <a:rPr lang="en-US" sz="1800" dirty="0"/>
              <a:t> Integrates with third-party tools</a:t>
            </a:r>
          </a:p>
          <a:p>
            <a:pPr>
              <a:buFont typeface="Wingdings" pitchFamily="2" charset="2"/>
              <a:buChar char="q"/>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Extranet</a:t>
            </a:r>
          </a:p>
        </p:txBody>
      </p:sp>
      <p:sp>
        <p:nvSpPr>
          <p:cNvPr id="3" name="Content Placeholder 2"/>
          <p:cNvSpPr>
            <a:spLocks noGrp="1"/>
          </p:cNvSpPr>
          <p:nvPr>
            <p:ph sz="half" idx="1"/>
          </p:nvPr>
        </p:nvSpPr>
        <p:spPr>
          <a:xfrm>
            <a:off x="677334" y="1541417"/>
            <a:ext cx="6863153" cy="4499944"/>
          </a:xfrm>
        </p:spPr>
        <p:txBody>
          <a:bodyPr>
            <a:normAutofit/>
          </a:bodyPr>
          <a:lstStyle/>
          <a:p>
            <a:pPr algn="justLow">
              <a:buFont typeface="Wingdings" pitchFamily="2" charset="2"/>
              <a:buChar char="q"/>
            </a:pPr>
            <a:r>
              <a:rPr lang="en-US" sz="2400" dirty="0"/>
              <a:t>An extranet is a private network that enterprises use to provide trusted third parties.</a:t>
            </a:r>
          </a:p>
          <a:p>
            <a:pPr lvl="1" algn="justLow">
              <a:buFont typeface="Wingdings" pitchFamily="2" charset="2"/>
              <a:buChar char="q"/>
            </a:pPr>
            <a:r>
              <a:rPr lang="en-US" sz="1800" dirty="0"/>
              <a:t>allow to customers, partners, vendors, suppliers and other businesses to gain information, without granting access to the organization's entire network.</a:t>
            </a:r>
          </a:p>
          <a:p>
            <a:pPr lvl="1" algn="justLow">
              <a:buFont typeface="Wingdings" pitchFamily="2" charset="2"/>
              <a:buChar char="q"/>
            </a:pPr>
            <a:endParaRPr lang="ar-SA" sz="1800" dirty="0"/>
          </a:p>
          <a:p>
            <a:pPr lvl="1" algn="justLow">
              <a:buFont typeface="Wingdings" pitchFamily="2" charset="2"/>
              <a:buChar char="q"/>
            </a:pPr>
            <a:r>
              <a:rPr lang="en-US" sz="1800" dirty="0"/>
              <a:t>Users are selected through user IDs, passwords, and other authentication mechanisms on the login page.</a:t>
            </a:r>
          </a:p>
        </p:txBody>
      </p:sp>
      <p:pic>
        <p:nvPicPr>
          <p:cNvPr id="1026" name="Picture 2"/>
          <p:cNvPicPr>
            <a:picLocks noGrp="1" noChangeAspect="1" noChangeArrowheads="1"/>
          </p:cNvPicPr>
          <p:nvPr>
            <p:ph sz="half" idx="2"/>
          </p:nvPr>
        </p:nvPicPr>
        <p:blipFill>
          <a:blip r:embed="rId2"/>
          <a:srcRect/>
          <a:stretch>
            <a:fillRect/>
          </a:stretch>
        </p:blipFill>
        <p:spPr bwMode="auto">
          <a:xfrm>
            <a:off x="7646504" y="1436914"/>
            <a:ext cx="4253758" cy="411817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88571"/>
          </a:xfrm>
        </p:spPr>
        <p:txBody>
          <a:bodyPr/>
          <a:lstStyle/>
          <a:p>
            <a:r>
              <a:rPr lang="en-US" b="1" dirty="0"/>
              <a:t>Extranets Advantages </a:t>
            </a:r>
          </a:p>
        </p:txBody>
      </p:sp>
      <p:sp>
        <p:nvSpPr>
          <p:cNvPr id="3" name="Content Placeholder 2"/>
          <p:cNvSpPr>
            <a:spLocks noGrp="1"/>
          </p:cNvSpPr>
          <p:nvPr>
            <p:ph idx="1"/>
          </p:nvPr>
        </p:nvSpPr>
        <p:spPr>
          <a:xfrm>
            <a:off x="677334" y="1776549"/>
            <a:ext cx="8596668" cy="2704011"/>
          </a:xfrm>
        </p:spPr>
        <p:txBody>
          <a:bodyPr>
            <a:noAutofit/>
          </a:bodyPr>
          <a:lstStyle/>
          <a:p>
            <a:endParaRPr lang="en-US" sz="2000" dirty="0"/>
          </a:p>
          <a:p>
            <a:pPr>
              <a:buFont typeface="Wingdings" pitchFamily="2" charset="2"/>
              <a:buChar char="q"/>
            </a:pPr>
            <a:r>
              <a:rPr lang="en-US" sz="2000" dirty="0"/>
              <a:t>    The ability to exchange large volumes of data using electronic data interchange.</a:t>
            </a:r>
          </a:p>
          <a:p>
            <a:pPr>
              <a:buFont typeface="Wingdings" pitchFamily="2" charset="2"/>
              <a:buChar char="q"/>
            </a:pPr>
            <a:endParaRPr lang="en-US" sz="2000" dirty="0"/>
          </a:p>
          <a:p>
            <a:pPr>
              <a:buFont typeface="Wingdings" pitchFamily="2" charset="2"/>
              <a:buChar char="q"/>
            </a:pPr>
            <a:r>
              <a:rPr lang="en-US" sz="2000" dirty="0"/>
              <a:t>    Sharing product data or catalogs with business partners.</a:t>
            </a:r>
          </a:p>
          <a:p>
            <a:pPr>
              <a:buFont typeface="Wingdings" pitchFamily="2" charset="2"/>
              <a:buChar char="q"/>
            </a:pPr>
            <a:endParaRPr lang="en-US" sz="2000" dirty="0"/>
          </a:p>
          <a:p>
            <a:pPr>
              <a:buFont typeface="Wingdings" pitchFamily="2" charset="2"/>
              <a:buChar char="q"/>
            </a:pPr>
            <a:r>
              <a:rPr lang="en-US" sz="2000" dirty="0"/>
              <a:t>    Sharing services such as online banking applications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18754"/>
          </a:xfrm>
        </p:spPr>
        <p:txBody>
          <a:bodyPr>
            <a:normAutofit fontScale="90000"/>
          </a:bodyPr>
          <a:lstStyle/>
          <a:p>
            <a:r>
              <a:rPr lang="en-US" b="1" dirty="0"/>
              <a:t>Internet, Intranet, and Extranet</a:t>
            </a:r>
            <a:br>
              <a:rPr lang="en-US" b="1" dirty="0"/>
            </a:b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267104" y="1634687"/>
            <a:ext cx="7594713" cy="4333519"/>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640080" y="279537"/>
            <a:ext cx="10032274" cy="5337492"/>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600890" y="5507354"/>
            <a:ext cx="10071463" cy="1193891"/>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530</TotalTime>
  <Words>1587</Words>
  <Application>Microsoft Office PowerPoint</Application>
  <PresentationFormat>Widescreen</PresentationFormat>
  <Paragraphs>204</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Aldhabi</vt:lpstr>
      <vt:lpstr>Andalus</vt:lpstr>
      <vt:lpstr>Arial</vt:lpstr>
      <vt:lpstr>Century Gothic</vt:lpstr>
      <vt:lpstr>Copperplate Gothic Bold</vt:lpstr>
      <vt:lpstr>Tahoma</vt:lpstr>
      <vt:lpstr>Times New Roman</vt:lpstr>
      <vt:lpstr>Wingdings</vt:lpstr>
      <vt:lpstr>Wingdings 3</vt:lpstr>
      <vt:lpstr>Ion</vt:lpstr>
      <vt:lpstr>Introduction to Computer Science</vt:lpstr>
      <vt:lpstr>PowerPoint Presentation</vt:lpstr>
      <vt:lpstr>OBJECTIVES AND INTENDED OUTCOMES </vt:lpstr>
      <vt:lpstr>PowerPoint Presentation</vt:lpstr>
      <vt:lpstr>PowerPoint Presentation</vt:lpstr>
      <vt:lpstr>Benefits of Computer Networks</vt:lpstr>
      <vt:lpstr>Computer Network Components</vt:lpstr>
      <vt:lpstr>PowerPoint Presentation</vt:lpstr>
      <vt:lpstr>Computer Network Components Cont..</vt:lpstr>
      <vt:lpstr>PowerPoint Presentation</vt:lpstr>
      <vt:lpstr>Computer Network Components Cont..</vt:lpstr>
      <vt:lpstr>Computer Network Types</vt:lpstr>
      <vt:lpstr>LAN (Local Area Network)</vt:lpstr>
      <vt:lpstr>MAN (Metropolitan Area Network)</vt:lpstr>
      <vt:lpstr>WAN(Wide Area Network)</vt:lpstr>
      <vt:lpstr>Network Protocols</vt:lpstr>
      <vt:lpstr>Types of Protocols</vt:lpstr>
      <vt:lpstr>Types of Protocols</vt:lpstr>
      <vt:lpstr>Introduction to Computer Science</vt:lpstr>
      <vt:lpstr>World Wide Web (www)</vt:lpstr>
      <vt:lpstr>World Wide Web</vt:lpstr>
      <vt:lpstr>Uniform Resource Locator (URL)</vt:lpstr>
      <vt:lpstr>Difference between World Wide Web and Internet </vt:lpstr>
      <vt:lpstr>How the World Wide Web Works</vt:lpstr>
      <vt:lpstr>How the World Wide Web Works</vt:lpstr>
      <vt:lpstr>Technologies of Transferring Web Pages</vt:lpstr>
      <vt:lpstr>Hypertext Markup Language (HTML)</vt:lpstr>
      <vt:lpstr>Hypertext Transfer Protocol (HTTP)</vt:lpstr>
      <vt:lpstr>Internet, Intranet , and Extranet </vt:lpstr>
      <vt:lpstr>Internet</vt:lpstr>
      <vt:lpstr>Intranet</vt:lpstr>
      <vt:lpstr>Intranet Advantages </vt:lpstr>
      <vt:lpstr>Extranet</vt:lpstr>
      <vt:lpstr>Extranets Advantages </vt:lpstr>
      <vt:lpstr>Internet, Intranet, and Extranet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Telecommunications</dc:title>
  <dc:creator>ASDVC</dc:creator>
  <cp:lastModifiedBy>NUSU-CS-HESHAM</cp:lastModifiedBy>
  <cp:revision>62</cp:revision>
  <dcterms:created xsi:type="dcterms:W3CDTF">2023-01-31T18:19:34Z</dcterms:created>
  <dcterms:modified xsi:type="dcterms:W3CDTF">2025-10-24T20:59:32Z</dcterms:modified>
</cp:coreProperties>
</file>