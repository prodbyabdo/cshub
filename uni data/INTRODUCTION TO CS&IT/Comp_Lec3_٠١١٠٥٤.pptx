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</p:sldMasterIdLst>
  <p:sldIdLst>
    <p:sldId id="269" r:id="rId2"/>
    <p:sldId id="266" r:id="rId3"/>
    <p:sldId id="268" r:id="rId4"/>
    <p:sldId id="263" r:id="rId5"/>
    <p:sldId id="262" r:id="rId6"/>
    <p:sldId id="265" r:id="rId7"/>
    <p:sldId id="260" r:id="rId8"/>
    <p:sldId id="267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8FC5E-B9F3-43DC-A861-7FE21BE01837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C2B87-F658-49ED-93D9-F1E3A8BD2F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054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8FC5E-B9F3-43DC-A861-7FE21BE01837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C2B87-F658-49ED-93D9-F1E3A8BD2F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8328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8FC5E-B9F3-43DC-A861-7FE21BE01837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C2B87-F658-49ED-93D9-F1E3A8BD2F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943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8FC5E-B9F3-43DC-A861-7FE21BE01837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C2B87-F658-49ED-93D9-F1E3A8BD2F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177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8FC5E-B9F3-43DC-A861-7FE21BE01837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C2B87-F658-49ED-93D9-F1E3A8BD2F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471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8FC5E-B9F3-43DC-A861-7FE21BE01837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C2B87-F658-49ED-93D9-F1E3A8BD2F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0315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8FC5E-B9F3-43DC-A861-7FE21BE01837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C2B87-F658-49ED-93D9-F1E3A8BD2F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71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8FC5E-B9F3-43DC-A861-7FE21BE01837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C2B87-F658-49ED-93D9-F1E3A8BD2F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150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8FC5E-B9F3-43DC-A861-7FE21BE01837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C2B87-F658-49ED-93D9-F1E3A8BD2F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104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8FC5E-B9F3-43DC-A861-7FE21BE01837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C2B87-F658-49ED-93D9-F1E3A8BD2F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9283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8FC5E-B9F3-43DC-A861-7FE21BE01837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C2B87-F658-49ED-93D9-F1E3A8BD2F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2265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8FC5E-B9F3-43DC-A861-7FE21BE01837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C2B87-F658-49ED-93D9-F1E3A8BD2FA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389418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8FC5E-B9F3-43DC-A861-7FE21BE01837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C2B87-F658-49ED-93D9-F1E3A8BD2F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3979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8FC5E-B9F3-43DC-A861-7FE21BE01837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C2B87-F658-49ED-93D9-F1E3A8BD2F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4124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8FC5E-B9F3-43DC-A861-7FE21BE01837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C2B87-F658-49ED-93D9-F1E3A8BD2F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1243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8FC5E-B9F3-43DC-A861-7FE21BE01837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C2B87-F658-49ED-93D9-F1E3A8BD2F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9345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8FC5E-B9F3-43DC-A861-7FE21BE01837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C2B87-F658-49ED-93D9-F1E3A8BD2F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747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82C8FC5E-B9F3-43DC-A861-7FE21BE01837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AC2B87-F658-49ED-93D9-F1E3A8BD2F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17792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  <p:sldLayoutId id="2147483726" r:id="rId13"/>
    <p:sldLayoutId id="2147483727" r:id="rId14"/>
    <p:sldLayoutId id="2147483728" r:id="rId15"/>
    <p:sldLayoutId id="2147483729" r:id="rId16"/>
    <p:sldLayoutId id="2147483730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379828" y="2404534"/>
            <a:ext cx="9931790" cy="1646302"/>
          </a:xfrm>
        </p:spPr>
        <p:txBody>
          <a:bodyPr/>
          <a:lstStyle/>
          <a:p>
            <a:pPr algn="ctr"/>
            <a:r>
              <a:rPr lang="en-US" sz="4800" dirty="0"/>
              <a:t>Introduction to Computer Science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dirty="0"/>
              <a:t>Lecture3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37630" y="2306836"/>
            <a:ext cx="6764050" cy="1096962"/>
          </a:xfrm>
        </p:spPr>
        <p:txBody>
          <a:bodyPr>
            <a:noAutofit/>
          </a:bodyPr>
          <a:lstStyle/>
          <a:p>
            <a:pPr algn="ctr" rtl="1">
              <a:defRPr/>
            </a:pPr>
            <a:r>
              <a:rPr lang="en-US" sz="72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 Software</a:t>
            </a:r>
            <a:r>
              <a:rPr lang="ar-SA" sz="72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sz="72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</a:p>
          <a:p>
            <a:pPr>
              <a:defRPr/>
            </a:pP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31004176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dirty="0"/>
              <a:t>OBJECTIVES AND INTENDED OUTCOMES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160589"/>
            <a:ext cx="9845300" cy="3880773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q"/>
            </a:pPr>
            <a:r>
              <a:rPr lang="en-US" sz="2400" dirty="0"/>
              <a:t>By the end of this lesson the learner is expected to:</a:t>
            </a:r>
          </a:p>
          <a:p>
            <a:pPr lvl="1">
              <a:buFont typeface="Wingdings" pitchFamily="2" charset="2"/>
              <a:buChar char="q"/>
            </a:pPr>
            <a:r>
              <a:rPr lang="en-US" sz="2200" dirty="0"/>
              <a:t>Understand the concept of software, program, programming, and programming languages.</a:t>
            </a:r>
          </a:p>
          <a:p>
            <a:pPr lvl="1">
              <a:buFont typeface="Wingdings" pitchFamily="2" charset="2"/>
              <a:buChar char="q"/>
            </a:pPr>
            <a:endParaRPr lang="en-US" sz="2200" dirty="0"/>
          </a:p>
          <a:p>
            <a:pPr lvl="1">
              <a:buFont typeface="Wingdings" pitchFamily="2" charset="2"/>
              <a:buChar char="q"/>
            </a:pPr>
            <a:r>
              <a:rPr lang="en-US" sz="2200" dirty="0"/>
              <a:t> Learn the types of software. </a:t>
            </a:r>
          </a:p>
          <a:p>
            <a:pPr lvl="1">
              <a:buFont typeface="Wingdings" pitchFamily="2" charset="2"/>
              <a:buChar char="q"/>
            </a:pPr>
            <a:endParaRPr lang="en-US" sz="2200" dirty="0"/>
          </a:p>
          <a:p>
            <a:pPr lvl="1">
              <a:buFont typeface="Wingdings" pitchFamily="2" charset="2"/>
              <a:buChar char="q"/>
            </a:pPr>
            <a:r>
              <a:rPr lang="en-US" sz="2200" dirty="0"/>
              <a:t> Learn the system software and application software. </a:t>
            </a:r>
          </a:p>
          <a:p>
            <a:pPr lvl="1">
              <a:buFont typeface="Wingdings" pitchFamily="2" charset="2"/>
              <a:buChar char="q"/>
            </a:pPr>
            <a:endParaRPr lang="en-US" sz="2200" dirty="0"/>
          </a:p>
          <a:p>
            <a:pPr lvl="1">
              <a:buFont typeface="Wingdings" pitchFamily="2" charset="2"/>
              <a:buChar char="q"/>
            </a:pPr>
            <a:r>
              <a:rPr lang="en-US" sz="2200" dirty="0"/>
              <a:t>Understand the concept of the software components,</a:t>
            </a:r>
          </a:p>
          <a:p>
            <a:pPr>
              <a:buFont typeface="Wingdings" pitchFamily="2" charset="2"/>
              <a:buChar char="q"/>
            </a:pP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8250" y="365125"/>
            <a:ext cx="8285019" cy="1325563"/>
          </a:xfrm>
        </p:spPr>
        <p:txBody>
          <a:bodyPr/>
          <a:lstStyle/>
          <a:p>
            <a:pPr algn="l"/>
            <a:r>
              <a:rPr lang="en-US" b="1" dirty="0"/>
              <a:t>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0851" y="1237959"/>
            <a:ext cx="9523820" cy="5317586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400" b="1" dirty="0"/>
              <a:t>Software </a:t>
            </a:r>
            <a:r>
              <a:rPr lang="en-US" sz="2400" dirty="0"/>
              <a:t>non-physical units that drive the computer to perform tasks that are performed by the hardware components.</a:t>
            </a:r>
          </a:p>
          <a:p>
            <a:pPr>
              <a:buFont typeface="Wingdings" pitchFamily="2" charset="2"/>
              <a:buChar char="q"/>
            </a:pPr>
            <a:endParaRPr lang="ar-SA" sz="2400" dirty="0"/>
          </a:p>
          <a:p>
            <a:pPr>
              <a:buFont typeface="Wingdings" pitchFamily="2" charset="2"/>
              <a:buChar char="q"/>
            </a:pPr>
            <a:r>
              <a:rPr lang="en-US" sz="2800" dirty="0"/>
              <a:t>The software is divided into two parts:</a:t>
            </a:r>
            <a:endParaRPr lang="ar-SA" sz="2800" dirty="0"/>
          </a:p>
          <a:p>
            <a:pPr lvl="1">
              <a:buFont typeface="Wingdings" pitchFamily="2" charset="2"/>
              <a:buChar char="q"/>
            </a:pPr>
            <a:r>
              <a:rPr lang="en-US" sz="2400" dirty="0"/>
              <a:t>System software</a:t>
            </a:r>
            <a:endParaRPr lang="ar-SA" sz="2400" dirty="0"/>
          </a:p>
          <a:p>
            <a:pPr lvl="2">
              <a:buFont typeface="Wingdings" pitchFamily="2" charset="2"/>
              <a:buChar char="q"/>
            </a:pPr>
            <a:r>
              <a:rPr lang="en-US" sz="2000" dirty="0"/>
              <a:t>Translation software </a:t>
            </a:r>
            <a:endParaRPr lang="ar-SA" sz="2000" dirty="0"/>
          </a:p>
          <a:p>
            <a:pPr lvl="2">
              <a:buFont typeface="Wingdings" pitchFamily="2" charset="2"/>
              <a:buChar char="q"/>
            </a:pPr>
            <a:r>
              <a:rPr lang="en-US" sz="2000" dirty="0"/>
              <a:t>Operating Systems</a:t>
            </a:r>
            <a:r>
              <a:rPr lang="ar-SA" sz="2000" dirty="0"/>
              <a:t> </a:t>
            </a:r>
            <a:endParaRPr lang="en-US" sz="2000" dirty="0"/>
          </a:p>
          <a:p>
            <a:pPr lvl="2">
              <a:buFont typeface="Wingdings" pitchFamily="2" charset="2"/>
              <a:buChar char="q"/>
            </a:pPr>
            <a:endParaRPr lang="ar-SA" sz="2000" dirty="0"/>
          </a:p>
          <a:p>
            <a:pPr lvl="1">
              <a:buFont typeface="Wingdings" pitchFamily="2" charset="2"/>
              <a:buChar char="q"/>
            </a:pPr>
            <a:r>
              <a:rPr lang="ar-SA" sz="2600" dirty="0"/>
              <a:t> </a:t>
            </a:r>
            <a:r>
              <a:rPr lang="en-US" sz="2200" dirty="0"/>
              <a:t>Application software</a:t>
            </a:r>
            <a:endParaRPr lang="ar-SA" sz="2200" dirty="0"/>
          </a:p>
          <a:p>
            <a:pPr lvl="3">
              <a:buFont typeface="Wingdings" pitchFamily="2" charset="2"/>
              <a:buChar char="q"/>
            </a:pPr>
            <a:r>
              <a:rPr lang="en-US" sz="1800" dirty="0"/>
              <a:t> </a:t>
            </a:r>
            <a:r>
              <a:rPr lang="en-US" sz="2000" dirty="0"/>
              <a:t>user programs </a:t>
            </a:r>
            <a:endParaRPr lang="ar-SA" sz="2000" dirty="0"/>
          </a:p>
          <a:p>
            <a:pPr lvl="3">
              <a:buFont typeface="Wingdings" pitchFamily="2" charset="2"/>
              <a:buChar char="q"/>
            </a:pPr>
            <a:r>
              <a:rPr lang="en-US" sz="2000" dirty="0"/>
              <a:t>Packages software</a:t>
            </a:r>
            <a:endParaRPr lang="ar-SA" sz="2000" dirty="0"/>
          </a:p>
        </p:txBody>
      </p:sp>
    </p:spTree>
    <p:extLst>
      <p:ext uri="{BB962C8B-B14F-4D97-AF65-F5344CB8AC3E}">
        <p14:creationId xmlns:p14="http://schemas.microsoft.com/office/powerpoint/2010/main" val="442021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247" y="407330"/>
            <a:ext cx="9414164" cy="1089602"/>
          </a:xfrm>
        </p:spPr>
        <p:txBody>
          <a:bodyPr/>
          <a:lstStyle/>
          <a:p>
            <a:pPr algn="l"/>
            <a:r>
              <a:rPr lang="en-US" b="1" dirty="0"/>
              <a:t>system 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6587" y="1561524"/>
            <a:ext cx="8746902" cy="4276577"/>
          </a:xfrm>
        </p:spPr>
        <p:txBody>
          <a:bodyPr>
            <a:normAutofit lnSpcReduction="10000"/>
          </a:bodyPr>
          <a:lstStyle/>
          <a:p>
            <a:pPr algn="just">
              <a:buFont typeface="Wingdings" pitchFamily="2" charset="2"/>
              <a:buChar char="q"/>
              <a:defRPr/>
            </a:pPr>
            <a:r>
              <a:rPr lang="ar-SA" sz="2400" dirty="0"/>
              <a:t>  </a:t>
            </a:r>
            <a:r>
              <a:rPr lang="en-US" sz="2400" b="1" dirty="0"/>
              <a:t>system software </a:t>
            </a:r>
            <a:r>
              <a:rPr lang="en-US" sz="2400" dirty="0"/>
              <a:t>refers to the programs that manage the computer. divided into:</a:t>
            </a:r>
          </a:p>
          <a:p>
            <a:pPr algn="just">
              <a:buFont typeface="Wingdings" pitchFamily="2" charset="2"/>
              <a:buChar char="q"/>
              <a:defRPr/>
            </a:pPr>
            <a:endParaRPr lang="en-US" sz="2400" dirty="0"/>
          </a:p>
          <a:p>
            <a:pPr lvl="1" algn="just">
              <a:buFont typeface="Wingdings" pitchFamily="2" charset="2"/>
              <a:buChar char="q"/>
              <a:defRPr/>
            </a:pPr>
            <a:r>
              <a:rPr lang="en-US" sz="2200" b="1" dirty="0"/>
              <a:t>Compiler Software</a:t>
            </a:r>
            <a:r>
              <a:rPr lang="en-US" sz="2200" dirty="0"/>
              <a:t>: programs that convert a program written in programming language into an executable program written in machine language</a:t>
            </a:r>
          </a:p>
          <a:p>
            <a:pPr lvl="1" algn="just">
              <a:buFont typeface="Wingdings" pitchFamily="2" charset="2"/>
              <a:buChar char="q"/>
              <a:defRPr/>
            </a:pPr>
            <a:endParaRPr lang="en-US" sz="2200" dirty="0"/>
          </a:p>
          <a:p>
            <a:pPr lvl="1" algn="just">
              <a:buFont typeface="Wingdings" pitchFamily="2" charset="2"/>
              <a:buChar char="q"/>
              <a:defRPr/>
            </a:pPr>
            <a:r>
              <a:rPr lang="en-US" sz="2200" dirty="0"/>
              <a:t> </a:t>
            </a:r>
            <a:r>
              <a:rPr lang="en-US" sz="2200" b="1" dirty="0"/>
              <a:t>Operating System:</a:t>
            </a:r>
            <a:r>
              <a:rPr lang="en-US" sz="2200" dirty="0"/>
              <a:t> a set of basic programs that acts as an interface between the computer user and computer hardware, and controls the execution of programs.</a:t>
            </a:r>
          </a:p>
          <a:p>
            <a:pPr lvl="2" algn="just">
              <a:buFont typeface="Wingdings" pitchFamily="2" charset="2"/>
              <a:buChar char="q"/>
              <a:defRPr/>
            </a:pPr>
            <a:r>
              <a:rPr lang="en-US" sz="1800" dirty="0"/>
              <a:t>Ex: Mac , Windows, Linux...</a:t>
            </a:r>
          </a:p>
          <a:p>
            <a:pPr algn="just">
              <a:buNone/>
              <a:defRPr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285421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94117"/>
          </a:xfrm>
        </p:spPr>
        <p:txBody>
          <a:bodyPr>
            <a:normAutofit/>
          </a:bodyPr>
          <a:lstStyle/>
          <a:p>
            <a:pPr rtl="1"/>
            <a:r>
              <a:rPr lang="en-US" b="1" dirty="0"/>
              <a:t>system software Cont..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786597"/>
            <a:ext cx="8596668" cy="4254765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q"/>
              <a:defRPr/>
            </a:pPr>
            <a:r>
              <a:rPr lang="en-US" sz="2000" dirty="0"/>
              <a:t>The common management tasks that an operating system perform include:</a:t>
            </a:r>
          </a:p>
          <a:p>
            <a:pPr lvl="1">
              <a:buFont typeface="Wingdings" pitchFamily="2" charset="2"/>
              <a:buChar char="q"/>
            </a:pPr>
            <a:r>
              <a:rPr lang="en-US" sz="1800" dirty="0"/>
              <a:t>File Management</a:t>
            </a:r>
          </a:p>
          <a:p>
            <a:pPr lvl="1">
              <a:buFont typeface="Wingdings" pitchFamily="2" charset="2"/>
              <a:buChar char="q"/>
            </a:pPr>
            <a:r>
              <a:rPr lang="en-US" sz="1800" dirty="0"/>
              <a:t>User Management</a:t>
            </a:r>
          </a:p>
          <a:p>
            <a:pPr lvl="1">
              <a:buFont typeface="Wingdings" pitchFamily="2" charset="2"/>
              <a:buChar char="q"/>
            </a:pPr>
            <a:r>
              <a:rPr lang="en-US" sz="1800" dirty="0"/>
              <a:t>Memory Management</a:t>
            </a:r>
          </a:p>
          <a:p>
            <a:pPr lvl="1">
              <a:buFont typeface="Wingdings" pitchFamily="2" charset="2"/>
              <a:buChar char="q"/>
            </a:pPr>
            <a:r>
              <a:rPr lang="en-US" sz="1800" dirty="0"/>
              <a:t>Process Management</a:t>
            </a:r>
          </a:p>
          <a:p>
            <a:pPr lvl="1">
              <a:buFont typeface="Wingdings" pitchFamily="2" charset="2"/>
              <a:buChar char="q"/>
            </a:pPr>
            <a:r>
              <a:rPr lang="en-US" sz="1800" dirty="0"/>
              <a:t>Device Management</a:t>
            </a:r>
          </a:p>
          <a:p>
            <a:pPr lvl="1">
              <a:buFont typeface="Wingdings" pitchFamily="2" charset="2"/>
              <a:buChar char="q"/>
            </a:pPr>
            <a:r>
              <a:rPr lang="en-US" sz="1800" dirty="0"/>
              <a:t>Security Management</a:t>
            </a:r>
          </a:p>
          <a:p>
            <a:pPr lvl="1">
              <a:buFont typeface="Wingdings" pitchFamily="2" charset="2"/>
              <a:buChar char="q"/>
            </a:pPr>
            <a:r>
              <a:rPr lang="en-US" sz="1800" dirty="0"/>
              <a:t>User Interface Management</a:t>
            </a:r>
          </a:p>
        </p:txBody>
      </p:sp>
    </p:spTree>
    <p:extLst>
      <p:ext uri="{BB962C8B-B14F-4D97-AF65-F5344CB8AC3E}">
        <p14:creationId xmlns:p14="http://schemas.microsoft.com/office/powerpoint/2010/main" val="30762810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عنوان 1"/>
          <p:cNvSpPr>
            <a:spLocks noGrp="1"/>
          </p:cNvSpPr>
          <p:nvPr>
            <p:ph type="title"/>
          </p:nvPr>
        </p:nvSpPr>
        <p:spPr>
          <a:xfrm>
            <a:off x="677334" y="722144"/>
            <a:ext cx="8596668" cy="1064455"/>
          </a:xfrm>
        </p:spPr>
        <p:txBody>
          <a:bodyPr/>
          <a:lstStyle/>
          <a:p>
            <a:r>
              <a:rPr lang="en-US" b="1" dirty="0"/>
              <a:t>Application software</a:t>
            </a:r>
            <a:endParaRPr lang="ar-SA" altLang="en-US" b="1" dirty="0"/>
          </a:p>
        </p:txBody>
      </p:sp>
      <p:sp>
        <p:nvSpPr>
          <p:cNvPr id="87043" name="عنصر نائب للمحتوى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400" b="1" dirty="0"/>
              <a:t>Application Software: </a:t>
            </a:r>
            <a:r>
              <a:rPr lang="en-US" sz="2400" dirty="0"/>
              <a:t>Programs designed to perform a specific task for users.</a:t>
            </a:r>
          </a:p>
          <a:p>
            <a:pPr>
              <a:buNone/>
            </a:pPr>
            <a:r>
              <a:rPr lang="en-US" sz="2400" dirty="0"/>
              <a:t> </a:t>
            </a:r>
            <a:endParaRPr lang="ar-SA" sz="2400" dirty="0"/>
          </a:p>
          <a:p>
            <a:pPr>
              <a:buFont typeface="Wingdings" pitchFamily="2" charset="2"/>
              <a:buChar char="q"/>
            </a:pPr>
            <a:r>
              <a:rPr lang="en-US" sz="2400" dirty="0"/>
              <a:t>Divided into two types: </a:t>
            </a:r>
            <a:endParaRPr lang="ar-SA" sz="2400" dirty="0"/>
          </a:p>
          <a:p>
            <a:pPr lvl="1">
              <a:buFont typeface="Wingdings" pitchFamily="2" charset="2"/>
              <a:buChar char="q"/>
            </a:pPr>
            <a:r>
              <a:rPr lang="en-US" sz="2000" b="1" dirty="0"/>
              <a:t>User Programs</a:t>
            </a:r>
            <a:r>
              <a:rPr lang="en-US" sz="2000" dirty="0"/>
              <a:t>: Each user can write their own programs to solve a specific issue using one of the programming languages. </a:t>
            </a:r>
            <a:endParaRPr lang="ar-SA" sz="2000" dirty="0"/>
          </a:p>
          <a:p>
            <a:pPr lvl="1">
              <a:buFont typeface="Wingdings" pitchFamily="2" charset="2"/>
              <a:buChar char="q"/>
            </a:pPr>
            <a:r>
              <a:rPr lang="en-US" sz="2000" b="1" dirty="0"/>
              <a:t>Packages software:</a:t>
            </a:r>
            <a:r>
              <a:rPr lang="en-US" sz="2000" dirty="0"/>
              <a:t> Developed by software production companies.</a:t>
            </a:r>
            <a:endParaRPr lang="ar-SA" altLang="en-US" sz="2000" dirty="0"/>
          </a:p>
        </p:txBody>
      </p:sp>
      <p:sp>
        <p:nvSpPr>
          <p:cNvPr id="87044" name="عنصر نائب لرقم الشريحة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r" rtl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algn="r" rtl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lvl="1" algn="ctr">
              <a:spcBef>
                <a:spcPct val="0"/>
              </a:spcBef>
              <a:buFontTx/>
              <a:buNone/>
            </a:pPr>
            <a:fld id="{55FB4702-725B-495C-9FC1-B28AAC433209}" type="slidenum">
              <a:rPr lang="ar-SA" altLang="en-US" sz="1800">
                <a:latin typeface="Times New Roman" panose="02020603050405020304" pitchFamily="18" charset="0"/>
              </a:rPr>
              <a:pPr lvl="1" algn="ctr"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8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95214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536" y="334627"/>
            <a:ext cx="8080375" cy="890587"/>
          </a:xfrm>
        </p:spPr>
        <p:txBody>
          <a:bodyPr rtlCol="1">
            <a:normAutofit/>
          </a:bodyPr>
          <a:lstStyle/>
          <a:p>
            <a:pPr>
              <a:defRPr/>
            </a:pPr>
            <a:r>
              <a:rPr lang="en-US" sz="4000" b="1" dirty="0"/>
              <a:t>programs</a:t>
            </a:r>
            <a:endParaRPr lang="ar-SA" b="1" dirty="0"/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>
          <a:xfrm>
            <a:off x="1432645" y="1406393"/>
            <a:ext cx="8032750" cy="4600512"/>
          </a:xfrm>
        </p:spPr>
        <p:txBody>
          <a:bodyPr rtlCol="1">
            <a:normAutofit fontScale="85000" lnSpcReduction="20000"/>
          </a:bodyPr>
          <a:lstStyle/>
          <a:p>
            <a:pPr algn="just">
              <a:buFont typeface="Wingdings" pitchFamily="2" charset="2"/>
              <a:buChar char="q"/>
              <a:defRPr/>
            </a:pPr>
            <a:r>
              <a:rPr lang="en-US" sz="2400" b="1" dirty="0"/>
              <a:t>Programs</a:t>
            </a:r>
            <a:r>
              <a:rPr lang="en-US" sz="2400" dirty="0"/>
              <a:t> refer to instructions that are directed to a computer for the purpose of performing a specific task, and computers need programs to perform each task they perform.</a:t>
            </a:r>
          </a:p>
          <a:p>
            <a:pPr algn="just">
              <a:buFont typeface="Wingdings" pitchFamily="2" charset="2"/>
              <a:buChar char="q"/>
              <a:defRPr/>
            </a:pPr>
            <a:endParaRPr lang="en-US" sz="2400" dirty="0"/>
          </a:p>
          <a:p>
            <a:pPr algn="just">
              <a:buFont typeface="Wingdings" pitchFamily="2" charset="2"/>
              <a:buChar char="q"/>
              <a:defRPr/>
            </a:pPr>
            <a:r>
              <a:rPr lang="en-US" sz="2400" dirty="0"/>
              <a:t>Writing a program is called </a:t>
            </a:r>
            <a:r>
              <a:rPr lang="en-US" sz="2400" b="1" dirty="0"/>
              <a:t>programming</a:t>
            </a:r>
            <a:r>
              <a:rPr lang="en-US" sz="2400" dirty="0"/>
              <a:t>, and whoever does it is called a </a:t>
            </a:r>
            <a:r>
              <a:rPr lang="en-US" sz="2400" b="1" dirty="0"/>
              <a:t>programmer</a:t>
            </a:r>
            <a:r>
              <a:rPr lang="en-US" sz="2400" dirty="0"/>
              <a:t>.</a:t>
            </a:r>
          </a:p>
          <a:p>
            <a:pPr algn="just">
              <a:buFont typeface="Wingdings" pitchFamily="2" charset="2"/>
              <a:buChar char="q"/>
              <a:defRPr/>
            </a:pPr>
            <a:endParaRPr lang="en-US" sz="2400" dirty="0"/>
          </a:p>
          <a:p>
            <a:pPr algn="just">
              <a:buFont typeface="Wingdings" pitchFamily="2" charset="2"/>
              <a:buChar char="q"/>
              <a:defRPr/>
            </a:pPr>
            <a:r>
              <a:rPr lang="en-US" sz="2400" b="1" dirty="0"/>
              <a:t>Programming</a:t>
            </a:r>
            <a:r>
              <a:rPr lang="ar-SA" sz="2400" b="1" dirty="0"/>
              <a:t> </a:t>
            </a:r>
            <a:r>
              <a:rPr lang="en-US" sz="2400" dirty="0"/>
              <a:t>It is preparing a plan to process a task and get the desired results</a:t>
            </a:r>
          </a:p>
          <a:p>
            <a:pPr algn="just">
              <a:buFont typeface="Wingdings" pitchFamily="2" charset="2"/>
              <a:buChar char="q"/>
              <a:defRPr/>
            </a:pPr>
            <a:endParaRPr lang="en-US" sz="2400" dirty="0"/>
          </a:p>
          <a:p>
            <a:pPr algn="just">
              <a:buFont typeface="Wingdings" pitchFamily="2" charset="2"/>
              <a:buChar char="q"/>
              <a:defRPr/>
            </a:pPr>
            <a:r>
              <a:rPr lang="en-US" sz="2400" b="1" dirty="0"/>
              <a:t>A</a:t>
            </a:r>
            <a:r>
              <a:rPr lang="en-US" sz="2400" dirty="0"/>
              <a:t> </a:t>
            </a:r>
            <a:r>
              <a:rPr lang="en-US" sz="2400" b="1" dirty="0"/>
              <a:t>programming language</a:t>
            </a:r>
            <a:r>
              <a:rPr lang="en-US" sz="2400" dirty="0"/>
              <a:t> is a system of notation for writing computer programs. programming languages are text-based formal languages.</a:t>
            </a:r>
            <a:endParaRPr lang="ar-SA" sz="2400" dirty="0"/>
          </a:p>
        </p:txBody>
      </p:sp>
    </p:spTree>
    <p:extLst>
      <p:ext uri="{BB962C8B-B14F-4D97-AF65-F5344CB8AC3E}">
        <p14:creationId xmlns:p14="http://schemas.microsoft.com/office/powerpoint/2010/main" val="3096851703"/>
      </p:ext>
    </p:extLst>
  </p:cSld>
  <p:clrMapOvr>
    <a:masterClrMapping/>
  </p:clrMapOvr>
  <p:transition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234</TotalTime>
  <Words>317</Words>
  <Application>Microsoft Office PowerPoint</Application>
  <PresentationFormat>Widescreen</PresentationFormat>
  <Paragraphs>54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Century Gothic</vt:lpstr>
      <vt:lpstr>Times New Roman</vt:lpstr>
      <vt:lpstr>Wingdings</vt:lpstr>
      <vt:lpstr>Wingdings 3</vt:lpstr>
      <vt:lpstr>Ion</vt:lpstr>
      <vt:lpstr>Introduction to Computer Science</vt:lpstr>
      <vt:lpstr>PowerPoint Presentation</vt:lpstr>
      <vt:lpstr>OBJECTIVES AND INTENDED OUTCOMES </vt:lpstr>
      <vt:lpstr>Software</vt:lpstr>
      <vt:lpstr>system software</vt:lpstr>
      <vt:lpstr>system software Cont..</vt:lpstr>
      <vt:lpstr>Application software</vt:lpstr>
      <vt:lpstr>programs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ASDVC</dc:creator>
  <cp:lastModifiedBy>NUSU-CS-HESHAM</cp:lastModifiedBy>
  <cp:revision>59</cp:revision>
  <dcterms:created xsi:type="dcterms:W3CDTF">2021-08-06T00:31:24Z</dcterms:created>
  <dcterms:modified xsi:type="dcterms:W3CDTF">2025-10-14T14:54:23Z</dcterms:modified>
</cp:coreProperties>
</file>