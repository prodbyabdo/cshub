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72" r:id="rId3"/>
    <p:sldId id="257" r:id="rId4"/>
    <p:sldId id="269" r:id="rId5"/>
    <p:sldId id="258" r:id="rId6"/>
    <p:sldId id="270" r:id="rId7"/>
    <p:sldId id="271" r:id="rId8"/>
    <p:sldId id="457" r:id="rId9"/>
    <p:sldId id="259" r:id="rId10"/>
    <p:sldId id="260" r:id="rId11"/>
    <p:sldId id="261" r:id="rId12"/>
    <p:sldId id="274" r:id="rId13"/>
    <p:sldId id="275" r:id="rId14"/>
    <p:sldId id="276" r:id="rId15"/>
    <p:sldId id="277" r:id="rId16"/>
    <p:sldId id="279" r:id="rId17"/>
    <p:sldId id="280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C2666-01C5-4E6E-82F8-6C0A1197CD8A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E7403-941C-4D5B-B5D7-6E72E2814D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2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</p:spPr>
        <p:txBody>
          <a:bodyPr wrap="square" lIns="91430" tIns="45715" rIns="91430" bIns="45715" anchor="t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355E47-B53A-419A-85FE-85D29BC3AE01}" type="slidenum">
              <a:rPr lang="en-US"/>
              <a:pPr/>
              <a:t>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5844615-65D3-4F1C-BC48-3DE8ABD13C11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62E80D2-1A80-4F6B-9829-9D6E984C16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8288"/>
            <a:ext cx="7772400" cy="1752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 to Operating Systems</a:t>
            </a:r>
            <a:br>
              <a:rPr lang="en-US" dirty="0"/>
            </a:b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99592" y="476672"/>
            <a:ext cx="7920880" cy="72008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Computer System Structure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6792"/>
            <a:ext cx="9144000" cy="5301208"/>
          </a:xfrm>
        </p:spPr>
        <p:txBody>
          <a:bodyPr>
            <a:noAutofit/>
          </a:bodyPr>
          <a:lstStyle/>
          <a:p>
            <a:r>
              <a:rPr lang="en-US" sz="2400" b="1" dirty="0"/>
              <a:t>Computer system can be divided into four components:</a:t>
            </a:r>
          </a:p>
          <a:p>
            <a:pPr lvl="1"/>
            <a:r>
              <a:rPr lang="en-US" sz="2400" b="1" dirty="0"/>
              <a:t>Hardware – provides basic computing resources</a:t>
            </a:r>
          </a:p>
          <a:p>
            <a:pPr lvl="2"/>
            <a:r>
              <a:rPr lang="en-US" sz="2400" b="1" dirty="0"/>
              <a:t>CPU, memory, I/O devices</a:t>
            </a:r>
          </a:p>
          <a:p>
            <a:pPr lvl="1"/>
            <a:r>
              <a:rPr lang="en-US" sz="2400" b="1" dirty="0"/>
              <a:t>Operating system</a:t>
            </a:r>
          </a:p>
          <a:p>
            <a:pPr lvl="2"/>
            <a:r>
              <a:rPr lang="en-US" sz="2400" b="1" dirty="0"/>
              <a:t>Controls and coordinates use of hardware among various applications and users</a:t>
            </a:r>
          </a:p>
          <a:p>
            <a:pPr lvl="1"/>
            <a:r>
              <a:rPr lang="en-US" sz="2400" b="1" dirty="0"/>
              <a:t>Application programs – </a:t>
            </a:r>
          </a:p>
          <a:p>
            <a:pPr lvl="2"/>
            <a:r>
              <a:rPr lang="en-US" sz="2400" b="1" dirty="0"/>
              <a:t>Word processors, compilers, web browsers, database systems, video games</a:t>
            </a:r>
          </a:p>
          <a:p>
            <a:pPr lvl="1"/>
            <a:r>
              <a:rPr lang="en-US" sz="2400" b="1" dirty="0"/>
              <a:t>Users</a:t>
            </a:r>
          </a:p>
          <a:p>
            <a:pPr lvl="2"/>
            <a:r>
              <a:rPr lang="en-US" sz="2400" b="1" dirty="0"/>
              <a:t>People, machines, other computers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28694"/>
          </a:xfrm>
        </p:spPr>
        <p:txBody>
          <a:bodyPr/>
          <a:lstStyle/>
          <a:p>
            <a:r>
              <a:rPr lang="en-US" b="1" dirty="0"/>
              <a:t>What is an Operating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935480"/>
            <a:ext cx="8363272" cy="4389120"/>
          </a:xfrm>
        </p:spPr>
        <p:txBody>
          <a:bodyPr/>
          <a:lstStyle/>
          <a:p>
            <a:r>
              <a:rPr lang="en-US" sz="2800" dirty="0"/>
              <a:t>A program that acts as an intermediary between a user of a computer and the computer hardware</a:t>
            </a:r>
          </a:p>
          <a:p>
            <a:r>
              <a:rPr lang="en-US" sz="2800" dirty="0"/>
              <a:t>Operating system goals:</a:t>
            </a:r>
          </a:p>
          <a:p>
            <a:pPr lvl="1"/>
            <a:r>
              <a:rPr lang="en-US" sz="2800" dirty="0"/>
              <a:t>Execute user programs and make solving user problems easier</a:t>
            </a:r>
          </a:p>
          <a:p>
            <a:pPr lvl="1"/>
            <a:r>
              <a:rPr lang="en-US" sz="2800" dirty="0"/>
              <a:t>Make the computer system convenient to use</a:t>
            </a:r>
          </a:p>
          <a:p>
            <a:pPr lvl="1"/>
            <a:r>
              <a:rPr lang="en-US" sz="2800" dirty="0"/>
              <a:t>Control computer hardware and provide it in an efficient manner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>
          <a:xfrm>
            <a:off x="0" y="182563"/>
            <a:ext cx="8258175" cy="889000"/>
          </a:xfrm>
        </p:spPr>
        <p:txBody>
          <a:bodyPr>
            <a:normAutofit/>
          </a:bodyPr>
          <a:lstStyle/>
          <a:p>
            <a:r>
              <a:rPr lang="en-US" b="1" u="sng" dirty="0"/>
              <a:t>What Operating Systems Do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4294967295"/>
          </p:nvPr>
        </p:nvSpPr>
        <p:spPr>
          <a:xfrm>
            <a:off x="395536" y="1785938"/>
            <a:ext cx="8176964" cy="4857750"/>
          </a:xfrm>
        </p:spPr>
        <p:txBody>
          <a:bodyPr>
            <a:noAutofit/>
          </a:bodyPr>
          <a:lstStyle/>
          <a:p>
            <a:pPr algn="just"/>
            <a:r>
              <a:rPr lang="en-US" sz="4000" dirty="0"/>
              <a:t>Operating Systems  whether is a computer or a server provide Hardware control and resource utilization for users and programs achieving optimization , ease of use and high performance .</a:t>
            </a:r>
            <a:endParaRPr lang="en-US" sz="4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58204" cy="785818"/>
          </a:xfrm>
        </p:spPr>
        <p:txBody>
          <a:bodyPr>
            <a:normAutofit/>
          </a:bodyPr>
          <a:lstStyle/>
          <a:p>
            <a:r>
              <a:rPr lang="en-US" sz="3600" b="1" dirty="0"/>
              <a:t>What Operating Systems Do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5720" y="1785926"/>
            <a:ext cx="8401080" cy="4538674"/>
          </a:xfrm>
        </p:spPr>
        <p:txBody>
          <a:bodyPr/>
          <a:lstStyle/>
          <a:p>
            <a:r>
              <a:rPr lang="en-US" sz="3600" dirty="0"/>
              <a:t>OS is a </a:t>
            </a:r>
            <a:r>
              <a:rPr lang="en-US" sz="3600" b="1" dirty="0">
                <a:solidFill>
                  <a:srgbClr val="3366FF"/>
                </a:solidFill>
              </a:rPr>
              <a:t>resource  allocator that </a:t>
            </a:r>
          </a:p>
          <a:p>
            <a:pPr lvl="1"/>
            <a:r>
              <a:rPr lang="en-US" sz="3600" dirty="0"/>
              <a:t>Manages all resources</a:t>
            </a:r>
          </a:p>
          <a:p>
            <a:pPr lvl="1"/>
            <a:r>
              <a:rPr lang="en-US" sz="3600" dirty="0"/>
              <a:t>Decides between conflicting requests for efficient and fair resource use</a:t>
            </a:r>
          </a:p>
          <a:p>
            <a:pPr lvl="1"/>
            <a:r>
              <a:rPr lang="en-US" sz="3600" dirty="0"/>
              <a:t>Controls execution of programs to prevent errors and improper use of the computer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086850" cy="9286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/>
              <a:t>What Operating Systems Do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536" y="1543050"/>
            <a:ext cx="8496944" cy="508635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200" b="1" u="sng" dirty="0"/>
              <a:t>User Operating System Interface – CLI</a:t>
            </a:r>
          </a:p>
          <a:p>
            <a:pPr algn="just">
              <a:buNone/>
            </a:pPr>
            <a:r>
              <a:rPr lang="en-US" sz="4000" dirty="0"/>
              <a:t>Command Line Interface (CLI) or </a:t>
            </a:r>
            <a:r>
              <a:rPr lang="en-US" sz="4000" dirty="0">
                <a:solidFill>
                  <a:srgbClr val="3366FF"/>
                </a:solidFill>
              </a:rPr>
              <a:t>command interpreter </a:t>
            </a:r>
            <a:r>
              <a:rPr lang="en-US" sz="4000" dirty="0"/>
              <a:t>allows direct command entry</a:t>
            </a:r>
          </a:p>
          <a:p>
            <a:pPr lvl="2" algn="just" eaLnBrk="1" hangingPunct="1"/>
            <a:r>
              <a:rPr lang="en-US" sz="4000" dirty="0"/>
              <a:t>Sometimes implemented in kernel, sometimes by systems program</a:t>
            </a:r>
          </a:p>
          <a:p>
            <a:pPr lvl="2" algn="just" eaLnBrk="1" hangingPunct="1"/>
            <a:r>
              <a:rPr lang="en-US" sz="4000" dirty="0"/>
              <a:t>Primarily fetches a command from user and executes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514350"/>
            <a:ext cx="9144000" cy="762000"/>
          </a:xfrm>
        </p:spPr>
        <p:txBody>
          <a:bodyPr/>
          <a:lstStyle/>
          <a:p>
            <a:r>
              <a:rPr lang="en-US" sz="4400" b="1" dirty="0"/>
              <a:t>What Operating Systems Do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371600"/>
            <a:ext cx="8496944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u="sng" dirty="0"/>
              <a:t>User Operating System Interface - GUI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GUI known as graphical user interface is more intuitive visually and all the new users always try to pick this interface instead of CLI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Many common operations, such as copying and pasting, can be performed by using just the </a:t>
            </a:r>
            <a:r>
              <a:rPr lang="en-US" sz="2800" dirty="0">
                <a:solidFill>
                  <a:srgbClr val="0070C0"/>
                </a:solidFill>
              </a:rPr>
              <a:t>mouse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32E85-C58A-E773-3592-DBCB7D70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CEDBA20-CD6E-584D-C11D-E89C77B2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4350"/>
            <a:ext cx="9144000" cy="762000"/>
          </a:xfrm>
        </p:spPr>
        <p:txBody>
          <a:bodyPr/>
          <a:lstStyle/>
          <a:p>
            <a:r>
              <a:rPr lang="en-US" sz="4400" b="1" dirty="0"/>
              <a:t>What Operating Systems Do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C69480B-C169-2AAB-88A0-BBA10D50BB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371600"/>
            <a:ext cx="8496944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u="sng" dirty="0"/>
              <a:t>User Operating System Interface - GUI</a:t>
            </a:r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Icons and menus take the place of text commands and do not have to be memorized.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 It is also easier to switch between multiple active tasks using a graphical interface. However, advanced operations may only be accessible via the command line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11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Operating Systems Do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itchFamily="18" charset="0"/>
              </a:rPr>
              <a:t>OS manages computer memory, storage , I/O devices and processes.</a:t>
            </a:r>
          </a:p>
          <a:p>
            <a:r>
              <a:rPr lang="en-US" sz="3200" b="1" dirty="0">
                <a:latin typeface="Book Antiqua" pitchFamily="18" charset="0"/>
              </a:rPr>
              <a:t>While OS interact with application in high language it interact with Hardware with machine language.</a:t>
            </a:r>
          </a:p>
          <a:p>
            <a:r>
              <a:rPr lang="en-US" sz="3200" b="1" dirty="0">
                <a:latin typeface="Book Antiqua" pitchFamily="18" charset="0"/>
              </a:rPr>
              <a:t>Oss work on various devices from Phones to computers and till servers and mainframes.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used 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9962" y="1844824"/>
            <a:ext cx="8472518" cy="4143404"/>
          </a:xfrm>
        </p:spPr>
        <p:txBody>
          <a:bodyPr>
            <a:normAutofit/>
          </a:bodyPr>
          <a:lstStyle/>
          <a:p>
            <a:r>
              <a:rPr lang="en-US" sz="3600" dirty="0"/>
              <a:t>Microsoft Windows.</a:t>
            </a:r>
          </a:p>
          <a:p>
            <a:r>
              <a:rPr lang="en-US" sz="3600" dirty="0"/>
              <a:t>Linux</a:t>
            </a:r>
          </a:p>
          <a:p>
            <a:r>
              <a:rPr lang="en-US" sz="3600" dirty="0"/>
              <a:t>Apple IOS.</a:t>
            </a:r>
          </a:p>
          <a:p>
            <a:r>
              <a:rPr lang="en-US" sz="3600" dirty="0" smtClean="0"/>
              <a:t>Apple Mac OS</a:t>
            </a:r>
            <a:endParaRPr lang="en-US" sz="3600" dirty="0"/>
          </a:p>
          <a:p>
            <a:r>
              <a:rPr lang="en-US" sz="3600" dirty="0"/>
              <a:t>Android.</a:t>
            </a:r>
          </a:p>
          <a:p>
            <a:r>
              <a:rPr lang="en-US" sz="3600" dirty="0"/>
              <a:t>Unix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OS act as a mediator between user and computer hardware .</a:t>
            </a:r>
          </a:p>
          <a:p>
            <a:pPr lvl="2"/>
            <a:r>
              <a:rPr lang="en-US" sz="2100" dirty="0"/>
              <a:t> It communicates with other parts of computer such as CPU , memory , storage devices , input /output devices to insure smooth performance and programs execution.</a:t>
            </a:r>
          </a:p>
          <a:p>
            <a:r>
              <a:rPr lang="en-US" sz="2800" dirty="0"/>
              <a:t>After OS is loaded into the computer by a boot program it manages all applications and control computer hardware and resources sharing .</a:t>
            </a:r>
          </a:p>
          <a:p>
            <a:r>
              <a:rPr lang="en-US" sz="2800" dirty="0"/>
              <a:t>So without OS user would not be able to use apps and hardware .</a:t>
            </a:r>
          </a:p>
          <a:p>
            <a:pPr lvl="2"/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Book Antiqua" pitchFamily="18" charset="0"/>
              </a:rPr>
              <a:t>Types of Operating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00808"/>
            <a:ext cx="8401080" cy="4623792"/>
          </a:xfrm>
        </p:spPr>
        <p:txBody>
          <a:bodyPr>
            <a:normAutofit/>
          </a:bodyPr>
          <a:lstStyle/>
          <a:p>
            <a:r>
              <a:rPr lang="en-US" sz="3200" b="1" dirty="0"/>
              <a:t>General purpose operating systems.</a:t>
            </a:r>
          </a:p>
          <a:p>
            <a:r>
              <a:rPr lang="en-US" sz="3200" b="1" dirty="0"/>
              <a:t>Embedded operating systems.</a:t>
            </a:r>
          </a:p>
          <a:p>
            <a:r>
              <a:rPr lang="en-US" sz="3200" b="1" dirty="0"/>
              <a:t>Mobile operating Systems.</a:t>
            </a:r>
          </a:p>
          <a:p>
            <a:r>
              <a:rPr lang="en-US" sz="3200" b="1" dirty="0"/>
              <a:t>Real time Operating Systems.</a:t>
            </a:r>
          </a:p>
        </p:txBody>
      </p:sp>
    </p:spTree>
    <p:extLst>
      <p:ext uri="{BB962C8B-B14F-4D97-AF65-F5344CB8AC3E}">
        <p14:creationId xmlns:p14="http://schemas.microsoft.com/office/powerpoint/2010/main" val="1162404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-99392"/>
            <a:ext cx="8715436" cy="1000132"/>
          </a:xfrm>
        </p:spPr>
        <p:txBody>
          <a:bodyPr>
            <a:noAutofit/>
          </a:bodyPr>
          <a:lstStyle/>
          <a:p>
            <a:r>
              <a:rPr lang="en-US" sz="3600" b="1" dirty="0"/>
              <a:t>General Purpose Operating Systems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363272" cy="4767808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General purpose operating systems intends to run a multitude of applications on a broad selection of hardware enabling a user to run multiple tasks and applications simultaneously 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It runs applications from accounting systems and databases to web browsers.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General purpose operating systems focus on process ( thread) and hardware management.</a:t>
            </a:r>
          </a:p>
        </p:txBody>
      </p:sp>
    </p:spTree>
    <p:extLst>
      <p:ext uri="{BB962C8B-B14F-4D97-AF65-F5344CB8AC3E}">
        <p14:creationId xmlns:p14="http://schemas.microsoft.com/office/powerpoint/2010/main" val="312392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44624"/>
            <a:ext cx="8715436" cy="928694"/>
          </a:xfrm>
        </p:spPr>
        <p:txBody>
          <a:bodyPr>
            <a:noAutofit/>
          </a:bodyPr>
          <a:lstStyle/>
          <a:p>
            <a:r>
              <a:rPr lang="en-US" sz="3600" b="1" dirty="0"/>
              <a:t>General Purpose Operating Systems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28800"/>
            <a:ext cx="8472518" cy="4695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4400" u="sng" dirty="0">
                <a:solidFill>
                  <a:schemeClr val="accent1"/>
                </a:solidFill>
              </a:rPr>
              <a:t>Windows </a:t>
            </a:r>
          </a:p>
          <a:p>
            <a:pPr algn="just"/>
            <a:r>
              <a:rPr lang="en-US" sz="3600" dirty="0"/>
              <a:t>The most used OS today.</a:t>
            </a:r>
          </a:p>
          <a:p>
            <a:pPr algn="just"/>
            <a:r>
              <a:rPr lang="en-US" sz="3600" dirty="0"/>
              <a:t>Closed Source operating system :</a:t>
            </a:r>
          </a:p>
          <a:p>
            <a:pPr algn="just"/>
            <a:r>
              <a:rPr lang="en-US" sz="3600" dirty="0"/>
              <a:t>The software is protected rights and payed license from Microsoft …the software and its update and upgrade can only be provided by Microsoft.</a:t>
            </a:r>
          </a:p>
        </p:txBody>
      </p:sp>
    </p:spTree>
    <p:extLst>
      <p:ext uri="{BB962C8B-B14F-4D97-AF65-F5344CB8AC3E}">
        <p14:creationId xmlns:p14="http://schemas.microsoft.com/office/powerpoint/2010/main" val="3658753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60648"/>
            <a:ext cx="8401080" cy="85725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Book Antiqua" pitchFamily="18" charset="0"/>
              </a:rPr>
              <a:t>Windows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8677628" cy="4839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/>
              <a:t>Windows versions </a:t>
            </a:r>
          </a:p>
          <a:p>
            <a:pPr lvl="1"/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Windows XP</a:t>
            </a:r>
          </a:p>
          <a:p>
            <a:pPr lvl="1"/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Windows Vista</a:t>
            </a:r>
          </a:p>
          <a:p>
            <a:pPr lvl="1"/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Book Antiqua" pitchFamily="18" charset="0"/>
              </a:rPr>
              <a:t>Windows 7</a:t>
            </a:r>
          </a:p>
          <a:p>
            <a:pPr lvl="1"/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Book Antiqua" pitchFamily="18" charset="0"/>
              </a:rPr>
              <a:t>Windows 8</a:t>
            </a:r>
          </a:p>
          <a:p>
            <a:pPr lvl="1"/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Book Antiqua" pitchFamily="18" charset="0"/>
              </a:rPr>
              <a:t>Windows 10</a:t>
            </a:r>
          </a:p>
          <a:p>
            <a:pPr lvl="1"/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Book Antiqua" pitchFamily="18" charset="0"/>
              </a:rPr>
              <a:t>…….</a:t>
            </a:r>
          </a:p>
          <a:p>
            <a:pPr lvl="1"/>
            <a:endParaRPr lang="en-US" sz="2300" b="1" dirty="0">
              <a:solidFill>
                <a:schemeClr val="accent1">
                  <a:lumMod val="75000"/>
                </a:schemeClr>
              </a:solidFill>
              <a:latin typeface="Book Antiqua" pitchFamily="18" charset="0"/>
            </a:endParaRPr>
          </a:p>
          <a:p>
            <a:pPr marL="0" indent="0">
              <a:buNone/>
            </a:pP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456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-27384"/>
            <a:ext cx="8715436" cy="1000132"/>
          </a:xfrm>
        </p:spPr>
        <p:txBody>
          <a:bodyPr>
            <a:noAutofit/>
          </a:bodyPr>
          <a:lstStyle/>
          <a:p>
            <a:r>
              <a:rPr lang="en-US" sz="3600" b="1" dirty="0"/>
              <a:t>General Purpose Operating Systems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628800"/>
            <a:ext cx="8401080" cy="46958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Book Antiqua" pitchFamily="18" charset="0"/>
              </a:rPr>
              <a:t>LINUX </a:t>
            </a:r>
          </a:p>
          <a:p>
            <a:pPr lvl="1"/>
            <a:r>
              <a:rPr lang="en-US" sz="2300" b="1" dirty="0">
                <a:latin typeface="Book Antiqua" pitchFamily="18" charset="0"/>
              </a:rPr>
              <a:t>Efficient fast-performing operating systems.</a:t>
            </a:r>
          </a:p>
          <a:p>
            <a:pPr lvl="1"/>
            <a:r>
              <a:rPr lang="en-US" sz="2300" b="1" dirty="0">
                <a:latin typeface="Book Antiqua" pitchFamily="18" charset="0"/>
              </a:rPr>
              <a:t>Open source operating system .</a:t>
            </a:r>
          </a:p>
          <a:p>
            <a:pPr lvl="1"/>
            <a:r>
              <a:rPr lang="en-US" sz="2300" b="1" dirty="0">
                <a:latin typeface="Book Antiqua" pitchFamily="18" charset="0"/>
              </a:rPr>
              <a:t>Source code is available for everyone or free .</a:t>
            </a:r>
          </a:p>
          <a:p>
            <a:pPr lvl="1"/>
            <a:r>
              <a:rPr lang="en-US" sz="2300" b="1" dirty="0">
                <a:latin typeface="Book Antiqua" pitchFamily="18" charset="0"/>
              </a:rPr>
              <a:t>Modification , update and upgrade is done by everyone everywhere.</a:t>
            </a:r>
          </a:p>
          <a:p>
            <a:pPr lvl="1"/>
            <a:r>
              <a:rPr lang="en-US" sz="2300" b="1" dirty="0">
                <a:latin typeface="Book Antiqua" pitchFamily="18" charset="0"/>
              </a:rPr>
              <a:t>High security , functionality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3164042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Book Antiqua" pitchFamily="18" charset="0"/>
              </a:rPr>
              <a:t>Linux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Linux has many versions due to its open source : ( more than a thousand) </a:t>
            </a:r>
          </a:p>
          <a:p>
            <a:pPr lvl="1" algn="just"/>
            <a:r>
              <a:rPr lang="en-US" sz="2400" dirty="0"/>
              <a:t>Ubuntu</a:t>
            </a:r>
          </a:p>
          <a:p>
            <a:pPr lvl="1" algn="just"/>
            <a:r>
              <a:rPr lang="en-US" sz="2400" dirty="0"/>
              <a:t>Fedora </a:t>
            </a:r>
          </a:p>
          <a:p>
            <a:pPr lvl="1" algn="just"/>
            <a:r>
              <a:rPr lang="en-US" sz="2400" dirty="0"/>
              <a:t>Kali </a:t>
            </a:r>
          </a:p>
          <a:p>
            <a:pPr lvl="1" algn="just"/>
            <a:r>
              <a:rPr lang="en-US" sz="2400" dirty="0"/>
              <a:t>Backtrack</a:t>
            </a:r>
          </a:p>
          <a:p>
            <a:pPr lvl="1" algn="just"/>
            <a:r>
              <a:rPr lang="en-US" sz="2400" dirty="0"/>
              <a:t>Red hat  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21749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74032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Blackadder ITC" pitchFamily="82" charset="0"/>
              </a:rPr>
              <a:t>END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3513</TotalTime>
  <Words>681</Words>
  <Application>Microsoft Office PowerPoint</Application>
  <PresentationFormat>On-screen Show (4:3)</PresentationFormat>
  <Paragraphs>97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Blackadder ITC</vt:lpstr>
      <vt:lpstr>Book Antiqua</vt:lpstr>
      <vt:lpstr>Calibri</vt:lpstr>
      <vt:lpstr>Georgia</vt:lpstr>
      <vt:lpstr>Times New Roman</vt:lpstr>
      <vt:lpstr>Wingdings</vt:lpstr>
      <vt:lpstr>Wingdings 2</vt:lpstr>
      <vt:lpstr>Civic</vt:lpstr>
      <vt:lpstr>Introduction to Operating Systems  </vt:lpstr>
      <vt:lpstr>Computer System Structure</vt:lpstr>
      <vt:lpstr>What is an Operating System?</vt:lpstr>
      <vt:lpstr>What Operating Systems Do</vt:lpstr>
      <vt:lpstr>What Operating Systems Do</vt:lpstr>
      <vt:lpstr>What Operating Systems Do</vt:lpstr>
      <vt:lpstr>What Operating Systems Do</vt:lpstr>
      <vt:lpstr>What Operating Systems Do</vt:lpstr>
      <vt:lpstr>What Operating Systems Do</vt:lpstr>
      <vt:lpstr>Most used OSs</vt:lpstr>
      <vt:lpstr>Conclusion</vt:lpstr>
      <vt:lpstr>Types of Operating Systems </vt:lpstr>
      <vt:lpstr>General Purpose Operating Systems</vt:lpstr>
      <vt:lpstr>General Purpose Operating Systems</vt:lpstr>
      <vt:lpstr>Windows Versions</vt:lpstr>
      <vt:lpstr>General Purpose Operating Systems</vt:lpstr>
      <vt:lpstr>Linux Versions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Concepts   LEC 1</dc:title>
  <dc:creator>prof</dc:creator>
  <cp:lastModifiedBy>NUSU-CS-HESHAM</cp:lastModifiedBy>
  <cp:revision>57</cp:revision>
  <dcterms:created xsi:type="dcterms:W3CDTF">2024-08-12T01:08:39Z</dcterms:created>
  <dcterms:modified xsi:type="dcterms:W3CDTF">2025-10-18T10:51:11Z</dcterms:modified>
</cp:coreProperties>
</file>