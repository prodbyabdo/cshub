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sldIdLst>
    <p:sldId id="256" r:id="rId2"/>
    <p:sldId id="370" r:id="rId3"/>
    <p:sldId id="367" r:id="rId4"/>
    <p:sldId id="316" r:id="rId5"/>
    <p:sldId id="317" r:id="rId6"/>
    <p:sldId id="319" r:id="rId7"/>
    <p:sldId id="358" r:id="rId8"/>
    <p:sldId id="320" r:id="rId9"/>
    <p:sldId id="321" r:id="rId10"/>
    <p:sldId id="355" r:id="rId11"/>
    <p:sldId id="357" r:id="rId12"/>
    <p:sldId id="322" r:id="rId13"/>
    <p:sldId id="361" r:id="rId14"/>
    <p:sldId id="269" r:id="rId15"/>
    <p:sldId id="354" r:id="rId16"/>
    <p:sldId id="343" r:id="rId17"/>
    <p:sldId id="344" r:id="rId18"/>
    <p:sldId id="345" r:id="rId19"/>
    <p:sldId id="346" r:id="rId20"/>
    <p:sldId id="348" r:id="rId21"/>
    <p:sldId id="369" r:id="rId22"/>
    <p:sldId id="372" r:id="rId23"/>
    <p:sldId id="368" r:id="rId24"/>
    <p:sldId id="325" r:id="rId25"/>
    <p:sldId id="356" r:id="rId26"/>
    <p:sldId id="362" r:id="rId27"/>
    <p:sldId id="353" r:id="rId28"/>
    <p:sldId id="349" r:id="rId29"/>
    <p:sldId id="350" r:id="rId30"/>
    <p:sldId id="351" r:id="rId31"/>
    <p:sldId id="352" r:id="rId32"/>
    <p:sldId id="299" r:id="rId33"/>
    <p:sldId id="30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56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image" Target="../media/image3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2.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85497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075515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52887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52187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23572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512092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366975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411045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60745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469283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894175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25883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06665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517932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321022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540440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139800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endParaRPr lang="ar-SA"/>
          </a:p>
        </p:txBody>
      </p:sp>
      <p:sp>
        <p:nvSpPr>
          <p:cNvPr id="3" name="Table Placeholder 2"/>
          <p:cNvSpPr>
            <a:spLocks noGrp="1"/>
          </p:cNvSpPr>
          <p:nvPr>
            <p:ph type="tbl" idx="1"/>
          </p:nvPr>
        </p:nvSpPr>
        <p:spPr>
          <a:xfrm>
            <a:off x="1576917" y="2017713"/>
            <a:ext cx="10363200" cy="4114800"/>
          </a:xfrm>
        </p:spPr>
        <p:txBody>
          <a:bodyPr/>
          <a:lstStyle/>
          <a:p>
            <a:pPr lvl="0"/>
            <a:endParaRPr lang="ar-SA" noProof="0"/>
          </a:p>
        </p:txBody>
      </p:sp>
      <p:sp>
        <p:nvSpPr>
          <p:cNvPr id="4" name="Date Placeholder 3">
            <a:extLst>
              <a:ext uri="{FF2B5EF4-FFF2-40B4-BE49-F238E27FC236}">
                <a16:creationId xmlns:a16="http://schemas.microsoft.com/office/drawing/2014/main" id="{EC8D565C-252B-4609-817D-27BC652845D0}"/>
              </a:ext>
            </a:extLst>
          </p:cNvPr>
          <p:cNvSpPr>
            <a:spLocks noGrp="1"/>
          </p:cNvSpPr>
          <p:nvPr>
            <p:ph type="dt" sz="half" idx="10"/>
          </p:nvPr>
        </p:nvSpPr>
        <p:spPr/>
        <p:txBody>
          <a:bodyPr/>
          <a:lstStyle>
            <a:lvl1pPr>
              <a:defRPr kumimoji="1">
                <a:latin typeface="Times New Roman" pitchFamily="18" charset="0"/>
              </a:defRPr>
            </a:lvl1pPr>
          </a:lstStyle>
          <a:p>
            <a:pPr>
              <a:defRPr/>
            </a:pPr>
            <a:fld id="{FC6FD3B2-26DB-4B1B-86E6-E734B7C684FA}" type="datetime1">
              <a:rPr lang="ar-SA"/>
              <a:pPr>
                <a:defRPr/>
              </a:pPr>
              <a:t>22/04/47</a:t>
            </a:fld>
            <a:endParaRPr lang="en-US"/>
          </a:p>
        </p:txBody>
      </p:sp>
      <p:sp>
        <p:nvSpPr>
          <p:cNvPr id="5" name="Footer Placeholder 4">
            <a:extLst>
              <a:ext uri="{FF2B5EF4-FFF2-40B4-BE49-F238E27FC236}">
                <a16:creationId xmlns:a16="http://schemas.microsoft.com/office/drawing/2014/main" id="{0A6BB358-119E-48D6-9C39-09AE291632EB}"/>
              </a:ext>
            </a:extLst>
          </p:cNvPr>
          <p:cNvSpPr>
            <a:spLocks noGrp="1"/>
          </p:cNvSpPr>
          <p:nvPr>
            <p:ph type="ftr" sz="quarter" idx="11"/>
          </p:nvPr>
        </p:nvSpPr>
        <p:spPr/>
        <p:txBody>
          <a:bodyPr/>
          <a:lstStyle>
            <a:lvl1pPr>
              <a:defRPr kumimoji="1">
                <a:latin typeface="Times New Roman" pitchFamily="18" charset="0"/>
              </a:defRPr>
            </a:lvl1pPr>
          </a:lstStyle>
          <a:p>
            <a:pPr>
              <a:defRPr/>
            </a:pPr>
            <a:r>
              <a:rPr lang="ar-SA"/>
              <a:t>أ/ مشاعل القصبي</a:t>
            </a:r>
            <a:endParaRPr lang="en-US"/>
          </a:p>
        </p:txBody>
      </p:sp>
      <p:sp>
        <p:nvSpPr>
          <p:cNvPr id="6" name="Slide Number Placeholder 5">
            <a:extLst>
              <a:ext uri="{FF2B5EF4-FFF2-40B4-BE49-F238E27FC236}">
                <a16:creationId xmlns:a16="http://schemas.microsoft.com/office/drawing/2014/main" id="{414837AB-345C-4995-881B-3B545D394B75}"/>
              </a:ext>
            </a:extLst>
          </p:cNvPr>
          <p:cNvSpPr>
            <a:spLocks noGrp="1"/>
          </p:cNvSpPr>
          <p:nvPr>
            <p:ph type="sldNum" sz="quarter" idx="12"/>
          </p:nvPr>
        </p:nvSpPr>
        <p:spPr/>
        <p:txBody>
          <a:bodyPr/>
          <a:lstStyle>
            <a:lvl1pPr algn="ctr">
              <a:defRPr kumimoji="1" smtClean="0">
                <a:latin typeface="Times New Roman" panose="02020603050405020304" pitchFamily="18" charset="0"/>
              </a:defRPr>
            </a:lvl1pPr>
          </a:lstStyle>
          <a:p>
            <a:pPr>
              <a:defRPr/>
            </a:pPr>
            <a:fld id="{EDD52A5D-A1A6-418C-9E0F-77C503FC46EB}" type="slidenum">
              <a:rPr lang="ar-SA" altLang="en-US"/>
              <a:pPr>
                <a:defRPr/>
              </a:pPr>
              <a:t>‹#›</a:t>
            </a:fld>
            <a:endParaRPr lang="en-US" altLang="en-US"/>
          </a:p>
        </p:txBody>
      </p:sp>
    </p:spTree>
    <p:extLst>
      <p:ext uri="{BB962C8B-B14F-4D97-AF65-F5344CB8AC3E}">
        <p14:creationId xmlns:p14="http://schemas.microsoft.com/office/powerpoint/2010/main" val="199111512"/>
      </p:ext>
    </p:extLst>
  </p:cSld>
  <p:clrMapOvr>
    <a:masterClrMapping/>
  </p:clrMapOvr>
  <p:transition>
    <p:wedg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cSld name="محتوى">
    <p:spTree>
      <p:nvGrpSpPr>
        <p:cNvPr id="1" name=""/>
        <p:cNvGrpSpPr/>
        <p:nvPr/>
      </p:nvGrpSpPr>
      <p:grpSpPr>
        <a:xfrm>
          <a:off x="0" y="0"/>
          <a:ext cx="0" cy="0"/>
          <a:chOff x="0" y="0"/>
          <a:chExt cx="0" cy="0"/>
        </a:xfrm>
      </p:grpSpPr>
      <p:sp>
        <p:nvSpPr>
          <p:cNvPr id="2" name="عنصر نائب للمحتوى 1"/>
          <p:cNvSpPr>
            <a:spLocks noGrp="1"/>
          </p:cNvSpPr>
          <p:nvPr>
            <p:ph/>
          </p:nvPr>
        </p:nvSpPr>
        <p:spPr>
          <a:xfrm>
            <a:off x="914400" y="609600"/>
            <a:ext cx="10363200" cy="5486400"/>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3" name="عنصر نائب للتاريخ 2">
            <a:extLst>
              <a:ext uri="{FF2B5EF4-FFF2-40B4-BE49-F238E27FC236}">
                <a16:creationId xmlns:a16="http://schemas.microsoft.com/office/drawing/2014/main" id="{D837D28F-4232-4019-ACD5-73CE9084EDF1}"/>
              </a:ext>
            </a:extLst>
          </p:cNvPr>
          <p:cNvSpPr>
            <a:spLocks noGrp="1"/>
          </p:cNvSpPr>
          <p:nvPr>
            <p:ph type="dt" sz="half" idx="10"/>
          </p:nvPr>
        </p:nvSpPr>
        <p:spPr>
          <a:xfrm>
            <a:off x="914400" y="6248400"/>
            <a:ext cx="2540000" cy="457200"/>
          </a:xfrm>
        </p:spPr>
        <p:txBody>
          <a:bodyPr/>
          <a:lstStyle>
            <a:lvl1pPr>
              <a:defRPr/>
            </a:lvl1pPr>
          </a:lstStyle>
          <a:p>
            <a:pPr>
              <a:defRPr/>
            </a:pPr>
            <a:endParaRPr lang="en-US"/>
          </a:p>
        </p:txBody>
      </p:sp>
      <p:sp>
        <p:nvSpPr>
          <p:cNvPr id="4" name="عنصر نائب للتذييل 3">
            <a:extLst>
              <a:ext uri="{FF2B5EF4-FFF2-40B4-BE49-F238E27FC236}">
                <a16:creationId xmlns:a16="http://schemas.microsoft.com/office/drawing/2014/main" id="{77AA9E71-F6A7-4ED0-AC79-732D15812DC8}"/>
              </a:ext>
            </a:extLst>
          </p:cNvPr>
          <p:cNvSpPr>
            <a:spLocks noGrp="1"/>
          </p:cNvSpPr>
          <p:nvPr>
            <p:ph type="ftr" sz="quarter" idx="11"/>
          </p:nvPr>
        </p:nvSpPr>
        <p:spPr>
          <a:xfrm>
            <a:off x="4165600" y="6248400"/>
            <a:ext cx="3860800" cy="457200"/>
          </a:xfrm>
        </p:spPr>
        <p:txBody>
          <a:bodyPr/>
          <a:lstStyle>
            <a:lvl1pPr>
              <a:defRPr/>
            </a:lvl1pPr>
          </a:lstStyle>
          <a:p>
            <a:pPr>
              <a:defRPr/>
            </a:pPr>
            <a:endParaRPr lang="en-US"/>
          </a:p>
        </p:txBody>
      </p:sp>
      <p:sp>
        <p:nvSpPr>
          <p:cNvPr id="5" name="عنصر نائب لرقم الشريحة 4">
            <a:extLst>
              <a:ext uri="{FF2B5EF4-FFF2-40B4-BE49-F238E27FC236}">
                <a16:creationId xmlns:a16="http://schemas.microsoft.com/office/drawing/2014/main" id="{12A467BB-EC90-46CF-A97F-B4CEA7756BAA}"/>
              </a:ext>
            </a:extLst>
          </p:cNvPr>
          <p:cNvSpPr>
            <a:spLocks noGrp="1"/>
          </p:cNvSpPr>
          <p:nvPr>
            <p:ph type="sldNum" sz="quarter" idx="12"/>
          </p:nvPr>
        </p:nvSpPr>
        <p:spPr>
          <a:xfrm>
            <a:off x="8737600" y="6248400"/>
            <a:ext cx="2540000" cy="457200"/>
          </a:xfrm>
        </p:spPr>
        <p:txBody>
          <a:bodyPr/>
          <a:lstStyle>
            <a:lvl1pPr algn="l" rtl="1" eaLnBrk="1" hangingPunct="1">
              <a:defRPr sz="1200" smtClean="0">
                <a:solidFill>
                  <a:srgbClr val="898989"/>
                </a:solidFill>
              </a:defRPr>
            </a:lvl1pPr>
          </a:lstStyle>
          <a:p>
            <a:pPr>
              <a:defRPr/>
            </a:pPr>
            <a:fld id="{C1DD5442-EF6E-45F8-A386-4BA266ADD5FD}" type="slidenum">
              <a:rPr lang="ar-SA" altLang="en-US"/>
              <a:pPr>
                <a:defRPr/>
              </a:pPr>
              <a:t>‹#›</a:t>
            </a:fld>
            <a:endParaRPr lang="en-US" altLang="en-US"/>
          </a:p>
        </p:txBody>
      </p:sp>
    </p:spTree>
    <p:extLst>
      <p:ext uri="{BB962C8B-B14F-4D97-AF65-F5344CB8AC3E}">
        <p14:creationId xmlns:p14="http://schemas.microsoft.com/office/powerpoint/2010/main" val="4048386899"/>
      </p:ext>
    </p:extLst>
  </p:cSld>
  <p:clrMapOvr>
    <a:masterClrMapping/>
  </p:clrMapOvr>
  <p:transition spd="med" advClick="0">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cSld name="عنوان، ومحتوى، واثنان من المحتوى">
    <p:spTree>
      <p:nvGrpSpPr>
        <p:cNvPr id="1" name=""/>
        <p:cNvGrpSpPr/>
        <p:nvPr/>
      </p:nvGrpSpPr>
      <p:grpSpPr>
        <a:xfrm>
          <a:off x="0" y="0"/>
          <a:ext cx="0" cy="0"/>
          <a:chOff x="0" y="0"/>
          <a:chExt cx="0" cy="0"/>
        </a:xfrm>
      </p:grpSpPr>
      <p:sp>
        <p:nvSpPr>
          <p:cNvPr id="2" name="عنوان 1"/>
          <p:cNvSpPr>
            <a:spLocks noGrp="1"/>
          </p:cNvSpPr>
          <p:nvPr>
            <p:ph type="title"/>
          </p:nvPr>
        </p:nvSpPr>
        <p:spPr>
          <a:xfrm>
            <a:off x="914400" y="609600"/>
            <a:ext cx="10363200" cy="1143000"/>
          </a:xfrm>
        </p:spPr>
        <p:txBody>
          <a:bodyPr/>
          <a:lstStyle/>
          <a:p>
            <a:r>
              <a:rPr lang="ar-SA"/>
              <a:t>انقر لتحرير نمط العنوان الرئيسي</a:t>
            </a:r>
          </a:p>
        </p:txBody>
      </p:sp>
      <p:sp>
        <p:nvSpPr>
          <p:cNvPr id="3" name="عنصر نائب للمحتوى 2"/>
          <p:cNvSpPr>
            <a:spLocks noGrp="1"/>
          </p:cNvSpPr>
          <p:nvPr>
            <p:ph sz="half" idx="1"/>
          </p:nvPr>
        </p:nvSpPr>
        <p:spPr>
          <a:xfrm>
            <a:off x="914400" y="1981200"/>
            <a:ext cx="5080000" cy="4114800"/>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p:cNvSpPr>
            <a:spLocks noGrp="1"/>
          </p:cNvSpPr>
          <p:nvPr>
            <p:ph sz="quarter" idx="2"/>
          </p:nvPr>
        </p:nvSpPr>
        <p:spPr>
          <a:xfrm>
            <a:off x="6197600" y="1981200"/>
            <a:ext cx="5080000" cy="1981200"/>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محتوى 4"/>
          <p:cNvSpPr>
            <a:spLocks noGrp="1"/>
          </p:cNvSpPr>
          <p:nvPr>
            <p:ph sz="quarter" idx="3"/>
          </p:nvPr>
        </p:nvSpPr>
        <p:spPr>
          <a:xfrm>
            <a:off x="6197600" y="4114800"/>
            <a:ext cx="5080000" cy="1981200"/>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اريخ 5">
            <a:extLst>
              <a:ext uri="{FF2B5EF4-FFF2-40B4-BE49-F238E27FC236}">
                <a16:creationId xmlns:a16="http://schemas.microsoft.com/office/drawing/2014/main" id="{5AD1E213-F4CE-46F0-829A-F51D037B16FF}"/>
              </a:ext>
            </a:extLst>
          </p:cNvPr>
          <p:cNvSpPr>
            <a:spLocks noGrp="1"/>
          </p:cNvSpPr>
          <p:nvPr>
            <p:ph type="dt" sz="half" idx="10"/>
          </p:nvPr>
        </p:nvSpPr>
        <p:spPr>
          <a:xfrm>
            <a:off x="914400" y="6248400"/>
            <a:ext cx="2540000" cy="457200"/>
          </a:xfrm>
        </p:spPr>
        <p:txBody>
          <a:bodyPr/>
          <a:lstStyle>
            <a:lvl1pPr>
              <a:defRPr/>
            </a:lvl1pPr>
          </a:lstStyle>
          <a:p>
            <a:pPr>
              <a:defRPr/>
            </a:pPr>
            <a:endParaRPr lang="en-US"/>
          </a:p>
        </p:txBody>
      </p:sp>
      <p:sp>
        <p:nvSpPr>
          <p:cNvPr id="7" name="عنصر نائب للتذييل 6">
            <a:extLst>
              <a:ext uri="{FF2B5EF4-FFF2-40B4-BE49-F238E27FC236}">
                <a16:creationId xmlns:a16="http://schemas.microsoft.com/office/drawing/2014/main" id="{3EC25CC4-A37D-4949-B9B0-9BDA1156522C}"/>
              </a:ext>
            </a:extLst>
          </p:cNvPr>
          <p:cNvSpPr>
            <a:spLocks noGrp="1"/>
          </p:cNvSpPr>
          <p:nvPr>
            <p:ph type="ftr" sz="quarter" idx="11"/>
          </p:nvPr>
        </p:nvSpPr>
        <p:spPr>
          <a:xfrm>
            <a:off x="4165600" y="6248400"/>
            <a:ext cx="3860800" cy="457200"/>
          </a:xfrm>
        </p:spPr>
        <p:txBody>
          <a:bodyPr/>
          <a:lstStyle>
            <a:lvl1pPr>
              <a:defRPr/>
            </a:lvl1pPr>
          </a:lstStyle>
          <a:p>
            <a:pPr>
              <a:defRPr/>
            </a:pPr>
            <a:endParaRPr lang="en-US"/>
          </a:p>
        </p:txBody>
      </p:sp>
      <p:sp>
        <p:nvSpPr>
          <p:cNvPr id="8" name="عنصر نائب لرقم الشريحة 7">
            <a:extLst>
              <a:ext uri="{FF2B5EF4-FFF2-40B4-BE49-F238E27FC236}">
                <a16:creationId xmlns:a16="http://schemas.microsoft.com/office/drawing/2014/main" id="{E6B51F2E-7E4A-4473-A341-5F6AFBA0254E}"/>
              </a:ext>
            </a:extLst>
          </p:cNvPr>
          <p:cNvSpPr>
            <a:spLocks noGrp="1"/>
          </p:cNvSpPr>
          <p:nvPr>
            <p:ph type="sldNum" sz="quarter" idx="12"/>
          </p:nvPr>
        </p:nvSpPr>
        <p:spPr>
          <a:xfrm>
            <a:off x="8737600" y="6248400"/>
            <a:ext cx="2540000" cy="457200"/>
          </a:xfrm>
        </p:spPr>
        <p:txBody>
          <a:bodyPr/>
          <a:lstStyle>
            <a:lvl1pPr algn="l" rtl="1" eaLnBrk="1" hangingPunct="1">
              <a:defRPr sz="1200" smtClean="0">
                <a:solidFill>
                  <a:srgbClr val="898989"/>
                </a:solidFill>
              </a:defRPr>
            </a:lvl1pPr>
          </a:lstStyle>
          <a:p>
            <a:pPr>
              <a:defRPr/>
            </a:pPr>
            <a:fld id="{445F07A1-D96B-478C-A5ED-D8238EF07636}" type="slidenum">
              <a:rPr lang="ar-SA" altLang="en-US"/>
              <a:pPr>
                <a:defRPr/>
              </a:pPr>
              <a:t>‹#›</a:t>
            </a:fld>
            <a:endParaRPr lang="en-US" altLang="en-US"/>
          </a:p>
        </p:txBody>
      </p:sp>
    </p:spTree>
    <p:extLst>
      <p:ext uri="{BB962C8B-B14F-4D97-AF65-F5344CB8AC3E}">
        <p14:creationId xmlns:p14="http://schemas.microsoft.com/office/powerpoint/2010/main" val="418751109"/>
      </p:ext>
    </p:extLst>
  </p:cSld>
  <p:clrMapOvr>
    <a:masterClrMapping/>
  </p:clrMapOvr>
  <p:transition spd="med" advClick="0">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248C6E3-73C1-4873-BDA8-EDB46D7261EF}" type="datetimeFigureOut">
              <a:rPr lang="en-US" smtClean="0"/>
              <a:pPr/>
              <a:t>10/14/2025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F46F26A-73C4-4E85-B948-18854202139B}" type="slidenum">
              <a:rPr lang="en-US" smtClean="0"/>
              <a:pPr/>
              <a:t>‹#›</a:t>
            </a:fld>
            <a:endParaRPr lang="en-US"/>
          </a:p>
        </p:txBody>
      </p:sp>
    </p:spTree>
    <p:extLst>
      <p:ext uri="{BB962C8B-B14F-4D97-AF65-F5344CB8AC3E}">
        <p14:creationId xmlns:p14="http://schemas.microsoft.com/office/powerpoint/2010/main" val="767525294"/>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3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24.xml"/><Relationship Id="rId2" Type="http://schemas.openxmlformats.org/officeDocument/2006/relationships/slide" Target="slide8.xml"/><Relationship Id="rId1" Type="http://schemas.openxmlformats.org/officeDocument/2006/relationships/slideLayout" Target="../slideLayouts/slideLayout2.xml"/><Relationship Id="rId6" Type="http://schemas.openxmlformats.org/officeDocument/2006/relationships/slide" Target="slide29.xml"/><Relationship Id="rId5" Type="http://schemas.openxmlformats.org/officeDocument/2006/relationships/slide" Target="slide30.xml"/><Relationship Id="rId4"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17.xml"/><Relationship Id="rId3" Type="http://schemas.openxmlformats.org/officeDocument/2006/relationships/image" Target="../media/image10.jpeg"/><Relationship Id="rId7" Type="http://schemas.openxmlformats.org/officeDocument/2006/relationships/image" Target="../media/image12.jpeg"/><Relationship Id="rId12" Type="http://schemas.openxmlformats.org/officeDocument/2006/relationships/image" Target="../media/image15.jpeg"/><Relationship Id="rId2" Type="http://schemas.openxmlformats.org/officeDocument/2006/relationships/slide" Target="slide6.xml"/><Relationship Id="rId1" Type="http://schemas.openxmlformats.org/officeDocument/2006/relationships/slideLayout" Target="../slideLayouts/slideLayout19.xml"/><Relationship Id="rId6" Type="http://schemas.openxmlformats.org/officeDocument/2006/relationships/slide" Target="slide8.xml"/><Relationship Id="rId11" Type="http://schemas.openxmlformats.org/officeDocument/2006/relationships/slide" Target="slide4.xml"/><Relationship Id="rId5" Type="http://schemas.openxmlformats.org/officeDocument/2006/relationships/image" Target="../media/image11.jpeg"/><Relationship Id="rId10" Type="http://schemas.openxmlformats.org/officeDocument/2006/relationships/image" Target="../media/image14.png"/><Relationship Id="rId4" Type="http://schemas.openxmlformats.org/officeDocument/2006/relationships/slide" Target="slide7.xml"/><Relationship Id="rId9" Type="http://schemas.openxmlformats.org/officeDocument/2006/relationships/slide" Target="slide11.xml"/><Relationship Id="rId1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gif"/><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0.xm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image" Target="../media/image29.jpeg"/><Relationship Id="rId18" Type="http://schemas.openxmlformats.org/officeDocument/2006/relationships/slide" Target="slide18.xml"/><Relationship Id="rId3" Type="http://schemas.openxmlformats.org/officeDocument/2006/relationships/slide" Target="slide19.xml"/><Relationship Id="rId21" Type="http://schemas.openxmlformats.org/officeDocument/2006/relationships/image" Target="../media/image33.jpeg"/><Relationship Id="rId7" Type="http://schemas.openxmlformats.org/officeDocument/2006/relationships/image" Target="../media/image26.jpeg"/><Relationship Id="rId12" Type="http://schemas.openxmlformats.org/officeDocument/2006/relationships/slide" Target="slide13.xml"/><Relationship Id="rId17" Type="http://schemas.openxmlformats.org/officeDocument/2006/relationships/image" Target="../media/image31.png"/><Relationship Id="rId2" Type="http://schemas.openxmlformats.org/officeDocument/2006/relationships/slideLayout" Target="../slideLayouts/slideLayout2.xml"/><Relationship Id="rId16" Type="http://schemas.openxmlformats.org/officeDocument/2006/relationships/slide" Target="slide16.xml"/><Relationship Id="rId20" Type="http://schemas.openxmlformats.org/officeDocument/2006/relationships/slide" Target="slide17.xml"/><Relationship Id="rId1" Type="http://schemas.openxmlformats.org/officeDocument/2006/relationships/vmlDrawing" Target="../drawings/vmlDrawing1.vml"/><Relationship Id="rId6" Type="http://schemas.openxmlformats.org/officeDocument/2006/relationships/slide" Target="slide32.xml"/><Relationship Id="rId11" Type="http://schemas.openxmlformats.org/officeDocument/2006/relationships/image" Target="../media/image28.jpeg"/><Relationship Id="rId5" Type="http://schemas.openxmlformats.org/officeDocument/2006/relationships/image" Target="../media/image25.png"/><Relationship Id="rId15" Type="http://schemas.openxmlformats.org/officeDocument/2006/relationships/image" Target="../media/image30.jpeg"/><Relationship Id="rId10" Type="http://schemas.openxmlformats.org/officeDocument/2006/relationships/slide" Target="slide33.xml"/><Relationship Id="rId19" Type="http://schemas.openxmlformats.org/officeDocument/2006/relationships/image" Target="../media/image32.jpeg"/><Relationship Id="rId4" Type="http://schemas.openxmlformats.org/officeDocument/2006/relationships/oleObject" Target="../embeddings/oleObject1.bin"/><Relationship Id="rId9" Type="http://schemas.openxmlformats.org/officeDocument/2006/relationships/image" Target="../media/image27.png"/><Relationship Id="rId14" Type="http://schemas.openxmlformats.org/officeDocument/2006/relationships/slide" Target="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7.jpeg"/><Relationship Id="rId13" Type="http://schemas.openxmlformats.org/officeDocument/2006/relationships/image" Target="../media/image35.png"/><Relationship Id="rId3" Type="http://schemas.openxmlformats.org/officeDocument/2006/relationships/slide" Target="slide20.xml"/><Relationship Id="rId7" Type="http://schemas.openxmlformats.org/officeDocument/2006/relationships/image" Target="../media/image34.png"/><Relationship Id="rId12"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slide" Target="slide9.xml"/><Relationship Id="rId5" Type="http://schemas.openxmlformats.org/officeDocument/2006/relationships/slide" Target="slide24.xml"/><Relationship Id="rId15" Type="http://schemas.openxmlformats.org/officeDocument/2006/relationships/image" Target="../media/image39.gif"/><Relationship Id="rId10" Type="http://schemas.openxmlformats.org/officeDocument/2006/relationships/image" Target="../media/image38.jpeg"/><Relationship Id="rId4" Type="http://schemas.openxmlformats.org/officeDocument/2006/relationships/image" Target="../media/image36.png"/><Relationship Id="rId9" Type="http://schemas.openxmlformats.org/officeDocument/2006/relationships/slide" Target="slide8.xml"/><Relationship Id="rId14" Type="http://schemas.openxmlformats.org/officeDocument/2006/relationships/slide" Target="slide10.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2.png"/><Relationship Id="rId4"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9583C-7D7F-4CDC-B16C-2B7AC86F1085}"/>
              </a:ext>
            </a:extLst>
          </p:cNvPr>
          <p:cNvSpPr>
            <a:spLocks noGrp="1"/>
          </p:cNvSpPr>
          <p:nvPr>
            <p:ph type="ctrTitle"/>
          </p:nvPr>
        </p:nvSpPr>
        <p:spPr>
          <a:xfrm>
            <a:off x="933664" y="1856509"/>
            <a:ext cx="9849394" cy="2175854"/>
          </a:xfrm>
        </p:spPr>
        <p:txBody>
          <a:bodyPr>
            <a:normAutofit fontScale="90000"/>
          </a:bodyPr>
          <a:lstStyle/>
          <a:p>
            <a:pPr algn="ctr"/>
            <a:r>
              <a:rPr lang="en-US" dirty="0">
                <a:solidFill>
                  <a:schemeClr val="accent2">
                    <a:lumMod val="60000"/>
                    <a:lumOff val="40000"/>
                  </a:schemeClr>
                </a:solidFill>
                <a:latin typeface="Andalus" panose="02020603050405020304" pitchFamily="18" charset="-78"/>
                <a:cs typeface="Andalus" panose="02020603050405020304" pitchFamily="18" charset="-78"/>
              </a:rPr>
              <a:t>Introduction to Computer Science</a:t>
            </a:r>
          </a:p>
        </p:txBody>
      </p:sp>
      <p:sp>
        <p:nvSpPr>
          <p:cNvPr id="3" name="Subtitle 2">
            <a:extLst>
              <a:ext uri="{FF2B5EF4-FFF2-40B4-BE49-F238E27FC236}">
                <a16:creationId xmlns:a16="http://schemas.microsoft.com/office/drawing/2014/main" id="{014DD30E-88A4-46EC-9AC3-93D5CD706E5C}"/>
              </a:ext>
            </a:extLst>
          </p:cNvPr>
          <p:cNvSpPr>
            <a:spLocks noGrp="1"/>
          </p:cNvSpPr>
          <p:nvPr>
            <p:ph type="subTitle" idx="1"/>
          </p:nvPr>
        </p:nvSpPr>
        <p:spPr>
          <a:xfrm>
            <a:off x="1445532" y="4398689"/>
            <a:ext cx="8825658" cy="861420"/>
          </a:xfrm>
        </p:spPr>
        <p:txBody>
          <a:bodyPr>
            <a:normAutofit/>
          </a:bodyPr>
          <a:lstStyle/>
          <a:p>
            <a:pPr algn="ctr"/>
            <a:r>
              <a:rPr lang="en-US" sz="2800" b="1" dirty="0">
                <a:solidFill>
                  <a:schemeClr val="accent2">
                    <a:lumMod val="60000"/>
                    <a:lumOff val="40000"/>
                  </a:schemeClr>
                </a:solidFill>
                <a:latin typeface="Andalus" panose="02020603050405020304" pitchFamily="18" charset="-78"/>
                <a:cs typeface="Andalus" panose="02020603050405020304" pitchFamily="18" charset="-78"/>
              </a:rPr>
              <a:t>Lecure2_Part1</a:t>
            </a:r>
          </a:p>
        </p:txBody>
      </p:sp>
    </p:spTree>
    <p:extLst>
      <p:ext uri="{BB962C8B-B14F-4D97-AF65-F5344CB8AC3E}">
        <p14:creationId xmlns:p14="http://schemas.microsoft.com/office/powerpoint/2010/main" val="3514836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pPr algn="ctr"/>
            <a:r>
              <a:rPr lang="en-US" dirty="0"/>
              <a:t>Computer components</a:t>
            </a:r>
            <a:r>
              <a:rPr lang="en-US"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
            </a:r>
            <a:br>
              <a:rPr lang="en-US"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701041"/>
            <a:ext cx="8596668" cy="735874"/>
          </a:xfrm>
        </p:spPr>
        <p:txBody>
          <a:bodyPr>
            <a:normAutofit fontScale="90000"/>
          </a:bodyPr>
          <a:lstStyle/>
          <a:p>
            <a:r>
              <a:rPr lang="en-US" b="1" i="1" dirty="0"/>
              <a:t>OBJECTIVES AND INTENDED OUTCOMES</a:t>
            </a:r>
            <a:r>
              <a:rPr lang="en-US" dirty="0"/>
              <a:t/>
            </a:r>
            <a:br>
              <a:rPr lang="en-US" dirty="0"/>
            </a:br>
            <a:endParaRPr lang="en-US" dirty="0"/>
          </a:p>
        </p:txBody>
      </p:sp>
      <p:sp>
        <p:nvSpPr>
          <p:cNvPr id="3" name="Content Placeholder 2"/>
          <p:cNvSpPr>
            <a:spLocks noGrp="1"/>
          </p:cNvSpPr>
          <p:nvPr>
            <p:ph idx="1"/>
          </p:nvPr>
        </p:nvSpPr>
        <p:spPr>
          <a:xfrm>
            <a:off x="677334" y="1737359"/>
            <a:ext cx="8596668" cy="4741817"/>
          </a:xfrm>
        </p:spPr>
        <p:txBody>
          <a:bodyPr>
            <a:normAutofit/>
          </a:bodyPr>
          <a:lstStyle/>
          <a:p>
            <a:pPr>
              <a:buFont typeface="Wingdings" pitchFamily="2" charset="2"/>
              <a:buChar char="q"/>
            </a:pPr>
            <a:r>
              <a:rPr lang="en-US" sz="2400" dirty="0"/>
              <a:t>By the end of this lesson the learner is expected to:</a:t>
            </a:r>
          </a:p>
          <a:p>
            <a:pPr lvl="1">
              <a:buFont typeface="Wingdings" pitchFamily="2" charset="2"/>
              <a:buChar char="q"/>
            </a:pPr>
            <a:r>
              <a:rPr lang="en-US" sz="2000" dirty="0"/>
              <a:t>Understand the concept of processor and processing.</a:t>
            </a:r>
          </a:p>
          <a:p>
            <a:pPr lvl="1">
              <a:buFont typeface="Wingdings" pitchFamily="2" charset="2"/>
              <a:buChar char="q"/>
            </a:pPr>
            <a:r>
              <a:rPr lang="en-US" sz="2000" dirty="0"/>
              <a:t> Learn the function of Central Processing Unit </a:t>
            </a:r>
            <a:r>
              <a:rPr lang="ar-SA" sz="2000" dirty="0"/>
              <a:t>)</a:t>
            </a:r>
            <a:r>
              <a:rPr lang="en-US" sz="2000" dirty="0"/>
              <a:t>CPU).</a:t>
            </a:r>
          </a:p>
          <a:p>
            <a:pPr lvl="1">
              <a:buFont typeface="Wingdings" pitchFamily="2" charset="2"/>
              <a:buChar char="q"/>
            </a:pPr>
            <a:r>
              <a:rPr lang="en-US" sz="2000" dirty="0"/>
              <a:t>Learn the function of control unit, and Arithmetic and Logic unit.</a:t>
            </a:r>
          </a:p>
          <a:p>
            <a:pPr lvl="1">
              <a:buFont typeface="Wingdings" pitchFamily="2" charset="2"/>
              <a:buChar char="q"/>
            </a:pPr>
            <a:r>
              <a:rPr lang="en-US" sz="2000" dirty="0"/>
              <a:t> Learn the compare between RAM and ROM. </a:t>
            </a:r>
          </a:p>
          <a:p>
            <a:pPr lvl="1">
              <a:buFont typeface="Wingdings" pitchFamily="2" charset="2"/>
              <a:buChar char="q"/>
            </a:pPr>
            <a:r>
              <a:rPr lang="en-US" sz="2000" dirty="0"/>
              <a:t>Understand how a CPU works.</a:t>
            </a:r>
          </a:p>
          <a:p>
            <a:pPr lvl="1">
              <a:buFont typeface="Wingdings" pitchFamily="2" charset="2"/>
              <a:buChar char="q"/>
            </a:pPr>
            <a:r>
              <a:rPr lang="en-US" sz="2100" dirty="0"/>
              <a:t>Understand the concept of the main storage unit and secondary storage units.</a:t>
            </a:r>
          </a:p>
          <a:p>
            <a:pPr lvl="1">
              <a:buFont typeface="Wingdings" pitchFamily="2" charset="2"/>
              <a:buChar char="q"/>
            </a:pPr>
            <a:r>
              <a:rPr lang="en-US" sz="2100" dirty="0"/>
              <a:t> Learn about the different types of secondary storage units.</a:t>
            </a:r>
          </a:p>
          <a:p>
            <a:pPr lvl="1">
              <a:buFont typeface="Wingdings" pitchFamily="2" charset="2"/>
              <a:buChar char="q"/>
            </a:pPr>
            <a:r>
              <a:rPr lang="en-US" sz="2100" dirty="0"/>
              <a:t> Learn about the storage.</a:t>
            </a:r>
          </a:p>
          <a:p>
            <a:pPr lvl="2">
              <a:buFont typeface="Wingdings" pitchFamily="2" charset="2"/>
              <a:buChar char="q"/>
            </a:pP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B26AFFB-17E0-49DE-9AAE-56B7291A76CD}"/>
              </a:ext>
            </a:extLst>
          </p:cNvPr>
          <p:cNvSpPr txBox="1">
            <a:spLocks noChangeArrowheads="1"/>
          </p:cNvSpPr>
          <p:nvPr/>
        </p:nvSpPr>
        <p:spPr bwMode="auto">
          <a:xfrm>
            <a:off x="2514600" y="1371600"/>
            <a:ext cx="6477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50000"/>
              </a:spcBef>
              <a:buFontTx/>
              <a:buNone/>
            </a:pPr>
            <a:endParaRPr lang="ar-SA" altLang="en-US" sz="1800">
              <a:latin typeface="Times New Roman" panose="02020603050405020304" pitchFamily="18" charset="0"/>
            </a:endParaRPr>
          </a:p>
        </p:txBody>
      </p:sp>
      <p:sp>
        <p:nvSpPr>
          <p:cNvPr id="39940" name="WordArt 4">
            <a:extLst>
              <a:ext uri="{FF2B5EF4-FFF2-40B4-BE49-F238E27FC236}">
                <a16:creationId xmlns:a16="http://schemas.microsoft.com/office/drawing/2014/main" id="{47435166-FD25-4A90-B4E3-04DCCE97824A}"/>
              </a:ext>
            </a:extLst>
          </p:cNvPr>
          <p:cNvSpPr>
            <a:spLocks noChangeArrowheads="1" noChangeShapeType="1" noTextEdit="1"/>
          </p:cNvSpPr>
          <p:nvPr/>
        </p:nvSpPr>
        <p:spPr bwMode="auto">
          <a:xfrm>
            <a:off x="2944988" y="2155371"/>
            <a:ext cx="6264326" cy="1580606"/>
          </a:xfrm>
          <a:prstGeom prst="rect">
            <a:avLst/>
          </a:prstGeom>
        </p:spPr>
        <p:txBody>
          <a:bodyPr wrap="none" fromWordArt="1">
            <a:prstTxWarp prst="textPlain">
              <a:avLst>
                <a:gd name="adj" fmla="val 48679"/>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dirty="0"/>
              <a:t>Computer components</a:t>
            </a:r>
            <a:endPar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WordArt 3">
            <a:extLst>
              <a:ext uri="{FF2B5EF4-FFF2-40B4-BE49-F238E27FC236}">
                <a16:creationId xmlns:a16="http://schemas.microsoft.com/office/drawing/2014/main" id="{E3CD641F-9FE4-41D1-8CAD-06EA5E524106}"/>
              </a:ext>
            </a:extLst>
          </p:cNvPr>
          <p:cNvSpPr>
            <a:spLocks noChangeArrowheads="1" noChangeShapeType="1" noTextEdit="1"/>
          </p:cNvSpPr>
          <p:nvPr/>
        </p:nvSpPr>
        <p:spPr bwMode="auto">
          <a:xfrm>
            <a:off x="3624264" y="533400"/>
            <a:ext cx="4943475" cy="55245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dirty="0"/>
              <a:t>Computer Components</a:t>
            </a:r>
            <a:endPar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0246" name="AutoShape 6">
            <a:hlinkClick r:id="rId2" action="ppaction://hlinksldjump"/>
            <a:extLst>
              <a:ext uri="{FF2B5EF4-FFF2-40B4-BE49-F238E27FC236}">
                <a16:creationId xmlns:a16="http://schemas.microsoft.com/office/drawing/2014/main" id="{80D4F244-0F1D-45DA-8384-FDA1DCE6C6C8}"/>
              </a:ext>
            </a:extLst>
          </p:cNvPr>
          <p:cNvSpPr>
            <a:spLocks noChangeArrowheads="1"/>
          </p:cNvSpPr>
          <p:nvPr/>
        </p:nvSpPr>
        <p:spPr bwMode="auto">
          <a:xfrm>
            <a:off x="2514600" y="2286000"/>
            <a:ext cx="7048500" cy="1143000"/>
          </a:xfrm>
          <a:prstGeom prst="bevel">
            <a:avLst>
              <a:gd name="adj" fmla="val 12500"/>
            </a:avLst>
          </a:prstGeom>
          <a:gradFill rotWithShape="0">
            <a:gsLst>
              <a:gs pos="0">
                <a:srgbClr val="0033CC"/>
              </a:gs>
              <a:gs pos="50000">
                <a:srgbClr val="6600FF"/>
              </a:gs>
              <a:gs pos="100000">
                <a:srgbClr val="0033CC"/>
              </a:gs>
            </a:gsLst>
            <a:lin ang="18900000" scaled="1"/>
          </a:gradFill>
          <a:ln w="9525">
            <a:solidFill>
              <a:schemeClr val="tx1"/>
            </a:solidFill>
            <a:miter lim="800000"/>
            <a:headEnd/>
            <a:tailEnd/>
          </a:ln>
          <a:effectLst/>
        </p:spPr>
        <p:txBody>
          <a:bodyPr wrap="none" anchor="ctr"/>
          <a:lstStyle/>
          <a:p>
            <a:pPr algn="ctr" rtl="1" eaLnBrk="1" hangingPunct="1">
              <a:defRPr/>
            </a:pPr>
            <a:r>
              <a:rPr lang="en-US" sz="4000" b="1" dirty="0">
                <a:effectLst>
                  <a:outerShdw blurRad="38100" dist="38100" dir="2700000" algn="tl">
                    <a:srgbClr val="000000"/>
                  </a:outerShdw>
                </a:effectLst>
              </a:rPr>
              <a:t>Hardware</a:t>
            </a:r>
          </a:p>
        </p:txBody>
      </p:sp>
      <p:sp>
        <p:nvSpPr>
          <p:cNvPr id="10247" name="AutoShape 7">
            <a:hlinkClick r:id="rId3" action="ppaction://hlinksldjump"/>
            <a:extLst>
              <a:ext uri="{FF2B5EF4-FFF2-40B4-BE49-F238E27FC236}">
                <a16:creationId xmlns:a16="http://schemas.microsoft.com/office/drawing/2014/main" id="{ECDB6E72-D30E-4988-B2B0-5632566B0644}"/>
              </a:ext>
            </a:extLst>
          </p:cNvPr>
          <p:cNvSpPr>
            <a:spLocks noChangeArrowheads="1"/>
          </p:cNvSpPr>
          <p:nvPr/>
        </p:nvSpPr>
        <p:spPr bwMode="auto">
          <a:xfrm>
            <a:off x="2609850" y="3886200"/>
            <a:ext cx="6972300" cy="1066800"/>
          </a:xfrm>
          <a:prstGeom prst="bevel">
            <a:avLst>
              <a:gd name="adj" fmla="val 12500"/>
            </a:avLst>
          </a:prstGeom>
          <a:gradFill rotWithShape="0">
            <a:gsLst>
              <a:gs pos="0">
                <a:srgbClr val="0033CC"/>
              </a:gs>
              <a:gs pos="50000">
                <a:srgbClr val="6600FF"/>
              </a:gs>
              <a:gs pos="100000">
                <a:srgbClr val="0033CC"/>
              </a:gs>
            </a:gsLst>
            <a:lin ang="18900000" scaled="1"/>
          </a:gradFill>
          <a:ln w="9525">
            <a:solidFill>
              <a:schemeClr val="tx1"/>
            </a:solidFill>
            <a:miter lim="800000"/>
            <a:headEnd/>
            <a:tailEnd/>
          </a:ln>
          <a:effectLst/>
        </p:spPr>
        <p:txBody>
          <a:bodyPr wrap="none" anchor="ctr"/>
          <a:lstStyle/>
          <a:p>
            <a:pPr algn="ctr" rtl="1" eaLnBrk="1" hangingPunct="1">
              <a:defRPr/>
            </a:pPr>
            <a:r>
              <a:rPr lang="en-US" sz="4000" b="1" dirty="0">
                <a:effectLst>
                  <a:outerShdw blurRad="38100" dist="38100" dir="2700000" algn="tl">
                    <a:srgbClr val="000000"/>
                  </a:outerShdw>
                </a:effectLst>
              </a:rPr>
              <a:t>Software</a:t>
            </a:r>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descr="خلفية حمراء 2">
            <a:hlinkClick r:id="rId2" action="ppaction://hlinksldjump"/>
            <a:extLst>
              <a:ext uri="{FF2B5EF4-FFF2-40B4-BE49-F238E27FC236}">
                <a16:creationId xmlns:a16="http://schemas.microsoft.com/office/drawing/2014/main" id="{79E60405-C3C0-4D9E-B2C4-84558D0DB26F}"/>
              </a:ext>
            </a:extLst>
          </p:cNvPr>
          <p:cNvSpPr>
            <a:spLocks noChangeArrowheads="1"/>
          </p:cNvSpPr>
          <p:nvPr/>
        </p:nvSpPr>
        <p:spPr bwMode="auto">
          <a:xfrm>
            <a:off x="3962400" y="3124200"/>
            <a:ext cx="4038600" cy="1752600"/>
          </a:xfrm>
          <a:prstGeom prst="rect">
            <a:avLst/>
          </a:prstGeom>
          <a:blipFill dpi="0" rotWithShape="0">
            <a:blip r:embed="rId3" cstate="print"/>
            <a:srcRect/>
            <a:stretch>
              <a:fillRect/>
            </a:stretch>
          </a:blipFill>
          <a:ln w="19050">
            <a:solidFill>
              <a:srgbClr val="800000"/>
            </a:solidFill>
            <a:miter lim="800000"/>
            <a:headEnd/>
            <a:tailEnd/>
          </a:ln>
          <a:effectLst/>
        </p:spPr>
        <p:txBody>
          <a:bodyPr wrap="none" anchor="ctr"/>
          <a:lstStyle/>
          <a:p>
            <a:pPr algn="ctr" rtl="1">
              <a:defRPr/>
            </a:pPr>
            <a:r>
              <a:rPr lang="en-US" sz="2800" b="1" dirty="0">
                <a:latin typeface="Times New Roman" pitchFamily="18" charset="0"/>
                <a:cs typeface="Times New Roman" pitchFamily="18" charset="0"/>
              </a:rPr>
              <a:t>Central Processing Unit</a:t>
            </a:r>
          </a:p>
          <a:p>
            <a:pPr algn="ctr" rtl="1">
              <a:defRPr/>
            </a:pPr>
            <a:r>
              <a:rPr lang="en-US" sz="3200" b="1" dirty="0">
                <a:solidFill>
                  <a:srgbClr val="CC0000"/>
                </a:solidFill>
                <a:effectLst>
                  <a:outerShdw blurRad="38100" dist="38100" dir="2700000" algn="tl">
                    <a:srgbClr val="C0C0C0"/>
                  </a:outerShdw>
                </a:effectLst>
                <a:latin typeface="Mini Pics Lil Edibles" pitchFamily="2" charset="0"/>
              </a:rPr>
              <a:t>CPU</a:t>
            </a:r>
            <a:endParaRPr lang="ar-SA" sz="3200" b="1" dirty="0">
              <a:solidFill>
                <a:srgbClr val="CC0000"/>
              </a:solidFill>
              <a:effectLst>
                <a:outerShdw blurRad="38100" dist="38100" dir="2700000" algn="tl">
                  <a:srgbClr val="C0C0C0"/>
                </a:outerShdw>
              </a:effectLst>
              <a:latin typeface="Mini Pics Lil Edibles" pitchFamily="2" charset="0"/>
            </a:endParaRPr>
          </a:p>
        </p:txBody>
      </p:sp>
      <p:sp>
        <p:nvSpPr>
          <p:cNvPr id="12291" name="Rectangle 3" descr="خلفية حمراء 2">
            <a:hlinkClick r:id="rId4" action="ppaction://hlinksldjump"/>
            <a:extLst>
              <a:ext uri="{FF2B5EF4-FFF2-40B4-BE49-F238E27FC236}">
                <a16:creationId xmlns:a16="http://schemas.microsoft.com/office/drawing/2014/main" id="{E46CCF48-1445-448D-9CFC-545BEE4A5D6B}"/>
              </a:ext>
            </a:extLst>
          </p:cNvPr>
          <p:cNvSpPr>
            <a:spLocks noChangeArrowheads="1"/>
          </p:cNvSpPr>
          <p:nvPr/>
        </p:nvSpPr>
        <p:spPr bwMode="auto">
          <a:xfrm>
            <a:off x="4572000" y="1828800"/>
            <a:ext cx="2667000" cy="762000"/>
          </a:xfrm>
          <a:prstGeom prst="rect">
            <a:avLst/>
          </a:prstGeom>
          <a:blipFill dpi="0" rotWithShape="0">
            <a:blip r:embed="rId3" cstate="print"/>
            <a:srcRect/>
            <a:stretch>
              <a:fillRect/>
            </a:stretch>
          </a:blipFill>
          <a:ln w="19050">
            <a:solidFill>
              <a:srgbClr val="800000"/>
            </a:solidFill>
            <a:miter lim="800000"/>
            <a:headEnd/>
            <a:tailEnd/>
          </a:ln>
          <a:effectLst/>
        </p:spPr>
        <p:txBody>
          <a:bodyPr wrap="none" anchor="ctr"/>
          <a:lstStyle/>
          <a:p>
            <a:pPr algn="ctr" rtl="1" eaLnBrk="1" hangingPunct="1">
              <a:defRPr/>
            </a:pPr>
            <a:r>
              <a:rPr lang="en-US" sz="4000" b="1" dirty="0">
                <a:effectLst>
                  <a:outerShdw blurRad="38100" dist="38100" dir="2700000" algn="tl">
                    <a:srgbClr val="C0C0C0"/>
                  </a:outerShdw>
                </a:effectLst>
                <a:latin typeface="Times New Roman" pitchFamily="18" charset="0"/>
                <a:cs typeface="Times New Roman" pitchFamily="18" charset="0"/>
              </a:rPr>
              <a:t>Memory</a:t>
            </a:r>
            <a:endParaRPr lang="ar-SA" sz="3200" b="1" dirty="0">
              <a:effectLst>
                <a:outerShdw blurRad="38100" dist="38100" dir="2700000" algn="tl">
                  <a:srgbClr val="C0C0C0"/>
                </a:outerShdw>
              </a:effectLst>
              <a:latin typeface="Times New Roman" pitchFamily="18" charset="0"/>
              <a:cs typeface="Times New Roman" pitchFamily="18" charset="0"/>
            </a:endParaRPr>
          </a:p>
        </p:txBody>
      </p:sp>
      <p:sp>
        <p:nvSpPr>
          <p:cNvPr id="12292" name="Rectangle 4" descr="خلفية حمراء 2">
            <a:hlinkClick r:id="rId5" action="ppaction://hlinksldjump"/>
            <a:extLst>
              <a:ext uri="{FF2B5EF4-FFF2-40B4-BE49-F238E27FC236}">
                <a16:creationId xmlns:a16="http://schemas.microsoft.com/office/drawing/2014/main" id="{BFE4DCC6-6F7C-41DC-B660-E14EBFF421FD}"/>
              </a:ext>
            </a:extLst>
          </p:cNvPr>
          <p:cNvSpPr>
            <a:spLocks noChangeArrowheads="1"/>
          </p:cNvSpPr>
          <p:nvPr/>
        </p:nvSpPr>
        <p:spPr bwMode="auto">
          <a:xfrm>
            <a:off x="4762500" y="5410200"/>
            <a:ext cx="2667000" cy="914400"/>
          </a:xfrm>
          <a:prstGeom prst="rect">
            <a:avLst/>
          </a:prstGeom>
          <a:blipFill dpi="0" rotWithShape="0">
            <a:blip r:embed="rId3" cstate="print"/>
            <a:srcRect/>
            <a:stretch>
              <a:fillRect/>
            </a:stretch>
          </a:blipFill>
          <a:ln w="19050">
            <a:solidFill>
              <a:srgbClr val="800000"/>
            </a:solidFill>
            <a:miter lim="800000"/>
            <a:headEnd/>
            <a:tailEnd/>
          </a:ln>
          <a:effectLst/>
        </p:spPr>
        <p:txBody>
          <a:bodyPr wrap="none" anchor="ctr"/>
          <a:lstStyle/>
          <a:p>
            <a:pPr algn="ctr" rtl="1" eaLnBrk="1" hangingPunct="1">
              <a:defRPr/>
            </a:pPr>
            <a:r>
              <a:rPr lang="en-US" sz="3600" b="1" dirty="0">
                <a:effectLst>
                  <a:outerShdw blurRad="38100" dist="38100" dir="2700000" algn="tl">
                    <a:srgbClr val="C0C0C0"/>
                  </a:outerShdw>
                </a:effectLst>
                <a:latin typeface="Times New Roman" pitchFamily="18" charset="0"/>
                <a:cs typeface="Times New Roman" pitchFamily="18" charset="0"/>
              </a:rPr>
              <a:t>Storage Units</a:t>
            </a:r>
            <a:endParaRPr lang="ar-SA" sz="3600" b="1" dirty="0">
              <a:effectLst>
                <a:outerShdw blurRad="38100" dist="38100" dir="2700000" algn="tl">
                  <a:srgbClr val="C0C0C0"/>
                </a:outerShdw>
              </a:effectLst>
              <a:latin typeface="Times New Roman" pitchFamily="18" charset="0"/>
              <a:cs typeface="Times New Roman" pitchFamily="18" charset="0"/>
            </a:endParaRPr>
          </a:p>
        </p:txBody>
      </p:sp>
      <p:sp>
        <p:nvSpPr>
          <p:cNvPr id="12293" name="AutoShape 5" descr="خلفية حمراء 2">
            <a:hlinkClick r:id="rId6" action="ppaction://hlinksldjump"/>
            <a:extLst>
              <a:ext uri="{FF2B5EF4-FFF2-40B4-BE49-F238E27FC236}">
                <a16:creationId xmlns:a16="http://schemas.microsoft.com/office/drawing/2014/main" id="{D52DBC25-ADB6-49C1-A826-322D74D1F312}"/>
              </a:ext>
            </a:extLst>
          </p:cNvPr>
          <p:cNvSpPr>
            <a:spLocks noChangeArrowheads="1"/>
          </p:cNvSpPr>
          <p:nvPr/>
        </p:nvSpPr>
        <p:spPr bwMode="auto">
          <a:xfrm>
            <a:off x="1524000" y="3429000"/>
            <a:ext cx="2362200" cy="1447800"/>
          </a:xfrm>
          <a:prstGeom prst="leftArrow">
            <a:avLst>
              <a:gd name="adj1" fmla="val 50000"/>
              <a:gd name="adj2" fmla="val 30690"/>
            </a:avLst>
          </a:prstGeom>
          <a:blipFill dpi="0" rotWithShape="0">
            <a:blip r:embed="rId3" cstate="print"/>
            <a:srcRect/>
            <a:stretch>
              <a:fillRect/>
            </a:stretch>
          </a:blipFill>
          <a:ln w="19050">
            <a:solidFill>
              <a:srgbClr val="800000"/>
            </a:solidFill>
            <a:miter lim="800000"/>
            <a:headEnd/>
            <a:tailEnd/>
          </a:ln>
          <a:effectLst/>
        </p:spPr>
        <p:txBody>
          <a:bodyPr wrap="none" anchor="ctr"/>
          <a:lstStyle/>
          <a:p>
            <a:pPr algn="ctr" rtl="1" eaLnBrk="1" hangingPunct="1">
              <a:defRPr/>
            </a:pPr>
            <a:r>
              <a:rPr lang="en-US" sz="2400" b="1" dirty="0">
                <a:effectLst>
                  <a:outerShdw blurRad="38100" dist="38100" dir="2700000" algn="tl">
                    <a:srgbClr val="C0C0C0"/>
                  </a:outerShdw>
                </a:effectLst>
                <a:latin typeface="Times New Roman" pitchFamily="18" charset="0"/>
                <a:cs typeface="Times New Roman" pitchFamily="18" charset="0"/>
              </a:rPr>
              <a:t>Output Unit</a:t>
            </a:r>
          </a:p>
        </p:txBody>
      </p:sp>
      <p:sp>
        <p:nvSpPr>
          <p:cNvPr id="12294" name="AutoShape 6" descr="خلفية حمراء 2">
            <a:hlinkClick r:id="rId7" action="ppaction://hlinksldjump"/>
            <a:extLst>
              <a:ext uri="{FF2B5EF4-FFF2-40B4-BE49-F238E27FC236}">
                <a16:creationId xmlns:a16="http://schemas.microsoft.com/office/drawing/2014/main" id="{E1AF9009-AFB8-4574-B65C-ECEEDFF17094}"/>
              </a:ext>
            </a:extLst>
          </p:cNvPr>
          <p:cNvSpPr>
            <a:spLocks noChangeArrowheads="1"/>
          </p:cNvSpPr>
          <p:nvPr/>
        </p:nvSpPr>
        <p:spPr bwMode="auto">
          <a:xfrm>
            <a:off x="8077200" y="3429000"/>
            <a:ext cx="2362200" cy="1447800"/>
          </a:xfrm>
          <a:prstGeom prst="leftArrow">
            <a:avLst>
              <a:gd name="adj1" fmla="val 50000"/>
              <a:gd name="adj2" fmla="val 30690"/>
            </a:avLst>
          </a:prstGeom>
          <a:blipFill dpi="0" rotWithShape="0">
            <a:blip r:embed="rId3" cstate="print"/>
            <a:srcRect/>
            <a:stretch>
              <a:fillRect/>
            </a:stretch>
          </a:blipFill>
          <a:ln w="19050">
            <a:solidFill>
              <a:srgbClr val="800000"/>
            </a:solidFill>
            <a:miter lim="800000"/>
            <a:headEnd/>
            <a:tailEnd/>
          </a:ln>
          <a:effectLst/>
        </p:spPr>
        <p:txBody>
          <a:bodyPr wrap="none" anchor="ctr"/>
          <a:lstStyle/>
          <a:p>
            <a:pPr algn="ctr" rtl="1" eaLnBrk="1" hangingPunct="1">
              <a:defRPr/>
            </a:pPr>
            <a:r>
              <a:rPr lang="en-US" sz="2400" b="1" dirty="0">
                <a:effectLst>
                  <a:outerShdw blurRad="38100" dist="38100" dir="2700000" algn="tl">
                    <a:srgbClr val="C0C0C0"/>
                  </a:outerShdw>
                </a:effectLst>
                <a:latin typeface="Times New Roman" pitchFamily="18" charset="0"/>
                <a:cs typeface="Times New Roman" pitchFamily="18" charset="0"/>
              </a:rPr>
              <a:t>Input Unit</a:t>
            </a:r>
          </a:p>
        </p:txBody>
      </p:sp>
      <p:sp>
        <p:nvSpPr>
          <p:cNvPr id="12295" name="Line 7">
            <a:extLst>
              <a:ext uri="{FF2B5EF4-FFF2-40B4-BE49-F238E27FC236}">
                <a16:creationId xmlns:a16="http://schemas.microsoft.com/office/drawing/2014/main" id="{BFFD17AB-8EB0-4C87-935A-CDD64A029BFC}"/>
              </a:ext>
            </a:extLst>
          </p:cNvPr>
          <p:cNvSpPr>
            <a:spLocks noChangeShapeType="1"/>
          </p:cNvSpPr>
          <p:nvPr/>
        </p:nvSpPr>
        <p:spPr bwMode="auto">
          <a:xfrm flipV="1">
            <a:off x="5562600" y="4953000"/>
            <a:ext cx="0" cy="381000"/>
          </a:xfrm>
          <a:prstGeom prst="line">
            <a:avLst/>
          </a:prstGeom>
          <a:noFill/>
          <a:ln w="19050">
            <a:solidFill>
              <a:srgbClr val="99CCFF"/>
            </a:solidFill>
            <a:round/>
            <a:headEnd/>
            <a:tailEnd type="triangle" w="med" len="med"/>
          </a:ln>
          <a:effectLst>
            <a:outerShdw dist="35921" dir="2700000" algn="ctr" rotWithShape="0">
              <a:srgbClr val="99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2296" name="Line 8">
            <a:extLst>
              <a:ext uri="{FF2B5EF4-FFF2-40B4-BE49-F238E27FC236}">
                <a16:creationId xmlns:a16="http://schemas.microsoft.com/office/drawing/2014/main" id="{E67AAB34-81A4-45B8-A270-999276D7D6EB}"/>
              </a:ext>
            </a:extLst>
          </p:cNvPr>
          <p:cNvSpPr>
            <a:spLocks noChangeShapeType="1"/>
          </p:cNvSpPr>
          <p:nvPr/>
        </p:nvSpPr>
        <p:spPr bwMode="auto">
          <a:xfrm>
            <a:off x="6477000" y="4953000"/>
            <a:ext cx="0" cy="381000"/>
          </a:xfrm>
          <a:prstGeom prst="line">
            <a:avLst/>
          </a:prstGeom>
          <a:noFill/>
          <a:ln w="19050">
            <a:solidFill>
              <a:srgbClr val="99CCFF"/>
            </a:solidFill>
            <a:round/>
            <a:headEnd/>
            <a:tailEnd type="triangle" w="med" len="med"/>
          </a:ln>
          <a:effectLst>
            <a:outerShdw dist="35921" dir="2700000" algn="ctr" rotWithShape="0">
              <a:srgbClr val="99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2297" name="Line 9">
            <a:extLst>
              <a:ext uri="{FF2B5EF4-FFF2-40B4-BE49-F238E27FC236}">
                <a16:creationId xmlns:a16="http://schemas.microsoft.com/office/drawing/2014/main" id="{301FF2FD-627E-4EE0-8B14-A5397B788A18}"/>
              </a:ext>
            </a:extLst>
          </p:cNvPr>
          <p:cNvSpPr>
            <a:spLocks noChangeShapeType="1"/>
          </p:cNvSpPr>
          <p:nvPr/>
        </p:nvSpPr>
        <p:spPr bwMode="auto">
          <a:xfrm>
            <a:off x="5486400" y="2667000"/>
            <a:ext cx="0" cy="381000"/>
          </a:xfrm>
          <a:prstGeom prst="line">
            <a:avLst/>
          </a:prstGeom>
          <a:noFill/>
          <a:ln w="19050">
            <a:solidFill>
              <a:srgbClr val="99CCFF"/>
            </a:solidFill>
            <a:round/>
            <a:headEnd/>
            <a:tailEnd type="triangle" w="med" len="med"/>
          </a:ln>
          <a:effectLst>
            <a:outerShdw dist="35921" dir="2700000" algn="ctr" rotWithShape="0">
              <a:srgbClr val="99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2298" name="Line 10">
            <a:extLst>
              <a:ext uri="{FF2B5EF4-FFF2-40B4-BE49-F238E27FC236}">
                <a16:creationId xmlns:a16="http://schemas.microsoft.com/office/drawing/2014/main" id="{0525F3F0-B7A0-4AAD-AD9D-CFAC3F77E7A1}"/>
              </a:ext>
            </a:extLst>
          </p:cNvPr>
          <p:cNvSpPr>
            <a:spLocks noChangeShapeType="1"/>
          </p:cNvSpPr>
          <p:nvPr/>
        </p:nvSpPr>
        <p:spPr bwMode="auto">
          <a:xfrm flipV="1">
            <a:off x="6553200" y="2667000"/>
            <a:ext cx="0" cy="381000"/>
          </a:xfrm>
          <a:prstGeom prst="line">
            <a:avLst/>
          </a:prstGeom>
          <a:noFill/>
          <a:ln w="19050">
            <a:solidFill>
              <a:srgbClr val="99CCFF"/>
            </a:solidFill>
            <a:round/>
            <a:headEnd/>
            <a:tailEnd type="triangle" w="med" len="med"/>
          </a:ln>
          <a:effectLst>
            <a:outerShdw dist="35921" dir="2700000" algn="ctr" rotWithShape="0">
              <a:srgbClr val="99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95" name="WordArt 11">
            <a:extLst>
              <a:ext uri="{FF2B5EF4-FFF2-40B4-BE49-F238E27FC236}">
                <a16:creationId xmlns:a16="http://schemas.microsoft.com/office/drawing/2014/main" id="{164F8E98-7A6C-4B9C-8AAC-5433E67221F5}"/>
              </a:ext>
            </a:extLst>
          </p:cNvPr>
          <p:cNvSpPr>
            <a:spLocks noChangeArrowheads="1" noChangeShapeType="1" noTextEdit="1"/>
          </p:cNvSpPr>
          <p:nvPr/>
        </p:nvSpPr>
        <p:spPr bwMode="auto">
          <a:xfrm>
            <a:off x="3624264" y="533400"/>
            <a:ext cx="4943475" cy="55245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defRPr/>
            </a:pPr>
            <a:r>
              <a:rPr lang="en-US" sz="3600" b="1" dirty="0">
                <a:effectLst>
                  <a:outerShdw blurRad="38100" dist="38100" dir="2700000" algn="tl">
                    <a:srgbClr val="000000"/>
                  </a:outerShdw>
                </a:effectLst>
              </a:rPr>
              <a:t>Hardware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1000"/>
                                  </p:stCondLst>
                                  <p:childTnLst>
                                    <p:set>
                                      <p:cBhvr>
                                        <p:cTn id="6" dur="1" fill="hold">
                                          <p:stCondLst>
                                            <p:cond delay="0"/>
                                          </p:stCondLst>
                                        </p:cTn>
                                        <p:tgtEl>
                                          <p:spTgt spid="12294"/>
                                        </p:tgtEl>
                                        <p:attrNameLst>
                                          <p:attrName>style.visibility</p:attrName>
                                        </p:attrNameLst>
                                      </p:cBhvr>
                                      <p:to>
                                        <p:strVal val="visible"/>
                                      </p:to>
                                    </p:set>
                                    <p:animEffect transition="in" filter="slide(fromRight)">
                                      <p:cBhvr>
                                        <p:cTn id="7" dur="500"/>
                                        <p:tgtEl>
                                          <p:spTgt spid="12294"/>
                                        </p:tgtEl>
                                      </p:cBhvr>
                                    </p:animEffect>
                                  </p:childTnLst>
                                </p:cTn>
                              </p:par>
                            </p:childTnLst>
                          </p:cTn>
                        </p:par>
                        <p:par>
                          <p:cTn id="8" fill="hold" nodeType="afterGroup">
                            <p:stCondLst>
                              <p:cond delay="1500"/>
                            </p:stCondLst>
                            <p:childTnLst>
                              <p:par>
                                <p:cTn id="9" presetID="3" presetClass="entr" presetSubtype="10" fill="hold" grpId="0" nodeType="afterEffect">
                                  <p:stCondLst>
                                    <p:cond delay="1000"/>
                                  </p:stCondLst>
                                  <p:childTnLst>
                                    <p:set>
                                      <p:cBhvr>
                                        <p:cTn id="10" dur="1" fill="hold">
                                          <p:stCondLst>
                                            <p:cond delay="0"/>
                                          </p:stCondLst>
                                        </p:cTn>
                                        <p:tgtEl>
                                          <p:spTgt spid="12290"/>
                                        </p:tgtEl>
                                        <p:attrNameLst>
                                          <p:attrName>style.visibility</p:attrName>
                                        </p:attrNameLst>
                                      </p:cBhvr>
                                      <p:to>
                                        <p:strVal val="visible"/>
                                      </p:to>
                                    </p:set>
                                    <p:animEffect transition="in" filter="blinds(horizontal)">
                                      <p:cBhvr>
                                        <p:cTn id="11" dur="500"/>
                                        <p:tgtEl>
                                          <p:spTgt spid="12290"/>
                                        </p:tgtEl>
                                      </p:cBhvr>
                                    </p:animEffect>
                                  </p:childTnLst>
                                </p:cTn>
                              </p:par>
                            </p:childTnLst>
                          </p:cTn>
                        </p:par>
                        <p:par>
                          <p:cTn id="12" fill="hold" nodeType="afterGroup">
                            <p:stCondLst>
                              <p:cond delay="3000"/>
                            </p:stCondLst>
                            <p:childTnLst>
                              <p:par>
                                <p:cTn id="13" presetID="12" presetClass="entr" presetSubtype="2" fill="hold" grpId="0" nodeType="afterEffect">
                                  <p:stCondLst>
                                    <p:cond delay="1000"/>
                                  </p:stCondLst>
                                  <p:childTnLst>
                                    <p:set>
                                      <p:cBhvr>
                                        <p:cTn id="14" dur="1" fill="hold">
                                          <p:stCondLst>
                                            <p:cond delay="0"/>
                                          </p:stCondLst>
                                        </p:cTn>
                                        <p:tgtEl>
                                          <p:spTgt spid="12293"/>
                                        </p:tgtEl>
                                        <p:attrNameLst>
                                          <p:attrName>style.visibility</p:attrName>
                                        </p:attrNameLst>
                                      </p:cBhvr>
                                      <p:to>
                                        <p:strVal val="visible"/>
                                      </p:to>
                                    </p:set>
                                    <p:animEffect transition="in" filter="slide(fromRight)">
                                      <p:cBhvr>
                                        <p:cTn id="15" dur="500"/>
                                        <p:tgtEl>
                                          <p:spTgt spid="12293"/>
                                        </p:tgtEl>
                                      </p:cBhvr>
                                    </p:animEffect>
                                  </p:childTnLst>
                                </p:cTn>
                              </p:par>
                            </p:childTnLst>
                          </p:cTn>
                        </p:par>
                        <p:par>
                          <p:cTn id="16" fill="hold" nodeType="afterGroup">
                            <p:stCondLst>
                              <p:cond delay="4500"/>
                            </p:stCondLst>
                            <p:childTnLst>
                              <p:par>
                                <p:cTn id="17" presetID="3" presetClass="entr" presetSubtype="10" fill="hold" grpId="0" nodeType="afterEffect">
                                  <p:stCondLst>
                                    <p:cond delay="1000"/>
                                  </p:stCondLst>
                                  <p:childTnLst>
                                    <p:set>
                                      <p:cBhvr>
                                        <p:cTn id="18" dur="1" fill="hold">
                                          <p:stCondLst>
                                            <p:cond delay="0"/>
                                          </p:stCondLst>
                                        </p:cTn>
                                        <p:tgtEl>
                                          <p:spTgt spid="12291"/>
                                        </p:tgtEl>
                                        <p:attrNameLst>
                                          <p:attrName>style.visibility</p:attrName>
                                        </p:attrNameLst>
                                      </p:cBhvr>
                                      <p:to>
                                        <p:strVal val="visible"/>
                                      </p:to>
                                    </p:set>
                                    <p:animEffect transition="in" filter="blinds(horizontal)">
                                      <p:cBhvr>
                                        <p:cTn id="19" dur="500"/>
                                        <p:tgtEl>
                                          <p:spTgt spid="12291"/>
                                        </p:tgtEl>
                                      </p:cBhvr>
                                    </p:animEffect>
                                  </p:childTnLst>
                                </p:cTn>
                              </p:par>
                            </p:childTnLst>
                          </p:cTn>
                        </p:par>
                        <p:par>
                          <p:cTn id="20" fill="hold" nodeType="afterGroup">
                            <p:stCondLst>
                              <p:cond delay="6000"/>
                            </p:stCondLst>
                            <p:childTnLst>
                              <p:par>
                                <p:cTn id="21" presetID="12" presetClass="entr" presetSubtype="4" fill="hold" nodeType="afterEffect">
                                  <p:stCondLst>
                                    <p:cond delay="0"/>
                                  </p:stCondLst>
                                  <p:childTnLst>
                                    <p:set>
                                      <p:cBhvr>
                                        <p:cTn id="22" dur="1" fill="hold">
                                          <p:stCondLst>
                                            <p:cond delay="0"/>
                                          </p:stCondLst>
                                        </p:cTn>
                                        <p:tgtEl>
                                          <p:spTgt spid="12298"/>
                                        </p:tgtEl>
                                        <p:attrNameLst>
                                          <p:attrName>style.visibility</p:attrName>
                                        </p:attrNameLst>
                                      </p:cBhvr>
                                      <p:to>
                                        <p:strVal val="visible"/>
                                      </p:to>
                                    </p:set>
                                    <p:animEffect transition="in" filter="slide(fromBottom)">
                                      <p:cBhvr>
                                        <p:cTn id="23" dur="500"/>
                                        <p:tgtEl>
                                          <p:spTgt spid="12298"/>
                                        </p:tgtEl>
                                      </p:cBhvr>
                                    </p:animEffect>
                                  </p:childTnLst>
                                </p:cTn>
                              </p:par>
                            </p:childTnLst>
                          </p:cTn>
                        </p:par>
                        <p:par>
                          <p:cTn id="24" fill="hold" nodeType="afterGroup">
                            <p:stCondLst>
                              <p:cond delay="6500"/>
                            </p:stCondLst>
                            <p:childTnLst>
                              <p:par>
                                <p:cTn id="25" presetID="12" presetClass="entr" presetSubtype="1" fill="hold" nodeType="afterEffect">
                                  <p:stCondLst>
                                    <p:cond delay="0"/>
                                  </p:stCondLst>
                                  <p:childTnLst>
                                    <p:set>
                                      <p:cBhvr>
                                        <p:cTn id="26" dur="1" fill="hold">
                                          <p:stCondLst>
                                            <p:cond delay="0"/>
                                          </p:stCondLst>
                                        </p:cTn>
                                        <p:tgtEl>
                                          <p:spTgt spid="12297"/>
                                        </p:tgtEl>
                                        <p:attrNameLst>
                                          <p:attrName>style.visibility</p:attrName>
                                        </p:attrNameLst>
                                      </p:cBhvr>
                                      <p:to>
                                        <p:strVal val="visible"/>
                                      </p:to>
                                    </p:set>
                                    <p:animEffect transition="in" filter="slide(fromTop)">
                                      <p:cBhvr>
                                        <p:cTn id="27" dur="500"/>
                                        <p:tgtEl>
                                          <p:spTgt spid="12297"/>
                                        </p:tgtEl>
                                      </p:cBhvr>
                                    </p:animEffect>
                                  </p:childTnLst>
                                </p:cTn>
                              </p:par>
                            </p:childTnLst>
                          </p:cTn>
                        </p:par>
                        <p:par>
                          <p:cTn id="28" fill="hold" nodeType="afterGroup">
                            <p:stCondLst>
                              <p:cond delay="7000"/>
                            </p:stCondLst>
                            <p:childTnLst>
                              <p:par>
                                <p:cTn id="29" presetID="3" presetClass="entr" presetSubtype="10" fill="hold" grpId="0" nodeType="afterEffect">
                                  <p:stCondLst>
                                    <p:cond delay="1000"/>
                                  </p:stCondLst>
                                  <p:childTnLst>
                                    <p:set>
                                      <p:cBhvr>
                                        <p:cTn id="30" dur="1" fill="hold">
                                          <p:stCondLst>
                                            <p:cond delay="0"/>
                                          </p:stCondLst>
                                        </p:cTn>
                                        <p:tgtEl>
                                          <p:spTgt spid="12292"/>
                                        </p:tgtEl>
                                        <p:attrNameLst>
                                          <p:attrName>style.visibility</p:attrName>
                                        </p:attrNameLst>
                                      </p:cBhvr>
                                      <p:to>
                                        <p:strVal val="visible"/>
                                      </p:to>
                                    </p:set>
                                    <p:animEffect transition="in" filter="blinds(horizontal)">
                                      <p:cBhvr>
                                        <p:cTn id="31" dur="500"/>
                                        <p:tgtEl>
                                          <p:spTgt spid="12292"/>
                                        </p:tgtEl>
                                      </p:cBhvr>
                                    </p:animEffect>
                                  </p:childTnLst>
                                </p:cTn>
                              </p:par>
                            </p:childTnLst>
                          </p:cTn>
                        </p:par>
                        <p:par>
                          <p:cTn id="32" fill="hold" nodeType="afterGroup">
                            <p:stCondLst>
                              <p:cond delay="8500"/>
                            </p:stCondLst>
                            <p:childTnLst>
                              <p:par>
                                <p:cTn id="33" presetID="12" presetClass="entr" presetSubtype="1" fill="hold" nodeType="afterEffect">
                                  <p:stCondLst>
                                    <p:cond delay="0"/>
                                  </p:stCondLst>
                                  <p:childTnLst>
                                    <p:set>
                                      <p:cBhvr>
                                        <p:cTn id="34" dur="1" fill="hold">
                                          <p:stCondLst>
                                            <p:cond delay="0"/>
                                          </p:stCondLst>
                                        </p:cTn>
                                        <p:tgtEl>
                                          <p:spTgt spid="12296"/>
                                        </p:tgtEl>
                                        <p:attrNameLst>
                                          <p:attrName>style.visibility</p:attrName>
                                        </p:attrNameLst>
                                      </p:cBhvr>
                                      <p:to>
                                        <p:strVal val="visible"/>
                                      </p:to>
                                    </p:set>
                                    <p:animEffect transition="in" filter="slide(fromTop)">
                                      <p:cBhvr>
                                        <p:cTn id="35" dur="500"/>
                                        <p:tgtEl>
                                          <p:spTgt spid="12296"/>
                                        </p:tgtEl>
                                      </p:cBhvr>
                                    </p:animEffect>
                                  </p:childTnLst>
                                </p:cTn>
                              </p:par>
                            </p:childTnLst>
                          </p:cTn>
                        </p:par>
                        <p:par>
                          <p:cTn id="36" fill="hold" nodeType="afterGroup">
                            <p:stCondLst>
                              <p:cond delay="9000"/>
                            </p:stCondLst>
                            <p:childTnLst>
                              <p:par>
                                <p:cTn id="37" presetID="12" presetClass="entr" presetSubtype="4" fill="hold" nodeType="afterEffect">
                                  <p:stCondLst>
                                    <p:cond delay="0"/>
                                  </p:stCondLst>
                                  <p:childTnLst>
                                    <p:set>
                                      <p:cBhvr>
                                        <p:cTn id="38" dur="1" fill="hold">
                                          <p:stCondLst>
                                            <p:cond delay="0"/>
                                          </p:stCondLst>
                                        </p:cTn>
                                        <p:tgtEl>
                                          <p:spTgt spid="12295"/>
                                        </p:tgtEl>
                                        <p:attrNameLst>
                                          <p:attrName>style.visibility</p:attrName>
                                        </p:attrNameLst>
                                      </p:cBhvr>
                                      <p:to>
                                        <p:strVal val="visible"/>
                                      </p:to>
                                    </p:set>
                                    <p:animEffect transition="in" filter="slide(fromBottom)">
                                      <p:cBhvr>
                                        <p:cTn id="39"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autoUpdateAnimBg="0"/>
      <p:bldP spid="12291" grpId="0" animBg="1" autoUpdateAnimBg="0"/>
      <p:bldP spid="12292" grpId="0" animBg="1" autoUpdateAnimBg="0"/>
      <p:bldP spid="12293" grpId="0" animBg="1" autoUpdateAnimBg="0"/>
      <p:bldP spid="12294"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WordArt 11">
            <a:extLst>
              <a:ext uri="{FF2B5EF4-FFF2-40B4-BE49-F238E27FC236}">
                <a16:creationId xmlns:a16="http://schemas.microsoft.com/office/drawing/2014/main" id="{3C041106-3C26-4347-8D52-ADF89FBB1D01}"/>
              </a:ext>
            </a:extLst>
          </p:cNvPr>
          <p:cNvSpPr>
            <a:spLocks noChangeArrowheads="1" noChangeShapeType="1" noTextEdit="1"/>
          </p:cNvSpPr>
          <p:nvPr/>
        </p:nvSpPr>
        <p:spPr bwMode="auto">
          <a:xfrm>
            <a:off x="3624264" y="533400"/>
            <a:ext cx="4943475" cy="55245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defRPr/>
            </a:pPr>
            <a:r>
              <a:rPr lang="en-US" sz="3600" b="1" dirty="0">
                <a:effectLst>
                  <a:outerShdw blurRad="38100" dist="38100" dir="2700000" algn="tl">
                    <a:srgbClr val="000000"/>
                  </a:outerShdw>
                </a:effectLst>
              </a:rPr>
              <a:t>Software</a:t>
            </a:r>
          </a:p>
        </p:txBody>
      </p:sp>
      <p:sp>
        <p:nvSpPr>
          <p:cNvPr id="11279" name="Text Box 15">
            <a:extLst>
              <a:ext uri="{FF2B5EF4-FFF2-40B4-BE49-F238E27FC236}">
                <a16:creationId xmlns:a16="http://schemas.microsoft.com/office/drawing/2014/main" id="{EAD2BCE5-06F0-41A2-85A1-81F6A9F751A3}"/>
              </a:ext>
            </a:extLst>
          </p:cNvPr>
          <p:cNvSpPr txBox="1">
            <a:spLocks noChangeArrowheads="1"/>
          </p:cNvSpPr>
          <p:nvPr/>
        </p:nvSpPr>
        <p:spPr bwMode="auto">
          <a:xfrm>
            <a:off x="1828800" y="1981201"/>
            <a:ext cx="7924800" cy="2062103"/>
          </a:xfrm>
          <a:prstGeom prst="rect">
            <a:avLst/>
          </a:prstGeom>
          <a:noFill/>
          <a:ln w="9525">
            <a:noFill/>
            <a:miter lim="800000"/>
            <a:headEnd/>
            <a:tailEnd/>
          </a:ln>
          <a:effectLst/>
        </p:spPr>
        <p:txBody>
          <a:bodyPr wrap="square">
            <a:spAutoFit/>
          </a:bodyPr>
          <a:lstStyle/>
          <a:p>
            <a:pPr marL="457200" indent="-457200">
              <a:spcBef>
                <a:spcPct val="50000"/>
              </a:spcBef>
              <a:buFont typeface="Wingdings" pitchFamily="2" charset="2"/>
              <a:buChar char="q"/>
              <a:defRPr/>
            </a:pPr>
            <a:r>
              <a:rPr lang="en-US" sz="3200" dirty="0"/>
              <a:t>divided into : </a:t>
            </a:r>
          </a:p>
          <a:p>
            <a:pPr marL="1371600" lvl="2" indent="-457200">
              <a:spcBef>
                <a:spcPct val="50000"/>
              </a:spcBef>
              <a:buFont typeface="Wingdings" pitchFamily="2" charset="2"/>
              <a:buChar char="q"/>
              <a:defRPr/>
            </a:pPr>
            <a:r>
              <a:rPr lang="en-US" sz="3200" dirty="0"/>
              <a:t>Systems software</a:t>
            </a:r>
          </a:p>
          <a:p>
            <a:pPr marL="1371600" lvl="2" indent="-457200">
              <a:spcBef>
                <a:spcPct val="50000"/>
              </a:spcBef>
              <a:buFont typeface="Wingdings" pitchFamily="2" charset="2"/>
              <a:buChar char="q"/>
              <a:defRPr/>
            </a:pPr>
            <a:r>
              <a:rPr lang="en-US" sz="3200" dirty="0"/>
              <a:t>Application software.</a:t>
            </a: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WordArt 11">
            <a:extLst>
              <a:ext uri="{FF2B5EF4-FFF2-40B4-BE49-F238E27FC236}">
                <a16:creationId xmlns:a16="http://schemas.microsoft.com/office/drawing/2014/main" id="{DAB99733-AE8B-44A6-B189-C2279B6F9B98}"/>
              </a:ext>
            </a:extLst>
          </p:cNvPr>
          <p:cNvSpPr>
            <a:spLocks noChangeArrowheads="1" noChangeShapeType="1" noTextEdit="1"/>
          </p:cNvSpPr>
          <p:nvPr/>
        </p:nvSpPr>
        <p:spPr bwMode="auto">
          <a:xfrm>
            <a:off x="2879673" y="304800"/>
            <a:ext cx="4943475" cy="55245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defRPr/>
            </a:pPr>
            <a:r>
              <a:rPr lang="en-US" sz="3600" b="1" dirty="0">
                <a:latin typeface="Times New Roman" pitchFamily="18" charset="0"/>
                <a:cs typeface="Times New Roman" pitchFamily="18" charset="0"/>
              </a:rPr>
              <a:t>Central Processing Unit</a:t>
            </a:r>
          </a:p>
        </p:txBody>
      </p:sp>
      <p:pic>
        <p:nvPicPr>
          <p:cNvPr id="44038" name="Picture 17" descr="PCpro-01-10-44-P4-Vergleich-440">
            <a:extLst>
              <a:ext uri="{FF2B5EF4-FFF2-40B4-BE49-F238E27FC236}">
                <a16:creationId xmlns:a16="http://schemas.microsoft.com/office/drawing/2014/main" id="{9534B8BA-942A-4306-B9AC-2612D6924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006" y="1200150"/>
            <a:ext cx="2971800" cy="195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18" descr="p 4">
            <a:extLst>
              <a:ext uri="{FF2B5EF4-FFF2-40B4-BE49-F238E27FC236}">
                <a16:creationId xmlns:a16="http://schemas.microsoft.com/office/drawing/2014/main" id="{73E1CA29-C853-472C-81D8-0E82284FE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3381" y="1200150"/>
            <a:ext cx="2355575" cy="195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1" name="Text Box 19">
            <a:extLst>
              <a:ext uri="{FF2B5EF4-FFF2-40B4-BE49-F238E27FC236}">
                <a16:creationId xmlns:a16="http://schemas.microsoft.com/office/drawing/2014/main" id="{9498550F-45A0-45E3-A459-88D7DD59EE5A}"/>
              </a:ext>
            </a:extLst>
          </p:cNvPr>
          <p:cNvSpPr txBox="1">
            <a:spLocks noChangeArrowheads="1"/>
          </p:cNvSpPr>
          <p:nvPr/>
        </p:nvSpPr>
        <p:spPr bwMode="auto">
          <a:xfrm>
            <a:off x="1809750" y="3503334"/>
            <a:ext cx="7427015" cy="2585323"/>
          </a:xfrm>
          <a:prstGeom prst="rect">
            <a:avLst/>
          </a:prstGeom>
          <a:noFill/>
          <a:ln w="9525">
            <a:noFill/>
            <a:miter lim="800000"/>
            <a:headEnd/>
            <a:tailEnd/>
          </a:ln>
          <a:effectLst/>
        </p:spPr>
        <p:txBody>
          <a:bodyPr wrap="square">
            <a:spAutoFit/>
          </a:bodyPr>
          <a:lstStyle/>
          <a:p>
            <a:pPr marL="457200" indent="-457200">
              <a:lnSpc>
                <a:spcPct val="80000"/>
              </a:lnSpc>
              <a:spcBef>
                <a:spcPct val="50000"/>
              </a:spcBef>
              <a:buClr>
                <a:srgbClr val="CC0000"/>
              </a:buClr>
              <a:buFont typeface="Wingdings" pitchFamily="2" charset="2"/>
              <a:buChar char="q"/>
              <a:defRPr/>
            </a:pPr>
            <a:r>
              <a:rPr lang="en-US" sz="2000" dirty="0"/>
              <a:t>The main components of a computer. It is a chip consisting of a large number of electronic circuits made of silicon.</a:t>
            </a:r>
          </a:p>
          <a:p>
            <a:pPr marL="457200" indent="-457200">
              <a:lnSpc>
                <a:spcPct val="80000"/>
              </a:lnSpc>
              <a:spcBef>
                <a:spcPct val="50000"/>
              </a:spcBef>
              <a:buClr>
                <a:srgbClr val="CC0000"/>
              </a:buClr>
              <a:buFont typeface="Wingdings" pitchFamily="2" charset="2"/>
              <a:buChar char="q"/>
              <a:defRPr/>
            </a:pPr>
            <a:r>
              <a:rPr lang="en-US" sz="2000" dirty="0"/>
              <a:t> Its tasks: </a:t>
            </a:r>
          </a:p>
          <a:p>
            <a:pPr marL="1371600" lvl="2" indent="-457200">
              <a:lnSpc>
                <a:spcPct val="80000"/>
              </a:lnSpc>
              <a:spcBef>
                <a:spcPct val="50000"/>
              </a:spcBef>
              <a:buClr>
                <a:srgbClr val="CC0000"/>
              </a:buClr>
              <a:buFont typeface="Wingdings" pitchFamily="2" charset="2"/>
              <a:buChar char="q"/>
              <a:defRPr/>
            </a:pPr>
            <a:r>
              <a:rPr lang="en-US" sz="2000" dirty="0"/>
              <a:t>Data analysis. </a:t>
            </a:r>
          </a:p>
          <a:p>
            <a:pPr marL="1371600" lvl="2" indent="-457200">
              <a:lnSpc>
                <a:spcPct val="80000"/>
              </a:lnSpc>
              <a:spcBef>
                <a:spcPct val="50000"/>
              </a:spcBef>
              <a:buClr>
                <a:srgbClr val="CC0000"/>
              </a:buClr>
              <a:buFont typeface="Wingdings" pitchFamily="2" charset="2"/>
              <a:buChar char="q"/>
              <a:defRPr/>
            </a:pPr>
            <a:r>
              <a:rPr lang="en-US" sz="2000" dirty="0"/>
              <a:t>Sending instructions to the rest of the computer. </a:t>
            </a:r>
          </a:p>
          <a:p>
            <a:pPr marL="1371600" lvl="2" indent="-457200">
              <a:lnSpc>
                <a:spcPct val="80000"/>
              </a:lnSpc>
              <a:spcBef>
                <a:spcPct val="50000"/>
              </a:spcBef>
              <a:buClr>
                <a:srgbClr val="CC0000"/>
              </a:buClr>
              <a:buFont typeface="Wingdings" pitchFamily="2" charset="2"/>
              <a:buChar char="q"/>
              <a:defRPr/>
            </a:pPr>
            <a:r>
              <a:rPr lang="en-US" sz="2000" dirty="0"/>
              <a:t>Carry out instructions. </a:t>
            </a:r>
          </a:p>
          <a:p>
            <a:pPr marL="1371600" lvl="2" indent="-457200">
              <a:lnSpc>
                <a:spcPct val="80000"/>
              </a:lnSpc>
              <a:spcBef>
                <a:spcPct val="50000"/>
              </a:spcBef>
              <a:buClr>
                <a:srgbClr val="CC0000"/>
              </a:buClr>
              <a:buFont typeface="Wingdings" pitchFamily="2" charset="2"/>
              <a:buChar char="q"/>
              <a:defRPr/>
            </a:pPr>
            <a:r>
              <a:rPr lang="en-US" sz="2000" dirty="0"/>
              <a:t>Control of inputs and outputs.</a:t>
            </a:r>
            <a:endParaRPr lang="ar-SA" sz="2000" b="1" dirty="0">
              <a:effectLst>
                <a:outerShdw blurRad="38100" dist="38100" dir="2700000" algn="tl">
                  <a:srgbClr val="000000"/>
                </a:outerShdw>
              </a:effectLst>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descr="خلفية حمراء 2">
            <a:extLst>
              <a:ext uri="{FF2B5EF4-FFF2-40B4-BE49-F238E27FC236}">
                <a16:creationId xmlns:a16="http://schemas.microsoft.com/office/drawing/2014/main" id="{C1D3FB7C-05CF-4640-92E5-EA790245FFCA}"/>
              </a:ext>
            </a:extLst>
          </p:cNvPr>
          <p:cNvSpPr>
            <a:spLocks noChangeArrowheads="1"/>
          </p:cNvSpPr>
          <p:nvPr/>
        </p:nvSpPr>
        <p:spPr bwMode="auto">
          <a:xfrm>
            <a:off x="3848100" y="1648691"/>
            <a:ext cx="4038600" cy="762000"/>
          </a:xfrm>
          <a:prstGeom prst="rect">
            <a:avLst/>
          </a:prstGeom>
          <a:blipFill dpi="0" rotWithShape="0">
            <a:blip r:embed="rId2" cstate="print"/>
            <a:srcRect/>
            <a:stretch>
              <a:fillRect/>
            </a:stretch>
          </a:blipFill>
          <a:ln w="19050">
            <a:solidFill>
              <a:srgbClr val="800000"/>
            </a:solidFill>
            <a:miter lim="800000"/>
            <a:headEnd/>
            <a:tailEnd/>
          </a:ln>
          <a:effectLst/>
        </p:spPr>
        <p:txBody>
          <a:bodyPr wrap="none"/>
          <a:lstStyle/>
          <a:p>
            <a:pPr algn="ctr" rtl="1">
              <a:defRPr/>
            </a:pPr>
            <a:r>
              <a:rPr lang="en-US" sz="2800" b="1" dirty="0">
                <a:latin typeface="Times New Roman" pitchFamily="18" charset="0"/>
                <a:cs typeface="Times New Roman" pitchFamily="18" charset="0"/>
              </a:rPr>
              <a:t>Central Processing Unit</a:t>
            </a:r>
          </a:p>
        </p:txBody>
      </p:sp>
      <p:sp>
        <p:nvSpPr>
          <p:cNvPr id="45059" name="WordArt 3">
            <a:extLst>
              <a:ext uri="{FF2B5EF4-FFF2-40B4-BE49-F238E27FC236}">
                <a16:creationId xmlns:a16="http://schemas.microsoft.com/office/drawing/2014/main" id="{E96EA133-84D4-4137-9B6A-99E393F1C6FA}"/>
              </a:ext>
            </a:extLst>
          </p:cNvPr>
          <p:cNvSpPr>
            <a:spLocks noChangeArrowheads="1" noChangeShapeType="1" noTextEdit="1"/>
          </p:cNvSpPr>
          <p:nvPr/>
        </p:nvSpPr>
        <p:spPr bwMode="auto">
          <a:xfrm>
            <a:off x="1962525" y="330733"/>
            <a:ext cx="6688182" cy="929640"/>
          </a:xfrm>
          <a:prstGeom prst="rect">
            <a:avLst/>
          </a:prstGeom>
        </p:spPr>
        <p:txBody>
          <a:bodyPr wrap="none" fromWordArt="1">
            <a:prstTxWarp prst="textPlain">
              <a:avLst>
                <a:gd name="adj" fmla="val 50394"/>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b="1" dirty="0">
                <a:latin typeface="Times New Roman" pitchFamily="18" charset="0"/>
                <a:cs typeface="Times New Roman" pitchFamily="18" charset="0"/>
              </a:rPr>
              <a:t>Central Processing Unit</a:t>
            </a:r>
          </a:p>
          <a:p>
            <a:pPr algn="ctr" rtl="1"/>
            <a:r>
              <a:rPr lang="en-US" sz="3600" dirty="0"/>
              <a:t>components</a:t>
            </a:r>
            <a:endPar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14343" name="Rectangle 7" descr="خلفية حمراء 2">
            <a:extLst>
              <a:ext uri="{FF2B5EF4-FFF2-40B4-BE49-F238E27FC236}">
                <a16:creationId xmlns:a16="http://schemas.microsoft.com/office/drawing/2014/main" id="{327ACC1C-12A2-4292-8E3E-35FDB79354E9}"/>
              </a:ext>
            </a:extLst>
          </p:cNvPr>
          <p:cNvSpPr>
            <a:spLocks noChangeArrowheads="1"/>
          </p:cNvSpPr>
          <p:nvPr/>
        </p:nvSpPr>
        <p:spPr bwMode="auto">
          <a:xfrm>
            <a:off x="6096000" y="2895600"/>
            <a:ext cx="2107096" cy="1066800"/>
          </a:xfrm>
          <a:prstGeom prst="rect">
            <a:avLst/>
          </a:prstGeom>
          <a:blipFill dpi="0" rotWithShape="0">
            <a:blip r:embed="rId2" cstate="print"/>
            <a:srcRect/>
            <a:stretch>
              <a:fillRect/>
            </a:stretch>
          </a:blipFill>
          <a:ln w="19050">
            <a:solidFill>
              <a:srgbClr val="800000"/>
            </a:solidFill>
            <a:miter lim="800000"/>
            <a:headEnd/>
            <a:tailEnd/>
          </a:ln>
          <a:effectLst/>
        </p:spPr>
        <p:txBody>
          <a:bodyPr wrap="none" anchor="ctr"/>
          <a:lstStyle/>
          <a:p>
            <a:pPr algn="ctr" rtl="1">
              <a:defRPr/>
            </a:pPr>
            <a:r>
              <a:rPr lang="en-US" sz="2800" dirty="0"/>
              <a:t>Control unit</a:t>
            </a:r>
          </a:p>
          <a:p>
            <a:pPr algn="ctr" rtl="1">
              <a:defRPr/>
            </a:pPr>
            <a:r>
              <a:rPr lang="en-US" sz="2800" b="1" dirty="0">
                <a:effectLst>
                  <a:outerShdw blurRad="38100" dist="38100" dir="2700000" algn="tl">
                    <a:srgbClr val="C0C0C0"/>
                  </a:outerShdw>
                </a:effectLst>
                <a:latin typeface="Mini Pics Lil Edibles" pitchFamily="2" charset="0"/>
              </a:rPr>
              <a:t>( CU )</a:t>
            </a:r>
            <a:endParaRPr lang="ar-SA" sz="2800" b="1" dirty="0">
              <a:effectLst>
                <a:outerShdw blurRad="38100" dist="38100" dir="2700000" algn="tl">
                  <a:srgbClr val="C0C0C0"/>
                </a:outerShdw>
              </a:effectLst>
              <a:latin typeface="Mini Pics Lil Edibles" pitchFamily="2" charset="0"/>
            </a:endParaRPr>
          </a:p>
        </p:txBody>
      </p:sp>
      <p:sp>
        <p:nvSpPr>
          <p:cNvPr id="14344" name="Rectangle 8" descr="خلفية حمراء 2">
            <a:extLst>
              <a:ext uri="{FF2B5EF4-FFF2-40B4-BE49-F238E27FC236}">
                <a16:creationId xmlns:a16="http://schemas.microsoft.com/office/drawing/2014/main" id="{62769A5B-6B08-49C1-B443-F1E0616B1672}"/>
              </a:ext>
            </a:extLst>
          </p:cNvPr>
          <p:cNvSpPr>
            <a:spLocks noChangeArrowheads="1"/>
          </p:cNvSpPr>
          <p:nvPr/>
        </p:nvSpPr>
        <p:spPr bwMode="auto">
          <a:xfrm>
            <a:off x="3624264" y="2895600"/>
            <a:ext cx="2243136" cy="1066800"/>
          </a:xfrm>
          <a:prstGeom prst="rect">
            <a:avLst/>
          </a:prstGeom>
          <a:blipFill dpi="0" rotWithShape="0">
            <a:blip r:embed="rId2" cstate="print"/>
            <a:srcRect/>
            <a:stretch>
              <a:fillRect/>
            </a:stretch>
          </a:blipFill>
          <a:ln w="19050">
            <a:solidFill>
              <a:srgbClr val="800000"/>
            </a:solidFill>
            <a:miter lim="800000"/>
            <a:headEnd/>
            <a:tailEnd/>
          </a:ln>
          <a:effectLst/>
        </p:spPr>
        <p:txBody>
          <a:bodyPr wrap="none"/>
          <a:lstStyle/>
          <a:p>
            <a:pPr algn="ctr" rtl="1">
              <a:defRPr/>
            </a:pPr>
            <a:r>
              <a:rPr lang="en-US" sz="2400" dirty="0"/>
              <a:t>Arithmetic and</a:t>
            </a:r>
          </a:p>
          <a:p>
            <a:pPr algn="ctr">
              <a:defRPr/>
            </a:pPr>
            <a:r>
              <a:rPr lang="en-US" sz="2400" dirty="0"/>
              <a:t>  Logic (ALU)</a:t>
            </a:r>
            <a:endParaRPr lang="ar-SA" sz="2400" b="1" dirty="0">
              <a:solidFill>
                <a:srgbClr val="CC0000"/>
              </a:solidFill>
              <a:effectLst>
                <a:outerShdw blurRad="38100" dist="38100" dir="2700000" algn="tl">
                  <a:srgbClr val="C0C0C0"/>
                </a:outerShdw>
              </a:effectLst>
              <a:latin typeface="Mini Pics Lil Edibles" pitchFamily="2" charset="0"/>
            </a:endParaRPr>
          </a:p>
        </p:txBody>
      </p:sp>
      <p:cxnSp>
        <p:nvCxnSpPr>
          <p:cNvPr id="45065" name="AutoShape 9">
            <a:extLst>
              <a:ext uri="{FF2B5EF4-FFF2-40B4-BE49-F238E27FC236}">
                <a16:creationId xmlns:a16="http://schemas.microsoft.com/office/drawing/2014/main" id="{34BE2747-4727-4EE1-94BF-546ADB51FEF5}"/>
              </a:ext>
            </a:extLst>
          </p:cNvPr>
          <p:cNvCxnSpPr>
            <a:cxnSpLocks noChangeShapeType="1"/>
            <a:stCxn id="14338" idx="2"/>
            <a:endCxn id="14344" idx="0"/>
          </p:cNvCxnSpPr>
          <p:nvPr/>
        </p:nvCxnSpPr>
        <p:spPr bwMode="auto">
          <a:xfrm rot="5400000">
            <a:off x="5064162" y="2092361"/>
            <a:ext cx="484909" cy="1121568"/>
          </a:xfrm>
          <a:prstGeom prst="bentConnector3">
            <a:avLst>
              <a:gd name="adj1" fmla="val 50000"/>
            </a:avLst>
          </a:prstGeom>
          <a:noFill/>
          <a:ln w="9525">
            <a:solidFill>
              <a:srgbClr val="CC0000"/>
            </a:solidFill>
            <a:miter lim="800000"/>
            <a:headEnd/>
            <a:tailEnd/>
          </a:ln>
          <a:extLst>
            <a:ext uri="{909E8E84-426E-40DD-AFC4-6F175D3DCCD1}">
              <a14:hiddenFill xmlns:a14="http://schemas.microsoft.com/office/drawing/2010/main">
                <a:noFill/>
              </a14:hiddenFill>
            </a:ext>
          </a:extLst>
        </p:spPr>
      </p:cxnSp>
      <p:cxnSp>
        <p:nvCxnSpPr>
          <p:cNvPr id="45066" name="AutoShape 10">
            <a:extLst>
              <a:ext uri="{FF2B5EF4-FFF2-40B4-BE49-F238E27FC236}">
                <a16:creationId xmlns:a16="http://schemas.microsoft.com/office/drawing/2014/main" id="{0BF0405C-C45E-42F2-A311-52FD3BDFD3FE}"/>
              </a:ext>
            </a:extLst>
          </p:cNvPr>
          <p:cNvCxnSpPr>
            <a:cxnSpLocks noChangeShapeType="1"/>
            <a:stCxn id="14338" idx="2"/>
            <a:endCxn id="14343" idx="0"/>
          </p:cNvCxnSpPr>
          <p:nvPr/>
        </p:nvCxnSpPr>
        <p:spPr bwMode="auto">
          <a:xfrm rot="16200000" flipH="1">
            <a:off x="6266020" y="2012071"/>
            <a:ext cx="484909" cy="1282148"/>
          </a:xfrm>
          <a:prstGeom prst="bentConnector3">
            <a:avLst>
              <a:gd name="adj1" fmla="val 50000"/>
            </a:avLst>
          </a:prstGeom>
          <a:noFill/>
          <a:ln w="9525">
            <a:solidFill>
              <a:srgbClr val="CC0000"/>
            </a:solidFill>
            <a:miter lim="800000"/>
            <a:headEnd/>
            <a:tailEnd/>
          </a:ln>
          <a:extLst>
            <a:ext uri="{909E8E84-426E-40DD-AFC4-6F175D3DCCD1}">
              <a14:hiddenFill xmlns:a14="http://schemas.microsoft.com/office/drawing/2010/main">
                <a:noFill/>
              </a14:hiddenFill>
            </a:ext>
          </a:extLst>
        </p:spPr>
      </p:cxnSp>
      <p:sp>
        <p:nvSpPr>
          <p:cNvPr id="14347" name="Text Box 11">
            <a:extLst>
              <a:ext uri="{FF2B5EF4-FFF2-40B4-BE49-F238E27FC236}">
                <a16:creationId xmlns:a16="http://schemas.microsoft.com/office/drawing/2014/main" id="{DD1D32B6-08D7-4074-8BC9-D01529ED39D1}"/>
              </a:ext>
            </a:extLst>
          </p:cNvPr>
          <p:cNvSpPr txBox="1">
            <a:spLocks noChangeArrowheads="1"/>
          </p:cNvSpPr>
          <p:nvPr/>
        </p:nvSpPr>
        <p:spPr bwMode="auto">
          <a:xfrm>
            <a:off x="6095999" y="4191001"/>
            <a:ext cx="5883565" cy="1200329"/>
          </a:xfrm>
          <a:prstGeom prst="rect">
            <a:avLst/>
          </a:prstGeom>
          <a:noFill/>
          <a:ln w="9525">
            <a:solidFill>
              <a:srgbClr val="CC0000"/>
            </a:solidFill>
            <a:miter lim="800000"/>
            <a:headEnd/>
            <a:tailEnd/>
          </a:ln>
          <a:effectLst/>
        </p:spPr>
        <p:txBody>
          <a:bodyPr wrap="square">
            <a:spAutoFit/>
          </a:bodyPr>
          <a:lstStyle/>
          <a:p>
            <a:pPr marL="457200" indent="-457200">
              <a:spcBef>
                <a:spcPct val="50000"/>
              </a:spcBef>
              <a:buClr>
                <a:srgbClr val="CC0000"/>
              </a:buClr>
              <a:buFontTx/>
              <a:buChar char="•"/>
              <a:defRPr/>
            </a:pPr>
            <a:r>
              <a:rPr lang="en-US" sz="2400" dirty="0"/>
              <a:t>It controls all parts of the computer and delivers instructions from one part to another.</a:t>
            </a:r>
            <a:endParaRPr lang="en-US" sz="1400" b="1" dirty="0">
              <a:solidFill>
                <a:schemeClr val="accent1">
                  <a:lumMod val="75000"/>
                </a:schemeClr>
              </a:solidFill>
              <a:effectLst>
                <a:outerShdw blurRad="38100" dist="38100" dir="2700000" algn="tl">
                  <a:srgbClr val="000000"/>
                </a:outerShdw>
              </a:effectLst>
            </a:endParaRPr>
          </a:p>
        </p:txBody>
      </p:sp>
      <p:sp>
        <p:nvSpPr>
          <p:cNvPr id="14348" name="Text Box 12">
            <a:extLst>
              <a:ext uri="{FF2B5EF4-FFF2-40B4-BE49-F238E27FC236}">
                <a16:creationId xmlns:a16="http://schemas.microsoft.com/office/drawing/2014/main" id="{0E1CCCBC-BF7C-4958-A2AE-454D8B3A8754}"/>
              </a:ext>
            </a:extLst>
          </p:cNvPr>
          <p:cNvSpPr txBox="1">
            <a:spLocks noChangeArrowheads="1"/>
          </p:cNvSpPr>
          <p:nvPr/>
        </p:nvSpPr>
        <p:spPr bwMode="auto">
          <a:xfrm>
            <a:off x="480291" y="4191001"/>
            <a:ext cx="5310909" cy="830997"/>
          </a:xfrm>
          <a:prstGeom prst="rect">
            <a:avLst/>
          </a:prstGeom>
          <a:noFill/>
          <a:ln w="9525">
            <a:solidFill>
              <a:srgbClr val="CC0000"/>
            </a:solidFill>
            <a:miter lim="800000"/>
            <a:headEnd/>
            <a:tailEnd/>
          </a:ln>
          <a:effectLst/>
        </p:spPr>
        <p:txBody>
          <a:bodyPr wrap="square">
            <a:spAutoFit/>
          </a:bodyPr>
          <a:lstStyle/>
          <a:p>
            <a:pPr marL="457200" indent="-457200" algn="l">
              <a:spcBef>
                <a:spcPct val="50000"/>
              </a:spcBef>
              <a:buClr>
                <a:srgbClr val="CC0000"/>
              </a:buClr>
              <a:buFontTx/>
              <a:buChar char="•"/>
              <a:defRPr/>
            </a:pPr>
            <a:r>
              <a:rPr lang="en-US" sz="2400" dirty="0"/>
              <a:t>It performs all arithmetic and logical operations.</a:t>
            </a:r>
            <a:endParaRPr lang="en-US" sz="2400" b="1" dirty="0">
              <a:solidFill>
                <a:schemeClr val="accent1">
                  <a:lumMod val="75000"/>
                </a:schemeClr>
              </a:solidFill>
              <a:effectLst>
                <a:outerShdw blurRad="38100" dist="38100" dir="2700000" algn="tl">
                  <a:srgbClr val="000000"/>
                </a:outerShdw>
              </a:effectLst>
            </a:endParaRPr>
          </a:p>
        </p:txBody>
      </p:sp>
      <p:cxnSp>
        <p:nvCxnSpPr>
          <p:cNvPr id="45069" name="AutoShape 13">
            <a:extLst>
              <a:ext uri="{FF2B5EF4-FFF2-40B4-BE49-F238E27FC236}">
                <a16:creationId xmlns:a16="http://schemas.microsoft.com/office/drawing/2014/main" id="{3E0FD5DA-46EE-4F1A-BA19-06991D7B954B}"/>
              </a:ext>
            </a:extLst>
          </p:cNvPr>
          <p:cNvCxnSpPr>
            <a:cxnSpLocks noChangeShapeType="1"/>
            <a:stCxn id="14343" idx="2"/>
            <a:endCxn id="14347" idx="0"/>
          </p:cNvCxnSpPr>
          <p:nvPr/>
        </p:nvCxnSpPr>
        <p:spPr bwMode="auto">
          <a:xfrm>
            <a:off x="7149548" y="3962400"/>
            <a:ext cx="1888234" cy="228601"/>
          </a:xfrm>
          <a:prstGeom prst="straightConnector1">
            <a:avLst/>
          </a:prstGeom>
          <a:noFill/>
          <a:ln w="9525">
            <a:solidFill>
              <a:srgbClr val="CC0000"/>
            </a:solidFill>
            <a:round/>
            <a:headEnd/>
            <a:tailEnd/>
          </a:ln>
          <a:extLst>
            <a:ext uri="{909E8E84-426E-40DD-AFC4-6F175D3DCCD1}">
              <a14:hiddenFill xmlns:a14="http://schemas.microsoft.com/office/drawing/2010/main">
                <a:noFill/>
              </a14:hiddenFill>
            </a:ext>
          </a:extLst>
        </p:spPr>
      </p:cxnSp>
      <p:cxnSp>
        <p:nvCxnSpPr>
          <p:cNvPr id="45070" name="AutoShape 14">
            <a:extLst>
              <a:ext uri="{FF2B5EF4-FFF2-40B4-BE49-F238E27FC236}">
                <a16:creationId xmlns:a16="http://schemas.microsoft.com/office/drawing/2014/main" id="{5B47236C-CE90-4ADA-A914-04163A2C1A03}"/>
              </a:ext>
            </a:extLst>
          </p:cNvPr>
          <p:cNvCxnSpPr>
            <a:cxnSpLocks noChangeShapeType="1"/>
            <a:stCxn id="14344" idx="2"/>
            <a:endCxn id="14348" idx="0"/>
          </p:cNvCxnSpPr>
          <p:nvPr/>
        </p:nvCxnSpPr>
        <p:spPr bwMode="auto">
          <a:xfrm flipH="1">
            <a:off x="3135746" y="3962400"/>
            <a:ext cx="1610086" cy="228601"/>
          </a:xfrm>
          <a:prstGeom prst="straightConnector1">
            <a:avLst/>
          </a:prstGeom>
          <a:noFill/>
          <a:ln w="9525">
            <a:solidFill>
              <a:srgbClr val="CC0000"/>
            </a:solidFill>
            <a:round/>
            <a:headEnd/>
            <a:tailEnd/>
          </a:ln>
          <a:extLst>
            <a:ext uri="{909E8E84-426E-40DD-AFC4-6F175D3DCCD1}">
              <a14:hiddenFill xmlns:a14="http://schemas.microsoft.com/office/drawing/2010/main">
                <a:noFill/>
              </a14:hiddenFill>
            </a:ext>
          </a:extLst>
        </p:spPr>
      </p:cxnSp>
      <p:sp>
        <p:nvSpPr>
          <p:cNvPr id="14351" name="Text Box 15">
            <a:extLst>
              <a:ext uri="{FF2B5EF4-FFF2-40B4-BE49-F238E27FC236}">
                <a16:creationId xmlns:a16="http://schemas.microsoft.com/office/drawing/2014/main" id="{BFBCD65B-DABB-481D-A977-5B270547F610}"/>
              </a:ext>
            </a:extLst>
          </p:cNvPr>
          <p:cNvSpPr txBox="1">
            <a:spLocks noChangeArrowheads="1"/>
          </p:cNvSpPr>
          <p:nvPr/>
        </p:nvSpPr>
        <p:spPr bwMode="auto">
          <a:xfrm>
            <a:off x="2188369" y="5697106"/>
            <a:ext cx="7358062" cy="862013"/>
          </a:xfrm>
          <a:prstGeom prst="rect">
            <a:avLst/>
          </a:prstGeom>
          <a:noFill/>
          <a:ln w="9525">
            <a:noFill/>
            <a:miter lim="800000"/>
            <a:headEnd/>
            <a:tailEnd/>
          </a:ln>
          <a:effectLst/>
        </p:spPr>
        <p:txBody>
          <a:bodyPr>
            <a:spAutoFit/>
          </a:bodyPr>
          <a:lstStyle/>
          <a:p>
            <a:pPr marL="457200" indent="-457200">
              <a:spcBef>
                <a:spcPct val="50000"/>
              </a:spcBef>
              <a:buClr>
                <a:srgbClr val="CC0000"/>
              </a:buClr>
              <a:buFont typeface="Arial" pitchFamily="34" charset="0"/>
              <a:buChar char="•"/>
              <a:defRPr/>
            </a:pPr>
            <a:r>
              <a:rPr lang="en-US" sz="2000" b="1" dirty="0">
                <a:solidFill>
                  <a:schemeClr val="accent1">
                    <a:lumMod val="75000"/>
                  </a:schemeClr>
                </a:solidFill>
                <a:effectLst>
                  <a:outerShdw blurRad="38100" dist="38100" dir="2700000" algn="tl">
                    <a:srgbClr val="FFFFFF"/>
                  </a:outerShdw>
                </a:effectLst>
              </a:rPr>
              <a:t> The faster computer, the higher processor speed</a:t>
            </a:r>
          </a:p>
          <a:p>
            <a:pPr marL="457200" indent="-457200">
              <a:spcBef>
                <a:spcPct val="50000"/>
              </a:spcBef>
              <a:buClr>
                <a:srgbClr val="CC0000"/>
              </a:buClr>
              <a:buFont typeface="Arial" pitchFamily="34" charset="0"/>
              <a:buChar char="•"/>
              <a:defRPr/>
            </a:pPr>
            <a:r>
              <a:rPr lang="en-US" sz="2000" b="1" dirty="0">
                <a:solidFill>
                  <a:schemeClr val="accent1">
                    <a:lumMod val="75000"/>
                  </a:schemeClr>
                </a:solidFill>
                <a:effectLst>
                  <a:outerShdw blurRad="38100" dist="38100" dir="2700000" algn="tl">
                    <a:srgbClr val="FFFFFF"/>
                  </a:outerShdw>
                </a:effectLst>
              </a:rPr>
              <a:t>Computer speed is measured in megahertz (MHz).</a:t>
            </a:r>
            <a:endParaRPr lang="en-US" sz="2000" b="1" dirty="0">
              <a:solidFill>
                <a:schemeClr val="accent1">
                  <a:lumMod val="75000"/>
                </a:schemeClr>
              </a:solidFill>
              <a:effectLst>
                <a:outerShdw blurRad="38100" dist="38100" dir="2700000" algn="tl">
                  <a:srgbClr val="000000"/>
                </a:outerShdw>
              </a:effectLst>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E98FFA-91DE-45D3-8A91-2802F7865BDB}"/>
              </a:ext>
            </a:extLst>
          </p:cNvPr>
          <p:cNvSpPr>
            <a:spLocks noGrp="1"/>
          </p:cNvSpPr>
          <p:nvPr>
            <p:ph idx="1"/>
          </p:nvPr>
        </p:nvSpPr>
        <p:spPr>
          <a:xfrm>
            <a:off x="622851" y="1314449"/>
            <a:ext cx="9082851" cy="4741793"/>
          </a:xfrm>
        </p:spPr>
        <p:txBody>
          <a:bodyPr rtlCol="1">
            <a:normAutofit fontScale="92500" lnSpcReduction="10000"/>
          </a:bodyPr>
          <a:lstStyle/>
          <a:p>
            <a:pPr algn="just">
              <a:buFont typeface="Wingdings" pitchFamily="2" charset="2"/>
              <a:buChar char="q"/>
              <a:defRPr/>
            </a:pPr>
            <a:r>
              <a:rPr lang="en-US" sz="2800" dirty="0"/>
              <a:t>The processor capacity can be measured by the temporal speed: which refers to the number of operations that the processor performs per second and is measured in megahertz.</a:t>
            </a:r>
          </a:p>
          <a:p>
            <a:pPr lvl="1" algn="just">
              <a:buFont typeface="Wingdings" pitchFamily="2" charset="2"/>
              <a:buChar char="q"/>
              <a:defRPr/>
            </a:pPr>
            <a:r>
              <a:rPr lang="en-US" sz="2600" dirty="0"/>
              <a:t>The processor communicates physically with other parts of the computer through three types of buses : </a:t>
            </a:r>
          </a:p>
          <a:p>
            <a:pPr lvl="1" algn="just">
              <a:buFont typeface="Wingdings" pitchFamily="2" charset="2"/>
              <a:buChar char="q"/>
              <a:defRPr/>
            </a:pPr>
            <a:r>
              <a:rPr lang="en-US" sz="2600" dirty="0"/>
              <a:t>Data Buses: Transfer data across the various units of the computer </a:t>
            </a:r>
          </a:p>
          <a:p>
            <a:pPr lvl="1" algn="just">
              <a:buFont typeface="Wingdings" pitchFamily="2" charset="2"/>
              <a:buChar char="q"/>
              <a:defRPr/>
            </a:pPr>
            <a:r>
              <a:rPr lang="en-US" sz="2600" dirty="0"/>
              <a:t>Addressing Buses : Transfer the addresses of the main memory cells specified in the processor </a:t>
            </a:r>
          </a:p>
          <a:p>
            <a:pPr lvl="1" algn="just">
              <a:buFont typeface="Wingdings" pitchFamily="2" charset="2"/>
              <a:buChar char="q"/>
              <a:defRPr/>
            </a:pPr>
            <a:r>
              <a:rPr lang="en-US" sz="2600" dirty="0"/>
              <a:t>Control Buses: Transfer commands to the console</a:t>
            </a:r>
            <a:endParaRPr lang="ar-SA" sz="2600" dirty="0"/>
          </a:p>
        </p:txBody>
      </p:sp>
      <p:sp>
        <p:nvSpPr>
          <p:cNvPr id="46083" name="WordArt 11">
            <a:extLst>
              <a:ext uri="{FF2B5EF4-FFF2-40B4-BE49-F238E27FC236}">
                <a16:creationId xmlns:a16="http://schemas.microsoft.com/office/drawing/2014/main" id="{B90300C2-6CFD-4639-9ADF-0503C09AFB26}"/>
              </a:ext>
            </a:extLst>
          </p:cNvPr>
          <p:cNvSpPr>
            <a:spLocks noChangeArrowheads="1" noChangeShapeType="1" noTextEdit="1"/>
          </p:cNvSpPr>
          <p:nvPr/>
        </p:nvSpPr>
        <p:spPr bwMode="auto">
          <a:xfrm>
            <a:off x="2931925" y="304800"/>
            <a:ext cx="4958033" cy="727166"/>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b="1" dirty="0">
                <a:latin typeface="Times New Roman" pitchFamily="18" charset="0"/>
                <a:cs typeface="Times New Roman" pitchFamily="18" charset="0"/>
              </a:rPr>
              <a:t>Central Processing Unit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WordArt 2">
            <a:extLst>
              <a:ext uri="{FF2B5EF4-FFF2-40B4-BE49-F238E27FC236}">
                <a16:creationId xmlns:a16="http://schemas.microsoft.com/office/drawing/2014/main" id="{F5BFB102-8596-4EE1-922A-A52894FA071E}"/>
              </a:ext>
            </a:extLst>
          </p:cNvPr>
          <p:cNvSpPr>
            <a:spLocks noChangeArrowheads="1" noChangeShapeType="1" noTextEdit="1"/>
          </p:cNvSpPr>
          <p:nvPr/>
        </p:nvSpPr>
        <p:spPr bwMode="auto">
          <a:xfrm>
            <a:off x="1397726" y="304800"/>
            <a:ext cx="7837714" cy="857794"/>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defRPr/>
            </a:pPr>
            <a:endParaRPr lang="en-US" sz="3600" b="1" dirty="0">
              <a:latin typeface="Times New Roman" pitchFamily="18" charset="0"/>
              <a:cs typeface="Times New Roman" pitchFamily="18" charset="0"/>
            </a:endParaRPr>
          </a:p>
          <a:p>
            <a:pPr algn="ctr">
              <a:defRPr/>
            </a:pPr>
            <a:r>
              <a:rPr lang="en-US" sz="3600" b="1" dirty="0">
                <a:latin typeface="Times New Roman" pitchFamily="18" charset="0"/>
                <a:cs typeface="Times New Roman" pitchFamily="18" charset="0"/>
              </a:rPr>
              <a:t> Arithmetic and Logic (ALU)</a:t>
            </a:r>
            <a:endParaRPr lang="ar-SA" sz="3600" b="1" dirty="0">
              <a:latin typeface="Times New Roman" pitchFamily="18" charset="0"/>
              <a:cs typeface="Times New Roman" pitchFamily="18" charset="0"/>
            </a:endParaRPr>
          </a:p>
        </p:txBody>
      </p:sp>
      <p:sp>
        <p:nvSpPr>
          <p:cNvPr id="47111" name="مستطيل 7">
            <a:extLst>
              <a:ext uri="{FF2B5EF4-FFF2-40B4-BE49-F238E27FC236}">
                <a16:creationId xmlns:a16="http://schemas.microsoft.com/office/drawing/2014/main" id="{22748415-34A9-40AF-BC72-FA39430EF68C}"/>
              </a:ext>
            </a:extLst>
          </p:cNvPr>
          <p:cNvSpPr>
            <a:spLocks noChangeArrowheads="1"/>
          </p:cNvSpPr>
          <p:nvPr/>
        </p:nvSpPr>
        <p:spPr bwMode="auto">
          <a:xfrm>
            <a:off x="450574" y="1511160"/>
            <a:ext cx="8971722"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Low" rtl="0">
              <a:spcBef>
                <a:spcPct val="0"/>
              </a:spcBef>
              <a:buFont typeface="Wingdings" pitchFamily="2" charset="2"/>
              <a:buChar char="q"/>
            </a:pPr>
            <a:r>
              <a:rPr lang="en-US" dirty="0"/>
              <a:t>The </a:t>
            </a:r>
            <a:r>
              <a:rPr lang="en-US" b="1" dirty="0"/>
              <a:t>ALU</a:t>
            </a:r>
            <a:r>
              <a:rPr lang="en-US" dirty="0"/>
              <a:t> needs data to process it and instructions that specify the type of processing required, and the </a:t>
            </a:r>
            <a:r>
              <a:rPr lang="en-US" b="1" dirty="0"/>
              <a:t>ALU</a:t>
            </a:r>
            <a:r>
              <a:rPr lang="en-US" dirty="0"/>
              <a:t> gets that from the main memory and uses the main memory in four basic activities:</a:t>
            </a:r>
          </a:p>
          <a:p>
            <a:pPr lvl="1" algn="justLow" rtl="0">
              <a:spcBef>
                <a:spcPct val="0"/>
              </a:spcBef>
              <a:buFont typeface="Wingdings" pitchFamily="2" charset="2"/>
              <a:buChar char="q"/>
            </a:pPr>
            <a:r>
              <a:rPr lang="en-US" dirty="0"/>
              <a:t> Store the entered.</a:t>
            </a:r>
          </a:p>
          <a:p>
            <a:pPr lvl="1" algn="justLow" rtl="0">
              <a:spcBef>
                <a:spcPct val="0"/>
              </a:spcBef>
              <a:buFont typeface="Wingdings" pitchFamily="2" charset="2"/>
              <a:buChar char="q"/>
            </a:pPr>
            <a:r>
              <a:rPr lang="en-US" dirty="0"/>
              <a:t>Store the interim results of operations.</a:t>
            </a:r>
          </a:p>
          <a:p>
            <a:pPr lvl="1" algn="justLow" rtl="0">
              <a:spcBef>
                <a:spcPct val="0"/>
              </a:spcBef>
              <a:buFont typeface="Wingdings" pitchFamily="2" charset="2"/>
              <a:buChar char="q"/>
            </a:pPr>
            <a:r>
              <a:rPr lang="en-US" dirty="0"/>
              <a:t> Store the final results of the operation.</a:t>
            </a:r>
          </a:p>
          <a:p>
            <a:pPr lvl="1" algn="justLow" rtl="0">
              <a:spcBef>
                <a:spcPct val="0"/>
              </a:spcBef>
              <a:buFont typeface="Wingdings" pitchFamily="2" charset="2"/>
              <a:buChar char="q"/>
            </a:pPr>
            <a:r>
              <a:rPr lang="en-US" dirty="0"/>
              <a:t>Store operations and operating orders.</a:t>
            </a:r>
            <a:endParaRPr lang="en-US" altLang="en-US" b="1" dirty="0">
              <a:latin typeface="Times New Roman" panose="02020603050405020304" pitchFamily="18" charset="0"/>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WordArt 2">
            <a:extLst>
              <a:ext uri="{FF2B5EF4-FFF2-40B4-BE49-F238E27FC236}">
                <a16:creationId xmlns:a16="http://schemas.microsoft.com/office/drawing/2014/main" id="{0D5D98C6-9C5D-453E-846E-137CE374C466}"/>
              </a:ext>
            </a:extLst>
          </p:cNvPr>
          <p:cNvSpPr>
            <a:spLocks noChangeArrowheads="1" noChangeShapeType="1" noTextEdit="1"/>
          </p:cNvSpPr>
          <p:nvPr/>
        </p:nvSpPr>
        <p:spPr bwMode="auto">
          <a:xfrm>
            <a:off x="3284626" y="304799"/>
            <a:ext cx="5023347" cy="831669"/>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dirty="0"/>
              <a:t>Computer Memory</a:t>
            </a:r>
            <a:endPar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48135" name="Picture 8" descr="Close-Up of ROM Chips">
            <a:extLst>
              <a:ext uri="{FF2B5EF4-FFF2-40B4-BE49-F238E27FC236}">
                <a16:creationId xmlns:a16="http://schemas.microsoft.com/office/drawing/2014/main" id="{A5FFF4DF-4173-4E1E-BEBE-EAB2A02D8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5054" y="304799"/>
            <a:ext cx="1625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6">
            <a:extLst>
              <a:ext uri="{FF2B5EF4-FFF2-40B4-BE49-F238E27FC236}">
                <a16:creationId xmlns:a16="http://schemas.microsoft.com/office/drawing/2014/main" id="{26600F53-B8C6-4425-8731-FFFE8606ADFF}"/>
              </a:ext>
            </a:extLst>
          </p:cNvPr>
          <p:cNvSpPr txBox="1">
            <a:spLocks noChangeArrowheads="1"/>
          </p:cNvSpPr>
          <p:nvPr/>
        </p:nvSpPr>
        <p:spPr bwMode="auto">
          <a:xfrm>
            <a:off x="371059" y="1394792"/>
            <a:ext cx="10029085" cy="5262979"/>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q"/>
              <a:defRPr/>
            </a:pPr>
            <a:r>
              <a:rPr lang="en-US" sz="2400" dirty="0"/>
              <a:t>Read Only Memory (ROM): </a:t>
            </a:r>
          </a:p>
          <a:p>
            <a:pPr marL="1371600" lvl="2" indent="-457200">
              <a:spcBef>
                <a:spcPct val="50000"/>
              </a:spcBef>
              <a:buClr>
                <a:srgbClr val="CC0000"/>
              </a:buClr>
              <a:buFont typeface="Wingdings" pitchFamily="2" charset="2"/>
              <a:buChar char="q"/>
              <a:defRPr/>
            </a:pPr>
            <a:r>
              <a:rPr lang="en-US" sz="2400" dirty="0"/>
              <a:t>A computer memory that stores operating instructions for the device.</a:t>
            </a:r>
          </a:p>
          <a:p>
            <a:pPr marL="1371600" lvl="2" indent="-457200">
              <a:spcBef>
                <a:spcPct val="50000"/>
              </a:spcBef>
              <a:buClr>
                <a:srgbClr val="CC0000"/>
              </a:buClr>
              <a:buFont typeface="Wingdings" pitchFamily="2" charset="2"/>
              <a:buChar char="q"/>
              <a:defRPr/>
            </a:pPr>
            <a:r>
              <a:rPr lang="en-US" sz="2400" dirty="0"/>
              <a:t> It is permanent and cannot be erased or written on. </a:t>
            </a:r>
          </a:p>
          <a:p>
            <a:pPr marL="1371600" lvl="2" indent="-457200">
              <a:spcBef>
                <a:spcPct val="50000"/>
              </a:spcBef>
              <a:buClr>
                <a:srgbClr val="CC0000"/>
              </a:buClr>
              <a:buFont typeface="Wingdings" pitchFamily="2" charset="2"/>
              <a:buChar char="q"/>
              <a:defRPr/>
            </a:pPr>
            <a:r>
              <a:rPr lang="en-US" sz="2400" dirty="0"/>
              <a:t>set by the device manufacturer. </a:t>
            </a:r>
          </a:p>
          <a:p>
            <a:pPr marL="457200" indent="-457200">
              <a:spcBef>
                <a:spcPct val="50000"/>
              </a:spcBef>
              <a:buClr>
                <a:srgbClr val="CC0000"/>
              </a:buClr>
              <a:buFont typeface="Wingdings" pitchFamily="2" charset="2"/>
              <a:buChar char="q"/>
              <a:defRPr/>
            </a:pPr>
            <a:r>
              <a:rPr lang="en-US" sz="2400" dirty="0"/>
              <a:t>Random Access Memory (RAM): </a:t>
            </a:r>
          </a:p>
          <a:p>
            <a:pPr marL="1371600" lvl="2" indent="-457200">
              <a:spcBef>
                <a:spcPct val="50000"/>
              </a:spcBef>
              <a:buClr>
                <a:srgbClr val="CC0000"/>
              </a:buClr>
              <a:buFont typeface="Wingdings" pitchFamily="2" charset="2"/>
              <a:buChar char="q"/>
              <a:defRPr/>
            </a:pPr>
            <a:r>
              <a:rPr lang="en-US" sz="2400" dirty="0"/>
              <a:t>Memory starts with the computer running. </a:t>
            </a:r>
          </a:p>
          <a:p>
            <a:pPr marL="1371600" lvl="2" indent="-457200">
              <a:spcBef>
                <a:spcPct val="50000"/>
              </a:spcBef>
              <a:buClr>
                <a:srgbClr val="CC0000"/>
              </a:buClr>
              <a:buFont typeface="Wingdings" pitchFamily="2" charset="2"/>
              <a:buChar char="q"/>
              <a:defRPr/>
            </a:pPr>
            <a:r>
              <a:rPr lang="en-US" sz="2400" dirty="0"/>
              <a:t>Temporary can be erased and written to. </a:t>
            </a:r>
          </a:p>
          <a:p>
            <a:pPr marL="1371600" lvl="2" indent="-457200">
              <a:spcBef>
                <a:spcPct val="50000"/>
              </a:spcBef>
              <a:buClr>
                <a:srgbClr val="CC0000"/>
              </a:buClr>
              <a:buFont typeface="Wingdings" pitchFamily="2" charset="2"/>
              <a:buChar char="q"/>
              <a:defRPr/>
            </a:pPr>
            <a:r>
              <a:rPr lang="en-US" sz="2400" dirty="0"/>
              <a:t>Data is lost in the event of a power outage.</a:t>
            </a:r>
            <a:endParaRPr lang="ar-SA" sz="2400" dirty="0"/>
          </a:p>
          <a:p>
            <a:pPr marL="1371600" lvl="2" indent="-457200">
              <a:spcBef>
                <a:spcPct val="50000"/>
              </a:spcBef>
              <a:buClr>
                <a:srgbClr val="CC0000"/>
              </a:buClr>
              <a:buFont typeface="Wingdings" pitchFamily="2" charset="2"/>
              <a:buChar char="q"/>
              <a:defRPr/>
            </a:pPr>
            <a:r>
              <a:rPr lang="en-US" sz="2400" dirty="0"/>
              <a:t>It is the mediator between the CPU and storage units.</a:t>
            </a:r>
            <a:endParaRPr lang="en-US" sz="14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a:extLst>
              <a:ext uri="{FF2B5EF4-FFF2-40B4-BE49-F238E27FC236}">
                <a16:creationId xmlns:a16="http://schemas.microsoft.com/office/drawing/2014/main" id="{FFD0D244-1192-44FB-B12E-F9223B4BF82F}"/>
              </a:ext>
            </a:extLst>
          </p:cNvPr>
          <p:cNvSpPr>
            <a:spLocks noGrp="1" noChangeArrowheads="1"/>
          </p:cNvSpPr>
          <p:nvPr>
            <p:ph type="title"/>
          </p:nvPr>
        </p:nvSpPr>
        <p:spPr>
          <a:xfrm>
            <a:off x="0" y="77924"/>
            <a:ext cx="8986982" cy="907595"/>
          </a:xfrm>
        </p:spPr>
        <p:txBody>
          <a:bodyPr>
            <a:normAutofit/>
          </a:bodyPr>
          <a:lstStyle/>
          <a:p>
            <a:pPr algn="ctr" rtl="1" eaLnBrk="1" hangingPunct="1"/>
            <a:r>
              <a:rPr lang="en-US" altLang="en-US" dirty="0"/>
              <a:t>Difference between</a:t>
            </a:r>
            <a:r>
              <a:rPr lang="en-US" altLang="en-US" b="1" dirty="0"/>
              <a:t> RAM &amp; ROM</a:t>
            </a:r>
          </a:p>
        </p:txBody>
      </p:sp>
      <p:graphicFrame>
        <p:nvGraphicFramePr>
          <p:cNvPr id="24626" name="Group 50">
            <a:extLst>
              <a:ext uri="{FF2B5EF4-FFF2-40B4-BE49-F238E27FC236}">
                <a16:creationId xmlns:a16="http://schemas.microsoft.com/office/drawing/2014/main" id="{D865F48B-60DC-43B0-8752-205A4BBAE2CB}"/>
              </a:ext>
            </a:extLst>
          </p:cNvPr>
          <p:cNvGraphicFramePr>
            <a:graphicFrameLocks noGrp="1"/>
          </p:cNvGraphicFramePr>
          <p:nvPr>
            <p:ph type="tbl" idx="1"/>
            <p:extLst>
              <p:ext uri="{D42A27DB-BD31-4B8C-83A1-F6EECF244321}">
                <p14:modId xmlns:p14="http://schemas.microsoft.com/office/powerpoint/2010/main" val="1482733153"/>
              </p:ext>
            </p:extLst>
          </p:nvPr>
        </p:nvGraphicFramePr>
        <p:xfrm>
          <a:off x="574766" y="1221282"/>
          <a:ext cx="9548288" cy="5504579"/>
        </p:xfrm>
        <a:graphic>
          <a:graphicData uri="http://schemas.openxmlformats.org/drawingml/2006/table">
            <a:tbl>
              <a:tblPr rtl="1"/>
              <a:tblGrid>
                <a:gridCol w="3008798">
                  <a:extLst>
                    <a:ext uri="{9D8B030D-6E8A-4147-A177-3AD203B41FA5}">
                      <a16:colId xmlns:a16="http://schemas.microsoft.com/office/drawing/2014/main" val="20001"/>
                    </a:ext>
                  </a:extLst>
                </a:gridCol>
                <a:gridCol w="3269745">
                  <a:extLst>
                    <a:ext uri="{9D8B030D-6E8A-4147-A177-3AD203B41FA5}">
                      <a16:colId xmlns:a16="http://schemas.microsoft.com/office/drawing/2014/main" val="20002"/>
                    </a:ext>
                  </a:extLst>
                </a:gridCol>
                <a:gridCol w="3269745">
                  <a:extLst>
                    <a:ext uri="{9D8B030D-6E8A-4147-A177-3AD203B41FA5}">
                      <a16:colId xmlns:a16="http://schemas.microsoft.com/office/drawing/2014/main" val="20003"/>
                    </a:ext>
                  </a:extLst>
                </a:gridCol>
              </a:tblGrid>
              <a:tr h="479119">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2800" b="1" i="0" u="none" strike="noStrike" cap="none" normalizeH="0" baseline="0" dirty="0">
                          <a:ln>
                            <a:noFill/>
                          </a:ln>
                          <a:solidFill>
                            <a:schemeClr val="tx1"/>
                          </a:solidFill>
                          <a:effectLst/>
                          <a:latin typeface="Tahoma" pitchFamily="34" charset="0"/>
                          <a:cs typeface="Arial" pitchFamily="34" charset="0"/>
                        </a:rPr>
                        <a:t>RAM</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GB" sz="2800" b="1" i="0" u="none" strike="noStrike" cap="none" normalizeH="0" baseline="0" dirty="0">
                          <a:ln>
                            <a:noFill/>
                          </a:ln>
                          <a:solidFill>
                            <a:schemeClr val="tx1"/>
                          </a:solidFill>
                          <a:effectLst/>
                          <a:latin typeface="Tahoma" pitchFamily="34" charset="0"/>
                          <a:cs typeface="Arial" pitchFamily="34" charset="0"/>
                        </a:rPr>
                        <a:t>ROM</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1" i="0" u="none" strike="noStrike" cap="none" normalizeH="0" baseline="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4148">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400" dirty="0"/>
                        <a:t>More storage capacity</a:t>
                      </a:r>
                      <a:endParaRPr kumimoji="0" lang="en-US" sz="24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400" kern="1200" dirty="0">
                          <a:solidFill>
                            <a:schemeClr val="tx1"/>
                          </a:solidFill>
                          <a:latin typeface="+mn-lt"/>
                          <a:ea typeface="+mn-ea"/>
                          <a:cs typeface="+mn-cs"/>
                        </a:rPr>
                        <a:t>Limited storage capacity</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Capacity</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73693">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temporary</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permanent</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Storage Type</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44497">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programs and user data</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CPU instructions</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Contents</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73693">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At what time</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400" dirty="0"/>
                        <a:t>Once when setting up the device</a:t>
                      </a:r>
                      <a:endParaRPr kumimoji="0" lang="en-US" sz="24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Writing</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73693">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At what time</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every time you turn on the device</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folHlink"/>
                        </a:buClr>
                        <a:buSzPct val="60000"/>
                        <a:buFont typeface="Wingdings" pitchFamily="2" charset="2"/>
                        <a:buNone/>
                        <a:tabLst/>
                      </a:pPr>
                      <a:r>
                        <a:rPr lang="en-US" sz="2800" dirty="0"/>
                        <a:t>reading</a:t>
                      </a:r>
                      <a:endParaRPr kumimoji="0" lang="en-US" sz="2800" b="1" i="0" u="none" strike="noStrike" cap="none" normalizeH="0" baseline="0" dirty="0">
                        <a:ln>
                          <a:noFill/>
                        </a:ln>
                        <a:solidFill>
                          <a:schemeClr val="tx1"/>
                        </a:solidFill>
                        <a:effectLst/>
                        <a:latin typeface="Tahoma" pitchFamily="34" charset="0"/>
                        <a:cs typeface="Arial" pitchFamily="34"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E7BB386-D843-4172-90BF-FF3E87382ECA}"/>
              </a:ext>
            </a:extLst>
          </p:cNvPr>
          <p:cNvSpPr>
            <a:spLocks noGrp="1" noChangeArrowheads="1"/>
          </p:cNvSpPr>
          <p:nvPr>
            <p:ph type="title"/>
          </p:nvPr>
        </p:nvSpPr>
        <p:spPr>
          <a:xfrm>
            <a:off x="677334" y="413655"/>
            <a:ext cx="8596668" cy="840377"/>
          </a:xfrm>
        </p:spPr>
        <p:txBody>
          <a:bodyPr>
            <a:normAutofit/>
          </a:bodyPr>
          <a:lstStyle/>
          <a:p>
            <a:pPr algn="l"/>
            <a:r>
              <a:rPr lang="en-US" sz="4000" b="1" dirty="0"/>
              <a:t>secondary storage units</a:t>
            </a:r>
            <a:endParaRPr lang="en-US" altLang="en-US" sz="4000" b="1" dirty="0"/>
          </a:p>
        </p:txBody>
      </p:sp>
      <p:sp>
        <p:nvSpPr>
          <p:cNvPr id="16387" name="Rectangle 3">
            <a:extLst>
              <a:ext uri="{FF2B5EF4-FFF2-40B4-BE49-F238E27FC236}">
                <a16:creationId xmlns:a16="http://schemas.microsoft.com/office/drawing/2014/main" id="{E66E2B8C-1FE5-4B10-948B-D2909E3095F1}"/>
              </a:ext>
            </a:extLst>
          </p:cNvPr>
          <p:cNvSpPr>
            <a:spLocks noGrp="1" noChangeArrowheads="1"/>
          </p:cNvSpPr>
          <p:nvPr>
            <p:ph idx="1"/>
          </p:nvPr>
        </p:nvSpPr>
        <p:spPr>
          <a:xfrm>
            <a:off x="677334" y="1384663"/>
            <a:ext cx="8596668" cy="4863737"/>
          </a:xfrm>
        </p:spPr>
        <p:txBody>
          <a:bodyPr>
            <a:normAutofit fontScale="92500" lnSpcReduction="20000"/>
          </a:bodyPr>
          <a:lstStyle/>
          <a:p>
            <a:pPr>
              <a:lnSpc>
                <a:spcPct val="80000"/>
              </a:lnSpc>
              <a:buFont typeface="Wingdings" pitchFamily="2" charset="2"/>
              <a:buChar char="q"/>
            </a:pPr>
            <a:r>
              <a:rPr lang="en-US" sz="2800" b="1" dirty="0"/>
              <a:t>Hard Disk:</a:t>
            </a:r>
          </a:p>
          <a:p>
            <a:pPr lvl="1">
              <a:lnSpc>
                <a:spcPct val="80000"/>
              </a:lnSpc>
              <a:buFont typeface="Wingdings" pitchFamily="2" charset="2"/>
              <a:buChar char="q"/>
            </a:pPr>
            <a:r>
              <a:rPr lang="en-US" sz="2600" dirty="0"/>
              <a:t> Huge storage capacity. </a:t>
            </a:r>
          </a:p>
          <a:p>
            <a:pPr lvl="1">
              <a:lnSpc>
                <a:spcPct val="80000"/>
              </a:lnSpc>
              <a:buFont typeface="Wingdings" pitchFamily="2" charset="2"/>
              <a:buChar char="q"/>
            </a:pPr>
            <a:r>
              <a:rPr lang="en-US" sz="2600" dirty="0"/>
              <a:t>High speed access to the data stored in it. </a:t>
            </a:r>
          </a:p>
          <a:p>
            <a:pPr lvl="1">
              <a:lnSpc>
                <a:spcPct val="80000"/>
              </a:lnSpc>
              <a:buFont typeface="Wingdings" pitchFamily="2" charset="2"/>
              <a:buChar char="q"/>
            </a:pPr>
            <a:r>
              <a:rPr lang="en-US" sz="2600" dirty="0"/>
              <a:t>It is usually installed in the device and may be connected from the outside.</a:t>
            </a:r>
            <a:endParaRPr lang="en-US" altLang="en-US" sz="2600" dirty="0"/>
          </a:p>
          <a:p>
            <a:pPr>
              <a:lnSpc>
                <a:spcPct val="80000"/>
              </a:lnSpc>
              <a:buFont typeface="Wingdings" pitchFamily="2" charset="2"/>
              <a:buChar char="q"/>
            </a:pPr>
            <a:r>
              <a:rPr lang="ar-SA" altLang="en-US" sz="2800" b="1" dirty="0"/>
              <a:t> </a:t>
            </a:r>
            <a:r>
              <a:rPr lang="en-US" altLang="en-US" sz="2800" b="1" dirty="0"/>
              <a:t>Floppy Disk</a:t>
            </a:r>
            <a:r>
              <a:rPr lang="ar-SA" altLang="en-US" sz="2800" b="1" dirty="0"/>
              <a:t>:</a:t>
            </a:r>
          </a:p>
          <a:p>
            <a:pPr lvl="1">
              <a:lnSpc>
                <a:spcPct val="80000"/>
              </a:lnSpc>
              <a:buFont typeface="Wingdings" pitchFamily="2" charset="2"/>
              <a:buChar char="q"/>
            </a:pPr>
            <a:r>
              <a:rPr lang="en-US" sz="2000" dirty="0"/>
              <a:t>Limited storage capacity of 1.4MB, low cost.</a:t>
            </a:r>
          </a:p>
          <a:p>
            <a:pPr>
              <a:lnSpc>
                <a:spcPct val="80000"/>
              </a:lnSpc>
              <a:buFont typeface="Wingdings" pitchFamily="2" charset="2"/>
              <a:buChar char="q"/>
            </a:pPr>
            <a:r>
              <a:rPr lang="en-US" altLang="en-US" sz="3200" b="1" dirty="0"/>
              <a:t>Flash Memory</a:t>
            </a:r>
            <a:r>
              <a:rPr lang="ar-SA" altLang="en-US" sz="3200" b="1" dirty="0"/>
              <a:t>:</a:t>
            </a:r>
            <a:endParaRPr lang="en-US" altLang="en-US" sz="3200" b="1" dirty="0"/>
          </a:p>
          <a:p>
            <a:pPr lvl="1">
              <a:lnSpc>
                <a:spcPct val="80000"/>
              </a:lnSpc>
              <a:buFont typeface="Wingdings" pitchFamily="2" charset="2"/>
              <a:buChar char="q"/>
            </a:pPr>
            <a:r>
              <a:rPr lang="en-US" sz="1600" dirty="0"/>
              <a:t>It has the ability to connect externally.</a:t>
            </a:r>
          </a:p>
          <a:p>
            <a:pPr lvl="1">
              <a:lnSpc>
                <a:spcPct val="80000"/>
              </a:lnSpc>
              <a:buFont typeface="Wingdings" pitchFamily="2" charset="2"/>
              <a:buChar char="q"/>
            </a:pPr>
            <a:r>
              <a:rPr lang="en-US" sz="1800" dirty="0"/>
              <a:t>With large storage capabilities. </a:t>
            </a:r>
          </a:p>
          <a:p>
            <a:pPr lvl="1">
              <a:lnSpc>
                <a:spcPct val="80000"/>
              </a:lnSpc>
              <a:buFont typeface="Wingdings" pitchFamily="2" charset="2"/>
              <a:buChar char="q"/>
            </a:pPr>
            <a:r>
              <a:rPr lang="en-US" sz="1800" dirty="0"/>
              <a:t>High cost.</a:t>
            </a:r>
            <a:r>
              <a:rPr lang="en-US" altLang="en-US" sz="2800" dirty="0"/>
              <a:t> </a:t>
            </a:r>
          </a:p>
          <a:p>
            <a:pPr>
              <a:lnSpc>
                <a:spcPct val="80000"/>
              </a:lnSpc>
              <a:buFont typeface="Wingdings" pitchFamily="2" charset="2"/>
              <a:buChar char="q"/>
            </a:pPr>
            <a:r>
              <a:rPr lang="en-US" altLang="en-US" sz="3000" b="1" dirty="0"/>
              <a:t>CD-ROM</a:t>
            </a:r>
            <a:r>
              <a:rPr lang="ar-SA" altLang="en-US" sz="3000" b="1" dirty="0"/>
              <a:t>:</a:t>
            </a:r>
          </a:p>
          <a:p>
            <a:pPr lvl="1">
              <a:lnSpc>
                <a:spcPct val="80000"/>
              </a:lnSpc>
              <a:buFont typeface="Wingdings" pitchFamily="2" charset="2"/>
              <a:buChar char="q"/>
            </a:pPr>
            <a:r>
              <a:rPr lang="en-US" sz="2400" dirty="0"/>
              <a:t>The data is stored using a laser. </a:t>
            </a:r>
            <a:endParaRPr lang="ar-SA" sz="2400" dirty="0"/>
          </a:p>
          <a:p>
            <a:pPr lvl="1">
              <a:lnSpc>
                <a:spcPct val="80000"/>
              </a:lnSpc>
              <a:buFont typeface="Wingdings" pitchFamily="2" charset="2"/>
              <a:buChar char="q"/>
            </a:pPr>
            <a:r>
              <a:rPr lang="en-US" sz="2400" dirty="0"/>
              <a:t>The storage capacity of DVD discs is up to a number of gigabytes.</a:t>
            </a:r>
            <a:endParaRPr lang="en-US"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WordArt 2">
            <a:extLst>
              <a:ext uri="{FF2B5EF4-FFF2-40B4-BE49-F238E27FC236}">
                <a16:creationId xmlns:a16="http://schemas.microsoft.com/office/drawing/2014/main" id="{6CE97B09-523F-4495-820C-FF5FC4DC53A9}"/>
              </a:ext>
            </a:extLst>
          </p:cNvPr>
          <p:cNvSpPr>
            <a:spLocks noChangeArrowheads="1" noChangeShapeType="1" noTextEdit="1"/>
          </p:cNvSpPr>
          <p:nvPr/>
        </p:nvSpPr>
        <p:spPr bwMode="auto">
          <a:xfrm>
            <a:off x="3127870" y="304799"/>
            <a:ext cx="5010285" cy="870857"/>
          </a:xfrm>
          <a:prstGeom prst="rect">
            <a:avLst/>
          </a:prstGeom>
        </p:spPr>
        <p:txBody>
          <a:bodyPr wrap="none" fromWordArt="1">
            <a:prstTxWarp prst="textPlain">
              <a:avLst>
                <a:gd name="adj" fmla="val 49207"/>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b="1" dirty="0"/>
              <a:t>secondary storage</a:t>
            </a:r>
            <a:endPar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70662" name="AutoShape 6">
            <a:extLst>
              <a:ext uri="{FF2B5EF4-FFF2-40B4-BE49-F238E27FC236}">
                <a16:creationId xmlns:a16="http://schemas.microsoft.com/office/drawing/2014/main" id="{9ED3D306-91F9-4A61-8B7F-E17E4E3566D4}"/>
              </a:ext>
            </a:extLst>
          </p:cNvPr>
          <p:cNvSpPr>
            <a:spLocks noChangeArrowheads="1"/>
          </p:cNvSpPr>
          <p:nvPr/>
        </p:nvSpPr>
        <p:spPr bwMode="auto">
          <a:xfrm>
            <a:off x="19812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70663" name="AutoShape 7">
            <a:extLst>
              <a:ext uri="{FF2B5EF4-FFF2-40B4-BE49-F238E27FC236}">
                <a16:creationId xmlns:a16="http://schemas.microsoft.com/office/drawing/2014/main" id="{9B09234C-28A3-405C-A709-20B55ACAE2BD}"/>
              </a:ext>
            </a:extLst>
          </p:cNvPr>
          <p:cNvSpPr>
            <a:spLocks noChangeArrowheads="1"/>
          </p:cNvSpPr>
          <p:nvPr/>
        </p:nvSpPr>
        <p:spPr bwMode="auto">
          <a:xfrm>
            <a:off x="48006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70664" name="AutoShape 8">
            <a:extLst>
              <a:ext uri="{FF2B5EF4-FFF2-40B4-BE49-F238E27FC236}">
                <a16:creationId xmlns:a16="http://schemas.microsoft.com/office/drawing/2014/main" id="{05709B7E-4CEA-4421-90A7-682294F57E97}"/>
              </a:ext>
            </a:extLst>
          </p:cNvPr>
          <p:cNvSpPr>
            <a:spLocks noChangeArrowheads="1"/>
          </p:cNvSpPr>
          <p:nvPr/>
        </p:nvSpPr>
        <p:spPr bwMode="auto">
          <a:xfrm>
            <a:off x="77724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70665" name="AutoShape 9">
            <a:extLst>
              <a:ext uri="{FF2B5EF4-FFF2-40B4-BE49-F238E27FC236}">
                <a16:creationId xmlns:a16="http://schemas.microsoft.com/office/drawing/2014/main" id="{DC083C75-C9DD-4C72-8472-C1215E9A30DF}"/>
              </a:ext>
            </a:extLst>
          </p:cNvPr>
          <p:cNvSpPr>
            <a:spLocks noChangeArrowheads="1"/>
          </p:cNvSpPr>
          <p:nvPr/>
        </p:nvSpPr>
        <p:spPr bwMode="auto">
          <a:xfrm>
            <a:off x="19812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70666" name="AutoShape 10">
            <a:extLst>
              <a:ext uri="{FF2B5EF4-FFF2-40B4-BE49-F238E27FC236}">
                <a16:creationId xmlns:a16="http://schemas.microsoft.com/office/drawing/2014/main" id="{621A567E-F41B-48C4-A300-773F0772B4B9}"/>
              </a:ext>
            </a:extLst>
          </p:cNvPr>
          <p:cNvSpPr>
            <a:spLocks noChangeArrowheads="1"/>
          </p:cNvSpPr>
          <p:nvPr/>
        </p:nvSpPr>
        <p:spPr bwMode="auto">
          <a:xfrm>
            <a:off x="48006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70667" name="AutoShape 11">
            <a:extLst>
              <a:ext uri="{FF2B5EF4-FFF2-40B4-BE49-F238E27FC236}">
                <a16:creationId xmlns:a16="http://schemas.microsoft.com/office/drawing/2014/main" id="{872E954D-56D8-4575-864B-5D010226BB69}"/>
              </a:ext>
            </a:extLst>
          </p:cNvPr>
          <p:cNvSpPr>
            <a:spLocks noChangeArrowheads="1"/>
          </p:cNvSpPr>
          <p:nvPr/>
        </p:nvSpPr>
        <p:spPr bwMode="auto">
          <a:xfrm>
            <a:off x="77724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pic>
        <p:nvPicPr>
          <p:cNvPr id="70668" name="Picture 18" descr="cpu2">
            <a:hlinkClick r:id="rId2" action="ppaction://hlinksldjump"/>
            <a:extLst>
              <a:ext uri="{FF2B5EF4-FFF2-40B4-BE49-F238E27FC236}">
                <a16:creationId xmlns:a16="http://schemas.microsoft.com/office/drawing/2014/main" id="{D171E1A5-29A8-46DB-B370-91497DC65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1" y="1676400"/>
            <a:ext cx="21447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0669" name="Picture 19" descr="External CD Drive">
            <a:hlinkClick r:id="rId4" action="ppaction://hlinksldjump"/>
            <a:extLst>
              <a:ext uri="{FF2B5EF4-FFF2-40B4-BE49-F238E27FC236}">
                <a16:creationId xmlns:a16="http://schemas.microsoft.com/office/drawing/2014/main" id="{36C49FA2-C76F-47F3-A534-13418D59E6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16764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0" name="Picture 20" descr="IMG20095">
            <a:hlinkClick r:id="rId6" action="ppaction://hlinksldjump"/>
            <a:extLst>
              <a:ext uri="{FF2B5EF4-FFF2-40B4-BE49-F238E27FC236}">
                <a16:creationId xmlns:a16="http://schemas.microsoft.com/office/drawing/2014/main" id="{49BABC49-79EA-4428-B351-53F48F65EF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28847"/>
          <a:stretch>
            <a:fillRect/>
          </a:stretch>
        </p:blipFill>
        <p:spPr bwMode="auto">
          <a:xfrm>
            <a:off x="2209800" y="16764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1" name="Picture 21" descr="CD">
            <a:hlinkClick r:id="rId6" action="ppaction://hlinksldjump"/>
            <a:extLst>
              <a:ext uri="{FF2B5EF4-FFF2-40B4-BE49-F238E27FC236}">
                <a16:creationId xmlns:a16="http://schemas.microsoft.com/office/drawing/2014/main" id="{30FAF6FD-9BDD-4CEF-B903-2CA39FCABB7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34889"/>
          <a:stretch>
            <a:fillRect/>
          </a:stretch>
        </p:blipFill>
        <p:spPr bwMode="auto">
          <a:xfrm>
            <a:off x="8001000" y="3505200"/>
            <a:ext cx="21717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2" name="Picture 22" descr="iomega_jazTIP">
            <a:hlinkClick r:id="rId9" action="ppaction://hlinksldjump"/>
            <a:extLst>
              <a:ext uri="{FF2B5EF4-FFF2-40B4-BE49-F238E27FC236}">
                <a16:creationId xmlns:a16="http://schemas.microsoft.com/office/drawing/2014/main" id="{BAA53282-1148-4363-A49A-5EF986A6D88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t="28403" r="57025" b="14793"/>
          <a:stretch>
            <a:fillRect/>
          </a:stretch>
        </p:blipFill>
        <p:spPr bwMode="auto">
          <a:xfrm>
            <a:off x="2209800" y="35052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3" name="Picture 23" descr="scan0011">
            <a:hlinkClick r:id="rId11" action="ppaction://hlinksldjump"/>
            <a:extLst>
              <a:ext uri="{FF2B5EF4-FFF2-40B4-BE49-F238E27FC236}">
                <a16:creationId xmlns:a16="http://schemas.microsoft.com/office/drawing/2014/main" id="{36FD4E4A-2ED2-462B-836D-FE7BD88E9F8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9200" y="3505200"/>
            <a:ext cx="21605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75" name="AutoShape 25">
            <a:extLst>
              <a:ext uri="{FF2B5EF4-FFF2-40B4-BE49-F238E27FC236}">
                <a16:creationId xmlns:a16="http://schemas.microsoft.com/office/drawing/2014/main" id="{08D97F98-D9B4-48C2-A1A4-1C8A9DB415F1}"/>
              </a:ext>
            </a:extLst>
          </p:cNvPr>
          <p:cNvSpPr>
            <a:spLocks noChangeArrowheads="1"/>
          </p:cNvSpPr>
          <p:nvPr/>
        </p:nvSpPr>
        <p:spPr bwMode="auto">
          <a:xfrm>
            <a:off x="4872038" y="5013325"/>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pic>
        <p:nvPicPr>
          <p:cNvPr id="70676" name="Picture 26" descr="diskonkey3">
            <a:hlinkClick r:id="rId13" action="ppaction://hlinksldjump"/>
            <a:extLst>
              <a:ext uri="{FF2B5EF4-FFF2-40B4-BE49-F238E27FC236}">
                <a16:creationId xmlns:a16="http://schemas.microsoft.com/office/drawing/2014/main" id="{F728D07D-E8ED-4C80-BCF5-C2AADDB65EDD}"/>
              </a:ext>
            </a:extLst>
          </p:cNvPr>
          <p:cNvPicPr>
            <a:picLocks noGrp="1" noChangeAspect="1" noChangeArrowheads="1"/>
          </p:cNvPicPr>
          <p:nvPr>
            <p:ph/>
          </p:nvPr>
        </p:nvPicPr>
        <p:blipFill>
          <a:blip r:embed="rId14">
            <a:extLst>
              <a:ext uri="{28A0092B-C50C-407E-A947-70E740481C1C}">
                <a14:useLocalDpi xmlns:a14="http://schemas.microsoft.com/office/drawing/2010/main" val="0"/>
              </a:ext>
            </a:extLst>
          </a:blip>
          <a:stretch>
            <a:fillRect/>
          </a:stretch>
        </p:blipFill>
        <p:spPr>
          <a:xfrm>
            <a:off x="5403850" y="2933700"/>
            <a:ext cx="1384300" cy="838200"/>
          </a:xfrm>
        </p:spPr>
      </p:pic>
    </p:spTree>
  </p:cSld>
  <p:clrMapOvr>
    <a:masterClrMapping/>
  </p:clrMapOvr>
  <p:transition spd="med" advClick="0">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8" descr="scan0005">
            <a:extLst>
              <a:ext uri="{FF2B5EF4-FFF2-40B4-BE49-F238E27FC236}">
                <a16:creationId xmlns:a16="http://schemas.microsoft.com/office/drawing/2014/main" id="{443CEBD7-0DBE-4DE1-8FC8-F61AF22F7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340" r="4776" b="8861"/>
          <a:stretch>
            <a:fillRect/>
          </a:stretch>
        </p:blipFill>
        <p:spPr bwMode="auto">
          <a:xfrm>
            <a:off x="2133600" y="2046289"/>
            <a:ext cx="3733800"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WordArt 2">
            <a:extLst>
              <a:ext uri="{FF2B5EF4-FFF2-40B4-BE49-F238E27FC236}">
                <a16:creationId xmlns:a16="http://schemas.microsoft.com/office/drawing/2014/main" id="{A0384218-DE98-4491-95D3-90FDB6127FE3}"/>
              </a:ext>
            </a:extLst>
          </p:cNvPr>
          <p:cNvSpPr>
            <a:spLocks noChangeArrowheads="1" noChangeShapeType="1" noTextEdit="1"/>
          </p:cNvSpPr>
          <p:nvPr/>
        </p:nvSpPr>
        <p:spPr bwMode="auto">
          <a:xfrm>
            <a:off x="3657589" y="370115"/>
            <a:ext cx="4075611" cy="70104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Hard Disk</a:t>
            </a:r>
          </a:p>
        </p:txBody>
      </p:sp>
      <p:sp>
        <p:nvSpPr>
          <p:cNvPr id="38918" name="Text Box 6">
            <a:extLst>
              <a:ext uri="{FF2B5EF4-FFF2-40B4-BE49-F238E27FC236}">
                <a16:creationId xmlns:a16="http://schemas.microsoft.com/office/drawing/2014/main" id="{9C16E9F2-1C2E-47D7-8AB7-A5870CF2D139}"/>
              </a:ext>
            </a:extLst>
          </p:cNvPr>
          <p:cNvSpPr txBox="1">
            <a:spLocks noChangeArrowheads="1"/>
          </p:cNvSpPr>
          <p:nvPr/>
        </p:nvSpPr>
        <p:spPr bwMode="auto">
          <a:xfrm>
            <a:off x="1457739" y="5786846"/>
            <a:ext cx="8443499" cy="400110"/>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
              <a:defRPr/>
            </a:pPr>
            <a:r>
              <a:rPr lang="en-US" sz="2000" dirty="0"/>
              <a:t>These discs are stored magnetically.</a:t>
            </a:r>
            <a:endParaRPr lang="en-US" sz="2000" b="1" dirty="0">
              <a:solidFill>
                <a:schemeClr val="accent1">
                  <a:lumMod val="75000"/>
                </a:schemeClr>
              </a:solidFill>
              <a:effectLst>
                <a:outerShdw blurRad="38100" dist="38100" dir="2700000" algn="tl">
                  <a:srgbClr val="000000"/>
                </a:outerShdw>
              </a:effectLst>
            </a:endParaRPr>
          </a:p>
        </p:txBody>
      </p:sp>
      <p:pic>
        <p:nvPicPr>
          <p:cNvPr id="71688" name="Picture 7" descr="cpu2">
            <a:extLst>
              <a:ext uri="{FF2B5EF4-FFF2-40B4-BE49-F238E27FC236}">
                <a16:creationId xmlns:a16="http://schemas.microsoft.com/office/drawing/2014/main" id="{F0268A45-3317-4B2E-8238-69B52FEEC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1981200"/>
            <a:ext cx="260191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WordArt 2">
            <a:extLst>
              <a:ext uri="{FF2B5EF4-FFF2-40B4-BE49-F238E27FC236}">
                <a16:creationId xmlns:a16="http://schemas.microsoft.com/office/drawing/2014/main" id="{8A0A2CE0-0C6D-4DD0-8A84-408D842E6269}"/>
              </a:ext>
            </a:extLst>
          </p:cNvPr>
          <p:cNvSpPr>
            <a:spLocks noChangeArrowheads="1" noChangeShapeType="1" noTextEdit="1"/>
          </p:cNvSpPr>
          <p:nvPr/>
        </p:nvSpPr>
        <p:spPr bwMode="auto">
          <a:xfrm>
            <a:off x="3226510" y="605249"/>
            <a:ext cx="4493623" cy="60960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40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Floppy Disk</a:t>
            </a:r>
          </a:p>
        </p:txBody>
      </p:sp>
      <p:sp>
        <p:nvSpPr>
          <p:cNvPr id="40966" name="Text Box 6">
            <a:extLst>
              <a:ext uri="{FF2B5EF4-FFF2-40B4-BE49-F238E27FC236}">
                <a16:creationId xmlns:a16="http://schemas.microsoft.com/office/drawing/2014/main" id="{FB739F1B-82DB-441C-BB06-7E1096CB7E65}"/>
              </a:ext>
            </a:extLst>
          </p:cNvPr>
          <p:cNvSpPr txBox="1">
            <a:spLocks noChangeArrowheads="1"/>
          </p:cNvSpPr>
          <p:nvPr/>
        </p:nvSpPr>
        <p:spPr bwMode="auto">
          <a:xfrm>
            <a:off x="3309938" y="5146766"/>
            <a:ext cx="6673850" cy="1061829"/>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
              <a:defRPr/>
            </a:pPr>
            <a:r>
              <a:rPr lang="en-US" dirty="0"/>
              <a:t>In the past, it was the most used storage unit, now it has been replaced by other storage unit. </a:t>
            </a:r>
          </a:p>
          <a:p>
            <a:pPr marL="457200" indent="-457200">
              <a:spcBef>
                <a:spcPct val="50000"/>
              </a:spcBef>
              <a:buClr>
                <a:srgbClr val="CC0000"/>
              </a:buClr>
              <a:buFont typeface="Wingdings" pitchFamily="2" charset="2"/>
              <a:buChar char="§"/>
              <a:defRPr/>
            </a:pPr>
            <a:r>
              <a:rPr lang="en-US" dirty="0"/>
              <a:t>It is symbolized by (A).</a:t>
            </a:r>
            <a:endParaRPr lang="en-US" b="1" dirty="0">
              <a:solidFill>
                <a:schemeClr val="accent1">
                  <a:lumMod val="75000"/>
                </a:schemeClr>
              </a:solidFill>
              <a:effectLst>
                <a:outerShdw blurRad="38100" dist="38100" dir="2700000" algn="tl">
                  <a:srgbClr val="000000"/>
                </a:outerShdw>
              </a:effectLst>
            </a:endParaRPr>
          </a:p>
        </p:txBody>
      </p:sp>
      <p:pic>
        <p:nvPicPr>
          <p:cNvPr id="72711" name="Picture 7" descr="floppy_disk_walking_md_wht">
            <a:extLst>
              <a:ext uri="{FF2B5EF4-FFF2-40B4-BE49-F238E27FC236}">
                <a16:creationId xmlns:a16="http://schemas.microsoft.com/office/drawing/2014/main" id="{24C17581-C185-468D-B197-F00EA3C2167E}"/>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81188" y="5094514"/>
            <a:ext cx="1527772" cy="142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2" name="Picture 8" descr="IMG20095">
            <a:extLst>
              <a:ext uri="{FF2B5EF4-FFF2-40B4-BE49-F238E27FC236}">
                <a16:creationId xmlns:a16="http://schemas.microsoft.com/office/drawing/2014/main" id="{812DFC3A-E3DF-4EAD-A57E-25E57C2B6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8847"/>
          <a:stretch>
            <a:fillRect/>
          </a:stretch>
        </p:blipFill>
        <p:spPr bwMode="auto">
          <a:xfrm>
            <a:off x="6629400" y="1943100"/>
            <a:ext cx="2590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3" name="Picture 9" descr="floppy-disk-track1">
            <a:extLst>
              <a:ext uri="{FF2B5EF4-FFF2-40B4-BE49-F238E27FC236}">
                <a16:creationId xmlns:a16="http://schemas.microsoft.com/office/drawing/2014/main" id="{FAAF5EE5-629B-483E-AF3C-1E21A7B890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1" y="2033589"/>
            <a:ext cx="2835275"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WordArt 2">
            <a:extLst>
              <a:ext uri="{FF2B5EF4-FFF2-40B4-BE49-F238E27FC236}">
                <a16:creationId xmlns:a16="http://schemas.microsoft.com/office/drawing/2014/main" id="{EACC8F55-D327-434F-8E6D-879D37E3228B}"/>
              </a:ext>
            </a:extLst>
          </p:cNvPr>
          <p:cNvSpPr>
            <a:spLocks noChangeArrowheads="1" noChangeShapeType="1" noTextEdit="1"/>
          </p:cNvSpPr>
          <p:nvPr/>
        </p:nvSpPr>
        <p:spPr bwMode="auto">
          <a:xfrm>
            <a:off x="3130719" y="422366"/>
            <a:ext cx="4902926" cy="596537"/>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Optical Disk</a:t>
            </a:r>
          </a:p>
        </p:txBody>
      </p:sp>
      <p:sp>
        <p:nvSpPr>
          <p:cNvPr id="41990" name="Text Box 6">
            <a:extLst>
              <a:ext uri="{FF2B5EF4-FFF2-40B4-BE49-F238E27FC236}">
                <a16:creationId xmlns:a16="http://schemas.microsoft.com/office/drawing/2014/main" id="{31812D0A-FE02-4199-83E7-95827A50590D}"/>
              </a:ext>
            </a:extLst>
          </p:cNvPr>
          <p:cNvSpPr txBox="1">
            <a:spLocks noChangeArrowheads="1"/>
          </p:cNvSpPr>
          <p:nvPr/>
        </p:nvSpPr>
        <p:spPr bwMode="auto">
          <a:xfrm>
            <a:off x="2798845" y="5212080"/>
            <a:ext cx="5943600" cy="784830"/>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
              <a:defRPr/>
            </a:pPr>
            <a:r>
              <a:rPr lang="en-US" dirty="0"/>
              <a:t>A technology that uses laser beams for storage.</a:t>
            </a:r>
          </a:p>
          <a:p>
            <a:pPr marL="457200" indent="-457200">
              <a:spcBef>
                <a:spcPct val="50000"/>
              </a:spcBef>
              <a:buClr>
                <a:srgbClr val="CC0000"/>
              </a:buClr>
              <a:buFont typeface="Wingdings" pitchFamily="2" charset="2"/>
              <a:buChar char="§"/>
              <a:defRPr/>
            </a:pPr>
            <a:r>
              <a:rPr lang="en-US" dirty="0"/>
              <a:t>Now Read-Write discs.</a:t>
            </a:r>
            <a:endParaRPr lang="en-US" b="1" dirty="0">
              <a:solidFill>
                <a:schemeClr val="accent1">
                  <a:lumMod val="75000"/>
                </a:schemeClr>
              </a:solidFill>
              <a:effectLst>
                <a:outerShdw blurRad="38100" dist="38100" dir="2700000" algn="tl">
                  <a:srgbClr val="000000"/>
                </a:outerShdw>
              </a:effectLst>
            </a:endParaRPr>
          </a:p>
        </p:txBody>
      </p:sp>
      <p:pic>
        <p:nvPicPr>
          <p:cNvPr id="73735" name="Picture 7" descr="000801_0202_0003_tacs">
            <a:extLst>
              <a:ext uri="{FF2B5EF4-FFF2-40B4-BE49-F238E27FC236}">
                <a16:creationId xmlns:a16="http://schemas.microsoft.com/office/drawing/2014/main" id="{D6F7FA45-B3EF-43A2-907B-5C36A38BE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438401"/>
            <a:ext cx="30480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6" name="Picture 8" descr="CD">
            <a:extLst>
              <a:ext uri="{FF2B5EF4-FFF2-40B4-BE49-F238E27FC236}">
                <a16:creationId xmlns:a16="http://schemas.microsoft.com/office/drawing/2014/main" id="{AA891767-C46A-433A-87F0-3A858B42A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634" y="1965326"/>
            <a:ext cx="2898866" cy="2567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WordArt 2">
            <a:extLst>
              <a:ext uri="{FF2B5EF4-FFF2-40B4-BE49-F238E27FC236}">
                <a16:creationId xmlns:a16="http://schemas.microsoft.com/office/drawing/2014/main" id="{8A4948D0-BFFB-4C20-9D11-1EF324829775}"/>
              </a:ext>
            </a:extLst>
          </p:cNvPr>
          <p:cNvSpPr>
            <a:spLocks noChangeArrowheads="1" noChangeShapeType="1" noTextEdit="1"/>
          </p:cNvSpPr>
          <p:nvPr/>
        </p:nvSpPr>
        <p:spPr bwMode="auto">
          <a:xfrm>
            <a:off x="4419600" y="304800"/>
            <a:ext cx="3352800" cy="49530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DVD</a:t>
            </a:r>
          </a:p>
        </p:txBody>
      </p:sp>
      <p:sp>
        <p:nvSpPr>
          <p:cNvPr id="43015" name="Text Box 7">
            <a:extLst>
              <a:ext uri="{FF2B5EF4-FFF2-40B4-BE49-F238E27FC236}">
                <a16:creationId xmlns:a16="http://schemas.microsoft.com/office/drawing/2014/main" id="{5F8C7BAE-B92C-414D-BD0F-9847D249E4E9}"/>
              </a:ext>
            </a:extLst>
          </p:cNvPr>
          <p:cNvSpPr txBox="1">
            <a:spLocks noChangeArrowheads="1"/>
          </p:cNvSpPr>
          <p:nvPr/>
        </p:nvSpPr>
        <p:spPr bwMode="auto">
          <a:xfrm>
            <a:off x="2390503" y="5410201"/>
            <a:ext cx="7077347" cy="861774"/>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
              <a:defRPr/>
            </a:pPr>
            <a:r>
              <a:rPr lang="en-US" sz="2000" dirty="0"/>
              <a:t>A technology that uses laser beams for storage. </a:t>
            </a:r>
          </a:p>
          <a:p>
            <a:pPr marL="457200" indent="-457200">
              <a:spcBef>
                <a:spcPct val="50000"/>
              </a:spcBef>
              <a:buClr>
                <a:srgbClr val="CC0000"/>
              </a:buClr>
              <a:buFont typeface="Wingdings" pitchFamily="2" charset="2"/>
              <a:buChar char="§"/>
              <a:defRPr/>
            </a:pPr>
            <a:r>
              <a:rPr lang="en-US" sz="2000" dirty="0"/>
              <a:t>Its capacity is 6 times greater than the CD.</a:t>
            </a:r>
            <a:endParaRPr lang="en-US" sz="2000" b="1" dirty="0">
              <a:solidFill>
                <a:schemeClr val="accent1">
                  <a:lumMod val="75000"/>
                </a:schemeClr>
              </a:solidFill>
              <a:effectLst>
                <a:outerShdw blurRad="38100" dist="38100" dir="2700000" algn="tl">
                  <a:srgbClr val="000000"/>
                </a:outerShdw>
              </a:effectLst>
            </a:endParaRPr>
          </a:p>
        </p:txBody>
      </p:sp>
      <p:pic>
        <p:nvPicPr>
          <p:cNvPr id="74759" name="Picture 8" descr="scan0011">
            <a:extLst>
              <a:ext uri="{FF2B5EF4-FFF2-40B4-BE49-F238E27FC236}">
                <a16:creationId xmlns:a16="http://schemas.microsoft.com/office/drawing/2014/main" id="{7B4457FF-2BB0-4D1B-973A-1BB8B5D3B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0214" y="1219200"/>
            <a:ext cx="3709987" cy="3548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WordArt 2">
            <a:extLst>
              <a:ext uri="{FF2B5EF4-FFF2-40B4-BE49-F238E27FC236}">
                <a16:creationId xmlns:a16="http://schemas.microsoft.com/office/drawing/2014/main" id="{E5D858AA-44AB-4308-B928-0D3152710780}"/>
              </a:ext>
            </a:extLst>
          </p:cNvPr>
          <p:cNvSpPr>
            <a:spLocks noChangeArrowheads="1" noChangeShapeType="1" noTextEdit="1"/>
          </p:cNvSpPr>
          <p:nvPr/>
        </p:nvSpPr>
        <p:spPr bwMode="auto">
          <a:xfrm>
            <a:off x="3474708" y="304799"/>
            <a:ext cx="4323806" cy="648789"/>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altLang="en-US" sz="3200" b="1" dirty="0"/>
              <a:t>Flash Memory</a:t>
            </a:r>
          </a:p>
          <a:p>
            <a:pPr algn="ctr" rtl="1"/>
            <a:endPar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75782" name="Picture 9" descr="diskonkey1">
            <a:extLst>
              <a:ext uri="{FF2B5EF4-FFF2-40B4-BE49-F238E27FC236}">
                <a16:creationId xmlns:a16="http://schemas.microsoft.com/office/drawing/2014/main" id="{250A8589-2CC6-4A08-814C-A9B39400CE9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a:xfrm>
            <a:off x="2743200" y="3448050"/>
            <a:ext cx="1422400" cy="1181100"/>
          </a:xfrm>
        </p:spPr>
      </p:pic>
      <p:pic>
        <p:nvPicPr>
          <p:cNvPr id="75783" name="Picture 11" descr="diskonkey3">
            <a:extLst>
              <a:ext uri="{FF2B5EF4-FFF2-40B4-BE49-F238E27FC236}">
                <a16:creationId xmlns:a16="http://schemas.microsoft.com/office/drawing/2014/main" id="{C4DA2984-96C4-4AEF-BA22-E45C62D9208E}"/>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88164" y="1557339"/>
            <a:ext cx="2308225" cy="3813175"/>
          </a:xfrm>
        </p:spPr>
      </p:pic>
      <p:pic>
        <p:nvPicPr>
          <p:cNvPr id="75784" name="Picture 14" descr="diskonkey2">
            <a:extLst>
              <a:ext uri="{FF2B5EF4-FFF2-40B4-BE49-F238E27FC236}">
                <a16:creationId xmlns:a16="http://schemas.microsoft.com/office/drawing/2014/main" id="{070BC61B-65A1-46BD-9B2F-B4BB87652592}"/>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071814" y="1412875"/>
            <a:ext cx="2854325" cy="2317750"/>
          </a:xfrm>
        </p:spPr>
      </p:pic>
    </p:spTree>
  </p:cSld>
  <p:clrMapOvr>
    <a:masterClrMapping/>
  </p:clrMapOvr>
  <p:transition spd="med" advClick="0">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765168" y="1505527"/>
            <a:ext cx="9914708" cy="2212800"/>
          </a:xfrm>
        </p:spPr>
        <p:txBody>
          <a:bodyPr>
            <a:normAutofit fontScale="90000"/>
          </a:bodyPr>
          <a:lstStyle/>
          <a:p>
            <a:pPr algn="ctr"/>
            <a:r>
              <a:rPr lang="en-US" dirty="0">
                <a:solidFill>
                  <a:schemeClr val="accent2">
                    <a:lumMod val="60000"/>
                    <a:lumOff val="40000"/>
                  </a:schemeClr>
                </a:solidFill>
                <a:latin typeface="Andalus" panose="02020603050405020304" pitchFamily="18" charset="-78"/>
                <a:cs typeface="Andalus" panose="02020603050405020304" pitchFamily="18" charset="-78"/>
              </a:rPr>
              <a:t>Introduction to Computer Science</a:t>
            </a:r>
            <a:endParaRPr lang="en-US" dirty="0"/>
          </a:p>
        </p:txBody>
      </p:sp>
      <p:sp>
        <p:nvSpPr>
          <p:cNvPr id="7" name="Subtitle 6"/>
          <p:cNvSpPr>
            <a:spLocks noGrp="1"/>
          </p:cNvSpPr>
          <p:nvPr>
            <p:ph type="subTitle" idx="1"/>
          </p:nvPr>
        </p:nvSpPr>
        <p:spPr>
          <a:xfrm>
            <a:off x="1154955" y="4010762"/>
            <a:ext cx="8825658" cy="861420"/>
          </a:xfrm>
        </p:spPr>
        <p:txBody>
          <a:bodyPr/>
          <a:lstStyle/>
          <a:p>
            <a:pPr algn="ctr"/>
            <a:r>
              <a:rPr lang="en-US" sz="2800" b="1" dirty="0">
                <a:solidFill>
                  <a:schemeClr val="accent2">
                    <a:lumMod val="60000"/>
                    <a:lumOff val="40000"/>
                  </a:schemeClr>
                </a:solidFill>
                <a:latin typeface="Andalus" panose="02020603050405020304" pitchFamily="18" charset="-78"/>
                <a:cs typeface="Andalus" panose="02020603050405020304" pitchFamily="18" charset="-78"/>
              </a:rPr>
              <a:t>Lecure2_Part2</a:t>
            </a:r>
            <a:endParaRPr lang="en-US" b="1" dirty="0">
              <a:solidFill>
                <a:schemeClr val="accent2">
                  <a:lumMod val="60000"/>
                  <a:lumOff val="40000"/>
                </a:schemeClr>
              </a:solidFill>
              <a:latin typeface="Andalus" panose="02020603050405020304" pitchFamily="18" charset="-78"/>
              <a:cs typeface="Andalus" panose="02020603050405020304" pitchFamily="18" charset="-78"/>
            </a:endParaRPr>
          </a:p>
          <a:p>
            <a:pPr algn="ctr"/>
            <a:endParaRPr 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pPr algn="ctr"/>
            <a:r>
              <a:rPr lang="en-US" dirty="0"/>
              <a:t>Computer components</a:t>
            </a:r>
            <a:r>
              <a:rPr lang="en-US"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
            </a:r>
            <a:br>
              <a:rPr lang="en-US"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b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i="1" dirty="0"/>
              <a:t>OBJECTIVES AND INTENDED OUTCOMES</a:t>
            </a:r>
            <a:r>
              <a:rPr lang="en-US" dirty="0"/>
              <a:t/>
            </a:r>
            <a:br>
              <a:rPr lang="en-US" dirty="0"/>
            </a:br>
            <a:endParaRPr lang="en-US" dirty="0"/>
          </a:p>
        </p:txBody>
      </p:sp>
      <p:sp>
        <p:nvSpPr>
          <p:cNvPr id="9" name="Content Placeholder 8"/>
          <p:cNvSpPr>
            <a:spLocks noGrp="1"/>
          </p:cNvSpPr>
          <p:nvPr>
            <p:ph idx="1"/>
          </p:nvPr>
        </p:nvSpPr>
        <p:spPr>
          <a:xfrm>
            <a:off x="677334" y="1711235"/>
            <a:ext cx="8596668" cy="4330128"/>
          </a:xfrm>
        </p:spPr>
        <p:txBody>
          <a:bodyPr>
            <a:normAutofit lnSpcReduction="10000"/>
          </a:bodyPr>
          <a:lstStyle/>
          <a:p>
            <a:pPr>
              <a:buFont typeface="Wingdings" pitchFamily="2" charset="2"/>
              <a:buChar char="q"/>
            </a:pPr>
            <a:r>
              <a:rPr lang="en-US" sz="2400" dirty="0"/>
              <a:t>By the end of this lesson the learner is expected to:</a:t>
            </a:r>
          </a:p>
          <a:p>
            <a:pPr>
              <a:buFont typeface="Wingdings" pitchFamily="2" charset="2"/>
              <a:buChar char="q"/>
            </a:pPr>
            <a:endParaRPr lang="en-US" sz="2400" dirty="0"/>
          </a:p>
          <a:p>
            <a:pPr lvl="1">
              <a:buFont typeface="Wingdings" pitchFamily="2" charset="2"/>
              <a:buChar char="q"/>
            </a:pPr>
            <a:r>
              <a:rPr lang="en-US" sz="2000" dirty="0"/>
              <a:t>Understand the concept of the input and output devices.</a:t>
            </a:r>
          </a:p>
          <a:p>
            <a:pPr lvl="1">
              <a:buFont typeface="Wingdings" pitchFamily="2" charset="2"/>
              <a:buChar char="q"/>
            </a:pPr>
            <a:endParaRPr lang="en-US" sz="2000" dirty="0"/>
          </a:p>
          <a:p>
            <a:pPr lvl="1">
              <a:buFont typeface="Wingdings" pitchFamily="2" charset="2"/>
              <a:buChar char="q"/>
            </a:pPr>
            <a:r>
              <a:rPr lang="en-US" sz="2000" dirty="0"/>
              <a:t> Learn the function of input and output devices.</a:t>
            </a:r>
          </a:p>
          <a:p>
            <a:pPr lvl="1">
              <a:buFont typeface="Wingdings" pitchFamily="2" charset="2"/>
              <a:buChar char="q"/>
            </a:pPr>
            <a:endParaRPr lang="en-US" sz="2000" dirty="0"/>
          </a:p>
          <a:p>
            <a:pPr lvl="1">
              <a:buFont typeface="Wingdings" pitchFamily="2" charset="2"/>
              <a:buChar char="q"/>
            </a:pPr>
            <a:r>
              <a:rPr lang="en-US" sz="2000" dirty="0"/>
              <a:t> Learn the compare between deferent input and output devices.</a:t>
            </a:r>
          </a:p>
          <a:p>
            <a:pPr lvl="1">
              <a:buFont typeface="Wingdings" pitchFamily="2" charset="2"/>
              <a:buChar char="q"/>
            </a:pPr>
            <a:endParaRPr lang="en-US" sz="2000" dirty="0"/>
          </a:p>
          <a:p>
            <a:pPr lvl="1">
              <a:buFont typeface="Wingdings" pitchFamily="2" charset="2"/>
              <a:buChar char="q"/>
            </a:pPr>
            <a:r>
              <a:rPr lang="en-US" sz="2000" dirty="0"/>
              <a:t>Understand the appropriate way to enter and show various data.</a:t>
            </a:r>
          </a:p>
          <a:p>
            <a:pPr>
              <a:buFont typeface="Wingdings" pitchFamily="2" charset="2"/>
              <a:buChar char="q"/>
            </a:pPr>
            <a:endParaRPr lang="en-US" sz="2400"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WordArt 2">
            <a:extLst>
              <a:ext uri="{FF2B5EF4-FFF2-40B4-BE49-F238E27FC236}">
                <a16:creationId xmlns:a16="http://schemas.microsoft.com/office/drawing/2014/main" id="{D82D7A42-2395-408C-BB0F-A6E5D0D6BE98}"/>
              </a:ext>
            </a:extLst>
          </p:cNvPr>
          <p:cNvSpPr>
            <a:spLocks noChangeArrowheads="1" noChangeShapeType="1" noTextEdit="1"/>
          </p:cNvSpPr>
          <p:nvPr/>
        </p:nvSpPr>
        <p:spPr bwMode="auto">
          <a:xfrm>
            <a:off x="2840484" y="370115"/>
            <a:ext cx="4943475" cy="55245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Input Unit</a:t>
            </a:r>
          </a:p>
        </p:txBody>
      </p:sp>
      <p:sp>
        <p:nvSpPr>
          <p:cNvPr id="52231" name="مستطيل 25">
            <a:extLst>
              <a:ext uri="{FF2B5EF4-FFF2-40B4-BE49-F238E27FC236}">
                <a16:creationId xmlns:a16="http://schemas.microsoft.com/office/drawing/2014/main" id="{C86A7625-C7AF-4D78-8BA2-C34D98C337AD}"/>
              </a:ext>
            </a:extLst>
          </p:cNvPr>
          <p:cNvSpPr>
            <a:spLocks noChangeArrowheads="1"/>
          </p:cNvSpPr>
          <p:nvPr/>
        </p:nvSpPr>
        <p:spPr bwMode="auto">
          <a:xfrm>
            <a:off x="365760" y="1571625"/>
            <a:ext cx="915924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Low" rtl="0">
              <a:spcBef>
                <a:spcPct val="0"/>
              </a:spcBef>
              <a:buNone/>
            </a:pPr>
            <a:r>
              <a:rPr lang="en-US" sz="3600" dirty="0"/>
              <a:t>Input units are mainly based on linking computer users to the computers themselves, as they are responsible for entering data and programs into the computer's memory, and they send those entered data to the computer in a language readable by the computer itself.</a:t>
            </a:r>
            <a:endParaRPr lang="ar-SA" altLang="en-US" sz="3600" dirty="0">
              <a:latin typeface="Times New Roman" panose="02020603050405020304" pitchFamily="18" charset="0"/>
            </a:endParaRP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WordArt 2">
            <a:extLst>
              <a:ext uri="{FF2B5EF4-FFF2-40B4-BE49-F238E27FC236}">
                <a16:creationId xmlns:a16="http://schemas.microsoft.com/office/drawing/2014/main" id="{0F60D74D-0D2E-44BE-B1F9-CBC2630179D1}"/>
              </a:ext>
            </a:extLst>
          </p:cNvPr>
          <p:cNvSpPr>
            <a:spLocks noChangeArrowheads="1" noChangeShapeType="1" noTextEdit="1"/>
          </p:cNvSpPr>
          <p:nvPr/>
        </p:nvSpPr>
        <p:spPr bwMode="auto">
          <a:xfrm>
            <a:off x="3624264" y="304800"/>
            <a:ext cx="4943475" cy="55245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Input Unit</a:t>
            </a:r>
          </a:p>
        </p:txBody>
      </p:sp>
      <p:sp>
        <p:nvSpPr>
          <p:cNvPr id="53254" name="AutoShape 16">
            <a:extLst>
              <a:ext uri="{FF2B5EF4-FFF2-40B4-BE49-F238E27FC236}">
                <a16:creationId xmlns:a16="http://schemas.microsoft.com/office/drawing/2014/main" id="{DE18ACD5-2D99-4B69-8FA1-40B949AFAB57}"/>
              </a:ext>
            </a:extLst>
          </p:cNvPr>
          <p:cNvSpPr>
            <a:spLocks noChangeArrowheads="1"/>
          </p:cNvSpPr>
          <p:nvPr/>
        </p:nvSpPr>
        <p:spPr bwMode="auto">
          <a:xfrm>
            <a:off x="7772400" y="51054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55" name="AutoShape 15">
            <a:extLst>
              <a:ext uri="{FF2B5EF4-FFF2-40B4-BE49-F238E27FC236}">
                <a16:creationId xmlns:a16="http://schemas.microsoft.com/office/drawing/2014/main" id="{79C1BB3B-F7B2-4B3B-B7CA-B25E93518B00}"/>
              </a:ext>
            </a:extLst>
          </p:cNvPr>
          <p:cNvSpPr>
            <a:spLocks noChangeArrowheads="1"/>
          </p:cNvSpPr>
          <p:nvPr/>
        </p:nvSpPr>
        <p:spPr bwMode="auto">
          <a:xfrm>
            <a:off x="1981200" y="51054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56" name="AutoShape 18">
            <a:extLst>
              <a:ext uri="{FF2B5EF4-FFF2-40B4-BE49-F238E27FC236}">
                <a16:creationId xmlns:a16="http://schemas.microsoft.com/office/drawing/2014/main" id="{EDE5A6AD-176D-425A-96CE-4D1AE5BD6805}"/>
              </a:ext>
            </a:extLst>
          </p:cNvPr>
          <p:cNvSpPr>
            <a:spLocks noChangeArrowheads="1"/>
          </p:cNvSpPr>
          <p:nvPr/>
        </p:nvSpPr>
        <p:spPr bwMode="auto">
          <a:xfrm>
            <a:off x="4800600" y="51054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57" name="AutoShape 19">
            <a:extLst>
              <a:ext uri="{FF2B5EF4-FFF2-40B4-BE49-F238E27FC236}">
                <a16:creationId xmlns:a16="http://schemas.microsoft.com/office/drawing/2014/main" id="{342E422C-3C20-48E5-A167-C1C24CD39AE4}"/>
              </a:ext>
            </a:extLst>
          </p:cNvPr>
          <p:cNvSpPr>
            <a:spLocks noChangeArrowheads="1"/>
          </p:cNvSpPr>
          <p:nvPr/>
        </p:nvSpPr>
        <p:spPr bwMode="auto">
          <a:xfrm>
            <a:off x="19812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58" name="AutoShape 20">
            <a:extLst>
              <a:ext uri="{FF2B5EF4-FFF2-40B4-BE49-F238E27FC236}">
                <a16:creationId xmlns:a16="http://schemas.microsoft.com/office/drawing/2014/main" id="{26669C5C-656F-4C16-AA72-6ABC7222551B}"/>
              </a:ext>
            </a:extLst>
          </p:cNvPr>
          <p:cNvSpPr>
            <a:spLocks noChangeArrowheads="1"/>
          </p:cNvSpPr>
          <p:nvPr/>
        </p:nvSpPr>
        <p:spPr bwMode="auto">
          <a:xfrm>
            <a:off x="48006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59" name="AutoShape 21">
            <a:extLst>
              <a:ext uri="{FF2B5EF4-FFF2-40B4-BE49-F238E27FC236}">
                <a16:creationId xmlns:a16="http://schemas.microsoft.com/office/drawing/2014/main" id="{F3737A0B-0012-4E4A-A45A-1F8810358F60}"/>
              </a:ext>
            </a:extLst>
          </p:cNvPr>
          <p:cNvSpPr>
            <a:spLocks noChangeArrowheads="1"/>
          </p:cNvSpPr>
          <p:nvPr/>
        </p:nvSpPr>
        <p:spPr bwMode="auto">
          <a:xfrm>
            <a:off x="77724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60" name="AutoShape 22">
            <a:extLst>
              <a:ext uri="{FF2B5EF4-FFF2-40B4-BE49-F238E27FC236}">
                <a16:creationId xmlns:a16="http://schemas.microsoft.com/office/drawing/2014/main" id="{C574E816-35EC-458C-8D84-E2FF5F4B9F0A}"/>
              </a:ext>
            </a:extLst>
          </p:cNvPr>
          <p:cNvSpPr>
            <a:spLocks noChangeArrowheads="1"/>
          </p:cNvSpPr>
          <p:nvPr/>
        </p:nvSpPr>
        <p:spPr bwMode="auto">
          <a:xfrm>
            <a:off x="19812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61" name="AutoShape 23">
            <a:extLst>
              <a:ext uri="{FF2B5EF4-FFF2-40B4-BE49-F238E27FC236}">
                <a16:creationId xmlns:a16="http://schemas.microsoft.com/office/drawing/2014/main" id="{A856243E-17DE-43A8-A5E9-5198A459C373}"/>
              </a:ext>
            </a:extLst>
          </p:cNvPr>
          <p:cNvSpPr>
            <a:spLocks noChangeArrowheads="1"/>
          </p:cNvSpPr>
          <p:nvPr/>
        </p:nvSpPr>
        <p:spPr bwMode="auto">
          <a:xfrm>
            <a:off x="48006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53262" name="AutoShape 24">
            <a:extLst>
              <a:ext uri="{FF2B5EF4-FFF2-40B4-BE49-F238E27FC236}">
                <a16:creationId xmlns:a16="http://schemas.microsoft.com/office/drawing/2014/main" id="{8B8BBB9D-106E-4DA2-8086-9A8B81AF3304}"/>
              </a:ext>
            </a:extLst>
          </p:cNvPr>
          <p:cNvSpPr>
            <a:spLocks noChangeArrowheads="1"/>
          </p:cNvSpPr>
          <p:nvPr/>
        </p:nvSpPr>
        <p:spPr bwMode="auto">
          <a:xfrm>
            <a:off x="77724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graphicFrame>
        <p:nvGraphicFramePr>
          <p:cNvPr id="53263" name="Object 2">
            <a:hlinkClick r:id="rId3" action="ppaction://hlinksldjump"/>
            <a:extLst>
              <a:ext uri="{FF2B5EF4-FFF2-40B4-BE49-F238E27FC236}">
                <a16:creationId xmlns:a16="http://schemas.microsoft.com/office/drawing/2014/main" id="{57A07DC2-C53A-4CD2-8760-9294C413FEB9}"/>
              </a:ext>
            </a:extLst>
          </p:cNvPr>
          <p:cNvGraphicFramePr>
            <a:graphicFrameLocks noChangeAspect="1"/>
          </p:cNvGraphicFramePr>
          <p:nvPr/>
        </p:nvGraphicFramePr>
        <p:xfrm>
          <a:off x="4953000" y="5334000"/>
          <a:ext cx="2209800" cy="1143000"/>
        </p:xfrm>
        <a:graphic>
          <a:graphicData uri="http://schemas.openxmlformats.org/presentationml/2006/ole">
            <mc:AlternateContent xmlns:mc="http://schemas.openxmlformats.org/markup-compatibility/2006">
              <mc:Choice xmlns:v="urn:schemas-microsoft-com:vml" Requires="v">
                <p:oleObj spid="_x0000_s1036" name="Image" r:id="rId4" imgW="2943636" imgH="2362530" progId="">
                  <p:embed/>
                </p:oleObj>
              </mc:Choice>
              <mc:Fallback>
                <p:oleObj name="Image" r:id="rId4" imgW="2943636" imgH="2362530" progId="">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l="49191" r="6796" b="16129"/>
                      <a:stretch>
                        <a:fillRect/>
                      </a:stretch>
                    </p:blipFill>
                    <p:spPr bwMode="auto">
                      <a:xfrm>
                        <a:off x="4953000" y="5334000"/>
                        <a:ext cx="2209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pic>
        <p:nvPicPr>
          <p:cNvPr id="53264" name="Picture 10" descr="scanners1">
            <a:hlinkClick r:id="rId6" action="ppaction://hlinksldjump"/>
            <a:extLst>
              <a:ext uri="{FF2B5EF4-FFF2-40B4-BE49-F238E27FC236}">
                <a16:creationId xmlns:a16="http://schemas.microsoft.com/office/drawing/2014/main" id="{9B691F6D-2B1B-4BF0-9FF7-AF4C05B8BB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1676400"/>
            <a:ext cx="21717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53265" name="Picture 9" descr="mice">
            <a:hlinkClick r:id="rId8" action="ppaction://hlinksldjump"/>
            <a:extLst>
              <a:ext uri="{FF2B5EF4-FFF2-40B4-BE49-F238E27FC236}">
                <a16:creationId xmlns:a16="http://schemas.microsoft.com/office/drawing/2014/main" id="{54A788D6-785D-4D6A-8D12-DCE740D4E62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16764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6" name="Picture 11" descr="sait1L">
            <a:hlinkClick r:id="rId10" action="ppaction://hlinksldjump"/>
            <a:extLst>
              <a:ext uri="{FF2B5EF4-FFF2-40B4-BE49-F238E27FC236}">
                <a16:creationId xmlns:a16="http://schemas.microsoft.com/office/drawing/2014/main" id="{801D81E6-308A-43B4-B91C-65163F2B4F7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1000" y="3429000"/>
            <a:ext cx="2133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pic>
      <p:pic>
        <p:nvPicPr>
          <p:cNvPr id="53267" name="Picture 8" descr="ky3">
            <a:hlinkClick r:id="rId12" action="ppaction://hlinksldjump"/>
            <a:extLst>
              <a:ext uri="{FF2B5EF4-FFF2-40B4-BE49-F238E27FC236}">
                <a16:creationId xmlns:a16="http://schemas.microsoft.com/office/drawing/2014/main" id="{0A78DDAF-07D8-478E-A88A-F52CA0CB629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26680" b="24811"/>
          <a:stretch>
            <a:fillRect/>
          </a:stretch>
        </p:blipFill>
        <p:spPr bwMode="auto">
          <a:xfrm>
            <a:off x="8001001" y="1676400"/>
            <a:ext cx="21510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8" name="Picture 12" descr="pin1">
            <a:hlinkClick r:id="rId14" action="ppaction://hlinksldjump"/>
            <a:extLst>
              <a:ext uri="{FF2B5EF4-FFF2-40B4-BE49-F238E27FC236}">
                <a16:creationId xmlns:a16="http://schemas.microsoft.com/office/drawing/2014/main" id="{CB077749-AD1B-441C-ADD2-AA3185922AE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9200" y="3505201"/>
            <a:ext cx="2146300"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pic>
      <p:pic>
        <p:nvPicPr>
          <p:cNvPr id="53269" name="Picture 13" descr="ph2">
            <a:hlinkClick r:id="rId16" action="ppaction://hlinksldjump"/>
            <a:extLst>
              <a:ext uri="{FF2B5EF4-FFF2-40B4-BE49-F238E27FC236}">
                <a16:creationId xmlns:a16="http://schemas.microsoft.com/office/drawing/2014/main" id="{74ECD601-6D06-48AF-8151-E0105CDBEB5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09800" y="3505201"/>
            <a:ext cx="2185988"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pic>
      <p:pic>
        <p:nvPicPr>
          <p:cNvPr id="53270" name="Picture 25" descr="scan0002">
            <a:hlinkClick r:id="rId18" action="ppaction://hlinksldjump"/>
            <a:extLst>
              <a:ext uri="{FF2B5EF4-FFF2-40B4-BE49-F238E27FC236}">
                <a16:creationId xmlns:a16="http://schemas.microsoft.com/office/drawing/2014/main" id="{FA457D17-EA2F-482A-8ECC-F5399FBCABB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l="2592" t="8504" r="4051"/>
          <a:stretch>
            <a:fillRect/>
          </a:stretch>
        </p:blipFill>
        <p:spPr bwMode="auto">
          <a:xfrm>
            <a:off x="8001000" y="53340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1" name="Picture 26" descr="scan0007">
            <a:hlinkClick r:id="rId20" action="ppaction://hlinksldjump"/>
            <a:extLst>
              <a:ext uri="{FF2B5EF4-FFF2-40B4-BE49-F238E27FC236}">
                <a16:creationId xmlns:a16="http://schemas.microsoft.com/office/drawing/2014/main" id="{F34BD6AA-6495-4214-A1A0-888BB29534B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l="5437" t="4138" r="2151" b="4828"/>
          <a:stretch>
            <a:fillRect/>
          </a:stretch>
        </p:blipFill>
        <p:spPr bwMode="auto">
          <a:xfrm>
            <a:off x="2209800" y="53340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WordArt 2">
            <a:extLst>
              <a:ext uri="{FF2B5EF4-FFF2-40B4-BE49-F238E27FC236}">
                <a16:creationId xmlns:a16="http://schemas.microsoft.com/office/drawing/2014/main" id="{D82D7A42-2395-408C-BB0F-A6E5D0D6BE98}"/>
              </a:ext>
            </a:extLst>
          </p:cNvPr>
          <p:cNvSpPr>
            <a:spLocks noChangeArrowheads="1" noChangeShapeType="1" noTextEdit="1"/>
          </p:cNvSpPr>
          <p:nvPr/>
        </p:nvSpPr>
        <p:spPr bwMode="auto">
          <a:xfrm>
            <a:off x="1795445" y="775066"/>
            <a:ext cx="6734582" cy="988423"/>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Output Unit</a:t>
            </a:r>
          </a:p>
        </p:txBody>
      </p:sp>
      <p:sp>
        <p:nvSpPr>
          <p:cNvPr id="52231" name="مستطيل 25">
            <a:extLst>
              <a:ext uri="{FF2B5EF4-FFF2-40B4-BE49-F238E27FC236}">
                <a16:creationId xmlns:a16="http://schemas.microsoft.com/office/drawing/2014/main" id="{C86A7625-C7AF-4D78-8BA2-C34D98C337AD}"/>
              </a:ext>
            </a:extLst>
          </p:cNvPr>
          <p:cNvSpPr>
            <a:spLocks noChangeArrowheads="1"/>
          </p:cNvSpPr>
          <p:nvPr/>
        </p:nvSpPr>
        <p:spPr bwMode="auto">
          <a:xfrm>
            <a:off x="980662" y="2603602"/>
            <a:ext cx="854434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rtl="0">
              <a:spcBef>
                <a:spcPct val="0"/>
              </a:spcBef>
              <a:buNone/>
            </a:pPr>
            <a:r>
              <a:rPr lang="en-US" sz="3600" dirty="0"/>
              <a:t>The output units that receive the results and display them in different forms.</a:t>
            </a:r>
            <a:endParaRPr lang="ar-SA" altLang="en-US" sz="3600" dirty="0">
              <a:latin typeface="Times New Roman" panose="02020603050405020304" pitchFamily="18" charset="0"/>
            </a:endParaRPr>
          </a:p>
        </p:txBody>
      </p:sp>
    </p:spTree>
    <p:extLst>
      <p:ext uri="{BB962C8B-B14F-4D97-AF65-F5344CB8AC3E}">
        <p14:creationId xmlns:p14="http://schemas.microsoft.com/office/powerpoint/2010/main" val="3549560097"/>
      </p:ext>
    </p:extLst>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WordArt 2">
            <a:extLst>
              <a:ext uri="{FF2B5EF4-FFF2-40B4-BE49-F238E27FC236}">
                <a16:creationId xmlns:a16="http://schemas.microsoft.com/office/drawing/2014/main" id="{0CB204C4-1951-4397-B2B2-D63A6AD9CE25}"/>
              </a:ext>
            </a:extLst>
          </p:cNvPr>
          <p:cNvSpPr>
            <a:spLocks noChangeArrowheads="1" noChangeShapeType="1" noTextEdit="1"/>
          </p:cNvSpPr>
          <p:nvPr/>
        </p:nvSpPr>
        <p:spPr bwMode="auto">
          <a:xfrm>
            <a:off x="3101744" y="343989"/>
            <a:ext cx="5441359" cy="518160"/>
          </a:xfrm>
          <a:prstGeom prst="rect">
            <a:avLst/>
          </a:prstGeom>
        </p:spPr>
        <p:txBody>
          <a:bodyPr wrap="none" fromWordArt="1">
            <a:prstTxWarp prst="textPlain">
              <a:avLst>
                <a:gd name="adj" fmla="val 5024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600"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Output Unit</a:t>
            </a:r>
          </a:p>
        </p:txBody>
      </p:sp>
      <p:sp>
        <p:nvSpPr>
          <p:cNvPr id="63494" name="AutoShape 9">
            <a:extLst>
              <a:ext uri="{FF2B5EF4-FFF2-40B4-BE49-F238E27FC236}">
                <a16:creationId xmlns:a16="http://schemas.microsoft.com/office/drawing/2014/main" id="{7D641773-A3EE-43F3-9B94-7E5ECF25DC89}"/>
              </a:ext>
            </a:extLst>
          </p:cNvPr>
          <p:cNvSpPr>
            <a:spLocks noChangeArrowheads="1"/>
          </p:cNvSpPr>
          <p:nvPr/>
        </p:nvSpPr>
        <p:spPr bwMode="auto">
          <a:xfrm>
            <a:off x="19812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63495" name="AutoShape 10">
            <a:extLst>
              <a:ext uri="{FF2B5EF4-FFF2-40B4-BE49-F238E27FC236}">
                <a16:creationId xmlns:a16="http://schemas.microsoft.com/office/drawing/2014/main" id="{7E3C531E-D644-478E-8061-26DCC62344FE}"/>
              </a:ext>
            </a:extLst>
          </p:cNvPr>
          <p:cNvSpPr>
            <a:spLocks noChangeArrowheads="1"/>
          </p:cNvSpPr>
          <p:nvPr/>
        </p:nvSpPr>
        <p:spPr bwMode="auto">
          <a:xfrm>
            <a:off x="48006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63496" name="AutoShape 11">
            <a:extLst>
              <a:ext uri="{FF2B5EF4-FFF2-40B4-BE49-F238E27FC236}">
                <a16:creationId xmlns:a16="http://schemas.microsoft.com/office/drawing/2014/main" id="{F753F932-D929-4B68-910C-C79527FB55BA}"/>
              </a:ext>
            </a:extLst>
          </p:cNvPr>
          <p:cNvSpPr>
            <a:spLocks noChangeArrowheads="1"/>
          </p:cNvSpPr>
          <p:nvPr/>
        </p:nvSpPr>
        <p:spPr bwMode="auto">
          <a:xfrm>
            <a:off x="7772400" y="32766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63497" name="AutoShape 12">
            <a:extLst>
              <a:ext uri="{FF2B5EF4-FFF2-40B4-BE49-F238E27FC236}">
                <a16:creationId xmlns:a16="http://schemas.microsoft.com/office/drawing/2014/main" id="{26D66802-E8AB-4E61-A555-DE35CC9FB54A}"/>
              </a:ext>
            </a:extLst>
          </p:cNvPr>
          <p:cNvSpPr>
            <a:spLocks noChangeArrowheads="1"/>
          </p:cNvSpPr>
          <p:nvPr/>
        </p:nvSpPr>
        <p:spPr bwMode="auto">
          <a:xfrm>
            <a:off x="19812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63498" name="AutoShape 13">
            <a:extLst>
              <a:ext uri="{FF2B5EF4-FFF2-40B4-BE49-F238E27FC236}">
                <a16:creationId xmlns:a16="http://schemas.microsoft.com/office/drawing/2014/main" id="{853F6C2D-0327-4F4C-A311-3110D528A444}"/>
              </a:ext>
            </a:extLst>
          </p:cNvPr>
          <p:cNvSpPr>
            <a:spLocks noChangeArrowheads="1"/>
          </p:cNvSpPr>
          <p:nvPr/>
        </p:nvSpPr>
        <p:spPr bwMode="auto">
          <a:xfrm>
            <a:off x="48006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sp>
        <p:nvSpPr>
          <p:cNvPr id="63499" name="AutoShape 14">
            <a:extLst>
              <a:ext uri="{FF2B5EF4-FFF2-40B4-BE49-F238E27FC236}">
                <a16:creationId xmlns:a16="http://schemas.microsoft.com/office/drawing/2014/main" id="{38F39653-DF2B-42A0-8B09-8E9FDBF099E1}"/>
              </a:ext>
            </a:extLst>
          </p:cNvPr>
          <p:cNvSpPr>
            <a:spLocks noChangeArrowheads="1"/>
          </p:cNvSpPr>
          <p:nvPr/>
        </p:nvSpPr>
        <p:spPr bwMode="auto">
          <a:xfrm>
            <a:off x="7772400" y="1447800"/>
            <a:ext cx="2590800" cy="1600200"/>
          </a:xfrm>
          <a:prstGeom prst="bevel">
            <a:avLst>
              <a:gd name="adj" fmla="val 12500"/>
            </a:avLst>
          </a:prstGeom>
          <a:gradFill rotWithShape="0">
            <a:gsLst>
              <a:gs pos="0">
                <a:srgbClr val="8C3D91"/>
              </a:gs>
              <a:gs pos="12000">
                <a:srgbClr val="7005D4"/>
              </a:gs>
              <a:gs pos="30000">
                <a:srgbClr val="181CC7"/>
              </a:gs>
              <a:gs pos="60001">
                <a:srgbClr val="0A128C"/>
              </a:gs>
              <a:gs pos="100000">
                <a:srgbClr val="000000"/>
              </a:gs>
            </a:gsLst>
            <a:lin ang="5400000" scaled="1"/>
          </a:gradFill>
          <a:ln w="9525">
            <a:solidFill>
              <a:schemeClr val="tx1"/>
            </a:solidFill>
            <a:miter lim="800000"/>
            <a:headEnd/>
            <a:tailEnd/>
          </a:ln>
        </p:spPr>
        <p:txBody>
          <a:bodyPr wrap="none" anchor="ct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spcBef>
                <a:spcPct val="0"/>
              </a:spcBef>
              <a:buFontTx/>
              <a:buNone/>
            </a:pPr>
            <a:endParaRPr lang="ar-SA" altLang="en-US" sz="1800">
              <a:latin typeface="Times New Roman" panose="02020603050405020304" pitchFamily="18" charset="0"/>
            </a:endParaRPr>
          </a:p>
        </p:txBody>
      </p:sp>
      <p:pic>
        <p:nvPicPr>
          <p:cNvPr id="63500" name="Picture 22" descr="IBM_NetVista@NetVista_X_Series">
            <a:hlinkClick r:id="rId3" action="ppaction://hlinksldjump"/>
            <a:extLst>
              <a:ext uri="{FF2B5EF4-FFF2-40B4-BE49-F238E27FC236}">
                <a16:creationId xmlns:a16="http://schemas.microsoft.com/office/drawing/2014/main" id="{A31AD3B7-EA8A-4D72-82AF-4481C4409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8572" t="14285" b="33333"/>
          <a:stretch>
            <a:fillRect/>
          </a:stretch>
        </p:blipFill>
        <p:spPr bwMode="auto">
          <a:xfrm>
            <a:off x="8001000" y="16764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501" name="Object 2">
            <a:hlinkClick r:id="rId5" action="ppaction://hlinksldjump"/>
            <a:extLst>
              <a:ext uri="{FF2B5EF4-FFF2-40B4-BE49-F238E27FC236}">
                <a16:creationId xmlns:a16="http://schemas.microsoft.com/office/drawing/2014/main" id="{A1C2D629-0458-4449-A63A-2695AE87F88E}"/>
              </a:ext>
            </a:extLst>
          </p:cNvPr>
          <p:cNvGraphicFramePr>
            <a:graphicFrameLocks noChangeAspect="1"/>
          </p:cNvGraphicFramePr>
          <p:nvPr/>
        </p:nvGraphicFramePr>
        <p:xfrm>
          <a:off x="5029200" y="1676400"/>
          <a:ext cx="2133600" cy="1143000"/>
        </p:xfrm>
        <a:graphic>
          <a:graphicData uri="http://schemas.openxmlformats.org/presentationml/2006/ole">
            <mc:AlternateContent xmlns:mc="http://schemas.openxmlformats.org/markup-compatibility/2006">
              <mc:Choice xmlns:v="urn:schemas-microsoft-com:vml" Requires="v">
                <p:oleObj spid="_x0000_s2070" name="Image" r:id="rId6" imgW="1781424" imgH="2152951" progId="">
                  <p:embed/>
                </p:oleObj>
              </mc:Choice>
              <mc:Fallback>
                <p:oleObj name="Image" r:id="rId6" imgW="1781424" imgH="2152951"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l="15140" t="8687" r="1831" b="38788"/>
                      <a:stretch>
                        <a:fillRect/>
                      </a:stretch>
                    </p:blipFill>
                    <p:spPr bwMode="auto">
                      <a:xfrm>
                        <a:off x="5029200" y="1676400"/>
                        <a:ext cx="21336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57150">
                            <a:solidFill>
                              <a:srgbClr val="69B2D7"/>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pic>
        <p:nvPicPr>
          <p:cNvPr id="63502" name="Picture 24" descr="printer">
            <a:hlinkClick r:id="" action="ppaction://noaction"/>
            <a:extLst>
              <a:ext uri="{FF2B5EF4-FFF2-40B4-BE49-F238E27FC236}">
                <a16:creationId xmlns:a16="http://schemas.microsoft.com/office/drawing/2014/main" id="{E86549A7-BC31-462C-97D3-11815E3BAF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1676400"/>
            <a:ext cx="2133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503" name="Picture 25" descr="spk1">
            <a:hlinkClick r:id="rId9" action="ppaction://hlinksldjump"/>
            <a:extLst>
              <a:ext uri="{FF2B5EF4-FFF2-40B4-BE49-F238E27FC236}">
                <a16:creationId xmlns:a16="http://schemas.microsoft.com/office/drawing/2014/main" id="{9E68F2A5-260E-420A-A044-3F7F5EC3736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t="16978" b="19960"/>
          <a:stretch>
            <a:fillRect/>
          </a:stretch>
        </p:blipFill>
        <p:spPr bwMode="auto">
          <a:xfrm>
            <a:off x="8001001" y="3505200"/>
            <a:ext cx="21510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pic>
      <p:graphicFrame>
        <p:nvGraphicFramePr>
          <p:cNvPr id="63504" name="Object 3">
            <a:hlinkClick r:id="rId11" action="ppaction://hlinksldjump"/>
            <a:extLst>
              <a:ext uri="{FF2B5EF4-FFF2-40B4-BE49-F238E27FC236}">
                <a16:creationId xmlns:a16="http://schemas.microsoft.com/office/drawing/2014/main" id="{D8DA68C9-F22B-47E0-8064-FA791F7F1D9C}"/>
              </a:ext>
            </a:extLst>
          </p:cNvPr>
          <p:cNvGraphicFramePr>
            <a:graphicFrameLocks noChangeAspect="1"/>
          </p:cNvGraphicFramePr>
          <p:nvPr/>
        </p:nvGraphicFramePr>
        <p:xfrm>
          <a:off x="5029200" y="3505200"/>
          <a:ext cx="2133600" cy="1143000"/>
        </p:xfrm>
        <a:graphic>
          <a:graphicData uri="http://schemas.openxmlformats.org/presentationml/2006/ole">
            <mc:AlternateContent xmlns:mc="http://schemas.openxmlformats.org/markup-compatibility/2006">
              <mc:Choice xmlns:v="urn:schemas-microsoft-com:vml" Requires="v">
                <p:oleObj spid="_x0000_s2071" name="Image" r:id="rId12" imgW="2523810" imgH="3048426" progId="">
                  <p:embed/>
                </p:oleObj>
              </mc:Choice>
              <mc:Fallback>
                <p:oleObj name="Image" r:id="rId12" imgW="2523810" imgH="3048426" progId="">
                  <p:embed/>
                  <p:pic>
                    <p:nvPicPr>
                      <p:cNvPr id="0" name="Picture 11"/>
                      <p:cNvPicPr>
                        <a:picLocks noChangeAspect="1" noChangeArrowheads="1"/>
                      </p:cNvPicPr>
                      <p:nvPr/>
                    </p:nvPicPr>
                    <p:blipFill>
                      <a:blip r:embed="rId13">
                        <a:extLst>
                          <a:ext uri="{28A0092B-C50C-407E-A947-70E740481C1C}">
                            <a14:useLocalDpi xmlns:a14="http://schemas.microsoft.com/office/drawing/2010/main" val="0"/>
                          </a:ext>
                        </a:extLst>
                      </a:blip>
                      <a:srcRect l="6482" r="8937" b="17500"/>
                      <a:stretch>
                        <a:fillRect/>
                      </a:stretch>
                    </p:blipFill>
                    <p:spPr bwMode="auto">
                      <a:xfrm>
                        <a:off x="5029200" y="3505200"/>
                        <a:ext cx="21336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57150">
                            <a:solidFill>
                              <a:srgbClr val="644C0A"/>
                            </a:solidFill>
                            <a:miter lim="800000"/>
                            <a:headEnd/>
                            <a:tailEnd/>
                          </a14:hiddenLine>
                        </a:ext>
                        <a:ext uri="{AF507438-7753-43E0-B8FC-AC1667EBCBE1}">
                          <a14:hiddenEffects xmlns:a14="http://schemas.microsoft.com/office/drawing/2010/main">
                            <a:effectLst>
                              <a:outerShdw dist="35921" dir="2700000" algn="ctr" rotWithShape="0">
                                <a:srgbClr val="990000"/>
                              </a:outerShdw>
                            </a:effectLst>
                          </a14:hiddenEffects>
                        </a:ext>
                      </a:extLst>
                    </p:spPr>
                  </p:pic>
                </p:oleObj>
              </mc:Fallback>
            </mc:AlternateContent>
          </a:graphicData>
        </a:graphic>
      </p:graphicFrame>
      <p:pic>
        <p:nvPicPr>
          <p:cNvPr id="63505" name="Picture 27" descr="modem_lights_cycle_md_wht">
            <a:hlinkClick r:id="rId14" action="ppaction://hlinksldjump"/>
            <a:extLst>
              <a:ext uri="{FF2B5EF4-FFF2-40B4-BE49-F238E27FC236}">
                <a16:creationId xmlns:a16="http://schemas.microsoft.com/office/drawing/2014/main" id="{CE9FCA51-608E-42AA-9DF2-DF40A5E3847C}"/>
              </a:ext>
            </a:extLst>
          </p:cNvPr>
          <p:cNvPicPr>
            <a:picLocks noChangeAspect="1" noChangeArrowheads="1" noCrop="1"/>
          </p:cNvPicPr>
          <p:nvPr/>
        </p:nvPicPr>
        <p:blipFill>
          <a:blip r:embed="rId15">
            <a:extLst>
              <a:ext uri="{28A0092B-C50C-407E-A947-70E740481C1C}">
                <a14:useLocalDpi xmlns:a14="http://schemas.microsoft.com/office/drawing/2010/main" val="0"/>
              </a:ext>
            </a:extLst>
          </a:blip>
          <a:srcRect/>
          <a:stretch>
            <a:fillRect/>
          </a:stretch>
        </p:blipFill>
        <p:spPr bwMode="auto">
          <a:xfrm>
            <a:off x="2209800" y="3505200"/>
            <a:ext cx="213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WordArt 2">
            <a:extLst>
              <a:ext uri="{FF2B5EF4-FFF2-40B4-BE49-F238E27FC236}">
                <a16:creationId xmlns:a16="http://schemas.microsoft.com/office/drawing/2014/main" id="{468AE2BE-104A-49D9-A94A-353D4F5BCDE1}"/>
              </a:ext>
            </a:extLst>
          </p:cNvPr>
          <p:cNvSpPr>
            <a:spLocks noChangeArrowheads="1" noChangeShapeType="1" noTextEdit="1"/>
          </p:cNvSpPr>
          <p:nvPr/>
        </p:nvSpPr>
        <p:spPr bwMode="auto">
          <a:xfrm>
            <a:off x="3866598" y="605249"/>
            <a:ext cx="2743200" cy="495300"/>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200" dirty="0"/>
              <a:t>system Box</a:t>
            </a:r>
            <a:endPar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45062" name="Text Box 6">
            <a:extLst>
              <a:ext uri="{FF2B5EF4-FFF2-40B4-BE49-F238E27FC236}">
                <a16:creationId xmlns:a16="http://schemas.microsoft.com/office/drawing/2014/main" id="{75B456B9-A1C3-4BEB-94CF-3BDB10CF5F4A}"/>
              </a:ext>
            </a:extLst>
          </p:cNvPr>
          <p:cNvSpPr txBox="1">
            <a:spLocks noChangeArrowheads="1"/>
          </p:cNvSpPr>
          <p:nvPr/>
        </p:nvSpPr>
        <p:spPr bwMode="auto">
          <a:xfrm>
            <a:off x="809897" y="1946366"/>
            <a:ext cx="7462775" cy="2862322"/>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
              <a:defRPr/>
            </a:pPr>
            <a:r>
              <a:rPr lang="en-US" dirty="0"/>
              <a:t>The system box contains most of the computer's units. </a:t>
            </a:r>
          </a:p>
          <a:p>
            <a:pPr marL="457200" indent="-457200">
              <a:spcBef>
                <a:spcPct val="50000"/>
              </a:spcBef>
              <a:buClr>
                <a:srgbClr val="CC0000"/>
              </a:buClr>
              <a:buFont typeface="Wingdings" pitchFamily="2" charset="2"/>
              <a:buChar char="§"/>
              <a:defRPr/>
            </a:pPr>
            <a:r>
              <a:rPr lang="en-US" dirty="0"/>
              <a:t>Connect to other computer units. Its most important parts:</a:t>
            </a:r>
          </a:p>
          <a:p>
            <a:pPr marL="914400" lvl="1" indent="-457200">
              <a:spcBef>
                <a:spcPct val="50000"/>
              </a:spcBef>
              <a:buClr>
                <a:srgbClr val="CC0000"/>
              </a:buClr>
              <a:buFont typeface="Wingdings" pitchFamily="2" charset="2"/>
              <a:buChar char="§"/>
              <a:defRPr/>
            </a:pPr>
            <a:r>
              <a:rPr lang="en-US" dirty="0"/>
              <a:t>Motherboard</a:t>
            </a:r>
          </a:p>
          <a:p>
            <a:pPr marL="914400" lvl="1" indent="-457200">
              <a:spcBef>
                <a:spcPct val="50000"/>
              </a:spcBef>
              <a:buClr>
                <a:srgbClr val="CC0000"/>
              </a:buClr>
              <a:buFont typeface="Wingdings" pitchFamily="2" charset="2"/>
              <a:buChar char="§"/>
              <a:defRPr/>
            </a:pPr>
            <a:r>
              <a:rPr lang="en-US" dirty="0"/>
              <a:t>Ports</a:t>
            </a:r>
          </a:p>
          <a:p>
            <a:pPr marL="914400" lvl="1" indent="-457200">
              <a:spcBef>
                <a:spcPct val="50000"/>
              </a:spcBef>
              <a:buClr>
                <a:srgbClr val="CC0000"/>
              </a:buClr>
              <a:buFont typeface="Wingdings" pitchFamily="2" charset="2"/>
              <a:buChar char="§"/>
              <a:defRPr/>
            </a:pPr>
            <a:r>
              <a:rPr lang="en-US" dirty="0"/>
              <a:t>Power Supply</a:t>
            </a:r>
          </a:p>
          <a:p>
            <a:pPr marL="457200" indent="-457200">
              <a:spcBef>
                <a:spcPct val="50000"/>
              </a:spcBef>
              <a:buClr>
                <a:srgbClr val="CC0000"/>
              </a:buClr>
              <a:buFont typeface="Wingdings" pitchFamily="2" charset="2"/>
              <a:buChar char="§"/>
              <a:defRPr/>
            </a:pPr>
            <a:endParaRPr lang="en-US" dirty="0"/>
          </a:p>
          <a:p>
            <a:pPr marL="457200" indent="-457200">
              <a:spcBef>
                <a:spcPct val="50000"/>
              </a:spcBef>
              <a:buClr>
                <a:srgbClr val="CC0000"/>
              </a:buClr>
              <a:buFont typeface="Wingdings" pitchFamily="2" charset="2"/>
              <a:buChar char="§"/>
              <a:defRPr/>
            </a:pPr>
            <a:endParaRPr lang="en-US" b="1" dirty="0">
              <a:solidFill>
                <a:schemeClr val="accent1">
                  <a:lumMod val="75000"/>
                </a:schemeClr>
              </a:solidFill>
              <a:effectLst>
                <a:outerShdw blurRad="38100" dist="38100" dir="2700000" algn="tl">
                  <a:srgbClr val="000000"/>
                </a:outerShdw>
              </a:effectLst>
            </a:endParaRPr>
          </a:p>
        </p:txBody>
      </p:sp>
      <p:pic>
        <p:nvPicPr>
          <p:cNvPr id="76807" name="Picture 7" descr="CPU untitled">
            <a:extLst>
              <a:ext uri="{FF2B5EF4-FFF2-40B4-BE49-F238E27FC236}">
                <a16:creationId xmlns:a16="http://schemas.microsoft.com/office/drawing/2014/main" id="{DB2D4E25-A213-4638-8D2D-0C32632A2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3159" y="1674221"/>
            <a:ext cx="2011363" cy="2733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3180441"/>
      </p:ext>
    </p:extLst>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WordArt 2">
            <a:extLst>
              <a:ext uri="{FF2B5EF4-FFF2-40B4-BE49-F238E27FC236}">
                <a16:creationId xmlns:a16="http://schemas.microsoft.com/office/drawing/2014/main" id="{836C87AD-177C-425F-A643-270E8AD74169}"/>
              </a:ext>
            </a:extLst>
          </p:cNvPr>
          <p:cNvSpPr>
            <a:spLocks noChangeArrowheads="1" noChangeShapeType="1" noTextEdit="1"/>
          </p:cNvSpPr>
          <p:nvPr/>
        </p:nvSpPr>
        <p:spPr bwMode="auto">
          <a:xfrm>
            <a:off x="3052346" y="618311"/>
            <a:ext cx="5490754" cy="531223"/>
          </a:xfrm>
          <a:prstGeom prst="rect">
            <a:avLst/>
          </a:prstGeom>
        </p:spPr>
        <p:txBody>
          <a:bodyPr wrap="none" fromWordArt="1">
            <a:prstTxWarp prst="textPlain">
              <a:avLst>
                <a:gd name="adj" fmla="val 49143"/>
              </a:avLst>
            </a:prstTxWarp>
            <a:scene3d>
              <a:camera prst="legacyObliqueBottomLeft">
                <a:rot lat="300000" lon="300000" rev="0"/>
              </a:camera>
              <a:lightRig rig="legacyFlat2" dir="t"/>
            </a:scene3d>
            <a:sp3d extrusionH="430200" prstMaterial="legacyMetal">
              <a:extrusionClr>
                <a:schemeClr val="accent2"/>
              </a:extrusionClr>
            </a:sp3d>
          </a:bodyPr>
          <a:lstStyle/>
          <a:p>
            <a:pPr algn="ctr" rtl="1" eaLnBrk="1" hangingPunct="1">
              <a:defRPr/>
            </a:pPr>
            <a:r>
              <a:rPr lang="en-US" sz="3200" b="1" kern="10" dirty="0" smtClean="0">
                <a:ln w="12700">
                  <a:noFill/>
                  <a:round/>
                  <a:headEnd/>
                  <a:tailEnd/>
                </a:ln>
                <a:solidFill>
                  <a:schemeClr val="accent2">
                    <a:lumMod val="60000"/>
                    <a:lumOff val="40000"/>
                  </a:schemeClr>
                </a:solidFill>
                <a:latin typeface="Tahoma"/>
                <a:ea typeface="Tahoma"/>
                <a:cs typeface="Tahoma"/>
              </a:rPr>
              <a:t>Motherboard</a:t>
            </a:r>
            <a:endParaRPr lang="ar-SA" sz="3200" b="1" kern="10" dirty="0">
              <a:ln w="12700">
                <a:noFill/>
                <a:round/>
                <a:headEnd/>
                <a:tailEnd/>
              </a:ln>
              <a:solidFill>
                <a:schemeClr val="accent2">
                  <a:lumMod val="60000"/>
                  <a:lumOff val="40000"/>
                </a:schemeClr>
              </a:solidFill>
              <a:latin typeface="Tahoma"/>
              <a:ea typeface="Tahoma"/>
              <a:cs typeface="Tahoma"/>
            </a:endParaRPr>
          </a:p>
        </p:txBody>
      </p:sp>
      <p:pic>
        <p:nvPicPr>
          <p:cNvPr id="77830" name="Picture 7" descr="motherbord2">
            <a:extLst>
              <a:ext uri="{FF2B5EF4-FFF2-40B4-BE49-F238E27FC236}">
                <a16:creationId xmlns:a16="http://schemas.microsoft.com/office/drawing/2014/main" id="{3F0425C2-402D-496D-B5A2-707EF97F4D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3504" y="1428750"/>
            <a:ext cx="637222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1788733"/>
      </p:ext>
    </p:extLst>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WordArt 2">
            <a:extLst>
              <a:ext uri="{FF2B5EF4-FFF2-40B4-BE49-F238E27FC236}">
                <a16:creationId xmlns:a16="http://schemas.microsoft.com/office/drawing/2014/main" id="{14032924-FDE7-4FC0-B7B7-09C665D8BB56}"/>
              </a:ext>
            </a:extLst>
          </p:cNvPr>
          <p:cNvSpPr>
            <a:spLocks noChangeArrowheads="1" noChangeShapeType="1" noTextEdit="1"/>
          </p:cNvSpPr>
          <p:nvPr/>
        </p:nvSpPr>
        <p:spPr bwMode="auto">
          <a:xfrm>
            <a:off x="3605338" y="304799"/>
            <a:ext cx="3683726" cy="570411"/>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Ports</a:t>
            </a:r>
          </a:p>
        </p:txBody>
      </p:sp>
      <p:sp>
        <p:nvSpPr>
          <p:cNvPr id="47110" name="Text Box 6">
            <a:extLst>
              <a:ext uri="{FF2B5EF4-FFF2-40B4-BE49-F238E27FC236}">
                <a16:creationId xmlns:a16="http://schemas.microsoft.com/office/drawing/2014/main" id="{D7CE917E-616D-4406-A196-6AE195EE2B21}"/>
              </a:ext>
            </a:extLst>
          </p:cNvPr>
          <p:cNvSpPr txBox="1">
            <a:spLocks noChangeArrowheads="1"/>
          </p:cNvSpPr>
          <p:nvPr/>
        </p:nvSpPr>
        <p:spPr bwMode="auto">
          <a:xfrm>
            <a:off x="755374" y="5091528"/>
            <a:ext cx="8143875" cy="861774"/>
          </a:xfrm>
          <a:prstGeom prst="rect">
            <a:avLst/>
          </a:prstGeom>
          <a:noFill/>
          <a:ln w="9525">
            <a:noFill/>
            <a:miter lim="800000"/>
            <a:headEnd/>
            <a:tailEnd/>
          </a:ln>
          <a:effectLst/>
        </p:spPr>
        <p:txBody>
          <a:bodyPr>
            <a:spAutoFit/>
          </a:bodyPr>
          <a:lstStyle/>
          <a:p>
            <a:pPr marL="185738" indent="-185738">
              <a:spcBef>
                <a:spcPct val="50000"/>
              </a:spcBef>
              <a:buClr>
                <a:srgbClr val="CC0000"/>
              </a:buClr>
              <a:buFont typeface="Wingdings" pitchFamily="2" charset="2"/>
              <a:buChar char="§"/>
              <a:tabLst>
                <a:tab pos="357188" algn="l"/>
              </a:tabLst>
              <a:defRPr/>
            </a:pPr>
            <a:r>
              <a:rPr lang="en-US" sz="2000" dirty="0"/>
              <a:t>Parallel ports &gt; Printer, Serial ports &gt; Mouse, USB ports. </a:t>
            </a:r>
          </a:p>
          <a:p>
            <a:pPr marL="185738" indent="-185738">
              <a:spcBef>
                <a:spcPct val="50000"/>
              </a:spcBef>
              <a:buClr>
                <a:srgbClr val="CC0000"/>
              </a:buClr>
              <a:buFont typeface="Wingdings" pitchFamily="2" charset="2"/>
              <a:buChar char="§"/>
              <a:tabLst>
                <a:tab pos="357188" algn="l"/>
              </a:tabLst>
              <a:defRPr/>
            </a:pPr>
            <a:r>
              <a:rPr lang="en-US" sz="2000" dirty="0"/>
              <a:t>Expansion ports.</a:t>
            </a:r>
            <a:endParaRPr lang="en-US" sz="2000" b="1" dirty="0">
              <a:solidFill>
                <a:schemeClr val="accent1">
                  <a:lumMod val="75000"/>
                </a:schemeClr>
              </a:solidFill>
              <a:effectLst>
                <a:outerShdw blurRad="38100" dist="38100" dir="2700000" algn="tl">
                  <a:srgbClr val="000000"/>
                </a:outerShdw>
              </a:effectLst>
            </a:endParaRPr>
          </a:p>
        </p:txBody>
      </p:sp>
      <p:pic>
        <p:nvPicPr>
          <p:cNvPr id="78855" name="Picture 7" descr="msotw9_temp0">
            <a:extLst>
              <a:ext uri="{FF2B5EF4-FFF2-40B4-BE49-F238E27FC236}">
                <a16:creationId xmlns:a16="http://schemas.microsoft.com/office/drawing/2014/main" id="{3C11B5DD-E328-484D-9A82-7A7CA880D9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818" t="34882" r="56561" b="16608"/>
          <a:stretch>
            <a:fillRect/>
          </a:stretch>
        </p:blipFill>
        <p:spPr bwMode="auto">
          <a:xfrm>
            <a:off x="6029118" y="1176201"/>
            <a:ext cx="2081212"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8856" name="Object 2">
            <a:extLst>
              <a:ext uri="{FF2B5EF4-FFF2-40B4-BE49-F238E27FC236}">
                <a16:creationId xmlns:a16="http://schemas.microsoft.com/office/drawing/2014/main" id="{E9F91E0B-527B-4401-B3F5-6546F24067E7}"/>
              </a:ext>
            </a:extLst>
          </p:cNvPr>
          <p:cNvGraphicFramePr>
            <a:graphicFrameLocks noChangeAspect="1"/>
          </p:cNvGraphicFramePr>
          <p:nvPr/>
        </p:nvGraphicFramePr>
        <p:xfrm>
          <a:off x="2590800" y="1657073"/>
          <a:ext cx="2819400" cy="2006600"/>
        </p:xfrm>
        <a:graphic>
          <a:graphicData uri="http://schemas.openxmlformats.org/presentationml/2006/ole">
            <mc:AlternateContent xmlns:mc="http://schemas.openxmlformats.org/markup-compatibility/2006">
              <mc:Choice xmlns:v="urn:schemas-microsoft-com:vml" Requires="v">
                <p:oleObj spid="_x0000_s3084" name="Paintbrush Picture" r:id="rId4" imgW="5020376" imgH="3572374" progId="PBrush">
                  <p:embed/>
                </p:oleObj>
              </mc:Choice>
              <mc:Fallback>
                <p:oleObj name="Paintbrush Picture" r:id="rId4" imgW="5020376" imgH="3572374" progId="PBrush">
                  <p:embed/>
                  <p:pic>
                    <p:nvPicPr>
                      <p:cNvPr id="0" name="Picture 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90800" y="1657073"/>
                        <a:ext cx="2819400" cy="200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29752334"/>
      </p:ext>
    </p:extLst>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WordArt 2">
            <a:extLst>
              <a:ext uri="{FF2B5EF4-FFF2-40B4-BE49-F238E27FC236}">
                <a16:creationId xmlns:a16="http://schemas.microsoft.com/office/drawing/2014/main" id="{230D7F71-3A6F-4E4D-A977-FCA58C626300}"/>
              </a:ext>
            </a:extLst>
          </p:cNvPr>
          <p:cNvSpPr>
            <a:spLocks noChangeArrowheads="1" noChangeShapeType="1" noTextEdit="1"/>
          </p:cNvSpPr>
          <p:nvPr/>
        </p:nvSpPr>
        <p:spPr bwMode="auto">
          <a:xfrm>
            <a:off x="3130718" y="330925"/>
            <a:ext cx="4733109" cy="687977"/>
          </a:xfrm>
          <a:prstGeom prst="rect">
            <a:avLst/>
          </a:prstGeom>
        </p:spPr>
        <p:txBody>
          <a:bodyPr wrap="none" fromWordArt="1">
            <a:prstTxWarp prst="textPlain">
              <a:avLst>
                <a:gd name="adj" fmla="val 50000"/>
              </a:avLst>
            </a:prstTxWarp>
            <a:scene3d>
              <a:camera prst="legacyObliqueBottomLeft">
                <a:rot lat="300000" lon="300000" rev="0"/>
              </a:camera>
              <a:lightRig rig="legacyFlat2" dir="t"/>
            </a:scene3d>
            <a:sp3d extrusionH="430200" prstMaterial="legacyMetal">
              <a:extrusionClr>
                <a:schemeClr val="accent2"/>
              </a:extrusionClr>
              <a:contourClr>
                <a:srgbClr val="A603AB"/>
              </a:contourClr>
            </a:sp3d>
          </a:bodyPr>
          <a:lstStyle/>
          <a:p>
            <a:pPr algn="ctr" rtl="1"/>
            <a:r>
              <a:rPr lang="en-US" sz="3200" b="1" kern="10" dirty="0">
                <a:ln w="9525">
                  <a:round/>
                  <a:headEnd/>
                  <a:tailEnd/>
                </a:ln>
                <a:solidFill>
                  <a:schemeClr val="accent2">
                    <a:lumMod val="60000"/>
                    <a:lumOff val="40000"/>
                  </a:schemeClr>
                </a:solidFill>
                <a:latin typeface="Tahoma" panose="020B0604030504040204" pitchFamily="34" charset="0"/>
                <a:ea typeface="Tahoma" panose="020B0604030504040204" pitchFamily="34" charset="0"/>
                <a:cs typeface="Tahoma" panose="020B0604030504040204" pitchFamily="34" charset="0"/>
              </a:rPr>
              <a:t> Power Supply</a:t>
            </a:r>
          </a:p>
        </p:txBody>
      </p:sp>
      <p:sp>
        <p:nvSpPr>
          <p:cNvPr id="48134" name="Text Box 6">
            <a:extLst>
              <a:ext uri="{FF2B5EF4-FFF2-40B4-BE49-F238E27FC236}">
                <a16:creationId xmlns:a16="http://schemas.microsoft.com/office/drawing/2014/main" id="{35623068-6738-4328-803E-7BF320F76ACD}"/>
              </a:ext>
            </a:extLst>
          </p:cNvPr>
          <p:cNvSpPr txBox="1">
            <a:spLocks noChangeArrowheads="1"/>
          </p:cNvSpPr>
          <p:nvPr/>
        </p:nvSpPr>
        <p:spPr bwMode="auto">
          <a:xfrm>
            <a:off x="1546389" y="4884147"/>
            <a:ext cx="7218778" cy="861774"/>
          </a:xfrm>
          <a:prstGeom prst="rect">
            <a:avLst/>
          </a:prstGeom>
          <a:noFill/>
          <a:ln w="9525">
            <a:noFill/>
            <a:miter lim="800000"/>
            <a:headEnd/>
            <a:tailEnd/>
          </a:ln>
          <a:effectLst/>
        </p:spPr>
        <p:txBody>
          <a:bodyPr wrap="square">
            <a:spAutoFit/>
          </a:bodyPr>
          <a:lstStyle/>
          <a:p>
            <a:pPr marL="457200" indent="-457200">
              <a:spcBef>
                <a:spcPct val="50000"/>
              </a:spcBef>
              <a:buClr>
                <a:srgbClr val="CC0000"/>
              </a:buClr>
              <a:buFont typeface="Wingdings" pitchFamily="2" charset="2"/>
              <a:buChar char="§"/>
              <a:defRPr/>
            </a:pPr>
            <a:r>
              <a:rPr lang="en-US" sz="2000" dirty="0"/>
              <a:t>Supplying the computer with electricity.</a:t>
            </a:r>
          </a:p>
          <a:p>
            <a:pPr marL="457200" indent="-457200">
              <a:spcBef>
                <a:spcPct val="50000"/>
              </a:spcBef>
              <a:buClr>
                <a:srgbClr val="CC0000"/>
              </a:buClr>
              <a:buFont typeface="Wingdings" pitchFamily="2" charset="2"/>
              <a:buChar char="§"/>
              <a:defRPr/>
            </a:pPr>
            <a:r>
              <a:rPr lang="en-US" sz="2000" dirty="0"/>
              <a:t>There is a fan to reduce the heat of the generator.</a:t>
            </a:r>
            <a:endParaRPr lang="en-US" sz="2000" b="1" dirty="0">
              <a:solidFill>
                <a:schemeClr val="accent1">
                  <a:lumMod val="75000"/>
                </a:schemeClr>
              </a:solidFill>
              <a:effectLst>
                <a:outerShdw blurRad="38100" dist="38100" dir="2700000" algn="tl">
                  <a:srgbClr val="000000"/>
                </a:outerShdw>
              </a:effectLst>
            </a:endParaRPr>
          </a:p>
        </p:txBody>
      </p:sp>
      <p:pic>
        <p:nvPicPr>
          <p:cNvPr id="79879" name="Picture 7" descr="350WattPowerSupplyمولد">
            <a:extLst>
              <a:ext uri="{FF2B5EF4-FFF2-40B4-BE49-F238E27FC236}">
                <a16:creationId xmlns:a16="http://schemas.microsoft.com/office/drawing/2014/main" id="{BB2A4F60-F8D8-4C91-9178-BB31E643D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2667" y="1507433"/>
            <a:ext cx="20494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1994743"/>
      </p:ext>
    </p:extLst>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C4BA04B9-E405-4E98-ACF7-553B2E11463A}"/>
              </a:ext>
            </a:extLst>
          </p:cNvPr>
          <p:cNvSpPr>
            <a:spLocks noGrp="1"/>
          </p:cNvSpPr>
          <p:nvPr>
            <p:ph type="title"/>
          </p:nvPr>
        </p:nvSpPr>
        <p:spPr/>
        <p:txBody>
          <a:bodyPr/>
          <a:lstStyle/>
          <a:p>
            <a:pPr algn="ctr"/>
            <a:r>
              <a:rPr lang="en-US" altLang="en-US" b="1" dirty="0"/>
              <a:t>HW Components </a:t>
            </a:r>
            <a:endParaRPr lang="en-US" altLang="en-US" b="1" dirty="0">
              <a:cs typeface="Times New Roman" panose="02020603050405020304" pitchFamily="18" charset="0"/>
            </a:endParaRPr>
          </a:p>
        </p:txBody>
      </p:sp>
      <p:sp>
        <p:nvSpPr>
          <p:cNvPr id="80899" name="Content Placeholder 2">
            <a:extLst>
              <a:ext uri="{FF2B5EF4-FFF2-40B4-BE49-F238E27FC236}">
                <a16:creationId xmlns:a16="http://schemas.microsoft.com/office/drawing/2014/main" id="{AA1C931A-7B5F-403F-9B05-15871F1BBE50}"/>
              </a:ext>
            </a:extLst>
          </p:cNvPr>
          <p:cNvSpPr>
            <a:spLocks noGrp="1"/>
          </p:cNvSpPr>
          <p:nvPr>
            <p:ph idx="1"/>
          </p:nvPr>
        </p:nvSpPr>
        <p:spPr/>
        <p:txBody>
          <a:bodyPr/>
          <a:lstStyle/>
          <a:p>
            <a:endParaRPr lang="en-US" altLang="en-US">
              <a:cs typeface="Arial" panose="020B0604020202020204" pitchFamily="34" charset="0"/>
            </a:endParaRPr>
          </a:p>
        </p:txBody>
      </p:sp>
      <p:pic>
        <p:nvPicPr>
          <p:cNvPr id="5" name="Picture 14" descr="3_12">
            <a:extLst>
              <a:ext uri="{FF2B5EF4-FFF2-40B4-BE49-F238E27FC236}">
                <a16:creationId xmlns:a16="http://schemas.microsoft.com/office/drawing/2014/main" id="{B3D61653-E864-4650-8A80-AAD478010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879" y="1773238"/>
            <a:ext cx="8188325" cy="396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3106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BA4ABFBF-FFA7-49CD-BCC4-F9B73C22FC2A}"/>
              </a:ext>
            </a:extLst>
          </p:cNvPr>
          <p:cNvSpPr>
            <a:spLocks noGrp="1"/>
          </p:cNvSpPr>
          <p:nvPr>
            <p:ph type="title"/>
          </p:nvPr>
        </p:nvSpPr>
        <p:spPr/>
        <p:txBody>
          <a:bodyPr/>
          <a:lstStyle/>
          <a:p>
            <a:pPr algn="ctr"/>
            <a:r>
              <a:rPr lang="en-US" altLang="en-US" b="1" dirty="0"/>
              <a:t>HW Components </a:t>
            </a:r>
            <a:endParaRPr lang="en-US" altLang="en-US" dirty="0">
              <a:cs typeface="Times New Roman" panose="02020603050405020304" pitchFamily="18" charset="0"/>
            </a:endParaRPr>
          </a:p>
        </p:txBody>
      </p:sp>
      <p:pic>
        <p:nvPicPr>
          <p:cNvPr id="6" name="Picture 11" descr="3_15">
            <a:extLst>
              <a:ext uri="{FF2B5EF4-FFF2-40B4-BE49-F238E27FC236}">
                <a16:creationId xmlns:a16="http://schemas.microsoft.com/office/drawing/2014/main" id="{32871E45-E84A-4FB6-8B29-06451D580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176" y="1547814"/>
            <a:ext cx="8135937"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722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605</TotalTime>
  <Words>826</Words>
  <Application>Microsoft Office PowerPoint</Application>
  <PresentationFormat>Widescreen</PresentationFormat>
  <Paragraphs>148</Paragraphs>
  <Slides>33</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5" baseType="lpstr">
      <vt:lpstr>Andalus</vt:lpstr>
      <vt:lpstr>Arial</vt:lpstr>
      <vt:lpstr>Calibri</vt:lpstr>
      <vt:lpstr>Century Gothic</vt:lpstr>
      <vt:lpstr>Mini Pics Lil Edibles</vt:lpstr>
      <vt:lpstr>Tahoma</vt:lpstr>
      <vt:lpstr>Times New Roman</vt:lpstr>
      <vt:lpstr>Wingdings</vt:lpstr>
      <vt:lpstr>Wingdings 3</vt:lpstr>
      <vt:lpstr>Ion</vt:lpstr>
      <vt:lpstr>Image</vt:lpstr>
      <vt:lpstr>Paintbrush Picture</vt:lpstr>
      <vt:lpstr>Introduction to Computer Science</vt:lpstr>
      <vt:lpstr>Computer components </vt:lpstr>
      <vt:lpstr>OBJECTIVES AND INTENDED OUTCOMES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RAM &amp; ROM</vt:lpstr>
      <vt:lpstr>secondary storage units</vt:lpstr>
      <vt:lpstr>PowerPoint Presentation</vt:lpstr>
      <vt:lpstr>PowerPoint Presentation</vt:lpstr>
      <vt:lpstr>PowerPoint Presentation</vt:lpstr>
      <vt:lpstr>PowerPoint Presentation</vt:lpstr>
      <vt:lpstr>PowerPoint Presentation</vt:lpstr>
      <vt:lpstr>PowerPoint Presentation</vt:lpstr>
      <vt:lpstr>Introduction to Computer Science</vt:lpstr>
      <vt:lpstr>Computer components </vt:lpstr>
      <vt:lpstr>OBJECTIVES AND INTENDED OUTCOMES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HW Components </vt:lpstr>
      <vt:lpstr>HW Components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ASDVC</dc:creator>
  <cp:lastModifiedBy>NUSU-CS-HESHAM</cp:lastModifiedBy>
  <cp:revision>147</cp:revision>
  <dcterms:created xsi:type="dcterms:W3CDTF">2021-03-07T18:05:19Z</dcterms:created>
  <dcterms:modified xsi:type="dcterms:W3CDTF">2025-10-14T14:43:27Z</dcterms:modified>
</cp:coreProperties>
</file>