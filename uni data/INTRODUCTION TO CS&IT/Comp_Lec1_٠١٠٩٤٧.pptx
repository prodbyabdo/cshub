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381" r:id="rId2"/>
    <p:sldId id="367" r:id="rId3"/>
    <p:sldId id="294" r:id="rId4"/>
    <p:sldId id="364" r:id="rId5"/>
    <p:sldId id="365" r:id="rId6"/>
    <p:sldId id="366" r:id="rId7"/>
    <p:sldId id="293" r:id="rId8"/>
    <p:sldId id="309" r:id="rId9"/>
    <p:sldId id="310" r:id="rId10"/>
    <p:sldId id="380" r:id="rId11"/>
    <p:sldId id="368" r:id="rId12"/>
    <p:sldId id="369" r:id="rId13"/>
    <p:sldId id="370" r:id="rId14"/>
    <p:sldId id="371" r:id="rId15"/>
    <p:sldId id="372" r:id="rId16"/>
    <p:sldId id="373" r:id="rId17"/>
    <p:sldId id="374" r:id="rId18"/>
    <p:sldId id="375" r:id="rId19"/>
    <p:sldId id="376" r:id="rId20"/>
    <p:sldId id="377" r:id="rId21"/>
    <p:sldId id="378" r:id="rId22"/>
    <p:sldId id="379" r:id="rId23"/>
    <p:sldId id="3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2" d="100"/>
          <a:sy n="72" d="100"/>
        </p:scale>
        <p:origin x="45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4292255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1095506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327808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4272961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405113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687263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76358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17241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722271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1452832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117335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7123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662408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1262178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349634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42434890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48C6E3-73C1-4873-BDA8-EDB46D7261EF}"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6F26A-73C4-4E85-B948-18854202139B}" type="slidenum">
              <a:rPr lang="en-US" smtClean="0"/>
              <a:pPr/>
              <a:t>‹#›</a:t>
            </a:fld>
            <a:endParaRPr lang="en-US"/>
          </a:p>
        </p:txBody>
      </p:sp>
    </p:spTree>
    <p:extLst>
      <p:ext uri="{BB962C8B-B14F-4D97-AF65-F5344CB8AC3E}">
        <p14:creationId xmlns:p14="http://schemas.microsoft.com/office/powerpoint/2010/main" val="2141257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248C6E3-73C1-4873-BDA8-EDB46D7261EF}" type="datetimeFigureOut">
              <a:rPr lang="en-US" smtClean="0"/>
              <a:pPr/>
              <a:t>10/14/2025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F46F26A-73C4-4E85-B948-18854202139B}" type="slidenum">
              <a:rPr lang="en-US" smtClean="0"/>
              <a:pPr/>
              <a:t>‹#›</a:t>
            </a:fld>
            <a:endParaRPr lang="en-US"/>
          </a:p>
        </p:txBody>
      </p:sp>
    </p:spTree>
    <p:extLst>
      <p:ext uri="{BB962C8B-B14F-4D97-AF65-F5344CB8AC3E}">
        <p14:creationId xmlns:p14="http://schemas.microsoft.com/office/powerpoint/2010/main" val="75386118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5709" y="1810327"/>
            <a:ext cx="9681730" cy="2240509"/>
          </a:xfrm>
        </p:spPr>
        <p:txBody>
          <a:bodyPr/>
          <a:lstStyle/>
          <a:p>
            <a:pPr algn="ctr"/>
            <a:r>
              <a:rPr lang="en-US" dirty="0">
                <a:solidFill>
                  <a:schemeClr val="accent2">
                    <a:lumMod val="60000"/>
                    <a:lumOff val="40000"/>
                  </a:schemeClr>
                </a:solidFill>
                <a:latin typeface="Andalus" panose="02020603050405020304" pitchFamily="18" charset="-78"/>
                <a:cs typeface="Andalus" panose="02020603050405020304" pitchFamily="18" charset="-78"/>
              </a:rPr>
              <a:t>Introduction to Computer Science</a:t>
            </a:r>
            <a:endParaRPr lang="en-US" dirty="0"/>
          </a:p>
        </p:txBody>
      </p:sp>
      <p:sp>
        <p:nvSpPr>
          <p:cNvPr id="5" name="Subtitle 4"/>
          <p:cNvSpPr>
            <a:spLocks noGrp="1"/>
          </p:cNvSpPr>
          <p:nvPr>
            <p:ph type="subTitle" idx="1"/>
          </p:nvPr>
        </p:nvSpPr>
        <p:spPr>
          <a:xfrm>
            <a:off x="1507067" y="4236361"/>
            <a:ext cx="7766936" cy="1631039"/>
          </a:xfrm>
        </p:spPr>
        <p:txBody>
          <a:bodyPr>
            <a:normAutofit/>
          </a:bodyPr>
          <a:lstStyle/>
          <a:p>
            <a:pPr algn="ctr"/>
            <a:r>
              <a:rPr lang="en-US" sz="2000" b="1" dirty="0"/>
              <a:t>Lecture 1</a:t>
            </a:r>
          </a:p>
          <a:p>
            <a:pPr algn="ctr"/>
            <a:endParaRPr lang="en-US" sz="2000" b="1" dirty="0"/>
          </a:p>
          <a:p>
            <a:pPr algn="ctr"/>
            <a:r>
              <a:rPr lang="en-US" sz="2000" b="1" dirty="0"/>
              <a:t>Ust.Hisham Mohammed</a:t>
            </a:r>
          </a:p>
          <a:p>
            <a:pPr algn="ctr"/>
            <a:endParaRPr lang="en-US"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18608"/>
            <a:ext cx="8596668" cy="984069"/>
          </a:xfrm>
        </p:spPr>
        <p:txBody>
          <a:bodyPr>
            <a:normAutofit fontScale="90000"/>
          </a:bodyPr>
          <a:lstStyle/>
          <a:p>
            <a:r>
              <a:rPr lang="en-US" b="1" i="1" dirty="0"/>
              <a:t>OBJECTIVES AND INTENDED OUTCOMES</a:t>
            </a:r>
            <a:r>
              <a:rPr lang="en-US" dirty="0"/>
              <a:t/>
            </a:r>
            <a:br>
              <a:rPr lang="en-US" dirty="0"/>
            </a:br>
            <a:endParaRPr lang="en-US" dirty="0"/>
          </a:p>
        </p:txBody>
      </p:sp>
      <p:sp>
        <p:nvSpPr>
          <p:cNvPr id="3" name="Content Placeholder 2"/>
          <p:cNvSpPr>
            <a:spLocks noGrp="1"/>
          </p:cNvSpPr>
          <p:nvPr>
            <p:ph idx="1"/>
          </p:nvPr>
        </p:nvSpPr>
        <p:spPr>
          <a:xfrm>
            <a:off x="677333" y="2160589"/>
            <a:ext cx="9002243" cy="3880773"/>
          </a:xfrm>
        </p:spPr>
        <p:txBody>
          <a:bodyPr>
            <a:normAutofit/>
          </a:bodyPr>
          <a:lstStyle/>
          <a:p>
            <a:pPr algn="just">
              <a:buFont typeface="Wingdings" pitchFamily="2" charset="2"/>
              <a:buChar char="q"/>
            </a:pPr>
            <a:r>
              <a:rPr lang="en-US" sz="2400" dirty="0"/>
              <a:t>By the end of this lesson the learner is expected to:</a:t>
            </a:r>
          </a:p>
          <a:p>
            <a:pPr lvl="1" algn="just">
              <a:buFont typeface="Wingdings" pitchFamily="2" charset="2"/>
              <a:buChar char="q"/>
            </a:pPr>
            <a:r>
              <a:rPr lang="en-US" sz="2200" dirty="0"/>
              <a:t>Understand the concept of computer, data, and information.</a:t>
            </a:r>
          </a:p>
          <a:p>
            <a:pPr lvl="1" algn="just">
              <a:buFont typeface="Wingdings" pitchFamily="2" charset="2"/>
              <a:buChar char="q"/>
            </a:pPr>
            <a:r>
              <a:rPr lang="en-US" sz="2200" dirty="0"/>
              <a:t> Learn the characteristics of computers. </a:t>
            </a:r>
          </a:p>
          <a:p>
            <a:pPr lvl="1" algn="just">
              <a:buFont typeface="Wingdings" pitchFamily="2" charset="2"/>
              <a:buChar char="q"/>
            </a:pPr>
            <a:r>
              <a:rPr lang="en-US" sz="2200" dirty="0"/>
              <a:t> Learn the computers classification.</a:t>
            </a:r>
          </a:p>
          <a:p>
            <a:pPr lvl="1" algn="just">
              <a:buFont typeface="Wingdings" pitchFamily="2" charset="2"/>
              <a:buChar char="q"/>
            </a:pPr>
            <a:r>
              <a:rPr lang="en-US" sz="2200" dirty="0"/>
              <a:t> Learn the computer application</a:t>
            </a:r>
          </a:p>
          <a:p>
            <a:pPr lvl="1" algn="just">
              <a:buFont typeface="Wingdings" pitchFamily="2" charset="2"/>
              <a:buChar char="q"/>
            </a:pPr>
            <a:r>
              <a:rPr lang="en-US" sz="2400" dirty="0"/>
              <a:t>Learn the Computer Generations</a:t>
            </a:r>
          </a:p>
          <a:p>
            <a:pPr algn="just">
              <a:buFont typeface="Wingdings" pitchFamily="2" charset="2"/>
              <a:buChar char="q"/>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6C787094-3725-452C-B1E4-79E61755481E}"/>
              </a:ext>
            </a:extLst>
          </p:cNvPr>
          <p:cNvSpPr>
            <a:spLocks noGrp="1"/>
          </p:cNvSpPr>
          <p:nvPr>
            <p:ph type="title"/>
          </p:nvPr>
        </p:nvSpPr>
        <p:spPr>
          <a:xfrm>
            <a:off x="742649" y="570411"/>
            <a:ext cx="8596668" cy="971009"/>
          </a:xfrm>
        </p:spPr>
        <p:txBody>
          <a:bodyPr>
            <a:normAutofit/>
          </a:bodyPr>
          <a:lstStyle/>
          <a:p>
            <a:pPr algn="l"/>
            <a:r>
              <a:rPr lang="en-US" altLang="en-US" sz="4000" b="1" dirty="0"/>
              <a:t>Computer Definition </a:t>
            </a:r>
            <a:endParaRPr lang="en-US" altLang="en-US" sz="4000" b="1" dirty="0">
              <a:cs typeface="Times New Roman" panose="02020603050405020304" pitchFamily="18" charset="0"/>
            </a:endParaRPr>
          </a:p>
        </p:txBody>
      </p:sp>
      <p:sp>
        <p:nvSpPr>
          <p:cNvPr id="23555" name="Content Placeholder 2">
            <a:extLst>
              <a:ext uri="{FF2B5EF4-FFF2-40B4-BE49-F238E27FC236}">
                <a16:creationId xmlns:a16="http://schemas.microsoft.com/office/drawing/2014/main" id="{9CEC768D-B9B9-41EB-9011-79546DF98AAF}"/>
              </a:ext>
            </a:extLst>
          </p:cNvPr>
          <p:cNvSpPr>
            <a:spLocks noGrp="1"/>
          </p:cNvSpPr>
          <p:nvPr>
            <p:ph idx="1"/>
          </p:nvPr>
        </p:nvSpPr>
        <p:spPr>
          <a:xfrm>
            <a:off x="677333" y="1837134"/>
            <a:ext cx="8963056" cy="3270449"/>
          </a:xfrm>
        </p:spPr>
        <p:txBody>
          <a:bodyPr>
            <a:normAutofit/>
          </a:bodyPr>
          <a:lstStyle/>
          <a:p>
            <a:pPr algn="just">
              <a:buFont typeface="Wingdings" pitchFamily="2" charset="2"/>
              <a:buChar char="q"/>
            </a:pPr>
            <a:r>
              <a:rPr lang="en-US" sz="2800" dirty="0"/>
              <a:t>A computer is an electronic device through which data can be stored, processed, and then retrieved again when requested as information.</a:t>
            </a:r>
          </a:p>
          <a:p>
            <a:pPr algn="just">
              <a:buFont typeface="Wingdings" pitchFamily="2" charset="2"/>
              <a:buChar char="q"/>
            </a:pPr>
            <a:r>
              <a:rPr lang="en-US" sz="2800" dirty="0"/>
              <a:t>A computer consists of two main components:</a:t>
            </a:r>
          </a:p>
          <a:p>
            <a:pPr lvl="1" algn="just">
              <a:buFont typeface="Wingdings" pitchFamily="2" charset="2"/>
              <a:buChar char="q"/>
            </a:pPr>
            <a:r>
              <a:rPr lang="en-US" sz="2400" dirty="0"/>
              <a:t>Hardware. </a:t>
            </a:r>
          </a:p>
          <a:p>
            <a:pPr lvl="1" algn="just">
              <a:buFont typeface="Wingdings" pitchFamily="2" charset="2"/>
              <a:buChar char="q"/>
            </a:pPr>
            <a:r>
              <a:rPr lang="en-US" sz="2400" dirty="0"/>
              <a:t>Software.</a:t>
            </a:r>
            <a:endParaRPr lang="ar-SA" sz="2400" dirty="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 calcmode="lin" valueType="num">
                                      <p:cBhvr additive="base">
                                        <p:cTn id="17"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55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3555">
                                            <p:txEl>
                                              <p:pRg st="3" end="3"/>
                                            </p:txEl>
                                          </p:spTgt>
                                        </p:tgtEl>
                                        <p:attrNameLst>
                                          <p:attrName>style.visibility</p:attrName>
                                        </p:attrNameLst>
                                      </p:cBhvr>
                                      <p:to>
                                        <p:strVal val="visible"/>
                                      </p:to>
                                    </p:set>
                                    <p:anim calcmode="lin" valueType="num">
                                      <p:cBhvr additive="base">
                                        <p:cTn id="21"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5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424" y="193964"/>
            <a:ext cx="9362593" cy="935865"/>
          </a:xfrm>
        </p:spPr>
        <p:txBody>
          <a:bodyPr/>
          <a:lstStyle/>
          <a:p>
            <a:r>
              <a:rPr lang="en-US" b="1" dirty="0"/>
              <a:t>Data, Information, and </a:t>
            </a:r>
            <a:r>
              <a:rPr lang="en-US" b="1" dirty="0" smtClean="0"/>
              <a:t>Knowledge:</a:t>
            </a:r>
            <a:endParaRPr lang="en-US" b="1" dirty="0"/>
          </a:p>
        </p:txBody>
      </p:sp>
      <p:sp>
        <p:nvSpPr>
          <p:cNvPr id="3" name="Content Placeholder 2"/>
          <p:cNvSpPr>
            <a:spLocks noGrp="1"/>
          </p:cNvSpPr>
          <p:nvPr>
            <p:ph idx="1"/>
          </p:nvPr>
        </p:nvSpPr>
        <p:spPr>
          <a:xfrm>
            <a:off x="613535" y="957459"/>
            <a:ext cx="11356792" cy="5609595"/>
          </a:xfrm>
        </p:spPr>
        <p:txBody>
          <a:bodyPr>
            <a:noAutofit/>
          </a:bodyPr>
          <a:lstStyle/>
          <a:p>
            <a:pPr algn="just">
              <a:lnSpc>
                <a:spcPct val="170000"/>
              </a:lnSpc>
              <a:buFont typeface="Wingdings" pitchFamily="2" charset="2"/>
              <a:buChar char="q"/>
            </a:pPr>
            <a:endParaRPr lang="en-US" sz="2000" b="1" dirty="0" smtClean="0"/>
          </a:p>
          <a:p>
            <a:pPr algn="just">
              <a:lnSpc>
                <a:spcPct val="170000"/>
              </a:lnSpc>
              <a:buFont typeface="Wingdings" pitchFamily="2" charset="2"/>
              <a:buChar char="q"/>
            </a:pPr>
            <a:r>
              <a:rPr lang="en-US" sz="2000" b="1" dirty="0" smtClean="0"/>
              <a:t>Data</a:t>
            </a:r>
            <a:r>
              <a:rPr lang="en-US" sz="2000" dirty="0" smtClean="0"/>
              <a:t> </a:t>
            </a:r>
            <a:r>
              <a:rPr lang="en-US" dirty="0"/>
              <a:t>is the facts fed to the computer in order to process it to benefit from it by the user.</a:t>
            </a:r>
            <a:endParaRPr lang="ar-SA" dirty="0"/>
          </a:p>
          <a:p>
            <a:pPr algn="just">
              <a:lnSpc>
                <a:spcPct val="170000"/>
              </a:lnSpc>
              <a:buFont typeface="Wingdings" pitchFamily="2" charset="2"/>
              <a:buChar char="q"/>
            </a:pPr>
            <a:r>
              <a:rPr lang="en-US" sz="2000" b="1" dirty="0">
                <a:solidFill>
                  <a:srgbClr val="FF0000"/>
                </a:solidFill>
              </a:rPr>
              <a:t>Information</a:t>
            </a:r>
            <a:r>
              <a:rPr lang="en-US" dirty="0"/>
              <a:t> is data that has been processed and analyzed to provide knowledge to decision makers and help them achieve certain goals.</a:t>
            </a:r>
            <a:endParaRPr lang="ar-SA" dirty="0"/>
          </a:p>
          <a:p>
            <a:pPr algn="just">
              <a:lnSpc>
                <a:spcPct val="170000"/>
              </a:lnSpc>
              <a:buFont typeface="Wingdings" pitchFamily="2" charset="2"/>
              <a:buChar char="q"/>
            </a:pPr>
            <a:r>
              <a:rPr lang="en-US" sz="2000" b="1" dirty="0">
                <a:solidFill>
                  <a:srgbClr val="FFC000"/>
                </a:solidFill>
              </a:rPr>
              <a:t>Processing</a:t>
            </a:r>
            <a:r>
              <a:rPr lang="en-US" dirty="0"/>
              <a:t> is performing some manipulations on the entered data to give the desired results by the program. </a:t>
            </a:r>
          </a:p>
          <a:p>
            <a:pPr lvl="1" algn="just">
              <a:lnSpc>
                <a:spcPct val="170000"/>
              </a:lnSpc>
              <a:buFont typeface="Wingdings" pitchFamily="2" charset="2"/>
              <a:buChar char="q"/>
            </a:pPr>
            <a:r>
              <a:rPr lang="en-US" sz="1600" dirty="0"/>
              <a:t>storage-arrangement-classification-search-solving mathematical problems-graphics.</a:t>
            </a:r>
            <a:endParaRPr lang="en-US" altLang="en-US" sz="1600" dirty="0"/>
          </a:p>
          <a:p>
            <a:pPr algn="just">
              <a:lnSpc>
                <a:spcPct val="170000"/>
              </a:lnSpc>
              <a:buFont typeface="Wingdings" pitchFamily="2" charset="2"/>
              <a:buChar char="q"/>
            </a:pPr>
            <a:r>
              <a:rPr lang="en-US" sz="2000" b="1" dirty="0">
                <a:solidFill>
                  <a:srgbClr val="00B050"/>
                </a:solidFill>
              </a:rPr>
              <a:t>Knowledge</a:t>
            </a:r>
            <a:r>
              <a:rPr lang="en-US" dirty="0"/>
              <a:t> is Awareness and understanding of a set of information </a:t>
            </a:r>
          </a:p>
          <a:p>
            <a:pPr marL="0" indent="0" algn="just">
              <a:lnSpc>
                <a:spcPct val="170000"/>
              </a:lnSpc>
              <a:buNone/>
            </a:pPr>
            <a:endParaRPr lang="en-US" sz="1600" b="1" dirty="0"/>
          </a:p>
        </p:txBody>
      </p:sp>
    </p:spTree>
    <p:extLst>
      <p:ext uri="{BB962C8B-B14F-4D97-AF65-F5344CB8AC3E}">
        <p14:creationId xmlns:p14="http://schemas.microsoft.com/office/powerpoint/2010/main" val="379822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0107"/>
          </a:xfrm>
        </p:spPr>
        <p:txBody>
          <a:bodyPr>
            <a:normAutofit/>
          </a:bodyPr>
          <a:lstStyle/>
          <a:p>
            <a:r>
              <a:rPr lang="en-US" b="1" dirty="0"/>
              <a:t>Types of Data </a:t>
            </a:r>
          </a:p>
        </p:txBody>
      </p:sp>
      <p:pic>
        <p:nvPicPr>
          <p:cNvPr id="4" name="Content Placeholder 3"/>
          <p:cNvPicPr>
            <a:picLocks noGrp="1" noChangeAspect="1"/>
          </p:cNvPicPr>
          <p:nvPr>
            <p:ph idx="1"/>
          </p:nvPr>
        </p:nvPicPr>
        <p:blipFill>
          <a:blip r:embed="rId2"/>
          <a:stretch>
            <a:fillRect/>
          </a:stretch>
        </p:blipFill>
        <p:spPr>
          <a:xfrm>
            <a:off x="677863" y="2073499"/>
            <a:ext cx="8596312" cy="2976307"/>
          </a:xfrm>
          <a:prstGeom prst="rect">
            <a:avLst/>
          </a:prstGeom>
        </p:spPr>
      </p:pic>
    </p:spTree>
    <p:extLst>
      <p:ext uri="{BB962C8B-B14F-4D97-AF65-F5344CB8AC3E}">
        <p14:creationId xmlns:p14="http://schemas.microsoft.com/office/powerpoint/2010/main" val="76595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215" y="609600"/>
            <a:ext cx="10030040" cy="1320800"/>
          </a:xfrm>
        </p:spPr>
        <p:txBody>
          <a:bodyPr>
            <a:normAutofit/>
          </a:bodyPr>
          <a:lstStyle/>
          <a:p>
            <a:r>
              <a:rPr lang="en-US" sz="3200" b="1" dirty="0"/>
              <a:t>The Process of Transforming data into </a:t>
            </a:r>
            <a:r>
              <a:rPr lang="en-US" sz="3200" b="1" dirty="0" smtClean="0"/>
              <a:t>Information:</a:t>
            </a:r>
            <a:endParaRPr lang="en-US" sz="3200" b="1" dirty="0"/>
          </a:p>
        </p:txBody>
      </p:sp>
      <p:pic>
        <p:nvPicPr>
          <p:cNvPr id="4" name="Content Placeholder 3"/>
          <p:cNvPicPr>
            <a:picLocks noGrp="1" noChangeAspect="1"/>
          </p:cNvPicPr>
          <p:nvPr>
            <p:ph idx="1"/>
          </p:nvPr>
        </p:nvPicPr>
        <p:blipFill>
          <a:blip r:embed="rId2"/>
          <a:stretch>
            <a:fillRect/>
          </a:stretch>
        </p:blipFill>
        <p:spPr>
          <a:xfrm>
            <a:off x="677862" y="2537137"/>
            <a:ext cx="9110081" cy="2871989"/>
          </a:xfrm>
          <a:prstGeom prst="rect">
            <a:avLst/>
          </a:prstGeom>
        </p:spPr>
      </p:pic>
    </p:spTree>
    <p:extLst>
      <p:ext uri="{BB962C8B-B14F-4D97-AF65-F5344CB8AC3E}">
        <p14:creationId xmlns:p14="http://schemas.microsoft.com/office/powerpoint/2010/main" val="2183443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B79FB89-84F4-4505-AF54-628B1B093520}"/>
              </a:ext>
            </a:extLst>
          </p:cNvPr>
          <p:cNvSpPr>
            <a:spLocks noGrp="1"/>
          </p:cNvSpPr>
          <p:nvPr>
            <p:ph type="title"/>
          </p:nvPr>
        </p:nvSpPr>
        <p:spPr>
          <a:xfrm>
            <a:off x="677334" y="635726"/>
            <a:ext cx="8596668" cy="971006"/>
          </a:xfrm>
        </p:spPr>
        <p:txBody>
          <a:bodyPr/>
          <a:lstStyle/>
          <a:p>
            <a:r>
              <a:rPr lang="en-US" b="1" dirty="0"/>
              <a:t>Computer Characteristics</a:t>
            </a:r>
            <a:endParaRPr lang="en-US" altLang="en-US" b="1" dirty="0">
              <a:cs typeface="Times New Roman" panose="02020603050405020304" pitchFamily="18" charset="0"/>
            </a:endParaRPr>
          </a:p>
        </p:txBody>
      </p:sp>
      <p:sp>
        <p:nvSpPr>
          <p:cNvPr id="22531" name="Content Placeholder 2">
            <a:extLst>
              <a:ext uri="{FF2B5EF4-FFF2-40B4-BE49-F238E27FC236}">
                <a16:creationId xmlns:a16="http://schemas.microsoft.com/office/drawing/2014/main" id="{3226307A-AD9B-4A94-B343-DBC3FEA1028D}"/>
              </a:ext>
            </a:extLst>
          </p:cNvPr>
          <p:cNvSpPr>
            <a:spLocks noGrp="1"/>
          </p:cNvSpPr>
          <p:nvPr>
            <p:ph idx="1"/>
          </p:nvPr>
        </p:nvSpPr>
        <p:spPr>
          <a:xfrm>
            <a:off x="677333" y="2160589"/>
            <a:ext cx="9953722" cy="3880773"/>
          </a:xfrm>
        </p:spPr>
        <p:txBody>
          <a:bodyPr>
            <a:normAutofit/>
          </a:bodyPr>
          <a:lstStyle/>
          <a:p>
            <a:pPr>
              <a:buFont typeface="Wingdings" pitchFamily="2" charset="2"/>
              <a:buChar char="q"/>
            </a:pPr>
            <a:r>
              <a:rPr lang="en-US" sz="2000" dirty="0"/>
              <a:t>Computers differ in size and price and agree on the main characteristics:</a:t>
            </a:r>
          </a:p>
          <a:p>
            <a:pPr lvl="1">
              <a:buFont typeface="Wingdings" pitchFamily="2" charset="2"/>
              <a:buChar char="q"/>
            </a:pPr>
            <a:endParaRPr lang="en-US" sz="1800" dirty="0" smtClean="0"/>
          </a:p>
          <a:p>
            <a:pPr lvl="1">
              <a:buFont typeface="Wingdings" pitchFamily="2" charset="2"/>
              <a:buChar char="q"/>
            </a:pPr>
            <a:r>
              <a:rPr lang="en-US" sz="1800" dirty="0" smtClean="0"/>
              <a:t>Super </a:t>
            </a:r>
            <a:r>
              <a:rPr lang="en-US" sz="1800" dirty="0"/>
              <a:t>speed in carrying out operations.</a:t>
            </a:r>
          </a:p>
          <a:p>
            <a:pPr lvl="1">
              <a:buFont typeface="Wingdings" pitchFamily="2" charset="2"/>
              <a:buChar char="q"/>
            </a:pPr>
            <a:r>
              <a:rPr lang="en-US" sz="1800" dirty="0"/>
              <a:t> Precision. </a:t>
            </a:r>
          </a:p>
          <a:p>
            <a:pPr lvl="1">
              <a:buFont typeface="Wingdings" pitchFamily="2" charset="2"/>
              <a:buChar char="q"/>
            </a:pPr>
            <a:r>
              <a:rPr lang="en-US" sz="1800" dirty="0"/>
              <a:t>Storage possibility.</a:t>
            </a:r>
          </a:p>
          <a:p>
            <a:pPr lvl="1">
              <a:buFont typeface="Wingdings" pitchFamily="2" charset="2"/>
              <a:buChar char="q"/>
            </a:pPr>
            <a:r>
              <a:rPr lang="en-US" sz="1800" dirty="0"/>
              <a:t>Multi-used</a:t>
            </a:r>
          </a:p>
          <a:p>
            <a:pPr lvl="1">
              <a:buFont typeface="Wingdings" pitchFamily="2" charset="2"/>
              <a:buChar char="q"/>
            </a:pPr>
            <a:endParaRPr lang="en-US" altLang="en-US" sz="1800" dirty="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B345869-B238-42BC-8585-DF6501BFBE9F}"/>
              </a:ext>
            </a:extLst>
          </p:cNvPr>
          <p:cNvSpPr>
            <a:spLocks noGrp="1"/>
          </p:cNvSpPr>
          <p:nvPr>
            <p:ph type="title"/>
          </p:nvPr>
        </p:nvSpPr>
        <p:spPr>
          <a:xfrm>
            <a:off x="44095" y="15263"/>
            <a:ext cx="8596668" cy="1320800"/>
          </a:xfrm>
        </p:spPr>
        <p:txBody>
          <a:bodyPr/>
          <a:lstStyle/>
          <a:p>
            <a:r>
              <a:rPr lang="en-US" sz="4400" dirty="0"/>
              <a:t>Classification of Computers</a:t>
            </a:r>
            <a:endParaRPr lang="en-US" altLang="en-US" sz="4300" dirty="0">
              <a:cs typeface="Times New Roman" panose="02020603050405020304" pitchFamily="18" charset="0"/>
            </a:endParaRPr>
          </a:p>
        </p:txBody>
      </p:sp>
      <p:sp>
        <p:nvSpPr>
          <p:cNvPr id="14339" name="AutoShape 3">
            <a:extLst>
              <a:ext uri="{FF2B5EF4-FFF2-40B4-BE49-F238E27FC236}">
                <a16:creationId xmlns:a16="http://schemas.microsoft.com/office/drawing/2014/main" id="{C747C15E-6044-4BA6-B02E-8B97C63919B6}"/>
              </a:ext>
            </a:extLst>
          </p:cNvPr>
          <p:cNvSpPr>
            <a:spLocks noChangeArrowheads="1"/>
          </p:cNvSpPr>
          <p:nvPr/>
        </p:nvSpPr>
        <p:spPr bwMode="gray">
          <a:xfrm>
            <a:off x="2743200" y="2738854"/>
            <a:ext cx="2697018" cy="1144587"/>
          </a:xfrm>
          <a:prstGeom prst="roundRect">
            <a:avLst>
              <a:gd name="adj" fmla="val 11921"/>
            </a:avLst>
          </a:prstGeom>
          <a:gradFill rotWithShape="1">
            <a:gsLst>
              <a:gs pos="0">
                <a:schemeClr val="accent1"/>
              </a:gs>
              <a:gs pos="100000">
                <a:schemeClr val="accent1">
                  <a:gamma/>
                  <a:shade val="69804"/>
                  <a:invGamma/>
                </a:schemeClr>
              </a:gs>
            </a:gsLst>
            <a:lin ang="5400000" scaled="1"/>
          </a:gradFill>
          <a:ln w="25400">
            <a:solidFill>
              <a:srgbClr val="FEFFFF"/>
            </a:solidFill>
            <a:round/>
            <a:headEnd/>
            <a:tailEnd/>
          </a:ln>
          <a:effectLst>
            <a:outerShdw dist="53882" dir="2700000" algn="ctr" rotWithShape="0">
              <a:srgbClr val="000000">
                <a:alpha val="50000"/>
              </a:srgbClr>
            </a:outerShdw>
          </a:effectLst>
        </p:spPr>
        <p:txBody>
          <a:bodyPr wrap="none" anchor="ctr"/>
          <a:lstStyle/>
          <a:p>
            <a:pPr>
              <a:buFont typeface="Wingdings" pitchFamily="2" charset="2"/>
              <a:buChar char="Ø"/>
              <a:defRPr/>
            </a:pPr>
            <a:r>
              <a:rPr lang="en-US" sz="2400" dirty="0">
                <a:solidFill>
                  <a:schemeClr val="bg1"/>
                </a:solidFill>
              </a:rPr>
              <a:t>Single purpose</a:t>
            </a:r>
          </a:p>
          <a:p>
            <a:pPr>
              <a:buFont typeface="Wingdings" pitchFamily="2" charset="2"/>
              <a:buChar char="Ø"/>
              <a:defRPr/>
            </a:pPr>
            <a:r>
              <a:rPr lang="en-US" sz="2400" dirty="0">
                <a:solidFill>
                  <a:schemeClr val="bg1"/>
                </a:solidFill>
              </a:rPr>
              <a:t>Multi-purpose</a:t>
            </a:r>
            <a:endParaRPr lang="ar-SA" sz="2400" dirty="0">
              <a:solidFill>
                <a:schemeClr val="bg1"/>
              </a:solidFill>
            </a:endParaRPr>
          </a:p>
        </p:txBody>
      </p:sp>
      <p:sp>
        <p:nvSpPr>
          <p:cNvPr id="14340" name="AutoShape 4">
            <a:extLst>
              <a:ext uri="{FF2B5EF4-FFF2-40B4-BE49-F238E27FC236}">
                <a16:creationId xmlns:a16="http://schemas.microsoft.com/office/drawing/2014/main" id="{2412A8D4-DB2B-4E68-BA3A-94EFE84F9416}"/>
              </a:ext>
            </a:extLst>
          </p:cNvPr>
          <p:cNvSpPr>
            <a:spLocks noChangeArrowheads="1"/>
          </p:cNvSpPr>
          <p:nvPr/>
        </p:nvSpPr>
        <p:spPr bwMode="gray">
          <a:xfrm>
            <a:off x="2785268" y="4331909"/>
            <a:ext cx="6653213" cy="1233488"/>
          </a:xfrm>
          <a:prstGeom prst="roundRect">
            <a:avLst>
              <a:gd name="adj" fmla="val 11921"/>
            </a:avLst>
          </a:prstGeom>
          <a:gradFill rotWithShape="1">
            <a:gsLst>
              <a:gs pos="0">
                <a:schemeClr val="accent2"/>
              </a:gs>
              <a:gs pos="100000">
                <a:schemeClr val="accent2">
                  <a:gamma/>
                  <a:shade val="69804"/>
                  <a:invGamma/>
                </a:schemeClr>
              </a:gs>
            </a:gsLst>
            <a:lin ang="5400000" scaled="1"/>
          </a:gradFill>
          <a:ln w="25400">
            <a:solidFill>
              <a:srgbClr val="FEFFFF"/>
            </a:solidFill>
            <a:round/>
            <a:headEnd/>
            <a:tailEnd/>
          </a:ln>
          <a:effectLst>
            <a:outerShdw dist="53882" dir="2700000" algn="ctr" rotWithShape="0">
              <a:srgbClr val="000000">
                <a:alpha val="50000"/>
              </a:srgbClr>
            </a:outerShdw>
          </a:effectLst>
        </p:spPr>
        <p:txBody>
          <a:bodyPr wrap="none" anchor="ctr"/>
          <a:lstStyle/>
          <a:p>
            <a:pPr algn="ctr" rtl="1" eaLnBrk="1" hangingPunct="1">
              <a:defRPr/>
            </a:pPr>
            <a:endParaRPr lang="ar-SA"/>
          </a:p>
        </p:txBody>
      </p:sp>
      <p:sp>
        <p:nvSpPr>
          <p:cNvPr id="14342" name="AutoShape 6">
            <a:extLst>
              <a:ext uri="{FF2B5EF4-FFF2-40B4-BE49-F238E27FC236}">
                <a16:creationId xmlns:a16="http://schemas.microsoft.com/office/drawing/2014/main" id="{AC0AD75F-B87D-410A-85F0-AFD6B9A1C1CF}"/>
              </a:ext>
            </a:extLst>
          </p:cNvPr>
          <p:cNvSpPr>
            <a:spLocks noChangeArrowheads="1"/>
          </p:cNvSpPr>
          <p:nvPr/>
        </p:nvSpPr>
        <p:spPr bwMode="gray">
          <a:xfrm flipV="1">
            <a:off x="2913063" y="3940592"/>
            <a:ext cx="6397625" cy="661987"/>
          </a:xfrm>
          <a:custGeom>
            <a:avLst/>
            <a:gdLst>
              <a:gd name="G0" fmla="+- 3813 0 0"/>
              <a:gd name="G1" fmla="+- 21600 0 3813"/>
              <a:gd name="G2" fmla="*/ 3813 1 2"/>
              <a:gd name="G3" fmla="+- 21600 0 G2"/>
              <a:gd name="G4" fmla="+/ 3813 21600 2"/>
              <a:gd name="G5" fmla="+/ G1 0 2"/>
              <a:gd name="G6" fmla="*/ 21600 21600 3813"/>
              <a:gd name="G7" fmla="*/ G6 1 2"/>
              <a:gd name="G8" fmla="+- 21600 0 G7"/>
              <a:gd name="G9" fmla="*/ 21600 1 2"/>
              <a:gd name="G10" fmla="+- 3813 0 G9"/>
              <a:gd name="G11" fmla="?: G10 G8 0"/>
              <a:gd name="G12" fmla="?: G10 G7 21600"/>
              <a:gd name="T0" fmla="*/ 19693 w 21600"/>
              <a:gd name="T1" fmla="*/ 10800 h 21600"/>
              <a:gd name="T2" fmla="*/ 10800 w 21600"/>
              <a:gd name="T3" fmla="*/ 21600 h 21600"/>
              <a:gd name="T4" fmla="*/ 1907 w 21600"/>
              <a:gd name="T5" fmla="*/ 10800 h 21600"/>
              <a:gd name="T6" fmla="*/ 10800 w 21600"/>
              <a:gd name="T7" fmla="*/ 0 h 21600"/>
              <a:gd name="T8" fmla="*/ 3707 w 21600"/>
              <a:gd name="T9" fmla="*/ 3707 h 21600"/>
              <a:gd name="T10" fmla="*/ 17893 w 21600"/>
              <a:gd name="T11" fmla="*/ 17893 h 21600"/>
            </a:gdLst>
            <a:ahLst/>
            <a:cxnLst>
              <a:cxn ang="0">
                <a:pos x="T0" y="T1"/>
              </a:cxn>
              <a:cxn ang="0">
                <a:pos x="T2" y="T3"/>
              </a:cxn>
              <a:cxn ang="0">
                <a:pos x="T4" y="T5"/>
              </a:cxn>
              <a:cxn ang="0">
                <a:pos x="T6" y="T7"/>
              </a:cxn>
            </a:cxnLst>
            <a:rect l="T8" t="T9" r="T10" b="T11"/>
            <a:pathLst>
              <a:path w="21600" h="21600">
                <a:moveTo>
                  <a:pt x="0" y="0"/>
                </a:moveTo>
                <a:lnTo>
                  <a:pt x="3813" y="21600"/>
                </a:lnTo>
                <a:lnTo>
                  <a:pt x="17787" y="21600"/>
                </a:lnTo>
                <a:lnTo>
                  <a:pt x="21600" y="0"/>
                </a:lnTo>
                <a:close/>
              </a:path>
            </a:pathLst>
          </a:custGeom>
          <a:gradFill rotWithShape="1">
            <a:gsLst>
              <a:gs pos="0">
                <a:schemeClr val="accent2">
                  <a:alpha val="39999"/>
                </a:schemeClr>
              </a:gs>
              <a:gs pos="100000">
                <a:schemeClr val="accent2">
                  <a:gamma/>
                  <a:tint val="0"/>
                  <a:invGamma/>
                  <a:alpha val="0"/>
                </a:schemeClr>
              </a:gs>
            </a:gsLst>
            <a:lin ang="5400000" scaled="1"/>
          </a:gradFill>
          <a:ln w="9525" algn="ctr">
            <a:noFill/>
            <a:miter lim="800000"/>
            <a:headEnd/>
            <a:tailEnd/>
          </a:ln>
          <a:effectLst/>
        </p:spPr>
        <p:txBody>
          <a:bodyPr wrap="none" anchor="ctr"/>
          <a:lstStyle/>
          <a:p>
            <a:pPr algn="ctr" rtl="1" eaLnBrk="1" hangingPunct="1">
              <a:defRPr/>
            </a:pPr>
            <a:endParaRPr lang="ar-SA"/>
          </a:p>
        </p:txBody>
      </p:sp>
      <p:sp>
        <p:nvSpPr>
          <p:cNvPr id="14343" name="AutoShape 7">
            <a:extLst>
              <a:ext uri="{FF2B5EF4-FFF2-40B4-BE49-F238E27FC236}">
                <a16:creationId xmlns:a16="http://schemas.microsoft.com/office/drawing/2014/main" id="{8FEAA66A-D049-491A-B23F-4217A37266B7}"/>
              </a:ext>
            </a:extLst>
          </p:cNvPr>
          <p:cNvSpPr>
            <a:spLocks noChangeArrowheads="1"/>
          </p:cNvSpPr>
          <p:nvPr/>
        </p:nvSpPr>
        <p:spPr bwMode="gray">
          <a:xfrm flipV="1">
            <a:off x="2820988" y="2067341"/>
            <a:ext cx="2417762" cy="665163"/>
          </a:xfrm>
          <a:custGeom>
            <a:avLst/>
            <a:gdLst>
              <a:gd name="G0" fmla="+- 3813 0 0"/>
              <a:gd name="G1" fmla="+- 21600 0 3813"/>
              <a:gd name="G2" fmla="*/ 3813 1 2"/>
              <a:gd name="G3" fmla="+- 21600 0 G2"/>
              <a:gd name="G4" fmla="+/ 3813 21600 2"/>
              <a:gd name="G5" fmla="+/ G1 0 2"/>
              <a:gd name="G6" fmla="*/ 21600 21600 3813"/>
              <a:gd name="G7" fmla="*/ G6 1 2"/>
              <a:gd name="G8" fmla="+- 21600 0 G7"/>
              <a:gd name="G9" fmla="*/ 21600 1 2"/>
              <a:gd name="G10" fmla="+- 3813 0 G9"/>
              <a:gd name="G11" fmla="?: G10 G8 0"/>
              <a:gd name="G12" fmla="?: G10 G7 21600"/>
              <a:gd name="T0" fmla="*/ 19693 w 21600"/>
              <a:gd name="T1" fmla="*/ 10800 h 21600"/>
              <a:gd name="T2" fmla="*/ 10800 w 21600"/>
              <a:gd name="T3" fmla="*/ 21600 h 21600"/>
              <a:gd name="T4" fmla="*/ 1907 w 21600"/>
              <a:gd name="T5" fmla="*/ 10800 h 21600"/>
              <a:gd name="T6" fmla="*/ 10800 w 21600"/>
              <a:gd name="T7" fmla="*/ 0 h 21600"/>
              <a:gd name="T8" fmla="*/ 3707 w 21600"/>
              <a:gd name="T9" fmla="*/ 3707 h 21600"/>
              <a:gd name="T10" fmla="*/ 17893 w 21600"/>
              <a:gd name="T11" fmla="*/ 17893 h 21600"/>
            </a:gdLst>
            <a:ahLst/>
            <a:cxnLst>
              <a:cxn ang="0">
                <a:pos x="T0" y="T1"/>
              </a:cxn>
              <a:cxn ang="0">
                <a:pos x="T2" y="T3"/>
              </a:cxn>
              <a:cxn ang="0">
                <a:pos x="T4" y="T5"/>
              </a:cxn>
              <a:cxn ang="0">
                <a:pos x="T6" y="T7"/>
              </a:cxn>
            </a:cxnLst>
            <a:rect l="T8" t="T9" r="T10" b="T11"/>
            <a:pathLst>
              <a:path w="21600" h="21600">
                <a:moveTo>
                  <a:pt x="0" y="0"/>
                </a:moveTo>
                <a:lnTo>
                  <a:pt x="3813" y="21600"/>
                </a:lnTo>
                <a:lnTo>
                  <a:pt x="17787" y="21600"/>
                </a:lnTo>
                <a:lnTo>
                  <a:pt x="21600" y="0"/>
                </a:lnTo>
                <a:close/>
              </a:path>
            </a:pathLst>
          </a:custGeom>
          <a:gradFill rotWithShape="1">
            <a:gsLst>
              <a:gs pos="0">
                <a:schemeClr val="accent1">
                  <a:alpha val="39999"/>
                </a:schemeClr>
              </a:gs>
              <a:gs pos="100000">
                <a:schemeClr val="accent1">
                  <a:gamma/>
                  <a:tint val="0"/>
                  <a:invGamma/>
                  <a:alpha val="0"/>
                </a:schemeClr>
              </a:gs>
            </a:gsLst>
            <a:lin ang="5400000" scaled="1"/>
          </a:gradFill>
          <a:ln w="9525" algn="ctr">
            <a:noFill/>
            <a:miter lim="800000"/>
            <a:headEnd/>
            <a:tailEnd/>
          </a:ln>
          <a:effectLst/>
        </p:spPr>
        <p:txBody>
          <a:bodyPr wrap="none" anchor="ctr"/>
          <a:lstStyle/>
          <a:p>
            <a:pPr algn="ctr" rtl="1" eaLnBrk="1" hangingPunct="1">
              <a:defRPr/>
            </a:pPr>
            <a:endParaRPr lang="ar-SA"/>
          </a:p>
        </p:txBody>
      </p:sp>
      <p:pic>
        <p:nvPicPr>
          <p:cNvPr id="32777" name="Picture 9" descr="Picture4">
            <a:extLst>
              <a:ext uri="{FF2B5EF4-FFF2-40B4-BE49-F238E27FC236}">
                <a16:creationId xmlns:a16="http://schemas.microsoft.com/office/drawing/2014/main" id="{DF8553B6-B082-4C61-983B-D5E9F53808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800350" y="2781716"/>
            <a:ext cx="6746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8" name="Picture 10" descr="Picture4">
            <a:extLst>
              <a:ext uri="{FF2B5EF4-FFF2-40B4-BE49-F238E27FC236}">
                <a16:creationId xmlns:a16="http://schemas.microsoft.com/office/drawing/2014/main" id="{D08DF36D-7283-49AB-B366-0578017F6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797176" y="4375565"/>
            <a:ext cx="6762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4" name="Text Box 16">
            <a:extLst>
              <a:ext uri="{FF2B5EF4-FFF2-40B4-BE49-F238E27FC236}">
                <a16:creationId xmlns:a16="http://schemas.microsoft.com/office/drawing/2014/main" id="{FAE09EBF-F903-4BD1-927B-933E635D7E87}"/>
              </a:ext>
            </a:extLst>
          </p:cNvPr>
          <p:cNvSpPr txBox="1">
            <a:spLocks noChangeArrowheads="1"/>
          </p:cNvSpPr>
          <p:nvPr/>
        </p:nvSpPr>
        <p:spPr bwMode="gray">
          <a:xfrm>
            <a:off x="3154363" y="4658141"/>
            <a:ext cx="6019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rtl="0">
              <a:spcBef>
                <a:spcPct val="0"/>
              </a:spcBef>
              <a:buFontTx/>
              <a:buNone/>
            </a:pPr>
            <a:r>
              <a:rPr lang="en-US" altLang="en-US" sz="2400" dirty="0">
                <a:solidFill>
                  <a:srgbClr val="FEFFFF"/>
                </a:solidFill>
                <a:latin typeface="Times New Roman" panose="02020603050405020304" pitchFamily="18" charset="0"/>
              </a:rPr>
              <a:t>Super Computers          Mainframe Computers</a:t>
            </a:r>
          </a:p>
          <a:p>
            <a:pPr algn="l" rtl="0">
              <a:spcBef>
                <a:spcPct val="0"/>
              </a:spcBef>
              <a:buFontTx/>
              <a:buNone/>
            </a:pPr>
            <a:r>
              <a:rPr lang="en-US" altLang="en-US" sz="2400" dirty="0">
                <a:solidFill>
                  <a:srgbClr val="FEFFFF"/>
                </a:solidFill>
                <a:latin typeface="Times New Roman" panose="02020603050405020304" pitchFamily="18" charset="0"/>
              </a:rPr>
              <a:t>Mini Computers           Micro Computers</a:t>
            </a:r>
          </a:p>
        </p:txBody>
      </p:sp>
      <p:sp>
        <p:nvSpPr>
          <p:cNvPr id="32786" name="Rectangle 18">
            <a:extLst>
              <a:ext uri="{FF2B5EF4-FFF2-40B4-BE49-F238E27FC236}">
                <a16:creationId xmlns:a16="http://schemas.microsoft.com/office/drawing/2014/main" id="{D680A29E-414C-4BEA-AFEA-EE5254D8B340}"/>
              </a:ext>
            </a:extLst>
          </p:cNvPr>
          <p:cNvSpPr>
            <a:spLocks noChangeArrowheads="1"/>
          </p:cNvSpPr>
          <p:nvPr/>
        </p:nvSpPr>
        <p:spPr bwMode="gray">
          <a:xfrm>
            <a:off x="2958306" y="2289151"/>
            <a:ext cx="2071688" cy="435376"/>
          </a:xfrm>
          <a:prstGeom prst="rect">
            <a:avLst/>
          </a:prstGeom>
          <a:solidFill>
            <a:schemeClr val="accent2"/>
          </a:solidFill>
          <a:ln>
            <a:noFill/>
          </a:ln>
          <a:extLst/>
        </p:spPr>
        <p:txBody>
          <a:bodyPr>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None/>
            </a:pPr>
            <a:r>
              <a:rPr lang="en-US" sz="2000" b="1" dirty="0"/>
              <a:t>Type of Work</a:t>
            </a:r>
            <a:endParaRPr lang="en-US" altLang="en-US" sz="2000" b="1" dirty="0">
              <a:solidFill>
                <a:schemeClr val="accent1"/>
              </a:solidFill>
              <a:latin typeface="Times New Roman" panose="02020603050405020304" pitchFamily="18" charset="0"/>
            </a:endParaRPr>
          </a:p>
        </p:txBody>
      </p:sp>
      <p:sp>
        <p:nvSpPr>
          <p:cNvPr id="32787" name="Rectangle 19">
            <a:extLst>
              <a:ext uri="{FF2B5EF4-FFF2-40B4-BE49-F238E27FC236}">
                <a16:creationId xmlns:a16="http://schemas.microsoft.com/office/drawing/2014/main" id="{F84777AC-5D9B-4815-86A8-45067A3E6118}"/>
              </a:ext>
            </a:extLst>
          </p:cNvPr>
          <p:cNvSpPr>
            <a:spLocks noChangeArrowheads="1"/>
          </p:cNvSpPr>
          <p:nvPr/>
        </p:nvSpPr>
        <p:spPr bwMode="gray">
          <a:xfrm>
            <a:off x="3611563" y="3972879"/>
            <a:ext cx="5029200" cy="435376"/>
          </a:xfrm>
          <a:prstGeom prst="rect">
            <a:avLst/>
          </a:prstGeom>
          <a:solidFill>
            <a:schemeClr val="accent2"/>
          </a:solidFill>
          <a:ln>
            <a:noFill/>
          </a:ln>
          <a:extLst/>
        </p:spPr>
        <p:txBody>
          <a:bodyPr>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None/>
            </a:pPr>
            <a:r>
              <a:rPr lang="en-US" sz="2000" b="1" dirty="0"/>
              <a:t>Memory Size</a:t>
            </a:r>
            <a:endParaRPr lang="en-US" altLang="en-US" sz="2000" b="1" dirty="0">
              <a:solidFill>
                <a:schemeClr val="accent2"/>
              </a:solidFill>
              <a:latin typeface="Times New Roman" panose="02020603050405020304" pitchFamily="18" charset="0"/>
            </a:endParaRPr>
          </a:p>
        </p:txBody>
      </p:sp>
      <p:sp>
        <p:nvSpPr>
          <p:cNvPr id="23" name="AutoShape 3">
            <a:extLst>
              <a:ext uri="{FF2B5EF4-FFF2-40B4-BE49-F238E27FC236}">
                <a16:creationId xmlns:a16="http://schemas.microsoft.com/office/drawing/2014/main" id="{220E7935-D3D5-4E23-9075-2EBD4B2090B5}"/>
              </a:ext>
            </a:extLst>
          </p:cNvPr>
          <p:cNvSpPr>
            <a:spLocks noChangeArrowheads="1"/>
          </p:cNvSpPr>
          <p:nvPr/>
        </p:nvSpPr>
        <p:spPr bwMode="gray">
          <a:xfrm>
            <a:off x="6815138" y="2662654"/>
            <a:ext cx="2495550" cy="1144587"/>
          </a:xfrm>
          <a:prstGeom prst="roundRect">
            <a:avLst>
              <a:gd name="adj" fmla="val 11921"/>
            </a:avLst>
          </a:prstGeom>
          <a:gradFill rotWithShape="1">
            <a:gsLst>
              <a:gs pos="0">
                <a:schemeClr val="accent1"/>
              </a:gs>
              <a:gs pos="100000">
                <a:schemeClr val="accent1">
                  <a:gamma/>
                  <a:shade val="69804"/>
                  <a:invGamma/>
                </a:schemeClr>
              </a:gs>
            </a:gsLst>
            <a:lin ang="5400000" scaled="1"/>
          </a:gradFill>
          <a:ln w="25400">
            <a:solidFill>
              <a:srgbClr val="FEFFFF"/>
            </a:solidFill>
            <a:round/>
            <a:headEnd/>
            <a:tailEnd/>
          </a:ln>
          <a:effectLst>
            <a:outerShdw dist="53882" dir="2700000" algn="ctr" rotWithShape="0">
              <a:srgbClr val="000000">
                <a:alpha val="50000"/>
              </a:srgbClr>
            </a:outerShdw>
          </a:effectLst>
        </p:spPr>
        <p:txBody>
          <a:bodyPr wrap="none" anchor="ctr"/>
          <a:lstStyle/>
          <a:p>
            <a:pPr algn="l" eaLnBrk="1" hangingPunct="1">
              <a:buFont typeface="Wingdings" pitchFamily="2" charset="2"/>
              <a:buChar char="Ø"/>
              <a:defRPr/>
            </a:pPr>
            <a:r>
              <a:rPr lang="en-US" sz="2400" dirty="0">
                <a:solidFill>
                  <a:schemeClr val="bg1"/>
                </a:solidFill>
              </a:rPr>
              <a:t>Analog</a:t>
            </a:r>
            <a:endParaRPr lang="ar-SA" sz="2400" dirty="0">
              <a:solidFill>
                <a:schemeClr val="bg1"/>
              </a:solidFill>
            </a:endParaRPr>
          </a:p>
          <a:p>
            <a:pPr algn="l" eaLnBrk="1" hangingPunct="1">
              <a:buFont typeface="Wingdings" pitchFamily="2" charset="2"/>
              <a:buChar char="Ø"/>
              <a:defRPr/>
            </a:pPr>
            <a:r>
              <a:rPr lang="en-US" sz="2400" dirty="0">
                <a:solidFill>
                  <a:schemeClr val="bg1"/>
                </a:solidFill>
              </a:rPr>
              <a:t>Digital</a:t>
            </a:r>
            <a:endParaRPr lang="ar-SA" sz="2400" dirty="0">
              <a:solidFill>
                <a:schemeClr val="bg1"/>
              </a:solidFill>
            </a:endParaRPr>
          </a:p>
        </p:txBody>
      </p:sp>
      <p:sp>
        <p:nvSpPr>
          <p:cNvPr id="24" name="AutoShape 7">
            <a:extLst>
              <a:ext uri="{FF2B5EF4-FFF2-40B4-BE49-F238E27FC236}">
                <a16:creationId xmlns:a16="http://schemas.microsoft.com/office/drawing/2014/main" id="{B18C2ACB-31E5-4E41-BC7E-113DA67D93E4}"/>
              </a:ext>
            </a:extLst>
          </p:cNvPr>
          <p:cNvSpPr>
            <a:spLocks noChangeArrowheads="1"/>
          </p:cNvSpPr>
          <p:nvPr/>
        </p:nvSpPr>
        <p:spPr bwMode="gray">
          <a:xfrm flipV="1">
            <a:off x="6892926" y="1991141"/>
            <a:ext cx="2417763" cy="665163"/>
          </a:xfrm>
          <a:custGeom>
            <a:avLst/>
            <a:gdLst>
              <a:gd name="G0" fmla="+- 3813 0 0"/>
              <a:gd name="G1" fmla="+- 21600 0 3813"/>
              <a:gd name="G2" fmla="*/ 3813 1 2"/>
              <a:gd name="G3" fmla="+- 21600 0 G2"/>
              <a:gd name="G4" fmla="+/ 3813 21600 2"/>
              <a:gd name="G5" fmla="+/ G1 0 2"/>
              <a:gd name="G6" fmla="*/ 21600 21600 3813"/>
              <a:gd name="G7" fmla="*/ G6 1 2"/>
              <a:gd name="G8" fmla="+- 21600 0 G7"/>
              <a:gd name="G9" fmla="*/ 21600 1 2"/>
              <a:gd name="G10" fmla="+- 3813 0 G9"/>
              <a:gd name="G11" fmla="?: G10 G8 0"/>
              <a:gd name="G12" fmla="?: G10 G7 21600"/>
              <a:gd name="T0" fmla="*/ 19693 w 21600"/>
              <a:gd name="T1" fmla="*/ 10800 h 21600"/>
              <a:gd name="T2" fmla="*/ 10800 w 21600"/>
              <a:gd name="T3" fmla="*/ 21600 h 21600"/>
              <a:gd name="T4" fmla="*/ 1907 w 21600"/>
              <a:gd name="T5" fmla="*/ 10800 h 21600"/>
              <a:gd name="T6" fmla="*/ 10800 w 21600"/>
              <a:gd name="T7" fmla="*/ 0 h 21600"/>
              <a:gd name="T8" fmla="*/ 3707 w 21600"/>
              <a:gd name="T9" fmla="*/ 3707 h 21600"/>
              <a:gd name="T10" fmla="*/ 17893 w 21600"/>
              <a:gd name="T11" fmla="*/ 17893 h 21600"/>
            </a:gdLst>
            <a:ahLst/>
            <a:cxnLst>
              <a:cxn ang="0">
                <a:pos x="T0" y="T1"/>
              </a:cxn>
              <a:cxn ang="0">
                <a:pos x="T2" y="T3"/>
              </a:cxn>
              <a:cxn ang="0">
                <a:pos x="T4" y="T5"/>
              </a:cxn>
              <a:cxn ang="0">
                <a:pos x="T6" y="T7"/>
              </a:cxn>
            </a:cxnLst>
            <a:rect l="T8" t="T9" r="T10" b="T11"/>
            <a:pathLst>
              <a:path w="21600" h="21600">
                <a:moveTo>
                  <a:pt x="0" y="0"/>
                </a:moveTo>
                <a:lnTo>
                  <a:pt x="3813" y="21600"/>
                </a:lnTo>
                <a:lnTo>
                  <a:pt x="17787" y="21600"/>
                </a:lnTo>
                <a:lnTo>
                  <a:pt x="21600" y="0"/>
                </a:lnTo>
                <a:close/>
              </a:path>
            </a:pathLst>
          </a:custGeom>
          <a:gradFill rotWithShape="1">
            <a:gsLst>
              <a:gs pos="0">
                <a:schemeClr val="accent1">
                  <a:alpha val="39999"/>
                </a:schemeClr>
              </a:gs>
              <a:gs pos="100000">
                <a:schemeClr val="accent1">
                  <a:gamma/>
                  <a:tint val="0"/>
                  <a:invGamma/>
                  <a:alpha val="0"/>
                </a:schemeClr>
              </a:gs>
            </a:gsLst>
            <a:lin ang="5400000" scaled="1"/>
          </a:gradFill>
          <a:ln w="9525" algn="ctr">
            <a:noFill/>
            <a:miter lim="800000"/>
            <a:headEnd/>
            <a:tailEnd/>
          </a:ln>
          <a:effectLst/>
        </p:spPr>
        <p:txBody>
          <a:bodyPr wrap="none" anchor="ctr"/>
          <a:lstStyle/>
          <a:p>
            <a:pPr algn="ctr" rtl="1" eaLnBrk="1" hangingPunct="1">
              <a:defRPr/>
            </a:pPr>
            <a:endParaRPr lang="ar-SA"/>
          </a:p>
        </p:txBody>
      </p:sp>
      <p:sp>
        <p:nvSpPr>
          <p:cNvPr id="32792" name="Rectangle 18">
            <a:extLst>
              <a:ext uri="{FF2B5EF4-FFF2-40B4-BE49-F238E27FC236}">
                <a16:creationId xmlns:a16="http://schemas.microsoft.com/office/drawing/2014/main" id="{F8A94106-614A-44DF-BA95-D753B670D61D}"/>
              </a:ext>
            </a:extLst>
          </p:cNvPr>
          <p:cNvSpPr>
            <a:spLocks noChangeArrowheads="1"/>
          </p:cNvSpPr>
          <p:nvPr/>
        </p:nvSpPr>
        <p:spPr bwMode="gray">
          <a:xfrm>
            <a:off x="6974042" y="2297943"/>
            <a:ext cx="2214562" cy="435376"/>
          </a:xfrm>
          <a:prstGeom prst="rect">
            <a:avLst/>
          </a:prstGeom>
          <a:solidFill>
            <a:schemeClr val="accent2"/>
          </a:solidFill>
          <a:ln>
            <a:noFill/>
          </a:ln>
          <a:extLst/>
        </p:spPr>
        <p:txBody>
          <a:bodyPr>
            <a:spAutoFit/>
          </a:bodyPr>
          <a:lstStyle>
            <a:lvl1pPr algn="r" rtl="1">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lgn="r" rtl="1">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lgn="r" rtl="1">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lgn="r" rtl="1">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algn="r" rtl="1"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None/>
            </a:pPr>
            <a:r>
              <a:rPr lang="en-US" sz="2000" b="1" dirty="0"/>
              <a:t>Working Method</a:t>
            </a:r>
            <a:endParaRPr lang="en-US" altLang="en-US" sz="2000" b="1" dirty="0">
              <a:solidFill>
                <a:schemeClr val="accent1"/>
              </a:solidFill>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CC2B-4417-42C7-8773-D96624C4DE3C}"/>
              </a:ext>
            </a:extLst>
          </p:cNvPr>
          <p:cNvSpPr>
            <a:spLocks noGrp="1"/>
          </p:cNvSpPr>
          <p:nvPr>
            <p:ph type="title"/>
          </p:nvPr>
        </p:nvSpPr>
        <p:spPr>
          <a:xfrm>
            <a:off x="73653" y="0"/>
            <a:ext cx="8596668" cy="1075509"/>
          </a:xfrm>
        </p:spPr>
        <p:txBody>
          <a:bodyPr/>
          <a:lstStyle/>
          <a:p>
            <a:pPr algn="l"/>
            <a:r>
              <a:rPr lang="en-US" b="1" dirty="0"/>
              <a:t>Computer Applications</a:t>
            </a:r>
          </a:p>
        </p:txBody>
      </p:sp>
      <p:sp>
        <p:nvSpPr>
          <p:cNvPr id="3" name="Content Placeholder 2">
            <a:extLst>
              <a:ext uri="{FF2B5EF4-FFF2-40B4-BE49-F238E27FC236}">
                <a16:creationId xmlns:a16="http://schemas.microsoft.com/office/drawing/2014/main" id="{B685CDE2-028E-4BAB-B806-44FE47F0536E}"/>
              </a:ext>
            </a:extLst>
          </p:cNvPr>
          <p:cNvSpPr>
            <a:spLocks noGrp="1"/>
          </p:cNvSpPr>
          <p:nvPr>
            <p:ph idx="1"/>
          </p:nvPr>
        </p:nvSpPr>
        <p:spPr>
          <a:xfrm>
            <a:off x="195308" y="1075509"/>
            <a:ext cx="11736279" cy="5172891"/>
          </a:xfrm>
        </p:spPr>
        <p:txBody>
          <a:bodyPr>
            <a:normAutofit/>
          </a:bodyPr>
          <a:lstStyle/>
          <a:p>
            <a:pPr>
              <a:buFont typeface="Wingdings" pitchFamily="2" charset="2"/>
              <a:buChar char="q"/>
            </a:pPr>
            <a:endParaRPr lang="en-US" sz="2400" dirty="0" smtClean="0"/>
          </a:p>
          <a:p>
            <a:pPr>
              <a:buFont typeface="Wingdings" pitchFamily="2" charset="2"/>
              <a:buChar char="q"/>
            </a:pPr>
            <a:r>
              <a:rPr lang="en-US" sz="2400" dirty="0" smtClean="0"/>
              <a:t>Computer </a:t>
            </a:r>
            <a:r>
              <a:rPr lang="en-US" sz="2400" dirty="0"/>
              <a:t>use has become a measure of progress and development, as it is used in all fields</a:t>
            </a:r>
            <a:r>
              <a:rPr lang="en-US" sz="2400" dirty="0" smtClean="0"/>
              <a:t>.</a:t>
            </a:r>
          </a:p>
          <a:p>
            <a:pPr marL="0" indent="0">
              <a:buNone/>
            </a:pPr>
            <a:endParaRPr lang="en-US" sz="2400" dirty="0"/>
          </a:p>
          <a:p>
            <a:pPr lvl="1">
              <a:buFont typeface="Wingdings" pitchFamily="2" charset="2"/>
              <a:buChar char="q"/>
            </a:pPr>
            <a:r>
              <a:rPr lang="en-US" sz="2000" dirty="0"/>
              <a:t>official departments and institutions.</a:t>
            </a:r>
          </a:p>
          <a:p>
            <a:pPr lvl="1">
              <a:buFont typeface="Wingdings" pitchFamily="2" charset="2"/>
              <a:buChar char="q"/>
            </a:pPr>
            <a:r>
              <a:rPr lang="en-US" sz="2000" dirty="0"/>
              <a:t> Trade and financial affairs </a:t>
            </a:r>
          </a:p>
          <a:p>
            <a:pPr lvl="1">
              <a:buFont typeface="Wingdings" pitchFamily="2" charset="2"/>
              <a:buChar char="q"/>
            </a:pPr>
            <a:r>
              <a:rPr lang="en-US" sz="2000" dirty="0"/>
              <a:t>Universities and educational institutions </a:t>
            </a:r>
          </a:p>
          <a:p>
            <a:pPr lvl="1">
              <a:buFont typeface="Wingdings" pitchFamily="2" charset="2"/>
              <a:buChar char="q"/>
            </a:pPr>
            <a:r>
              <a:rPr lang="en-US" sz="2000" dirty="0"/>
              <a:t>Airlines Civil </a:t>
            </a:r>
          </a:p>
          <a:p>
            <a:pPr lvl="1">
              <a:buFont typeface="Wingdings" pitchFamily="2" charset="2"/>
              <a:buChar char="q"/>
            </a:pPr>
            <a:r>
              <a:rPr lang="en-US" sz="2000" dirty="0"/>
              <a:t>architectural engineering as building design services </a:t>
            </a:r>
          </a:p>
          <a:p>
            <a:pPr lvl="1">
              <a:buFont typeface="Wingdings" pitchFamily="2" charset="2"/>
              <a:buChar char="q"/>
            </a:pPr>
            <a:r>
              <a:rPr lang="en-US" sz="2000" dirty="0"/>
              <a:t>The field of health in the management of hospitals</a:t>
            </a:r>
            <a:endParaRPr lang="ar-SA" sz="2000" dirty="0"/>
          </a:p>
        </p:txBody>
      </p:sp>
    </p:spTree>
    <p:extLst>
      <p:ext uri="{BB962C8B-B14F-4D97-AF65-F5344CB8AC3E}">
        <p14:creationId xmlns:p14="http://schemas.microsoft.com/office/powerpoint/2010/main" val="270911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54955" y="1447800"/>
            <a:ext cx="8825658" cy="2609295"/>
          </a:xfrm>
        </p:spPr>
        <p:txBody>
          <a:bodyPr/>
          <a:lstStyle/>
          <a:p>
            <a:pPr algn="ctr"/>
            <a:r>
              <a:rPr lang="en-US" b="1" dirty="0"/>
              <a:t>Computer Generations</a:t>
            </a:r>
            <a:endParaRPr lang="en-US" dirty="0"/>
          </a:p>
        </p:txBody>
      </p:sp>
      <p:sp>
        <p:nvSpPr>
          <p:cNvPr id="5" name="Subtitle 4"/>
          <p:cNvSpPr>
            <a:spLocks noGrp="1"/>
          </p:cNvSpPr>
          <p:nvPr>
            <p:ph type="subTitle" idx="1"/>
          </p:nvPr>
        </p:nvSpPr>
        <p:spPr>
          <a:xfrm>
            <a:off x="1154955" y="4244720"/>
            <a:ext cx="8825658" cy="861420"/>
          </a:xfrm>
        </p:spPr>
        <p:txBody>
          <a:bodyPr/>
          <a:lstStyle/>
          <a:p>
            <a:pPr algn="ctr"/>
            <a:r>
              <a:rPr lang="en-US" b="1" dirty="0"/>
              <a:t>Lecture1 Part2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2248"/>
            <a:ext cx="8596668" cy="931817"/>
          </a:xfrm>
        </p:spPr>
        <p:txBody>
          <a:bodyPr/>
          <a:lstStyle/>
          <a:p>
            <a:r>
              <a:rPr lang="en-US" b="1" dirty="0"/>
              <a:t>Computer Generations</a:t>
            </a:r>
          </a:p>
        </p:txBody>
      </p:sp>
      <p:sp>
        <p:nvSpPr>
          <p:cNvPr id="3" name="Content Placeholder 2"/>
          <p:cNvSpPr>
            <a:spLocks noGrp="1"/>
          </p:cNvSpPr>
          <p:nvPr>
            <p:ph idx="1"/>
          </p:nvPr>
        </p:nvSpPr>
        <p:spPr>
          <a:xfrm>
            <a:off x="390618" y="1500326"/>
            <a:ext cx="11132598" cy="4748073"/>
          </a:xfrm>
        </p:spPr>
        <p:txBody>
          <a:bodyPr>
            <a:normAutofit/>
          </a:bodyPr>
          <a:lstStyle/>
          <a:p>
            <a:pPr algn="just">
              <a:buFont typeface="Wingdings" pitchFamily="2" charset="2"/>
              <a:buChar char="q"/>
            </a:pPr>
            <a:endParaRPr lang="en-US" sz="2400" dirty="0" smtClean="0"/>
          </a:p>
          <a:p>
            <a:pPr algn="just">
              <a:lnSpc>
                <a:spcPct val="150000"/>
              </a:lnSpc>
              <a:buFont typeface="Wingdings" pitchFamily="2" charset="2"/>
              <a:buChar char="q"/>
            </a:pPr>
            <a:r>
              <a:rPr lang="en-US" sz="2400" dirty="0" smtClean="0"/>
              <a:t>The </a:t>
            </a:r>
            <a:r>
              <a:rPr lang="en-US" sz="2400" dirty="0"/>
              <a:t>modern computer took its shape with the arrival of your time. It had been around 16th century when the evolution of the computer started. The initial computer faced many changes, obviously for the betterment. It continuously improved itself in terms of speed, accuracy, size, and price to urge the form of the fashionable day computer. This long period is often conveniently divided into the subsequent phases called computer generations: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Generations</a:t>
            </a:r>
            <a:endParaRPr lang="en-US" dirty="0"/>
          </a:p>
        </p:txBody>
      </p:sp>
      <p:sp>
        <p:nvSpPr>
          <p:cNvPr id="3" name="Content Placeholder 2"/>
          <p:cNvSpPr>
            <a:spLocks noGrp="1"/>
          </p:cNvSpPr>
          <p:nvPr>
            <p:ph idx="1"/>
          </p:nvPr>
        </p:nvSpPr>
        <p:spPr>
          <a:xfrm>
            <a:off x="677334" y="1802675"/>
            <a:ext cx="8596668" cy="4238688"/>
          </a:xfrm>
        </p:spPr>
        <p:txBody>
          <a:bodyPr/>
          <a:lstStyle/>
          <a:p>
            <a:pPr>
              <a:buFont typeface="Wingdings" pitchFamily="2" charset="2"/>
              <a:buChar char="q"/>
            </a:pPr>
            <a:r>
              <a:rPr lang="en-US" b="1" dirty="0"/>
              <a:t>First Generation Computers (1940-1956)</a:t>
            </a:r>
          </a:p>
          <a:p>
            <a:pPr>
              <a:buFont typeface="Wingdings" pitchFamily="2" charset="2"/>
              <a:buChar char="q"/>
            </a:pPr>
            <a:endParaRPr lang="en-US" dirty="0"/>
          </a:p>
          <a:p>
            <a:pPr>
              <a:buFont typeface="Wingdings" pitchFamily="2" charset="2"/>
              <a:buChar char="q"/>
            </a:pPr>
            <a:r>
              <a:rPr lang="en-US" b="1" dirty="0"/>
              <a:t>Second Generation Computers (1956-1963)</a:t>
            </a:r>
          </a:p>
          <a:p>
            <a:pPr>
              <a:buFont typeface="Wingdings" pitchFamily="2" charset="2"/>
              <a:buChar char="q"/>
            </a:pPr>
            <a:endParaRPr lang="en-US" dirty="0"/>
          </a:p>
          <a:p>
            <a:pPr>
              <a:buFont typeface="Wingdings" pitchFamily="2" charset="2"/>
              <a:buChar char="q"/>
            </a:pPr>
            <a:r>
              <a:rPr lang="en-US" b="1" dirty="0"/>
              <a:t>Third Generation Computers (1964-1971)</a:t>
            </a:r>
          </a:p>
          <a:p>
            <a:pPr>
              <a:buFont typeface="Wingdings" pitchFamily="2" charset="2"/>
              <a:buChar char="q"/>
            </a:pPr>
            <a:endParaRPr lang="en-US" dirty="0"/>
          </a:p>
          <a:p>
            <a:pPr>
              <a:buFont typeface="Wingdings" pitchFamily="2" charset="2"/>
              <a:buChar char="q"/>
            </a:pPr>
            <a:r>
              <a:rPr lang="en-US" b="1" dirty="0"/>
              <a:t>Fourth Generation Computers (1971-Present)</a:t>
            </a:r>
          </a:p>
          <a:p>
            <a:pPr>
              <a:buFont typeface="Wingdings" pitchFamily="2" charset="2"/>
              <a:buChar char="q"/>
            </a:pPr>
            <a:endParaRPr lang="en-US" dirty="0"/>
          </a:p>
          <a:p>
            <a:pPr>
              <a:buFont typeface="Wingdings" pitchFamily="2" charset="2"/>
              <a:buChar char="q"/>
            </a:pPr>
            <a:r>
              <a:rPr lang="en-US" b="1" dirty="0"/>
              <a:t>Fifth Generation Computers (Present and Beyond)</a:t>
            </a:r>
            <a:endParaRPr lang="en-US" dirty="0"/>
          </a:p>
          <a:p>
            <a:pPr>
              <a:buFont typeface="Wingdings" pitchFamily="2" charset="2"/>
              <a:buChar char="q"/>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First Generation Computers: Vacuum Tubes (1940-1956)</a:t>
            </a:r>
            <a:br>
              <a:rPr lang="en-US" b="1" dirty="0"/>
            </a:b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q"/>
            </a:pPr>
            <a:r>
              <a:rPr lang="en-US" sz="2400" dirty="0"/>
              <a:t>The technology behind the primary generation computers was a fragile glass device, which was called vacuum tubes. These computers were very heavy and really large in size. These weren’t very reliable and programming on them was a really tedious task as they used low-level programming language and used no OS. First-generation computers were used for calculation, storage, and control purpose. They were too bulky and large that they needed a full room and consume rot of electricity.</a:t>
            </a:r>
          </a:p>
          <a:p>
            <a:pPr algn="just">
              <a:buFont typeface="Wingdings" pitchFamily="2" charset="2"/>
              <a:buChar char="q"/>
            </a:pP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609600"/>
            <a:ext cx="9888583" cy="1320800"/>
          </a:xfrm>
        </p:spPr>
        <p:txBody>
          <a:bodyPr>
            <a:normAutofit fontScale="90000"/>
          </a:bodyPr>
          <a:lstStyle/>
          <a:p>
            <a:r>
              <a:rPr lang="en-US" b="1" dirty="0"/>
              <a:t>Main characteristics of first generation </a:t>
            </a:r>
            <a:r>
              <a:rPr lang="en-US" dirty="0"/>
              <a:t/>
            </a:r>
            <a:br>
              <a:rPr lang="en-US" dirty="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705395" y="1763486"/>
            <a:ext cx="8804366" cy="4451841"/>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Second Generation Computers: Transistors (1956-1963)</a:t>
            </a:r>
            <a:br>
              <a:rPr lang="en-US" b="1"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dirty="0"/>
              <a:t>Second-generation computers used the technology of transistors rather than bulky vacuum tubes. Another feature was the core storage. A transistor may be a device composed of semiconductor material that amplifies a sign or opens or closes a circuit.</a:t>
            </a:r>
          </a:p>
          <a:p>
            <a:pPr>
              <a:buFont typeface="Wingdings" pitchFamily="2" charset="2"/>
              <a:buChar char="q"/>
            </a:pPr>
            <a:r>
              <a:rPr lang="en-US" dirty="0"/>
              <a:t>Transistors were invented in Bell Labs. The use of transistors made it possible to perform powerfully and with due speed. It reduced the dimensions and price and thankfully the warmth too, which was generated by vacuum tubes. Central Processing Unit (CPU), memory, programming language and input, and output units also came into the force within the second  generation.</a:t>
            </a:r>
          </a:p>
          <a:p>
            <a:pPr>
              <a:buFont typeface="Wingdings" pitchFamily="2" charset="2"/>
              <a:buChar char="q"/>
            </a:pPr>
            <a:r>
              <a:rPr lang="en-US" dirty="0"/>
              <a:t>Programming language was shifted from high level to programming language and made programming comparatively a simple task for programmers. Languages used for programming during this era were FORTRAN (1956), ALGOL (1958), and COBOL (1959).</a:t>
            </a:r>
          </a:p>
          <a:p>
            <a:pPr>
              <a:buFont typeface="Wingdings" pitchFamily="2" charset="2"/>
              <a:buChar char="q"/>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 y="112450"/>
            <a:ext cx="10247240" cy="1320800"/>
          </a:xfrm>
        </p:spPr>
        <p:txBody>
          <a:bodyPr>
            <a:normAutofit fontScale="90000"/>
          </a:bodyPr>
          <a:lstStyle/>
          <a:p>
            <a:r>
              <a:rPr lang="en-US" dirty="0"/>
              <a:t>Main characteristics of second </a:t>
            </a:r>
            <a:r>
              <a:rPr lang="en-US" dirty="0" smtClean="0"/>
              <a:t>generation: </a:t>
            </a:r>
            <a:r>
              <a:rPr lang="en-US" dirty="0"/>
              <a:t/>
            </a:r>
            <a:br>
              <a:rPr lang="en-US" dirty="0"/>
            </a:b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470429" y="1307041"/>
            <a:ext cx="8813586" cy="4454439"/>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882" y="159754"/>
            <a:ext cx="9404723" cy="1400530"/>
          </a:xfrm>
        </p:spPr>
        <p:txBody>
          <a:bodyPr>
            <a:normAutofit fontScale="90000"/>
          </a:bodyPr>
          <a:lstStyle/>
          <a:p>
            <a:r>
              <a:rPr lang="en-US" b="1" dirty="0"/>
              <a:t>Third Generation Computers: Integrated Circuits. (1964-1971)</a:t>
            </a:r>
            <a:br>
              <a:rPr lang="en-US" b="1" dirty="0"/>
            </a:br>
            <a:endParaRPr lang="en-US" dirty="0"/>
          </a:p>
        </p:txBody>
      </p:sp>
      <p:sp>
        <p:nvSpPr>
          <p:cNvPr id="3" name="Content Placeholder 2"/>
          <p:cNvSpPr>
            <a:spLocks noGrp="1"/>
          </p:cNvSpPr>
          <p:nvPr>
            <p:ph idx="1"/>
          </p:nvPr>
        </p:nvSpPr>
        <p:spPr>
          <a:xfrm>
            <a:off x="861134" y="2052918"/>
            <a:ext cx="10102788" cy="4195481"/>
          </a:xfrm>
        </p:spPr>
        <p:txBody>
          <a:bodyPr>
            <a:normAutofit/>
          </a:bodyPr>
          <a:lstStyle/>
          <a:p>
            <a:pPr algn="just">
              <a:buFont typeface="Wingdings" pitchFamily="2" charset="2"/>
              <a:buChar char="q"/>
            </a:pPr>
            <a:r>
              <a:rPr lang="en-US" sz="2000" dirty="0"/>
              <a:t>During the third generation, technology envisaged a shift from huge transistors to integrated circuits, also referred to as IC. Here a variety of transistors were placed on silicon chips, called semiconductors. The most feature of this era’s computer was the speed and reliability. IC was made from silicon and also called silicon chips.</a:t>
            </a:r>
          </a:p>
          <a:p>
            <a:pPr algn="just">
              <a:buFont typeface="Wingdings" pitchFamily="2" charset="2"/>
              <a:buChar char="q"/>
            </a:pPr>
            <a:r>
              <a:rPr lang="en-US" sz="2000" dirty="0"/>
              <a:t>A single IC, has many transistors, registers, and capacitors built on one thin slice of silicon. The value size was reduced and memory space and dealing efficiency were increased during this generation. Programming was now wiped out Higher level languages like BASIC (Beginners All-purpose Symbolic Instruction Code). Minicomputers find their shape during this era.</a:t>
            </a:r>
          </a:p>
          <a:p>
            <a:pPr algn="just">
              <a:buFont typeface="Wingdings" pitchFamily="2" charset="2"/>
              <a:buChar char="q"/>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149839" cy="1320800"/>
          </a:xfrm>
        </p:spPr>
        <p:txBody>
          <a:bodyPr>
            <a:normAutofit fontScale="90000"/>
          </a:bodyPr>
          <a:lstStyle/>
          <a:p>
            <a:r>
              <a:rPr lang="en-US" b="1" dirty="0"/>
              <a:t>Main characteristics of third </a:t>
            </a:r>
            <a:r>
              <a:rPr lang="en-US" b="1" dirty="0" smtClean="0"/>
              <a:t>generation: </a:t>
            </a:r>
            <a:r>
              <a:rPr lang="en-US" dirty="0"/>
              <a:t/>
            </a:r>
            <a:br>
              <a:rPr lang="en-US" dirty="0"/>
            </a:b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777900" y="1776543"/>
            <a:ext cx="8379164" cy="4219308"/>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404723" cy="1400530"/>
          </a:xfrm>
        </p:spPr>
        <p:txBody>
          <a:bodyPr>
            <a:normAutofit fontScale="90000"/>
          </a:bodyPr>
          <a:lstStyle/>
          <a:p>
            <a:r>
              <a:rPr lang="en-US" b="1" dirty="0"/>
              <a:t>Fourth Generation Computers: Micro-processors (1971-Present)</a:t>
            </a:r>
            <a:br>
              <a:rPr lang="en-US" b="1" dirty="0"/>
            </a:br>
            <a:endParaRPr lang="en-US" dirty="0"/>
          </a:p>
        </p:txBody>
      </p:sp>
      <p:sp>
        <p:nvSpPr>
          <p:cNvPr id="3" name="Content Placeholder 2"/>
          <p:cNvSpPr>
            <a:spLocks noGrp="1"/>
          </p:cNvSpPr>
          <p:nvPr>
            <p:ph idx="1"/>
          </p:nvPr>
        </p:nvSpPr>
        <p:spPr>
          <a:xfrm>
            <a:off x="677334" y="1509204"/>
            <a:ext cx="11005680" cy="4904659"/>
          </a:xfrm>
        </p:spPr>
        <p:txBody>
          <a:bodyPr>
            <a:normAutofit/>
          </a:bodyPr>
          <a:lstStyle/>
          <a:p>
            <a:pPr algn="just"/>
            <a:r>
              <a:rPr lang="en-US" dirty="0"/>
              <a:t>In 1971 First microprocessors were used, the large scale of integration LSI circuits built on one chip called microprocessors. The most advantage of this technology is that one microprocessor can contain all the circuits required to perform arithmetic, logic, and control functions on one chip.</a:t>
            </a:r>
          </a:p>
          <a:p>
            <a:pPr algn="just"/>
            <a:r>
              <a:rPr lang="en-US" dirty="0"/>
              <a:t>The computers using microchips were called microcomputers. This generation provided the even smaller size of computers, with larger capacities. That’s not enough, then Very Large Scale Integrated (VLSI) circuits replaced LSI circuits. The Intel 4004chip, developed in 1971, located all the components of the pc from the central processing unit and memory to input/ output controls on one chip and allowed the dimensions to reduce drastically.</a:t>
            </a:r>
          </a:p>
          <a:p>
            <a:pPr algn="just"/>
            <a:r>
              <a:rPr lang="en-US" dirty="0"/>
              <a:t>Technologies like multiprocessing, multiprogramming, time-sharing, operating speed, and virtual memory made it a more user-friendly and customary device. The concept of private computers and computer networks came into being within the fourth generation.</a:t>
            </a:r>
          </a:p>
          <a:p>
            <a:pPr algn="just"/>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62586" cy="1311710"/>
          </a:xfrm>
        </p:spPr>
        <p:txBody>
          <a:bodyPr>
            <a:normAutofit fontScale="90000"/>
          </a:bodyPr>
          <a:lstStyle/>
          <a:p>
            <a:r>
              <a:rPr lang="en-US" b="1" dirty="0"/>
              <a:t>Main characteristics of fourth </a:t>
            </a:r>
            <a:r>
              <a:rPr lang="en-US" b="1" dirty="0" smtClean="0"/>
              <a:t>generation: </a:t>
            </a:r>
            <a:r>
              <a:rPr lang="en-US" dirty="0"/>
              <a:t/>
            </a:r>
            <a:br>
              <a:rPr lang="en-US" dirty="0"/>
            </a:b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684109" y="2024743"/>
            <a:ext cx="9113034" cy="4010297"/>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95" y="26634"/>
            <a:ext cx="9404723" cy="1400530"/>
          </a:xfrm>
        </p:spPr>
        <p:txBody>
          <a:bodyPr/>
          <a:lstStyle/>
          <a:p>
            <a:r>
              <a:rPr lang="en-US" b="1" dirty="0"/>
              <a:t>Fifth Generation </a:t>
            </a:r>
            <a:r>
              <a:rPr lang="en-US" b="1" dirty="0" smtClean="0"/>
              <a:t>Computers:</a:t>
            </a:r>
            <a:r>
              <a:rPr lang="en-US" b="1" dirty="0"/>
              <a:t/>
            </a:r>
            <a:br>
              <a:rPr lang="en-US" b="1" dirty="0"/>
            </a:br>
            <a:endParaRPr lang="en-US" dirty="0"/>
          </a:p>
        </p:txBody>
      </p:sp>
      <p:sp>
        <p:nvSpPr>
          <p:cNvPr id="3" name="Content Placeholder 2"/>
          <p:cNvSpPr>
            <a:spLocks noGrp="1"/>
          </p:cNvSpPr>
          <p:nvPr>
            <p:ph idx="1"/>
          </p:nvPr>
        </p:nvSpPr>
        <p:spPr>
          <a:xfrm>
            <a:off x="677334" y="1489167"/>
            <a:ext cx="11041190" cy="4552196"/>
          </a:xfrm>
        </p:spPr>
        <p:txBody>
          <a:bodyPr>
            <a:normAutofit/>
          </a:bodyPr>
          <a:lstStyle/>
          <a:p>
            <a:pPr algn="just">
              <a:buFont typeface="Wingdings" pitchFamily="2" charset="2"/>
              <a:buChar char="q"/>
            </a:pPr>
            <a:r>
              <a:rPr lang="en-US" dirty="0"/>
              <a:t>The technology behind the fifth generation of computers is AI. It allows computers to behave like humans. It is often seen in programs like voice recognition, area of medicines, and entertainment. Within the field of games playing also it’s shown remarkable performance where computers are capable of beating human competitors.</a:t>
            </a:r>
          </a:p>
          <a:p>
            <a:pPr algn="just">
              <a:buFont typeface="Wingdings" pitchFamily="2" charset="2"/>
              <a:buChar char="q"/>
            </a:pPr>
            <a:r>
              <a:rPr lang="en-US" dirty="0"/>
              <a:t>The speed is highest, size is that the smallest and area of use has remarkably increased within the fifth generation computers. Though not a hundred percent AI has been achieved to date but keeping in sight the present developments, it is often said that this dream also will become a reality very soon.</a:t>
            </a:r>
          </a:p>
          <a:p>
            <a:pPr algn="just">
              <a:buFont typeface="Wingdings" pitchFamily="2" charset="2"/>
              <a:buChar char="q"/>
            </a:pPr>
            <a:r>
              <a:rPr lang="en-US" dirty="0"/>
              <a:t>In order to summarize the features of varied generations of computers, it is often said that a big improvement has been seen as far because the speed and accuracy of functioning care, but if we mention the dimensions, it’s being small over the years. The value is additionally diminishing and reliability is in fact increasing.</a:t>
            </a:r>
          </a:p>
          <a:p>
            <a:pPr algn="just">
              <a:buFont typeface="Wingdings" pitchFamily="2" charset="2"/>
              <a:buChar char="q"/>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Main characteristics of fifth generation </a:t>
            </a:r>
            <a:r>
              <a:rPr lang="en-US" dirty="0"/>
              <a:t/>
            </a:r>
            <a:br>
              <a:rPr lang="en-US" dirty="0"/>
            </a:b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875211" y="1946367"/>
            <a:ext cx="8438606" cy="397718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041" y="2414725"/>
            <a:ext cx="8825657" cy="1012056"/>
          </a:xfrm>
        </p:spPr>
        <p:txBody>
          <a:bodyPr/>
          <a:lstStyle/>
          <a:p>
            <a:pPr algn="ctr"/>
            <a:r>
              <a:rPr lang="en-US" dirty="0" smtClean="0"/>
              <a:t>Any Question???</a:t>
            </a:r>
            <a:endParaRPr lang="ar-SA" dirty="0"/>
          </a:p>
        </p:txBody>
      </p:sp>
    </p:spTree>
    <p:extLst>
      <p:ext uri="{BB962C8B-B14F-4D97-AF65-F5344CB8AC3E}">
        <p14:creationId xmlns:p14="http://schemas.microsoft.com/office/powerpoint/2010/main" val="28990407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674</TotalTime>
  <Words>1111</Words>
  <Application>Microsoft Office PowerPoint</Application>
  <PresentationFormat>Widescreen</PresentationFormat>
  <Paragraphs>90</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Andalus</vt:lpstr>
      <vt:lpstr>Arial</vt:lpstr>
      <vt:lpstr>Calibri</vt:lpstr>
      <vt:lpstr>Century Gothic</vt:lpstr>
      <vt:lpstr>Times New Roman</vt:lpstr>
      <vt:lpstr>Wingdings</vt:lpstr>
      <vt:lpstr>Wingdings 3</vt:lpstr>
      <vt:lpstr>Ion</vt:lpstr>
      <vt:lpstr>Introduction to Computer Science</vt:lpstr>
      <vt:lpstr>OBJECTIVES AND INTENDED OUTCOMES </vt:lpstr>
      <vt:lpstr>Computer Definition </vt:lpstr>
      <vt:lpstr>Data, Information, and Knowledge:</vt:lpstr>
      <vt:lpstr>Types of Data </vt:lpstr>
      <vt:lpstr>The Process of Transforming data into Information:</vt:lpstr>
      <vt:lpstr>Computer Characteristics</vt:lpstr>
      <vt:lpstr>Classification of Computers</vt:lpstr>
      <vt:lpstr>Computer Applications</vt:lpstr>
      <vt:lpstr>Computer Generations</vt:lpstr>
      <vt:lpstr>Computer Generations</vt:lpstr>
      <vt:lpstr>Computer Generations</vt:lpstr>
      <vt:lpstr>First Generation Computers: Vacuum Tubes (1940-1956) </vt:lpstr>
      <vt:lpstr>Main characteristics of first generation  </vt:lpstr>
      <vt:lpstr>Second Generation Computers: Transistors (1956-1963) </vt:lpstr>
      <vt:lpstr>Main characteristics of second generation:  </vt:lpstr>
      <vt:lpstr>Third Generation Computers: Integrated Circuits. (1964-1971) </vt:lpstr>
      <vt:lpstr>Main characteristics of third generation:  </vt:lpstr>
      <vt:lpstr>Fourth Generation Computers: Micro-processors (1971-Present) </vt:lpstr>
      <vt:lpstr>Main characteristics of fourth generation:  </vt:lpstr>
      <vt:lpstr>Fifth Generation Computers: </vt:lpstr>
      <vt:lpstr>Main characteristics of fifth generation  </vt:lpstr>
      <vt:lpstr>Any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ASDVC</dc:creator>
  <cp:lastModifiedBy>NUSU-CS-HESHAM</cp:lastModifiedBy>
  <cp:revision>182</cp:revision>
  <dcterms:created xsi:type="dcterms:W3CDTF">2021-03-07T18:05:19Z</dcterms:created>
  <dcterms:modified xsi:type="dcterms:W3CDTF">2025-10-14T14:35:24Z</dcterms:modified>
</cp:coreProperties>
</file>