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8" r:id="rId1"/>
  </p:sldMasterIdLst>
  <p:notesMasterIdLst>
    <p:notesMasterId r:id="rId33"/>
  </p:notesMasterIdLst>
  <p:sldIdLst>
    <p:sldId id="298" r:id="rId2"/>
    <p:sldId id="280" r:id="rId3"/>
    <p:sldId id="264" r:id="rId4"/>
    <p:sldId id="281" r:id="rId5"/>
    <p:sldId id="286" r:id="rId6"/>
    <p:sldId id="274" r:id="rId7"/>
    <p:sldId id="287" r:id="rId8"/>
    <p:sldId id="273" r:id="rId9"/>
    <p:sldId id="279" r:id="rId10"/>
    <p:sldId id="299" r:id="rId11"/>
    <p:sldId id="300" r:id="rId12"/>
    <p:sldId id="282" r:id="rId13"/>
    <p:sldId id="278" r:id="rId14"/>
    <p:sldId id="285" r:id="rId15"/>
    <p:sldId id="292" r:id="rId16"/>
    <p:sldId id="290" r:id="rId17"/>
    <p:sldId id="291" r:id="rId18"/>
    <p:sldId id="289" r:id="rId19"/>
    <p:sldId id="293" r:id="rId20"/>
    <p:sldId id="267" r:id="rId21"/>
    <p:sldId id="294" r:id="rId22"/>
    <p:sldId id="268" r:id="rId23"/>
    <p:sldId id="295" r:id="rId24"/>
    <p:sldId id="296" r:id="rId25"/>
    <p:sldId id="270" r:id="rId26"/>
    <p:sldId id="271" r:id="rId27"/>
    <p:sldId id="262" r:id="rId28"/>
    <p:sldId id="275" r:id="rId29"/>
    <p:sldId id="276" r:id="rId30"/>
    <p:sldId id="301" r:id="rId31"/>
    <p:sldId id="302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ADA1A59-01BD-4D5A-A32B-A6C1F9601FA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FA921C-0E5C-467B-8AB7-119C0D56E601}" type="slidenum">
              <a:rPr lang="en-US"/>
              <a:pPr/>
              <a:t>1</a:t>
            </a:fld>
            <a:endParaRPr lang="en-US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E95059-0396-4A19-80AF-96487EFDDC28}" type="slidenum">
              <a:rPr lang="en-US"/>
              <a:pPr/>
              <a:t>2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31AA24-13E1-4113-BD6F-F5E6E80B9BD9}" type="slidenum">
              <a:rPr lang="en-US"/>
              <a:pPr/>
              <a:t>3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E8AD6-5CFC-49C8-8423-89A7EFCBD5BC}" type="slidenum">
              <a:rPr lang="en-US"/>
              <a:pPr/>
              <a:t>4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10EB49-F8DA-48B7-B9F9-810291EFAC92}" type="slidenum">
              <a:rPr lang="en-US"/>
              <a:pPr/>
              <a:t>5</a:t>
            </a:fld>
            <a:endParaRPr 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CBC93C-C0B1-41D6-AAA6-ADC18ADEF1EC}" type="slidenum">
              <a:rPr lang="en-US"/>
              <a:pPr/>
              <a:t>6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361994-0435-4AA9-9B6D-68D4351E42F4}" type="slidenum">
              <a:rPr lang="en-US"/>
              <a:pPr/>
              <a:t>7</a:t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C46A7C-74FF-4182-8675-227A90C74F25}" type="slidenum">
              <a:rPr lang="en-US"/>
              <a:pPr/>
              <a:t>8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2E3709-C9D1-45BC-9D2A-CEE23988F4A0}" type="slidenum">
              <a:rPr lang="en-US"/>
              <a:pPr/>
              <a:t>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EB7272-534C-4CFF-992E-22EDA194BC12}" type="slidenum">
              <a:rPr lang="en-US"/>
              <a:pPr/>
              <a:t>10</a:t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C1D1EB-5568-4735-BF4E-CCF44A101535}" type="slidenum">
              <a:rPr lang="en-US"/>
              <a:pPr/>
              <a:t>11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7631A-3E32-47B8-9559-CA1DE52F1FC3}" type="slidenum">
              <a:rPr lang="en-US"/>
              <a:pPr/>
              <a:t>12</a:t>
            </a:fld>
            <a:endParaRPr 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1A95E3-EF9D-4A48-8328-FAEEECC97DE1}" type="slidenum">
              <a:rPr lang="en-US"/>
              <a:pPr/>
              <a:t>13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A42A42-DC24-437C-9A80-C25661C78BD1}" type="slidenum">
              <a:rPr lang="en-US"/>
              <a:pPr/>
              <a:t>14</a:t>
            </a:fld>
            <a:endParaRPr 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406F39-7CF0-4D0F-B52A-54310EB2A830}" type="slidenum">
              <a:rPr lang="en-US"/>
              <a:pPr/>
              <a:t>15</a:t>
            </a:fld>
            <a:endParaRPr 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2D2FAE-B646-4928-9BD6-8CD9E2BE44A5}" type="slidenum">
              <a:rPr lang="en-US"/>
              <a:pPr/>
              <a:t>16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B2014A-729E-493B-87B9-CF1AFFFB85DF}" type="slidenum">
              <a:rPr lang="en-US"/>
              <a:pPr/>
              <a:t>17</a:t>
            </a:fld>
            <a:endParaRPr 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AB64E8-EADB-4A03-9A5F-BE7C836FBF20}" type="slidenum">
              <a:rPr lang="en-US"/>
              <a:pPr/>
              <a:t>18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333E81-849B-47E2-8A88-6B13B244AB5C}" type="slidenum">
              <a:rPr lang="en-US"/>
              <a:pPr/>
              <a:t>19</a:t>
            </a:fld>
            <a:endParaRPr lang="en-US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4A63A0-B113-4EED-837E-7EE994455AFA}" type="slidenum">
              <a:rPr lang="en-US"/>
              <a:pPr/>
              <a:t>20</a:t>
            </a:fld>
            <a:endParaRPr 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424297-1674-4998-8AFF-8A3EABEC9E88}" type="slidenum">
              <a:rPr lang="en-US"/>
              <a:pPr/>
              <a:t>21</a:t>
            </a:fld>
            <a:endParaRPr lang="en-US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58E8E1-2FEF-446A-B544-2C05288D4708}" type="slidenum">
              <a:rPr lang="en-US"/>
              <a:pPr/>
              <a:t>22</a:t>
            </a:fld>
            <a:endParaRPr 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D3CB38-F433-467B-8EBD-8E2471727A80}" type="slidenum">
              <a:rPr lang="en-US"/>
              <a:pPr/>
              <a:t>23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D05D6B-503C-48C9-9004-F9393E97597E}" type="slidenum">
              <a:rPr lang="en-US"/>
              <a:pPr/>
              <a:t>24</a:t>
            </a:fld>
            <a:endParaRPr lang="en-US"/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62F3C8-344B-4FE0-B8FB-0CB9FF211DD8}" type="slidenum">
              <a:rPr lang="en-US"/>
              <a:pPr/>
              <a:t>25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11F107-1914-41AE-881A-42DE9B2442C7}" type="slidenum">
              <a:rPr lang="en-US"/>
              <a:pPr/>
              <a:t>26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E873EF-64C2-4E85-9C34-921035954B56}" type="slidenum">
              <a:rPr lang="en-US"/>
              <a:pPr/>
              <a:t>27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03463-FC14-40D5-8BAB-9F5F530710D1}" type="slidenum">
              <a:rPr lang="en-US"/>
              <a:pPr/>
              <a:t>28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B54186-545F-4AC3-85CE-11C8FC087759}" type="slidenum">
              <a:rPr lang="en-US"/>
              <a:pPr/>
              <a:t>29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6734D4-FD15-4F2C-9BD6-8F200B3857BB}" type="slidenum">
              <a:rPr lang="en-US"/>
              <a:pPr/>
              <a:t>30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7408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8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08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09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9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409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409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7409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7409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DC7A2DF-4B1E-4C1F-B139-E2F06D651F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9A911B-BF3F-4716-9D8F-84B3832DC0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89757DA-9E99-442B-8BAA-45653FACBD4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51E9E2-3DF1-480E-9F4E-82A0FC486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77FCD2-B29A-4E8C-A5AA-B18A259477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22C234-73F2-4F2C-B842-C35085E392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FF636D-8FF1-454A-9A64-E7AB966F61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93DE88-C4F1-47E7-8780-3F4CB76DAF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F7250E-5D87-4EBF-804B-E11D7095F8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9C8CDE-5190-4624-9932-66170EFB52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2DBEEA-0BD8-421A-8385-1F77604863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78D0E13-14F8-45ED-9FB1-1E42E8F237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C1BD52C-32AA-4E3E-B8E3-DBBEBEE780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9B68C9D-DFAA-460C-B286-E3DEBAC6DB5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7306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6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06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06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306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307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7307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0" name="Rectangle 4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sz="5400" b="0" u="sng" dirty="0" smtClean="0">
                <a:effectLst/>
                <a:latin typeface="Constantia" pitchFamily="18" charset="0"/>
              </a:rPr>
              <a:t>ELASTICITY</a:t>
            </a:r>
            <a:endParaRPr lang="en-US" sz="5400" b="0" u="sng" dirty="0">
              <a:effectLst/>
              <a:latin typeface="Constantia" pitchFamily="18" charset="0"/>
            </a:endParaRPr>
          </a:p>
        </p:txBody>
      </p:sp>
      <p:sp>
        <p:nvSpPr>
          <p:cNvPr id="198661" name="Rectangle 5"/>
          <p:cNvSpPr>
            <a:spLocks noGrp="1" noChangeArrowheads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Elasticity </a:t>
            </a:r>
            <a:r>
              <a:rPr lang="en-US" u="sng" dirty="0" smtClean="0"/>
              <a:t>Concepts:</a:t>
            </a:r>
            <a:endParaRPr lang="en-US" u="sng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Meaning of </a:t>
            </a:r>
            <a:r>
              <a:rPr lang="en-US" u="sng" dirty="0"/>
              <a:t>elasticity</a:t>
            </a:r>
            <a:r>
              <a:rPr lang="en-US" dirty="0"/>
              <a:t>:  If </a:t>
            </a:r>
            <a:r>
              <a:rPr lang="en-US" i="1" dirty="0" smtClean="0"/>
              <a:t>Y = f(X</a:t>
            </a:r>
            <a:r>
              <a:rPr lang="en-US" i="1" dirty="0"/>
              <a:t>),</a:t>
            </a:r>
            <a:r>
              <a:rPr lang="en-US" dirty="0"/>
              <a:t> elasticity measures the </a:t>
            </a:r>
            <a:r>
              <a:rPr lang="en-US" b="1" i="1" u="sng" dirty="0">
                <a:solidFill>
                  <a:srgbClr val="FFFF00"/>
                </a:solidFill>
              </a:rPr>
              <a:t>responsiveness</a:t>
            </a:r>
            <a:r>
              <a:rPr lang="en-US" dirty="0"/>
              <a:t> of Y due to changes in X. </a:t>
            </a:r>
          </a:p>
          <a:p>
            <a:r>
              <a:rPr lang="en-US" dirty="0" smtClean="0"/>
              <a:t>If a given </a:t>
            </a:r>
            <a:r>
              <a:rPr lang="en-US" dirty="0"/>
              <a:t>change in X brings about a change in </a:t>
            </a:r>
            <a:r>
              <a:rPr lang="en-US" dirty="0" smtClean="0"/>
              <a:t>Y, then the elasticity </a:t>
            </a:r>
            <a:r>
              <a:rPr lang="en-US" dirty="0"/>
              <a:t>measure attempts to compare the </a:t>
            </a:r>
            <a:r>
              <a:rPr lang="en-US" u="sng" dirty="0"/>
              <a:t>relative</a:t>
            </a:r>
            <a:r>
              <a:rPr lang="en-US" dirty="0"/>
              <a:t> change in  Y with </a:t>
            </a:r>
            <a:r>
              <a:rPr lang="en-US" dirty="0" smtClean="0"/>
              <a:t>the </a:t>
            </a:r>
            <a:r>
              <a:rPr lang="en-US" u="sng" dirty="0"/>
              <a:t>relative</a:t>
            </a:r>
            <a:r>
              <a:rPr lang="en-US" dirty="0"/>
              <a:t> change in X.</a:t>
            </a:r>
          </a:p>
          <a:p>
            <a:r>
              <a:rPr lang="en-US" dirty="0"/>
              <a:t>Mathematical formulation:</a:t>
            </a:r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5638800" y="5029200"/>
          <a:ext cx="2743200" cy="850900"/>
        </p:xfrm>
        <a:graphic>
          <a:graphicData uri="http://schemas.openxmlformats.org/presentationml/2006/ole">
            <p:oleObj spid="_x0000_s61444" name="Equation" r:id="rId4" imgW="1269720" imgH="393480" progId="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Elasticity </a:t>
            </a:r>
            <a:r>
              <a:rPr lang="en-US" u="sng" dirty="0" smtClean="0"/>
              <a:t>Values:</a:t>
            </a:r>
            <a:endParaRPr lang="en-US" u="sng" dirty="0"/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1828800" y="3200400"/>
          <a:ext cx="5257800" cy="3244850"/>
        </p:xfrm>
        <a:graphic>
          <a:graphicData uri="http://schemas.openxmlformats.org/presentationml/2006/ole">
            <p:oleObj spid="_x0000_s18438" name="Equation" r:id="rId4" imgW="2057400" imgH="1269720" progId="">
              <p:embed/>
            </p:oleObj>
          </a:graphicData>
        </a:graphic>
      </p:graphicFrame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838200" y="1364646"/>
            <a:ext cx="76803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3200" dirty="0">
                <a:latin typeface="+mn-lt"/>
              </a:rPr>
              <a:t>The elasticity values (in absolute terms) can range from zero to infinity; each with definite </a:t>
            </a:r>
            <a:r>
              <a:rPr lang="en-US" sz="3200" dirty="0" smtClean="0">
                <a:latin typeface="+mn-lt"/>
              </a:rPr>
              <a:t>interpretation: </a:t>
            </a:r>
            <a:endParaRPr lang="en-US" sz="3200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184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 smtClean="0"/>
              <a:t>Demand </a:t>
            </a:r>
            <a:r>
              <a:rPr lang="en-US" u="sng" dirty="0"/>
              <a:t>Elasticity </a:t>
            </a:r>
            <a:r>
              <a:rPr lang="en-US" u="sng" dirty="0" smtClean="0"/>
              <a:t>Concepts:</a:t>
            </a:r>
            <a:endParaRPr lang="en-US" u="sng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shall study 3 demand elasticity concepts: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Own price elasticity</a:t>
            </a:r>
            <a:r>
              <a:rPr lang="en-US" dirty="0"/>
              <a:t> : responsiveness of quantity demanded of a good to changes in own-price.</a:t>
            </a:r>
          </a:p>
          <a:p>
            <a:pPr lvl="1"/>
            <a:r>
              <a:rPr lang="en-US" dirty="0">
                <a:solidFill>
                  <a:schemeClr val="hlink"/>
                </a:solidFill>
              </a:rPr>
              <a:t>Cross price elasticity</a:t>
            </a:r>
            <a:r>
              <a:rPr lang="en-US" dirty="0"/>
              <a:t> – responsiveness of quantity demanded of good A to changes in price of good B (substitute or complement</a:t>
            </a:r>
            <a:r>
              <a:rPr lang="en-US" dirty="0" smtClean="0"/>
              <a:t>).</a:t>
            </a:r>
            <a:endParaRPr lang="en-US" dirty="0"/>
          </a:p>
          <a:p>
            <a:pPr lvl="1"/>
            <a:r>
              <a:rPr lang="en-US" dirty="0">
                <a:solidFill>
                  <a:schemeClr val="hlink"/>
                </a:solidFill>
              </a:rPr>
              <a:t>Income elasticity</a:t>
            </a:r>
            <a:r>
              <a:rPr lang="en-US" dirty="0"/>
              <a:t> – responsiveness of quantity demanded of a good due to changes in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Own-Price </a:t>
            </a:r>
            <a:r>
              <a:rPr lang="en-US" u="sng" dirty="0" smtClean="0"/>
              <a:t>Elasticity:</a:t>
            </a:r>
            <a:endParaRPr lang="en-US" u="sng" dirty="0"/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Own price elasticity of demand</a:t>
            </a:r>
            <a:r>
              <a:rPr lang="en-US" dirty="0"/>
              <a:t> (</a:t>
            </a:r>
            <a:r>
              <a:rPr lang="el-GR" sz="4800" dirty="0"/>
              <a:t>ε</a:t>
            </a:r>
            <a:r>
              <a:rPr lang="en-US" dirty="0"/>
              <a:t>) – measure of responsiveness of quantity demanded to changes in </a:t>
            </a:r>
            <a:r>
              <a:rPr lang="en-US" dirty="0" smtClean="0"/>
              <a:t>price:</a:t>
            </a:r>
            <a:endParaRPr lang="en-US" dirty="0"/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2971800" y="4038600"/>
          <a:ext cx="2730500" cy="1327150"/>
        </p:xfrm>
        <a:graphic>
          <a:graphicData uri="http://schemas.openxmlformats.org/presentationml/2006/ole">
            <p:oleObj spid="_x0000_s118788" name="Equation" r:id="rId4" imgW="1562040" imgH="761760" progId="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/>
      <p:bldP spid="1187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u="sng" dirty="0"/>
              <a:t>Two ways of measuring </a:t>
            </a:r>
            <a:r>
              <a:rPr lang="en-US" sz="3600" b="1" u="sng" dirty="0" smtClean="0"/>
              <a:t>elasticity:</a:t>
            </a:r>
            <a:endParaRPr lang="en-US" sz="3600" b="1" i="1" u="sng" dirty="0"/>
          </a:p>
        </p:txBody>
      </p:sp>
      <p:sp>
        <p:nvSpPr>
          <p:cNvPr id="5120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Point elasticity </a:t>
            </a:r>
            <a:r>
              <a:rPr lang="en-US" b="1" i="1" dirty="0">
                <a:sym typeface="Symbol" pitchFamily="18" charset="2"/>
              </a:rPr>
              <a:t></a:t>
            </a:r>
            <a:r>
              <a:rPr lang="en-US" b="1" i="1" dirty="0"/>
              <a:t> </a:t>
            </a:r>
            <a:r>
              <a:rPr lang="en-US" dirty="0"/>
              <a:t>elasticity is measured for a single </a:t>
            </a:r>
            <a:r>
              <a:rPr lang="en-US" dirty="0" smtClean="0"/>
              <a:t>point.</a:t>
            </a:r>
            <a:endParaRPr lang="en-US" dirty="0"/>
          </a:p>
          <a:p>
            <a:pPr lvl="1"/>
            <a:r>
              <a:rPr lang="en-US" i="1" dirty="0"/>
              <a:t>More precise since elasticity changes at every point on demand </a:t>
            </a:r>
            <a:r>
              <a:rPr lang="en-US" i="1" dirty="0" smtClean="0"/>
              <a:t>curve.</a:t>
            </a:r>
            <a:endParaRPr lang="en-US" i="1" dirty="0"/>
          </a:p>
          <a:p>
            <a:pPr lvl="1"/>
            <a:r>
              <a:rPr lang="en-US" i="1" dirty="0"/>
              <a:t>Can be obtained if demand function is </a:t>
            </a:r>
            <a:r>
              <a:rPr lang="en-US" i="1" dirty="0" smtClean="0"/>
              <a:t>known.</a:t>
            </a:r>
            <a:endParaRPr lang="en-US" i="1" dirty="0"/>
          </a:p>
          <a:p>
            <a:r>
              <a:rPr lang="en-US" b="1" i="1" dirty="0"/>
              <a:t>Arc elasticity </a:t>
            </a:r>
            <a:r>
              <a:rPr lang="en-US" b="1" i="1" dirty="0">
                <a:sym typeface="Symbol" pitchFamily="18" charset="2"/>
              </a:rPr>
              <a:t></a:t>
            </a:r>
            <a:r>
              <a:rPr lang="en-US" b="1" i="1" dirty="0"/>
              <a:t> </a:t>
            </a:r>
            <a:r>
              <a:rPr lang="en-US" b="1" dirty="0"/>
              <a:t> </a:t>
            </a:r>
            <a:r>
              <a:rPr lang="en-US" dirty="0"/>
              <a:t>computed for two points along a demand curve</a:t>
            </a:r>
          </a:p>
          <a:p>
            <a:pPr lvl="1"/>
            <a:r>
              <a:rPr lang="en-US" dirty="0"/>
              <a:t>Done if we have limited number of </a:t>
            </a:r>
            <a:r>
              <a:rPr lang="en-US" dirty="0" smtClean="0"/>
              <a:t>observations.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Point </a:t>
            </a:r>
            <a:r>
              <a:rPr lang="en-US" u="sng" dirty="0" smtClean="0"/>
              <a:t>Elasticity:</a:t>
            </a:r>
            <a:endParaRPr lang="en-US" u="sng" dirty="0"/>
          </a:p>
        </p:txBody>
      </p:sp>
      <p:graphicFrame>
        <p:nvGraphicFramePr>
          <p:cNvPr id="124953" name="Object 25"/>
          <p:cNvGraphicFramePr>
            <a:graphicFrameLocks noChangeAspect="1"/>
          </p:cNvGraphicFramePr>
          <p:nvPr>
            <p:ph idx="1"/>
          </p:nvPr>
        </p:nvGraphicFramePr>
        <p:xfrm>
          <a:off x="4273550" y="2120900"/>
          <a:ext cx="4179888" cy="1384300"/>
        </p:xfrm>
        <a:graphic>
          <a:graphicData uri="http://schemas.openxmlformats.org/presentationml/2006/ole">
            <p:oleObj spid="_x0000_s124953" name="Equation" r:id="rId4" imgW="1993680" imgH="660240" progId="">
              <p:embed/>
            </p:oleObj>
          </a:graphicData>
        </a:graphic>
      </p:graphicFrame>
      <p:sp>
        <p:nvSpPr>
          <p:cNvPr id="124932" name="Line 4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33" name="Line 5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124938" name="Text Box 10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124939" name="Text Box 11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124940" name="Text Box 12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23622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5562600" y="49530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endParaRPr lang="en-US" sz="2000" baseline="-25000"/>
          </a:p>
        </p:txBody>
      </p:sp>
      <p:sp>
        <p:nvSpPr>
          <p:cNvPr id="124943" name="Freeform 15"/>
          <p:cNvSpPr>
            <a:spLocks/>
          </p:cNvSpPr>
          <p:nvPr/>
        </p:nvSpPr>
        <p:spPr bwMode="auto">
          <a:xfrm>
            <a:off x="2057400" y="2438400"/>
            <a:ext cx="3200400" cy="2743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1152"/>
              </a:cxn>
              <a:cxn ang="0">
                <a:pos x="2016" y="1728"/>
              </a:cxn>
            </a:cxnLst>
            <a:rect l="0" t="0" r="r" b="b"/>
            <a:pathLst>
              <a:path w="2016" h="1728">
                <a:moveTo>
                  <a:pt x="0" y="0"/>
                </a:moveTo>
                <a:cubicBezTo>
                  <a:pt x="96" y="432"/>
                  <a:pt x="192" y="864"/>
                  <a:pt x="528" y="1152"/>
                </a:cubicBezTo>
                <a:cubicBezTo>
                  <a:pt x="864" y="1440"/>
                  <a:pt x="1440" y="1584"/>
                  <a:pt x="2016" y="1728"/>
                </a:cubicBez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44" name="Text Box 16"/>
          <p:cNvSpPr txBox="1">
            <a:spLocks noChangeArrowheads="1"/>
          </p:cNvSpPr>
          <p:nvPr/>
        </p:nvSpPr>
        <p:spPr bwMode="auto">
          <a:xfrm>
            <a:off x="2667000" y="3733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A</a:t>
            </a:r>
            <a:endParaRPr lang="en-US" sz="1600" baseline="-25000"/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1066800" y="3733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1</a:t>
            </a:r>
          </a:p>
        </p:txBody>
      </p:sp>
      <p:sp>
        <p:nvSpPr>
          <p:cNvPr id="124946" name="Line 18"/>
          <p:cNvSpPr>
            <a:spLocks noChangeShapeType="1"/>
          </p:cNvSpPr>
          <p:nvPr/>
        </p:nvSpPr>
        <p:spPr bwMode="auto">
          <a:xfrm>
            <a:off x="1600200" y="4038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49" name="Line 21"/>
          <p:cNvSpPr>
            <a:spLocks noChangeShapeType="1"/>
          </p:cNvSpPr>
          <p:nvPr/>
        </p:nvSpPr>
        <p:spPr bwMode="auto">
          <a:xfrm>
            <a:off x="26670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55" name="Line 27"/>
          <p:cNvSpPr>
            <a:spLocks noChangeShapeType="1"/>
          </p:cNvSpPr>
          <p:nvPr/>
        </p:nvSpPr>
        <p:spPr bwMode="auto">
          <a:xfrm>
            <a:off x="1905000" y="3200400"/>
            <a:ext cx="1447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pPr algn="l"/>
            <a:r>
              <a:rPr lang="en-US" sz="3600" u="sng" dirty="0"/>
              <a:t>Arc </a:t>
            </a:r>
            <a:r>
              <a:rPr lang="en-US" sz="3600" u="sng" dirty="0" smtClean="0"/>
              <a:t>Elasticity:</a:t>
            </a:r>
            <a:endParaRPr lang="en-US" sz="2400" u="sng" dirty="0"/>
          </a:p>
        </p:txBody>
      </p:sp>
      <p:sp>
        <p:nvSpPr>
          <p:cNvPr id="49155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56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57" name="Line 5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32004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2</a:t>
            </a:r>
            <a:endParaRPr lang="en-US" baseline="-25000"/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49176" name="Text Box 24"/>
          <p:cNvSpPr txBox="1">
            <a:spLocks noChangeArrowheads="1"/>
          </p:cNvSpPr>
          <p:nvPr/>
        </p:nvSpPr>
        <p:spPr bwMode="auto">
          <a:xfrm>
            <a:off x="23622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5562600" y="49530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endParaRPr lang="en-US" sz="2000" baseline="-25000"/>
          </a:p>
        </p:txBody>
      </p:sp>
      <p:sp>
        <p:nvSpPr>
          <p:cNvPr id="49179" name="Freeform 27"/>
          <p:cNvSpPr>
            <a:spLocks/>
          </p:cNvSpPr>
          <p:nvPr/>
        </p:nvSpPr>
        <p:spPr bwMode="auto">
          <a:xfrm>
            <a:off x="2057400" y="2438400"/>
            <a:ext cx="3200400" cy="2743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1152"/>
              </a:cxn>
              <a:cxn ang="0">
                <a:pos x="2016" y="1728"/>
              </a:cxn>
            </a:cxnLst>
            <a:rect l="0" t="0" r="r" b="b"/>
            <a:pathLst>
              <a:path w="2016" h="1728">
                <a:moveTo>
                  <a:pt x="0" y="0"/>
                </a:moveTo>
                <a:cubicBezTo>
                  <a:pt x="96" y="432"/>
                  <a:pt x="192" y="864"/>
                  <a:pt x="528" y="1152"/>
                </a:cubicBezTo>
                <a:cubicBezTo>
                  <a:pt x="864" y="1440"/>
                  <a:pt x="1440" y="1584"/>
                  <a:pt x="2016" y="1728"/>
                </a:cubicBez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80" name="Text Box 28"/>
          <p:cNvSpPr txBox="1">
            <a:spLocks noChangeArrowheads="1"/>
          </p:cNvSpPr>
          <p:nvPr/>
        </p:nvSpPr>
        <p:spPr bwMode="auto">
          <a:xfrm>
            <a:off x="2667000" y="3733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A</a:t>
            </a:r>
            <a:endParaRPr lang="en-US" sz="1600" baseline="-25000"/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1066800" y="3733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1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1600200" y="4038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85" name="Line 33"/>
          <p:cNvSpPr>
            <a:spLocks noChangeShapeType="1"/>
          </p:cNvSpPr>
          <p:nvPr/>
        </p:nvSpPr>
        <p:spPr bwMode="auto">
          <a:xfrm>
            <a:off x="1600200" y="4572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1066800" y="43434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2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26670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88" name="Line 36"/>
          <p:cNvSpPr>
            <a:spLocks noChangeShapeType="1"/>
          </p:cNvSpPr>
          <p:nvPr/>
        </p:nvSpPr>
        <p:spPr bwMode="auto">
          <a:xfrm>
            <a:off x="3352800" y="4572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3276600" y="4267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</a:t>
            </a:r>
            <a:endParaRPr lang="en-US" sz="1600" baseline="-25000"/>
          </a:p>
        </p:txBody>
      </p:sp>
      <p:graphicFrame>
        <p:nvGraphicFramePr>
          <p:cNvPr id="49190" name="Object 38"/>
          <p:cNvGraphicFramePr>
            <a:graphicFrameLocks noChangeAspect="1"/>
          </p:cNvGraphicFramePr>
          <p:nvPr/>
        </p:nvGraphicFramePr>
        <p:xfrm>
          <a:off x="5029200" y="2667000"/>
          <a:ext cx="2819400" cy="1677988"/>
        </p:xfrm>
        <a:graphic>
          <a:graphicData uri="http://schemas.openxmlformats.org/presentationml/2006/ole">
            <p:oleObj spid="_x0000_s49190" name="Equation" r:id="rId4" imgW="1333440" imgH="863280" progId="">
              <p:embed/>
            </p:oleObj>
          </a:graphicData>
        </a:graphic>
      </p:graphicFrame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pPr algn="l"/>
            <a:r>
              <a:rPr lang="en-US" sz="3600" u="sng" dirty="0"/>
              <a:t>Arc Elasticity: Example</a:t>
            </a:r>
            <a:endParaRPr lang="en-US" sz="2400" u="sng" dirty="0"/>
          </a:p>
        </p:txBody>
      </p:sp>
      <p:sp>
        <p:nvSpPr>
          <p:cNvPr id="59395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396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397" name="Line 5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3200400" y="556260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200</a:t>
            </a:r>
            <a:endParaRPr lang="en-US" baseline="-25000"/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2209800" y="55626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100</a:t>
            </a:r>
            <a:endParaRPr lang="en-US" baseline="-25000"/>
          </a:p>
        </p:txBody>
      </p:sp>
      <p:sp>
        <p:nvSpPr>
          <p:cNvPr id="59405" name="Text Box 13"/>
          <p:cNvSpPr txBox="1">
            <a:spLocks noChangeArrowheads="1"/>
          </p:cNvSpPr>
          <p:nvPr/>
        </p:nvSpPr>
        <p:spPr bwMode="auto">
          <a:xfrm>
            <a:off x="5562600" y="49530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endParaRPr lang="en-US" sz="2000" baseline="-25000"/>
          </a:p>
        </p:txBody>
      </p:sp>
      <p:sp>
        <p:nvSpPr>
          <p:cNvPr id="59406" name="Freeform 14"/>
          <p:cNvSpPr>
            <a:spLocks/>
          </p:cNvSpPr>
          <p:nvPr/>
        </p:nvSpPr>
        <p:spPr bwMode="auto">
          <a:xfrm>
            <a:off x="2057400" y="2438400"/>
            <a:ext cx="3200400" cy="2743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1152"/>
              </a:cxn>
              <a:cxn ang="0">
                <a:pos x="2016" y="1728"/>
              </a:cxn>
            </a:cxnLst>
            <a:rect l="0" t="0" r="r" b="b"/>
            <a:pathLst>
              <a:path w="2016" h="1728">
                <a:moveTo>
                  <a:pt x="0" y="0"/>
                </a:moveTo>
                <a:cubicBezTo>
                  <a:pt x="96" y="432"/>
                  <a:pt x="192" y="864"/>
                  <a:pt x="528" y="1152"/>
                </a:cubicBezTo>
                <a:cubicBezTo>
                  <a:pt x="864" y="1440"/>
                  <a:pt x="1440" y="1584"/>
                  <a:pt x="2016" y="1728"/>
                </a:cubicBez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07" name="Text Box 15"/>
          <p:cNvSpPr txBox="1">
            <a:spLocks noChangeArrowheads="1"/>
          </p:cNvSpPr>
          <p:nvPr/>
        </p:nvSpPr>
        <p:spPr bwMode="auto">
          <a:xfrm>
            <a:off x="2667000" y="3733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A</a:t>
            </a:r>
            <a:endParaRPr lang="en-US" sz="1600" baseline="-25000"/>
          </a:p>
        </p:txBody>
      </p:sp>
      <p:sp>
        <p:nvSpPr>
          <p:cNvPr id="59408" name="Text Box 16"/>
          <p:cNvSpPr txBox="1">
            <a:spLocks noChangeArrowheads="1"/>
          </p:cNvSpPr>
          <p:nvPr/>
        </p:nvSpPr>
        <p:spPr bwMode="auto">
          <a:xfrm>
            <a:off x="1066800" y="3733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30</a:t>
            </a:r>
            <a:endParaRPr lang="en-US" sz="1600" baseline="-25000"/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>
            <a:off x="1600200" y="4038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0" name="Line 18"/>
          <p:cNvSpPr>
            <a:spLocks noChangeShapeType="1"/>
          </p:cNvSpPr>
          <p:nvPr/>
        </p:nvSpPr>
        <p:spPr bwMode="auto">
          <a:xfrm>
            <a:off x="1600200" y="4572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1" name="Text Box 19"/>
          <p:cNvSpPr txBox="1">
            <a:spLocks noChangeArrowheads="1"/>
          </p:cNvSpPr>
          <p:nvPr/>
        </p:nvSpPr>
        <p:spPr bwMode="auto">
          <a:xfrm>
            <a:off x="1066800" y="43434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20</a:t>
            </a:r>
            <a:endParaRPr lang="en-US" sz="1600" baseline="-25000"/>
          </a:p>
        </p:txBody>
      </p:sp>
      <p:sp>
        <p:nvSpPr>
          <p:cNvPr id="59412" name="Line 20"/>
          <p:cNvSpPr>
            <a:spLocks noChangeShapeType="1"/>
          </p:cNvSpPr>
          <p:nvPr/>
        </p:nvSpPr>
        <p:spPr bwMode="auto">
          <a:xfrm>
            <a:off x="26670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3" name="Line 21"/>
          <p:cNvSpPr>
            <a:spLocks noChangeShapeType="1"/>
          </p:cNvSpPr>
          <p:nvPr/>
        </p:nvSpPr>
        <p:spPr bwMode="auto">
          <a:xfrm>
            <a:off x="3352800" y="4572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3276600" y="4267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B</a:t>
            </a:r>
            <a:endParaRPr lang="en-US" sz="1600" baseline="-25000"/>
          </a:p>
        </p:txBody>
      </p:sp>
      <p:graphicFrame>
        <p:nvGraphicFramePr>
          <p:cNvPr id="59415" name="Object 23"/>
          <p:cNvGraphicFramePr>
            <a:graphicFrameLocks noChangeAspect="1"/>
          </p:cNvGraphicFramePr>
          <p:nvPr/>
        </p:nvGraphicFramePr>
        <p:xfrm>
          <a:off x="4495800" y="1981200"/>
          <a:ext cx="3886200" cy="1909763"/>
        </p:xfrm>
        <a:graphic>
          <a:graphicData uri="http://schemas.openxmlformats.org/presentationml/2006/ole">
            <p:oleObj spid="_x0000_s59415" name="Equation" r:id="rId4" imgW="2120760" imgH="1041120" progId="">
              <p:embed/>
            </p:oleObj>
          </a:graphicData>
        </a:graphic>
      </p:graphicFrame>
      <p:sp>
        <p:nvSpPr>
          <p:cNvPr id="24" name="Slide Number Placeholder 2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Special </a:t>
            </a:r>
            <a:r>
              <a:rPr lang="en-US" u="sng" dirty="0" smtClean="0"/>
              <a:t>Case 1:</a:t>
            </a:r>
            <a:endParaRPr lang="en-US" u="sng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Perfectly Inelastic Demand Curve:</a:t>
            </a:r>
          </a:p>
        </p:txBody>
      </p:sp>
      <p:sp>
        <p:nvSpPr>
          <p:cNvPr id="201734" name="Line 6"/>
          <p:cNvSpPr>
            <a:spLocks noChangeShapeType="1"/>
          </p:cNvSpPr>
          <p:nvPr/>
        </p:nvSpPr>
        <p:spPr bwMode="auto">
          <a:xfrm>
            <a:off x="1828800" y="2667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35" name="Line 7"/>
          <p:cNvSpPr>
            <a:spLocks noChangeShapeType="1"/>
          </p:cNvSpPr>
          <p:nvPr/>
        </p:nvSpPr>
        <p:spPr bwMode="auto">
          <a:xfrm>
            <a:off x="1828800" y="6019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40" name="Text Box 12"/>
          <p:cNvSpPr txBox="1">
            <a:spLocks noChangeArrowheads="1"/>
          </p:cNvSpPr>
          <p:nvPr/>
        </p:nvSpPr>
        <p:spPr bwMode="auto">
          <a:xfrm>
            <a:off x="1371600" y="5943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201741" name="Text Box 13"/>
          <p:cNvSpPr txBox="1">
            <a:spLocks noChangeArrowheads="1"/>
          </p:cNvSpPr>
          <p:nvPr/>
        </p:nvSpPr>
        <p:spPr bwMode="auto">
          <a:xfrm>
            <a:off x="6248400" y="57912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201743" name="Text Box 15"/>
          <p:cNvSpPr txBox="1">
            <a:spLocks noChangeArrowheads="1"/>
          </p:cNvSpPr>
          <p:nvPr/>
        </p:nvSpPr>
        <p:spPr bwMode="auto">
          <a:xfrm>
            <a:off x="1295400" y="25908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201744" name="Text Box 16"/>
          <p:cNvSpPr txBox="1">
            <a:spLocks noChangeArrowheads="1"/>
          </p:cNvSpPr>
          <p:nvPr/>
        </p:nvSpPr>
        <p:spPr bwMode="auto">
          <a:xfrm rot="10800000">
            <a:off x="685800" y="35052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201745" name="Text Box 17"/>
          <p:cNvSpPr txBox="1">
            <a:spLocks noChangeArrowheads="1"/>
          </p:cNvSpPr>
          <p:nvPr/>
        </p:nvSpPr>
        <p:spPr bwMode="auto">
          <a:xfrm>
            <a:off x="3810000" y="64008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201749" name="Line 21"/>
          <p:cNvSpPr>
            <a:spLocks noChangeShapeType="1"/>
          </p:cNvSpPr>
          <p:nvPr/>
        </p:nvSpPr>
        <p:spPr bwMode="auto">
          <a:xfrm>
            <a:off x="3810000" y="3048000"/>
            <a:ext cx="0" cy="289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50" name="Text Box 22"/>
          <p:cNvSpPr txBox="1">
            <a:spLocks noChangeArrowheads="1"/>
          </p:cNvSpPr>
          <p:nvPr/>
        </p:nvSpPr>
        <p:spPr bwMode="auto">
          <a:xfrm>
            <a:off x="3581400" y="25146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endParaRPr lang="en-US" sz="2000" baseline="-25000"/>
          </a:p>
        </p:txBody>
      </p:sp>
      <p:sp>
        <p:nvSpPr>
          <p:cNvPr id="201751" name="Line 23"/>
          <p:cNvSpPr>
            <a:spLocks noChangeShapeType="1"/>
          </p:cNvSpPr>
          <p:nvPr/>
        </p:nvSpPr>
        <p:spPr bwMode="auto">
          <a:xfrm>
            <a:off x="1828800" y="4800600"/>
            <a:ext cx="1981200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52" name="Line 24"/>
          <p:cNvSpPr>
            <a:spLocks noChangeShapeType="1"/>
          </p:cNvSpPr>
          <p:nvPr/>
        </p:nvSpPr>
        <p:spPr bwMode="auto">
          <a:xfrm>
            <a:off x="1828800" y="4038600"/>
            <a:ext cx="1981200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53" name="Text Box 25"/>
          <p:cNvSpPr txBox="1">
            <a:spLocks noChangeArrowheads="1"/>
          </p:cNvSpPr>
          <p:nvPr/>
        </p:nvSpPr>
        <p:spPr bwMode="auto">
          <a:xfrm>
            <a:off x="4800600" y="2819400"/>
            <a:ext cx="3505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  A vertical demand curve implies that any change in price will not lead to a change in quantity demanded.</a:t>
            </a:r>
          </a:p>
        </p:txBody>
      </p:sp>
      <p:graphicFrame>
        <p:nvGraphicFramePr>
          <p:cNvPr id="201754" name="Object 26"/>
          <p:cNvGraphicFramePr>
            <a:graphicFrameLocks noChangeAspect="1"/>
          </p:cNvGraphicFramePr>
          <p:nvPr/>
        </p:nvGraphicFramePr>
        <p:xfrm>
          <a:off x="5172075" y="4191000"/>
          <a:ext cx="3209925" cy="1143000"/>
        </p:xfrm>
        <a:graphic>
          <a:graphicData uri="http://schemas.openxmlformats.org/presentationml/2006/ole">
            <p:oleObj spid="_x0000_s201754" name="Equation" r:id="rId4" imgW="1384200" imgH="393480" progId="">
              <p:embed/>
            </p:oleObj>
          </a:graphicData>
        </a:graphic>
      </p:graphicFrame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0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0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/>
      <p:bldP spid="201731" grpId="0" build="p"/>
      <p:bldP spid="2017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Special </a:t>
            </a:r>
            <a:r>
              <a:rPr lang="en-US" u="sng" dirty="0" smtClean="0"/>
              <a:t>Case 2:</a:t>
            </a:r>
            <a:endParaRPr lang="en-US" u="sng" dirty="0"/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Perfectly Elastic Demand Curve:</a:t>
            </a:r>
          </a:p>
        </p:txBody>
      </p:sp>
      <p:sp>
        <p:nvSpPr>
          <p:cNvPr id="202756" name="Line 4"/>
          <p:cNvSpPr>
            <a:spLocks noChangeShapeType="1"/>
          </p:cNvSpPr>
          <p:nvPr/>
        </p:nvSpPr>
        <p:spPr bwMode="auto">
          <a:xfrm>
            <a:off x="1828800" y="2667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57" name="Line 5"/>
          <p:cNvSpPr>
            <a:spLocks noChangeShapeType="1"/>
          </p:cNvSpPr>
          <p:nvPr/>
        </p:nvSpPr>
        <p:spPr bwMode="auto">
          <a:xfrm>
            <a:off x="1828800" y="6019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1371600" y="5943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6248400" y="57912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202760" name="Text Box 8"/>
          <p:cNvSpPr txBox="1">
            <a:spLocks noChangeArrowheads="1"/>
          </p:cNvSpPr>
          <p:nvPr/>
        </p:nvSpPr>
        <p:spPr bwMode="auto">
          <a:xfrm>
            <a:off x="1295400" y="25908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202761" name="Text Box 9"/>
          <p:cNvSpPr txBox="1">
            <a:spLocks noChangeArrowheads="1"/>
          </p:cNvSpPr>
          <p:nvPr/>
        </p:nvSpPr>
        <p:spPr bwMode="auto">
          <a:xfrm rot="10800000">
            <a:off x="685800" y="35052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202762" name="Text Box 10"/>
          <p:cNvSpPr txBox="1">
            <a:spLocks noChangeArrowheads="1"/>
          </p:cNvSpPr>
          <p:nvPr/>
        </p:nvSpPr>
        <p:spPr bwMode="auto">
          <a:xfrm>
            <a:off x="3810000" y="64008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202764" name="Text Box 12"/>
          <p:cNvSpPr txBox="1">
            <a:spLocks noChangeArrowheads="1"/>
          </p:cNvSpPr>
          <p:nvPr/>
        </p:nvSpPr>
        <p:spPr bwMode="auto">
          <a:xfrm>
            <a:off x="5257800" y="38862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</a:t>
            </a:r>
            <a:endParaRPr lang="en-US" sz="2000" baseline="-25000"/>
          </a:p>
        </p:txBody>
      </p:sp>
      <p:sp>
        <p:nvSpPr>
          <p:cNvPr id="202767" name="Text Box 15"/>
          <p:cNvSpPr txBox="1">
            <a:spLocks noChangeArrowheads="1"/>
          </p:cNvSpPr>
          <p:nvPr/>
        </p:nvSpPr>
        <p:spPr bwMode="auto">
          <a:xfrm>
            <a:off x="5334000" y="2286000"/>
            <a:ext cx="35052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  A horizontal demand curve implies that a very small change in price will lead to an infinitely large change in quantity demanded.</a:t>
            </a:r>
          </a:p>
        </p:txBody>
      </p:sp>
      <p:graphicFrame>
        <p:nvGraphicFramePr>
          <p:cNvPr id="202768" name="Object 16"/>
          <p:cNvGraphicFramePr>
            <a:graphicFrameLocks noChangeAspect="1"/>
          </p:cNvGraphicFramePr>
          <p:nvPr/>
        </p:nvGraphicFramePr>
        <p:xfrm>
          <a:off x="5791200" y="4191000"/>
          <a:ext cx="3124200" cy="979488"/>
        </p:xfrm>
        <a:graphic>
          <a:graphicData uri="http://schemas.openxmlformats.org/presentationml/2006/ole">
            <p:oleObj spid="_x0000_s202768" name="Equation" r:id="rId4" imgW="1460160" imgH="393480" progId="">
              <p:embed/>
            </p:oleObj>
          </a:graphicData>
        </a:graphic>
      </p:graphicFrame>
      <p:sp>
        <p:nvSpPr>
          <p:cNvPr id="202769" name="Line 17"/>
          <p:cNvSpPr>
            <a:spLocks noChangeShapeType="1"/>
          </p:cNvSpPr>
          <p:nvPr/>
        </p:nvSpPr>
        <p:spPr bwMode="auto">
          <a:xfrm>
            <a:off x="1828800" y="4114800"/>
            <a:ext cx="3276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2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/>
      <p:bldP spid="202755" grpId="0" build="p"/>
      <p:bldP spid="2027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Elasticity and Total </a:t>
            </a:r>
            <a:r>
              <a:rPr lang="en-US" u="sng" dirty="0" smtClean="0"/>
              <a:t>Revenue:</a:t>
            </a:r>
            <a:endParaRPr lang="en-US" u="sng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revenue (from the point of view of a seller) is equal to the quantity sold multiplied by </a:t>
            </a:r>
            <a:r>
              <a:rPr lang="en-US" dirty="0" smtClean="0"/>
              <a:t>its price</a:t>
            </a:r>
            <a:r>
              <a:rPr lang="en-US" dirty="0"/>
              <a:t>.</a:t>
            </a:r>
          </a:p>
          <a:p>
            <a:r>
              <a:rPr lang="en-US" dirty="0"/>
              <a:t>TR = P x Q</a:t>
            </a:r>
          </a:p>
          <a:p>
            <a:r>
              <a:rPr lang="en-US" dirty="0"/>
              <a:t>It is of interest to the seller what happens to </a:t>
            </a:r>
            <a:r>
              <a:rPr lang="en-US" dirty="0" smtClean="0"/>
              <a:t>TR </a:t>
            </a:r>
            <a:r>
              <a:rPr lang="en-US" dirty="0"/>
              <a:t>if </a:t>
            </a:r>
            <a:r>
              <a:rPr lang="en-US" dirty="0" smtClean="0"/>
              <a:t>price is increased or decreased, </a:t>
            </a:r>
            <a:r>
              <a:rPr lang="en-US" dirty="0"/>
              <a:t>knowing that if </a:t>
            </a:r>
            <a:r>
              <a:rPr lang="en-US" dirty="0" smtClean="0"/>
              <a:t>it happens, </a:t>
            </a:r>
            <a:r>
              <a:rPr lang="en-US" dirty="0"/>
              <a:t>consumers will adjust their purchases.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  <p:bldP spid="10137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u="sng" dirty="0"/>
              <a:t>What happens to TR when price increases?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524000"/>
            <a:ext cx="8153400" cy="990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b="1" dirty="0"/>
              <a:t>Answer:</a:t>
            </a:r>
            <a:r>
              <a:rPr lang="en-US" sz="2800" dirty="0"/>
              <a:t>  it depends on the elasticity of demand</a:t>
            </a:r>
            <a:br>
              <a:rPr lang="en-US" sz="2800" dirty="0"/>
            </a:br>
            <a:r>
              <a:rPr lang="en-US" sz="2800" dirty="0"/>
              <a:t>		</a:t>
            </a:r>
          </a:p>
        </p:txBody>
      </p:sp>
      <p:graphicFrame>
        <p:nvGraphicFramePr>
          <p:cNvPr id="58453" name="Group 85"/>
          <p:cNvGraphicFramePr>
            <a:graphicFrameLocks noGrp="1"/>
          </p:cNvGraphicFramePr>
          <p:nvPr>
            <p:ph sz="half" idx="2"/>
          </p:nvPr>
        </p:nvGraphicFramePr>
        <p:xfrm>
          <a:off x="519113" y="3559175"/>
          <a:ext cx="7485062" cy="2919984"/>
        </p:xfrm>
        <a:graphic>
          <a:graphicData uri="http://schemas.openxmlformats.org/drawingml/2006/table">
            <a:tbl>
              <a:tblPr/>
              <a:tblGrid>
                <a:gridCol w="2078037"/>
                <a:gridCol w="2703513"/>
                <a:gridCol w="2703512"/>
              </a:tblGrid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Elastic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</a:b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   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 decreases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Unitary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   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 unchanged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Inelastic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   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 increases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439" name="Object 71"/>
          <p:cNvGraphicFramePr>
            <a:graphicFrameLocks noChangeAspect="1"/>
          </p:cNvGraphicFramePr>
          <p:nvPr/>
        </p:nvGraphicFramePr>
        <p:xfrm>
          <a:off x="3505200" y="2057400"/>
          <a:ext cx="2133600" cy="1136650"/>
        </p:xfrm>
        <a:graphic>
          <a:graphicData uri="http://schemas.openxmlformats.org/presentationml/2006/ole">
            <p:oleObj spid="_x0000_s58439" name="Equation" r:id="rId4" imgW="634680" imgH="393480" progId="">
              <p:embed/>
            </p:oleObj>
          </a:graphicData>
        </a:graphic>
      </p:graphicFrame>
      <p:sp>
        <p:nvSpPr>
          <p:cNvPr id="58440" name="AutoShape 72"/>
          <p:cNvSpPr>
            <a:spLocks noChangeArrowheads="1"/>
          </p:cNvSpPr>
          <p:nvPr/>
        </p:nvSpPr>
        <p:spPr bwMode="auto">
          <a:xfrm>
            <a:off x="3810000" y="6096000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8441" name="AutoShape 73"/>
          <p:cNvSpPr>
            <a:spLocks noChangeArrowheads="1"/>
          </p:cNvSpPr>
          <p:nvPr/>
        </p:nvSpPr>
        <p:spPr bwMode="auto">
          <a:xfrm>
            <a:off x="3048000" y="5791200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8442" name="AutoShape 74"/>
          <p:cNvSpPr>
            <a:spLocks noChangeArrowheads="1"/>
          </p:cNvSpPr>
          <p:nvPr/>
        </p:nvSpPr>
        <p:spPr bwMode="auto">
          <a:xfrm>
            <a:off x="3810000" y="4724400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8443" name="AutoShape 75"/>
          <p:cNvSpPr>
            <a:spLocks noChangeArrowheads="1"/>
          </p:cNvSpPr>
          <p:nvPr/>
        </p:nvSpPr>
        <p:spPr bwMode="auto">
          <a:xfrm>
            <a:off x="3048000" y="4724400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8444" name="AutoShape 76"/>
          <p:cNvSpPr>
            <a:spLocks noChangeArrowheads="1"/>
          </p:cNvSpPr>
          <p:nvPr/>
        </p:nvSpPr>
        <p:spPr bwMode="auto">
          <a:xfrm>
            <a:off x="3810000" y="3505200"/>
            <a:ext cx="152400" cy="914400"/>
          </a:xfrm>
          <a:prstGeom prst="down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8445" name="AutoShape 77"/>
          <p:cNvSpPr>
            <a:spLocks noChangeArrowheads="1"/>
          </p:cNvSpPr>
          <p:nvPr/>
        </p:nvSpPr>
        <p:spPr bwMode="auto">
          <a:xfrm>
            <a:off x="3048000" y="3810000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8D0E13-14F8-45ED-9FB1-1E42E8F237A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5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5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5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 build="p"/>
      <p:bldP spid="58440" grpId="0" animBg="1"/>
      <p:bldP spid="58441" grpId="0" animBg="1"/>
      <p:bldP spid="58442" grpId="0" animBg="1"/>
      <p:bldP spid="58443" grpId="0" animBg="1"/>
      <p:bldP spid="58444" grpId="0" animBg="1"/>
      <p:bldP spid="584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u="sng" dirty="0"/>
              <a:t>What happens to TR when price decreases?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153400" cy="609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b="1" dirty="0"/>
              <a:t>Answer:</a:t>
            </a:r>
            <a:r>
              <a:rPr lang="en-US" sz="2800" dirty="0"/>
              <a:t>  it depends on the elasticity of demand</a:t>
            </a:r>
          </a:p>
        </p:txBody>
      </p:sp>
      <p:graphicFrame>
        <p:nvGraphicFramePr>
          <p:cNvPr id="109612" name="Group 44"/>
          <p:cNvGraphicFramePr>
            <a:graphicFrameLocks noGrp="1"/>
          </p:cNvGraphicFramePr>
          <p:nvPr>
            <p:ph sz="half" idx="2"/>
          </p:nvPr>
        </p:nvGraphicFramePr>
        <p:xfrm>
          <a:off x="519113" y="3559175"/>
          <a:ext cx="7485062" cy="2919984"/>
        </p:xfrm>
        <a:graphic>
          <a:graphicData uri="http://schemas.openxmlformats.org/drawingml/2006/table">
            <a:tbl>
              <a:tblPr/>
              <a:tblGrid>
                <a:gridCol w="2078037"/>
                <a:gridCol w="2703513"/>
                <a:gridCol w="2703512"/>
              </a:tblGrid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Elastic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</a:b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   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 increases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Unitary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/>
                      </a:r>
                      <a:b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</a:b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   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 unchanged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Inelastic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P   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TR decreases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9598" name="AutoShape 30"/>
          <p:cNvSpPr>
            <a:spLocks noChangeArrowheads="1"/>
          </p:cNvSpPr>
          <p:nvPr/>
        </p:nvSpPr>
        <p:spPr bwMode="auto">
          <a:xfrm>
            <a:off x="3733800" y="4876800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9599" name="AutoShape 31"/>
          <p:cNvSpPr>
            <a:spLocks noChangeArrowheads="1"/>
          </p:cNvSpPr>
          <p:nvPr/>
        </p:nvSpPr>
        <p:spPr bwMode="auto">
          <a:xfrm>
            <a:off x="2971800" y="3962400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9600" name="AutoShape 32"/>
          <p:cNvSpPr>
            <a:spLocks noChangeArrowheads="1"/>
          </p:cNvSpPr>
          <p:nvPr/>
        </p:nvSpPr>
        <p:spPr bwMode="auto">
          <a:xfrm>
            <a:off x="3733800" y="6096000"/>
            <a:ext cx="152400" cy="304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9601" name="AutoShape 33"/>
          <p:cNvSpPr>
            <a:spLocks noChangeArrowheads="1"/>
          </p:cNvSpPr>
          <p:nvPr/>
        </p:nvSpPr>
        <p:spPr bwMode="auto">
          <a:xfrm>
            <a:off x="3717925" y="3657600"/>
            <a:ext cx="168275" cy="838200"/>
          </a:xfrm>
          <a:prstGeom prst="upArrow">
            <a:avLst>
              <a:gd name="adj1" fmla="val 50000"/>
              <a:gd name="adj2" fmla="val 1245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9602" name="AutoShape 34"/>
          <p:cNvSpPr>
            <a:spLocks noChangeArrowheads="1"/>
          </p:cNvSpPr>
          <p:nvPr/>
        </p:nvSpPr>
        <p:spPr bwMode="auto">
          <a:xfrm>
            <a:off x="2971800" y="4876800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09603" name="AutoShape 35"/>
          <p:cNvSpPr>
            <a:spLocks noChangeArrowheads="1"/>
          </p:cNvSpPr>
          <p:nvPr/>
        </p:nvSpPr>
        <p:spPr bwMode="auto">
          <a:xfrm>
            <a:off x="2971800" y="5867400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graphicFrame>
        <p:nvGraphicFramePr>
          <p:cNvPr id="109604" name="Object 36"/>
          <p:cNvGraphicFramePr>
            <a:graphicFrameLocks noChangeAspect="1"/>
          </p:cNvGraphicFramePr>
          <p:nvPr/>
        </p:nvGraphicFramePr>
        <p:xfrm>
          <a:off x="3733800" y="2133600"/>
          <a:ext cx="2057400" cy="1295400"/>
        </p:xfrm>
        <a:graphic>
          <a:graphicData uri="http://schemas.openxmlformats.org/presentationml/2006/ole">
            <p:oleObj spid="_x0000_s109604" name="Equation" r:id="rId4" imgW="634680" imgH="393480" progId="">
              <p:embed/>
            </p:oleObj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8D0E13-14F8-45ED-9FB1-1E42E8F237A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9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09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09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9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9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0" grpId="0"/>
      <p:bldP spid="109571" grpId="0" build="p"/>
      <p:bldP spid="109598" grpId="0" animBg="1"/>
      <p:bldP spid="109599" grpId="0" animBg="1"/>
      <p:bldP spid="109600" grpId="0" animBg="1"/>
      <p:bldP spid="109601" grpId="0" animBg="1"/>
      <p:bldP spid="109602" grpId="0" animBg="1"/>
      <p:bldP spid="10960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u="sng" dirty="0"/>
              <a:t>Determinants of </a:t>
            </a:r>
            <a:r>
              <a:rPr lang="en-US" sz="3600" b="1" u="sng" dirty="0" smtClean="0"/>
              <a:t>Price </a:t>
            </a:r>
            <a:r>
              <a:rPr lang="en-US" sz="3600" u="sng" dirty="0"/>
              <a:t>E</a:t>
            </a:r>
            <a:r>
              <a:rPr lang="en-US" sz="3600" b="1" u="sng" dirty="0" smtClean="0"/>
              <a:t>lasticity </a:t>
            </a:r>
            <a:r>
              <a:rPr lang="en-US" sz="3600" b="1" u="sng" dirty="0"/>
              <a:t>of </a:t>
            </a:r>
            <a:r>
              <a:rPr lang="en-US" sz="3600" u="sng" dirty="0" smtClean="0"/>
              <a:t>D</a:t>
            </a:r>
            <a:r>
              <a:rPr lang="en-US" sz="3600" b="1" u="sng" dirty="0" smtClean="0"/>
              <a:t>emand:</a:t>
            </a:r>
            <a:endParaRPr lang="en-US" sz="3600" b="1" u="sng" dirty="0"/>
          </a:p>
        </p:txBody>
      </p:sp>
      <p:sp>
        <p:nvSpPr>
          <p:cNvPr id="165891" name="AutoShape 3"/>
          <p:cNvSpPr>
            <a:spLocks noGrp="1" noChangeAspect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(1) </a:t>
            </a:r>
            <a:r>
              <a:rPr lang="en-US" sz="2600" b="1" dirty="0"/>
              <a:t>the availability of good substitutes for the commodity</a:t>
            </a:r>
            <a:endParaRPr lang="en-US" sz="2600" b="1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</a:t>
            </a:r>
            <a:r>
              <a:rPr lang="en-US" sz="2600" b="1" dirty="0"/>
              <a:t>  more substitutes, more </a:t>
            </a:r>
            <a:r>
              <a:rPr lang="en-US" sz="2600" b="1" dirty="0" smtClean="0"/>
              <a:t>elastic.</a:t>
            </a:r>
            <a:endParaRPr lang="en-US" sz="26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600" b="1" dirty="0"/>
              <a:t>(2) the number of uses the good can be put into</a:t>
            </a:r>
            <a:endParaRPr lang="en-US" sz="2600" b="1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</a:t>
            </a:r>
            <a:r>
              <a:rPr lang="en-US" sz="2600" b="1" dirty="0"/>
              <a:t>  more uses, more </a:t>
            </a:r>
            <a:r>
              <a:rPr lang="en-US" sz="2600" b="1" dirty="0" smtClean="0"/>
              <a:t>elastic.</a:t>
            </a:r>
            <a:endParaRPr lang="en-US" sz="26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600" b="1" dirty="0"/>
              <a:t>(3) the price of the good relative to the consumer's </a:t>
            </a:r>
            <a:r>
              <a:rPr lang="en-US" sz="2600" b="1" dirty="0" smtClean="0"/>
              <a:t>income</a:t>
            </a:r>
            <a:endParaRPr lang="en-US" sz="2600" b="1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</a:t>
            </a:r>
            <a:r>
              <a:rPr lang="en-US" sz="2600" b="1" dirty="0"/>
              <a:t>  if </a:t>
            </a:r>
            <a:r>
              <a:rPr lang="en-US" sz="2600" b="1" dirty="0" smtClean="0"/>
              <a:t>a good </a:t>
            </a:r>
            <a:r>
              <a:rPr lang="en-US" sz="2600" b="1" dirty="0"/>
              <a:t>takes a larger share of budget, likely to be more </a:t>
            </a:r>
            <a:r>
              <a:rPr lang="en-US" sz="2600" b="1" dirty="0" smtClean="0"/>
              <a:t>elastic.</a:t>
            </a:r>
            <a:endParaRPr lang="en-US" sz="26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600" b="1" dirty="0"/>
              <a:t>(4) the time frame under consideration</a:t>
            </a:r>
            <a:endParaRPr lang="en-US" sz="2600" b="1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600" b="1" dirty="0">
                <a:sym typeface="Symbol" pitchFamily="18" charset="2"/>
              </a:rPr>
              <a:t></a:t>
            </a:r>
            <a:r>
              <a:rPr lang="en-US" sz="2600" b="1" dirty="0"/>
              <a:t>  longer period of time, more </a:t>
            </a:r>
            <a:r>
              <a:rPr lang="en-US" sz="2600" b="1" dirty="0" smtClean="0"/>
              <a:t>elastic (Second Law of Demand).</a:t>
            </a:r>
            <a:endParaRPr lang="en-US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  <p:bldP spid="16589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/>
            <a:r>
              <a:rPr lang="en-US" u="sng" dirty="0" smtClean="0"/>
              <a:t>Cross-Price </a:t>
            </a:r>
            <a:r>
              <a:rPr lang="en-US" u="sng" dirty="0"/>
              <a:t>Elasticity of </a:t>
            </a:r>
            <a:r>
              <a:rPr lang="en-US" u="sng" dirty="0" smtClean="0"/>
              <a:t>Demand:</a:t>
            </a:r>
            <a:endParaRPr lang="en-US" u="sng" dirty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/>
              <a:t>Definition:  responsiveness of quantity </a:t>
            </a:r>
            <a:r>
              <a:rPr lang="en-US" dirty="0" smtClean="0"/>
              <a:t>demanded </a:t>
            </a:r>
            <a:r>
              <a:rPr lang="en-US" dirty="0"/>
              <a:t>of a good to changes in price of other goods.</a:t>
            </a:r>
          </a:p>
          <a:p>
            <a:r>
              <a:rPr lang="en-US" dirty="0"/>
              <a:t>Formula: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Sign</a:t>
            </a:r>
            <a:r>
              <a:rPr lang="en-US" dirty="0"/>
              <a:t>:  + for </a:t>
            </a:r>
            <a:r>
              <a:rPr lang="en-US" dirty="0" smtClean="0"/>
              <a:t>substitutes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   </a:t>
            </a:r>
            <a:r>
              <a:rPr lang="en-US" dirty="0" smtClean="0"/>
              <a:t>  </a:t>
            </a:r>
            <a:r>
              <a:rPr lang="en-US" dirty="0"/>
              <a:t>- for </a:t>
            </a:r>
            <a:r>
              <a:rPr lang="en-US" dirty="0" smtClean="0"/>
              <a:t>complements</a:t>
            </a:r>
          </a:p>
          <a:p>
            <a:pPr>
              <a:buNone/>
            </a:pPr>
            <a:r>
              <a:rPr lang="en-US" dirty="0" smtClean="0"/>
              <a:t>		     0 for independent (unrelated) goods</a:t>
            </a:r>
            <a:endParaRPr lang="en-US" dirty="0"/>
          </a:p>
          <a:p>
            <a:endParaRPr lang="en-US" baseline="-25000" dirty="0"/>
          </a:p>
        </p:txBody>
      </p:sp>
      <p:graphicFrame>
        <p:nvGraphicFramePr>
          <p:cNvPr id="134148" name="Object 4"/>
          <p:cNvGraphicFramePr>
            <a:graphicFrameLocks noChangeAspect="1"/>
          </p:cNvGraphicFramePr>
          <p:nvPr/>
        </p:nvGraphicFramePr>
        <p:xfrm>
          <a:off x="2819400" y="3429000"/>
          <a:ext cx="3048000" cy="1371600"/>
        </p:xfrm>
        <a:graphic>
          <a:graphicData uri="http://schemas.openxmlformats.org/presentationml/2006/ole">
            <p:oleObj spid="_x0000_s134148" name="Equation" r:id="rId4" imgW="799920" imgH="444240" progId="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/>
      <p:bldP spid="13414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Income Elasticity of </a:t>
            </a:r>
            <a:r>
              <a:rPr lang="en-US" u="sng" dirty="0" smtClean="0"/>
              <a:t>Demand:</a:t>
            </a:r>
            <a:endParaRPr lang="en-US" u="sng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 responsiveness of quantity demanded of a good to changes in </a:t>
            </a:r>
            <a:r>
              <a:rPr lang="en-US" dirty="0" smtClean="0"/>
              <a:t>income.</a:t>
            </a:r>
            <a:endParaRPr lang="en-US" dirty="0"/>
          </a:p>
          <a:p>
            <a:r>
              <a:rPr lang="en-US" dirty="0"/>
              <a:t>Formula: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Sign</a:t>
            </a:r>
            <a:r>
              <a:rPr lang="en-US" dirty="0"/>
              <a:t>:  + for </a:t>
            </a:r>
            <a:r>
              <a:rPr lang="en-US" dirty="0" smtClean="0"/>
              <a:t>normal (superior) </a:t>
            </a:r>
            <a:r>
              <a:rPr lang="en-US" dirty="0"/>
              <a:t>goods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		      - for inferior goods</a:t>
            </a:r>
          </a:p>
          <a:p>
            <a:endParaRPr lang="en-US" baseline="-25000" dirty="0"/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/>
        </p:nvGraphicFramePr>
        <p:xfrm>
          <a:off x="2743200" y="3352800"/>
          <a:ext cx="2819400" cy="1393825"/>
        </p:xfrm>
        <a:graphic>
          <a:graphicData uri="http://schemas.openxmlformats.org/presentationml/2006/ole">
            <p:oleObj spid="_x0000_s135172" name="Equation" r:id="rId4" imgW="825480" imgH="393480" progId="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/>
      <p:bldP spid="13517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Some </a:t>
            </a:r>
            <a:r>
              <a:rPr lang="en-US" u="sng" dirty="0" smtClean="0"/>
              <a:t>Applications of Supply and Demand and Elasticity:</a:t>
            </a:r>
            <a:endParaRPr lang="en-US" u="sng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Minimum Price Policy</a:t>
            </a:r>
            <a:r>
              <a:rPr lang="en-US" dirty="0"/>
              <a:t> – floor prices to protect producers (price support) or workers (minimum wage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Maximum Price Policy</a:t>
            </a:r>
            <a:r>
              <a:rPr lang="en-US" dirty="0"/>
              <a:t> – price ceilings to protect consumers </a:t>
            </a:r>
            <a:r>
              <a:rPr lang="en-US" dirty="0" smtClean="0"/>
              <a:t>(rent, electricity, fuel, … </a:t>
            </a:r>
            <a:r>
              <a:rPr lang="en-US" dirty="0"/>
              <a:t>etc</a:t>
            </a:r>
            <a:r>
              <a:rPr lang="en-US" dirty="0" smtClean="0"/>
              <a:t>.).</a:t>
            </a:r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Tax Incidence</a:t>
            </a:r>
            <a:r>
              <a:rPr lang="en-US" dirty="0"/>
              <a:t> – who bears the burden when tax is imposed on the producer?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/>
      <p:bldP spid="13312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Minimum </a:t>
            </a:r>
            <a:r>
              <a:rPr lang="en-US" u="sng" dirty="0" smtClean="0"/>
              <a:t>(Floor) Price Policies:</a:t>
            </a:r>
            <a:endParaRPr lang="en-US" u="sng" dirty="0"/>
          </a:p>
        </p:txBody>
      </p:sp>
      <p:sp>
        <p:nvSpPr>
          <p:cNvPr id="167939" name="AutoShape 3"/>
          <p:cNvSpPr>
            <a:spLocks noGrp="1" noChangeAspect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</a:t>
            </a:r>
            <a:r>
              <a:rPr lang="en-US" b="1" dirty="0" smtClean="0"/>
              <a:t>rices </a:t>
            </a:r>
            <a:r>
              <a:rPr lang="en-US" b="1" dirty="0"/>
              <a:t>cannot go </a:t>
            </a:r>
            <a:r>
              <a:rPr lang="en-US" b="1" u="sng" dirty="0"/>
              <a:t>below</a:t>
            </a:r>
            <a:r>
              <a:rPr lang="en-US" b="1" dirty="0"/>
              <a:t> a specified </a:t>
            </a:r>
            <a:r>
              <a:rPr lang="en-US" b="1" dirty="0" smtClean="0"/>
              <a:t>level, e.g</a:t>
            </a:r>
            <a:r>
              <a:rPr lang="en-US" b="1" dirty="0"/>
              <a:t>. price support for agricultural commodities, minimum </a:t>
            </a:r>
            <a:r>
              <a:rPr lang="en-US" b="1" dirty="0" smtClean="0"/>
              <a:t>wages ...etc.</a:t>
            </a:r>
            <a:endParaRPr lang="en-US" b="1" dirty="0"/>
          </a:p>
          <a:p>
            <a:r>
              <a:rPr lang="en-US" b="1" dirty="0"/>
              <a:t>F</a:t>
            </a:r>
            <a:r>
              <a:rPr lang="en-US" b="1" dirty="0" smtClean="0"/>
              <a:t>loor </a:t>
            </a:r>
            <a:r>
              <a:rPr lang="en-US" b="1" dirty="0"/>
              <a:t>price is usually set above the equilibrium price and it </a:t>
            </a:r>
            <a:r>
              <a:rPr lang="en-US" b="1" dirty="0" smtClean="0"/>
              <a:t>causes </a:t>
            </a:r>
            <a:r>
              <a:rPr lang="en-US" b="1" dirty="0"/>
              <a:t>a </a:t>
            </a:r>
            <a:r>
              <a:rPr lang="en-US" b="1" dirty="0" smtClean="0"/>
              <a:t>surplus.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/>
      <p:bldP spid="16793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r>
              <a:rPr lang="en-US" sz="3200"/>
              <a:t>Floor Price</a:t>
            </a:r>
            <a:br>
              <a:rPr lang="en-US" sz="3200"/>
            </a:br>
            <a:r>
              <a:rPr lang="en-US" sz="2000"/>
              <a:t>(minimum price policy)</a:t>
            </a:r>
          </a:p>
        </p:txBody>
      </p:sp>
      <p:sp>
        <p:nvSpPr>
          <p:cNvPr id="36867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68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600200" y="2590800"/>
            <a:ext cx="472440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1600200" y="4038600"/>
            <a:ext cx="2286000" cy="0"/>
          </a:xfrm>
          <a:prstGeom prst="line">
            <a:avLst/>
          </a:prstGeom>
          <a:noFill/>
          <a:ln w="15875">
            <a:solidFill>
              <a:srgbClr val="0000FF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>
            <a:off x="38862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2819400" y="33528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1143000" y="32004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baseline="30000"/>
              <a:t>f</a:t>
            </a:r>
            <a:endParaRPr lang="en-US" sz="2000" baseline="30000"/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25908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36883" name="Text Box 19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36884" name="Text Box 20"/>
          <p:cNvSpPr txBox="1">
            <a:spLocks noChangeArrowheads="1"/>
          </p:cNvSpPr>
          <p:nvPr/>
        </p:nvSpPr>
        <p:spPr bwMode="auto">
          <a:xfrm>
            <a:off x="37338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Q*</a:t>
            </a:r>
            <a:endParaRPr lang="en-US" baseline="-25000"/>
          </a:p>
        </p:txBody>
      </p:sp>
      <p:sp>
        <p:nvSpPr>
          <p:cNvPr id="36885" name="Text Box 21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36886" name="Text Box 22"/>
          <p:cNvSpPr txBox="1">
            <a:spLocks noChangeArrowheads="1"/>
          </p:cNvSpPr>
          <p:nvPr/>
        </p:nvSpPr>
        <p:spPr bwMode="auto">
          <a:xfrm rot="10800000">
            <a:off x="7620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36887" name="Text Box 23"/>
          <p:cNvSpPr txBox="1">
            <a:spLocks noChangeArrowheads="1"/>
          </p:cNvSpPr>
          <p:nvPr/>
        </p:nvSpPr>
        <p:spPr bwMode="auto">
          <a:xfrm>
            <a:off x="3581400" y="59436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5943600" y="22860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endParaRPr lang="en-US"/>
          </a:p>
        </p:txBody>
      </p:sp>
      <p:sp>
        <p:nvSpPr>
          <p:cNvPr id="36889" name="Text Box 25"/>
          <p:cNvSpPr txBox="1">
            <a:spLocks noChangeArrowheads="1"/>
          </p:cNvSpPr>
          <p:nvPr/>
        </p:nvSpPr>
        <p:spPr bwMode="auto">
          <a:xfrm>
            <a:off x="6324600" y="5181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D</a:t>
            </a:r>
            <a:endParaRPr lang="en-US"/>
          </a:p>
        </p:txBody>
      </p:sp>
      <p:sp>
        <p:nvSpPr>
          <p:cNvPr id="36892" name="Text Box 28"/>
          <p:cNvSpPr txBox="1">
            <a:spLocks noChangeArrowheads="1"/>
          </p:cNvSpPr>
          <p:nvPr/>
        </p:nvSpPr>
        <p:spPr bwMode="auto">
          <a:xfrm>
            <a:off x="11430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P*</a:t>
            </a:r>
            <a:endParaRPr lang="en-US" sz="2000" baseline="30000"/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 flipV="1">
            <a:off x="1600200" y="2743200"/>
            <a:ext cx="464820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1600200" y="3352800"/>
            <a:ext cx="35052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2819400" y="33528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5105400" y="33528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99" name="AutoShape 35"/>
          <p:cNvSpPr>
            <a:spLocks/>
          </p:cNvSpPr>
          <p:nvPr/>
        </p:nvSpPr>
        <p:spPr bwMode="auto">
          <a:xfrm rot="16200000">
            <a:off x="3810000" y="1981200"/>
            <a:ext cx="228600" cy="2209800"/>
          </a:xfrm>
          <a:prstGeom prst="rightBrace">
            <a:avLst>
              <a:gd name="adj1" fmla="val 80556"/>
              <a:gd name="adj2" fmla="val 4948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0" name="Text Box 36"/>
          <p:cNvSpPr txBox="1">
            <a:spLocks noChangeArrowheads="1"/>
          </p:cNvSpPr>
          <p:nvPr/>
        </p:nvSpPr>
        <p:spPr bwMode="auto">
          <a:xfrm>
            <a:off x="2971800" y="26670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surplus</a:t>
            </a:r>
          </a:p>
        </p:txBody>
      </p:sp>
      <p:sp>
        <p:nvSpPr>
          <p:cNvPr id="36901" name="Text Box 37"/>
          <p:cNvSpPr txBox="1">
            <a:spLocks noChangeArrowheads="1"/>
          </p:cNvSpPr>
          <p:nvPr/>
        </p:nvSpPr>
        <p:spPr bwMode="auto">
          <a:xfrm>
            <a:off x="6172200" y="3276600"/>
            <a:ext cx="27432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/>
              <a:t>To be effective, a floor price (</a:t>
            </a:r>
            <a:r>
              <a:rPr lang="en-US" sz="2000" i="1" dirty="0" smtClean="0"/>
              <a:t>P </a:t>
            </a:r>
            <a:r>
              <a:rPr lang="en-US" sz="2000" i="1" baseline="30000" dirty="0" smtClean="0"/>
              <a:t>f</a:t>
            </a:r>
            <a:r>
              <a:rPr lang="en-US" sz="2000" i="1" dirty="0" smtClean="0"/>
              <a:t>) </a:t>
            </a:r>
            <a:r>
              <a:rPr lang="en-US" sz="2000" i="1" dirty="0"/>
              <a:t>must be set above the equilibrium price(P*)</a:t>
            </a:r>
          </a:p>
        </p:txBody>
      </p:sp>
      <p:sp>
        <p:nvSpPr>
          <p:cNvPr id="36902" name="Text Box 38"/>
          <p:cNvSpPr txBox="1">
            <a:spLocks noChangeArrowheads="1"/>
          </p:cNvSpPr>
          <p:nvPr/>
        </p:nvSpPr>
        <p:spPr bwMode="auto">
          <a:xfrm>
            <a:off x="6934200" y="1600200"/>
            <a:ext cx="2057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 dirty="0"/>
              <a:t>Examples:</a:t>
            </a:r>
          </a:p>
          <a:p>
            <a:pPr>
              <a:spcBef>
                <a:spcPct val="50000"/>
              </a:spcBef>
            </a:pPr>
            <a:r>
              <a:rPr lang="en-US" sz="1600" i="1" dirty="0"/>
              <a:t>Minimum wages, price support for </a:t>
            </a:r>
            <a:r>
              <a:rPr lang="en-US" sz="1600" i="1" dirty="0" smtClean="0"/>
              <a:t>wheat farmers</a:t>
            </a:r>
            <a:endParaRPr lang="en-US" sz="1600" i="1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 flipH="1">
            <a:off x="1600200" y="4038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 u="sng" dirty="0"/>
              <a:t>Maximum </a:t>
            </a:r>
            <a:r>
              <a:rPr lang="en-US" sz="4000" b="1" u="sng" dirty="0" smtClean="0"/>
              <a:t>(Ceiling) Price </a:t>
            </a:r>
            <a:r>
              <a:rPr lang="en-US" sz="4000" u="sng" dirty="0"/>
              <a:t>P</a:t>
            </a:r>
            <a:r>
              <a:rPr lang="en-US" sz="4000" b="1" u="sng" dirty="0" smtClean="0"/>
              <a:t>olicy </a:t>
            </a:r>
            <a:r>
              <a:rPr lang="en-US" sz="4000" u="sng" dirty="0"/>
              <a:t>:</a:t>
            </a:r>
            <a:endParaRPr lang="en-US" sz="4000" b="1" u="sng" dirty="0"/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</a:t>
            </a:r>
            <a:r>
              <a:rPr lang="en-US" b="1" dirty="0" smtClean="0"/>
              <a:t>rice </a:t>
            </a:r>
            <a:r>
              <a:rPr lang="en-US" b="1" dirty="0"/>
              <a:t>cannot be </a:t>
            </a:r>
            <a:r>
              <a:rPr lang="en-US" b="1" dirty="0" smtClean="0"/>
              <a:t>charged </a:t>
            </a:r>
            <a:r>
              <a:rPr lang="en-US" b="1" u="sng" dirty="0" smtClean="0"/>
              <a:t>above</a:t>
            </a:r>
            <a:r>
              <a:rPr lang="en-US" b="1" dirty="0" smtClean="0"/>
              <a:t> </a:t>
            </a:r>
            <a:r>
              <a:rPr lang="en-US" b="1" dirty="0"/>
              <a:t>a specified </a:t>
            </a:r>
            <a:r>
              <a:rPr lang="en-US" b="1" dirty="0" smtClean="0"/>
              <a:t>level.</a:t>
            </a:r>
            <a:endParaRPr lang="en-US" b="1" dirty="0"/>
          </a:p>
          <a:p>
            <a:r>
              <a:rPr lang="en-US" b="1" dirty="0"/>
              <a:t>Example:  maximum </a:t>
            </a:r>
            <a:r>
              <a:rPr lang="en-US" b="1" dirty="0" smtClean="0"/>
              <a:t>rent, maximum transport fare, etc. </a:t>
            </a:r>
            <a:endParaRPr lang="en-US" b="1" dirty="0"/>
          </a:p>
          <a:p>
            <a:r>
              <a:rPr lang="en-US" b="1" dirty="0"/>
              <a:t>Usually set below the equilibrium price and causes a </a:t>
            </a:r>
            <a:r>
              <a:rPr lang="en-US" b="1" dirty="0" smtClean="0"/>
              <a:t>shortage.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6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2" grpId="0"/>
      <p:bldP spid="16896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r>
              <a:rPr lang="en-US" sz="3200"/>
              <a:t>Price Ceiling</a:t>
            </a:r>
            <a:br>
              <a:rPr lang="en-US" sz="3200"/>
            </a:br>
            <a:r>
              <a:rPr lang="en-US" sz="2000"/>
              <a:t>(maximum price policy)</a:t>
            </a:r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1600200" y="2590800"/>
            <a:ext cx="472440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1600200" y="4038600"/>
            <a:ext cx="2286000" cy="0"/>
          </a:xfrm>
          <a:prstGeom prst="line">
            <a:avLst/>
          </a:prstGeom>
          <a:noFill/>
          <a:ln w="15875">
            <a:solidFill>
              <a:srgbClr val="0000FF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38862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43000" y="32004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baseline="30000"/>
              <a:t>f</a:t>
            </a:r>
            <a:endParaRPr lang="en-US" sz="2000" baseline="30000"/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25908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38925" name="Text Box 13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37338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Q*</a:t>
            </a:r>
            <a:endParaRPr lang="en-US" baseline="-25000"/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38928" name="Text Box 16"/>
          <p:cNvSpPr txBox="1">
            <a:spLocks noChangeArrowheads="1"/>
          </p:cNvSpPr>
          <p:nvPr/>
        </p:nvSpPr>
        <p:spPr bwMode="auto">
          <a:xfrm rot="10800000">
            <a:off x="7620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3581400" y="59436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5943600" y="22860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endParaRPr lang="en-US"/>
          </a:p>
        </p:txBody>
      </p:sp>
      <p:sp>
        <p:nvSpPr>
          <p:cNvPr id="38931" name="Text Box 19"/>
          <p:cNvSpPr txBox="1">
            <a:spLocks noChangeArrowheads="1"/>
          </p:cNvSpPr>
          <p:nvPr/>
        </p:nvSpPr>
        <p:spPr bwMode="auto">
          <a:xfrm>
            <a:off x="6324600" y="5181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D</a:t>
            </a:r>
            <a:endParaRPr lang="en-US"/>
          </a:p>
        </p:txBody>
      </p: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11430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P*</a:t>
            </a:r>
            <a:endParaRPr lang="en-US" sz="2000" baseline="30000"/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 flipV="1">
            <a:off x="1600200" y="2743200"/>
            <a:ext cx="464820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1600200" y="4648200"/>
            <a:ext cx="33528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2819400" y="4648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36" name="Line 24"/>
          <p:cNvSpPr>
            <a:spLocks noChangeShapeType="1"/>
          </p:cNvSpPr>
          <p:nvPr/>
        </p:nvSpPr>
        <p:spPr bwMode="auto">
          <a:xfrm>
            <a:off x="4876800" y="4648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937" name="AutoShape 25"/>
          <p:cNvSpPr>
            <a:spLocks/>
          </p:cNvSpPr>
          <p:nvPr/>
        </p:nvSpPr>
        <p:spPr bwMode="auto">
          <a:xfrm rot="5400000">
            <a:off x="3733800" y="3962400"/>
            <a:ext cx="152400" cy="1828800"/>
          </a:xfrm>
          <a:prstGeom prst="rightBrace">
            <a:avLst>
              <a:gd name="adj1" fmla="val 100000"/>
              <a:gd name="adj2" fmla="val 4948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8" name="Text Box 26"/>
          <p:cNvSpPr txBox="1">
            <a:spLocks noChangeArrowheads="1"/>
          </p:cNvSpPr>
          <p:nvPr/>
        </p:nvSpPr>
        <p:spPr bwMode="auto">
          <a:xfrm>
            <a:off x="2895600" y="50292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shortage</a:t>
            </a:r>
          </a:p>
        </p:txBody>
      </p:sp>
      <p:sp>
        <p:nvSpPr>
          <p:cNvPr id="38939" name="Text Box 27"/>
          <p:cNvSpPr txBox="1">
            <a:spLocks noChangeArrowheads="1"/>
          </p:cNvSpPr>
          <p:nvPr/>
        </p:nvSpPr>
        <p:spPr bwMode="auto">
          <a:xfrm>
            <a:off x="6629400" y="3581400"/>
            <a:ext cx="23622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/>
              <a:t>To be effective, a price ceiling (</a:t>
            </a:r>
            <a:r>
              <a:rPr lang="en-US" sz="2000" i="1" dirty="0" smtClean="0"/>
              <a:t>P </a:t>
            </a:r>
            <a:r>
              <a:rPr lang="en-US" sz="2000" i="1" baseline="30000" dirty="0" smtClean="0"/>
              <a:t>c</a:t>
            </a:r>
            <a:r>
              <a:rPr lang="en-US" sz="2000" i="1" dirty="0" smtClean="0"/>
              <a:t>) </a:t>
            </a:r>
            <a:r>
              <a:rPr lang="en-US" sz="2000" i="1" dirty="0"/>
              <a:t>must be set below the equilibrium price(P*)</a:t>
            </a:r>
          </a:p>
        </p:txBody>
      </p: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1143000" y="44958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baseline="30000"/>
              <a:t>c</a:t>
            </a:r>
            <a:endParaRPr lang="en-US" sz="2000" baseline="30000"/>
          </a:p>
        </p:txBody>
      </p:sp>
      <p:sp>
        <p:nvSpPr>
          <p:cNvPr id="38941" name="Text Box 29"/>
          <p:cNvSpPr txBox="1">
            <a:spLocks noChangeArrowheads="1"/>
          </p:cNvSpPr>
          <p:nvPr/>
        </p:nvSpPr>
        <p:spPr bwMode="auto">
          <a:xfrm>
            <a:off x="7239000" y="1905000"/>
            <a:ext cx="190500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Examples: </a:t>
            </a:r>
          </a:p>
          <a:p>
            <a:pPr>
              <a:spcBef>
                <a:spcPct val="50000"/>
              </a:spcBef>
            </a:pPr>
            <a:r>
              <a:rPr lang="en-US" dirty="0"/>
              <a:t>Price control of </a:t>
            </a:r>
            <a:r>
              <a:rPr lang="en-US" dirty="0" smtClean="0"/>
              <a:t>electricity, </a:t>
            </a:r>
            <a:r>
              <a:rPr lang="en-US" dirty="0"/>
              <a:t>rents, </a:t>
            </a:r>
            <a:r>
              <a:rPr lang="en-US" dirty="0" smtClean="0"/>
              <a:t>fuel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Tax </a:t>
            </a:r>
            <a:r>
              <a:rPr lang="en-US" b="1" u="sng" dirty="0" smtClean="0"/>
              <a:t>incidence:</a:t>
            </a:r>
            <a:endParaRPr lang="en-US" b="1" u="sng" dirty="0"/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/>
              <a:t>Concerned with effects of government tax policies on consumption and production. </a:t>
            </a:r>
          </a:p>
          <a:p>
            <a:pPr>
              <a:lnSpc>
                <a:spcPct val="80000"/>
              </a:lnSpc>
            </a:pPr>
            <a:r>
              <a:rPr lang="en-US" b="1" dirty="0"/>
              <a:t>The tax could either be a </a:t>
            </a:r>
            <a:r>
              <a:rPr lang="en-US" b="1" i="1" dirty="0">
                <a:solidFill>
                  <a:srgbClr val="FFFF00"/>
                </a:solidFill>
              </a:rPr>
              <a:t>specific</a:t>
            </a:r>
            <a:r>
              <a:rPr lang="en-US" b="1" i="1" dirty="0"/>
              <a:t> </a:t>
            </a:r>
            <a:r>
              <a:rPr lang="en-US" b="1" i="1" dirty="0" smtClean="0"/>
              <a:t>(</a:t>
            </a:r>
            <a:r>
              <a:rPr lang="en-US" b="1" i="1" dirty="0" smtClean="0">
                <a:solidFill>
                  <a:srgbClr val="FFFF00"/>
                </a:solidFill>
              </a:rPr>
              <a:t>excise)</a:t>
            </a:r>
            <a:r>
              <a:rPr lang="en-US" b="1" i="1" dirty="0" smtClean="0"/>
              <a:t> </a:t>
            </a:r>
            <a:r>
              <a:rPr lang="en-US" b="1" i="1" dirty="0">
                <a:solidFill>
                  <a:srgbClr val="FFFF00"/>
                </a:solidFill>
              </a:rPr>
              <a:t>tax</a:t>
            </a:r>
            <a:r>
              <a:rPr lang="en-US" b="1" dirty="0"/>
              <a:t> or an </a:t>
            </a:r>
            <a:r>
              <a:rPr lang="en-US" b="1" i="1" dirty="0">
                <a:solidFill>
                  <a:srgbClr val="FFFF00"/>
                </a:solidFill>
              </a:rPr>
              <a:t>ad valorem tax</a:t>
            </a:r>
            <a:r>
              <a:rPr lang="en-US" b="1" dirty="0"/>
              <a:t>. 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specific tax or excise tax </a:t>
            </a:r>
            <a:r>
              <a:rPr lang="en-US" b="1" dirty="0">
                <a:sym typeface="Symbol" pitchFamily="18" charset="2"/>
              </a:rPr>
              <a:t></a:t>
            </a:r>
            <a:r>
              <a:rPr lang="en-US" b="1" dirty="0"/>
              <a:t> tax per unit of the </a:t>
            </a:r>
            <a:r>
              <a:rPr lang="en-US" b="1" dirty="0" smtClean="0"/>
              <a:t>product (e.g. SDG 100 per ton). </a:t>
            </a:r>
            <a:endParaRPr lang="en-US" b="1" dirty="0"/>
          </a:p>
          <a:p>
            <a:pPr lvl="1">
              <a:lnSpc>
                <a:spcPct val="80000"/>
              </a:lnSpc>
            </a:pPr>
            <a:r>
              <a:rPr lang="en-US" b="1" dirty="0"/>
              <a:t>ad valorem tax </a:t>
            </a:r>
            <a:r>
              <a:rPr lang="en-US" b="1" dirty="0">
                <a:sym typeface="Symbol" pitchFamily="18" charset="2"/>
              </a:rPr>
              <a:t></a:t>
            </a:r>
            <a:r>
              <a:rPr lang="en-US" b="1" dirty="0"/>
              <a:t>  tax as percentage of the selling </a:t>
            </a:r>
            <a:r>
              <a:rPr lang="en-US" b="1" dirty="0" smtClean="0"/>
              <a:t>price (e.g. 10% of price).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(Cont.)</a:t>
            </a:r>
            <a:endParaRPr lang="en-US" b="1" dirty="0"/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/>
              <a:t>Question: Who bears the greater portion of tax? Is it the consumer or the producer? </a:t>
            </a:r>
            <a:endParaRPr lang="en-US" b="1" dirty="0" smtClean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 lvl="1">
              <a:lnSpc>
                <a:spcPct val="80000"/>
              </a:lnSpc>
            </a:pPr>
            <a:r>
              <a:rPr lang="en-US" b="1" dirty="0" smtClean="0"/>
              <a:t>The </a:t>
            </a:r>
            <a:r>
              <a:rPr lang="en-US" b="1" dirty="0"/>
              <a:t>tax is likely to be paid for by </a:t>
            </a:r>
            <a:r>
              <a:rPr lang="en-US" b="1" u="sng" dirty="0" smtClean="0"/>
              <a:t>both</a:t>
            </a:r>
            <a:r>
              <a:rPr lang="en-US" b="1" dirty="0" smtClean="0"/>
              <a:t> producers </a:t>
            </a:r>
            <a:r>
              <a:rPr lang="en-US" b="1" dirty="0"/>
              <a:t>and </a:t>
            </a:r>
            <a:r>
              <a:rPr lang="en-US" b="1" dirty="0" smtClean="0"/>
              <a:t>consumers.</a:t>
            </a:r>
            <a:endParaRPr lang="en-US" b="1" dirty="0"/>
          </a:p>
          <a:p>
            <a:pPr lvl="1">
              <a:lnSpc>
                <a:spcPct val="80000"/>
              </a:lnSpc>
            </a:pPr>
            <a:r>
              <a:rPr lang="en-US" b="1" dirty="0"/>
              <a:t>T</a:t>
            </a:r>
            <a:r>
              <a:rPr lang="en-US" b="1" dirty="0" smtClean="0"/>
              <a:t>he </a:t>
            </a:r>
            <a:r>
              <a:rPr lang="en-US" b="1" dirty="0"/>
              <a:t>tax is likely to raise the equilibrium price, but by an amount less than the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9A911B-BF3F-4716-9D8F-84B3832DC0A0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pPr algn="l"/>
            <a:r>
              <a:rPr lang="en-US" sz="3200" u="sng" dirty="0"/>
              <a:t>Tax </a:t>
            </a:r>
            <a:r>
              <a:rPr lang="en-US" sz="3200" u="sng" dirty="0" smtClean="0"/>
              <a:t>Incidence: Perfectly Inelastic Demand:</a:t>
            </a:r>
            <a:endParaRPr lang="en-US" sz="3200" u="sng" dirty="0"/>
          </a:p>
        </p:txBody>
      </p:sp>
      <p:sp>
        <p:nvSpPr>
          <p:cNvPr id="43011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4267200" y="1828800"/>
            <a:ext cx="3175" cy="3733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4114800" y="5562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600" baseline="-25000"/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6248400" y="2590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r>
              <a:rPr lang="en-US" sz="1600" baseline="-25000"/>
              <a:t>0</a:t>
            </a:r>
            <a:endParaRPr lang="en-US" baseline="-25000"/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4343400" y="1600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D</a:t>
            </a:r>
            <a:endParaRPr lang="en-US"/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1143000" y="3733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</a:t>
            </a:r>
            <a:r>
              <a:rPr lang="en-US" sz="1400" baseline="-25000"/>
              <a:t>0</a:t>
            </a:r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 flipV="1">
            <a:off x="2057400" y="2743200"/>
            <a:ext cx="419100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 flipV="1">
            <a:off x="1828800" y="2133600"/>
            <a:ext cx="419100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6019800" y="19812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43027" name="Line 19"/>
          <p:cNvSpPr>
            <a:spLocks noChangeShapeType="1"/>
          </p:cNvSpPr>
          <p:nvPr/>
        </p:nvSpPr>
        <p:spPr bwMode="auto">
          <a:xfrm>
            <a:off x="4419600" y="3048000"/>
            <a:ext cx="0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28" name="Text Box 20"/>
          <p:cNvSpPr txBox="1">
            <a:spLocks noChangeArrowheads="1"/>
          </p:cNvSpPr>
          <p:nvPr/>
        </p:nvSpPr>
        <p:spPr bwMode="auto">
          <a:xfrm>
            <a:off x="4419600" y="3200400"/>
            <a:ext cx="533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>
                <a:solidFill>
                  <a:srgbClr val="FF0000"/>
                </a:solidFill>
              </a:rPr>
              <a:t>tax</a:t>
            </a:r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 flipH="1">
            <a:off x="1600200" y="3886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 flipH="1">
            <a:off x="1600200" y="3124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34" name="Line 26"/>
          <p:cNvSpPr>
            <a:spLocks noChangeShapeType="1"/>
          </p:cNvSpPr>
          <p:nvPr/>
        </p:nvSpPr>
        <p:spPr bwMode="auto">
          <a:xfrm>
            <a:off x="4267200" y="3124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036" name="Text Box 28"/>
          <p:cNvSpPr txBox="1">
            <a:spLocks noChangeArrowheads="1"/>
          </p:cNvSpPr>
          <p:nvPr/>
        </p:nvSpPr>
        <p:spPr bwMode="auto">
          <a:xfrm>
            <a:off x="1066800" y="29718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smtClean="0"/>
              <a:t>P</a:t>
            </a:r>
            <a:r>
              <a:rPr lang="en-US" sz="1400" baseline="-25000" dirty="0" smtClean="0"/>
              <a:t>0 + </a:t>
            </a:r>
            <a:r>
              <a:rPr lang="en-US" sz="1400" baseline="-25000" dirty="0"/>
              <a:t>t</a:t>
            </a:r>
            <a:endParaRPr lang="en-US" baseline="-25000" dirty="0"/>
          </a:p>
        </p:txBody>
      </p:sp>
      <p:sp>
        <p:nvSpPr>
          <p:cNvPr id="43041" name="Text Box 33"/>
          <p:cNvSpPr txBox="1">
            <a:spLocks noChangeArrowheads="1"/>
          </p:cNvSpPr>
          <p:nvPr/>
        </p:nvSpPr>
        <p:spPr bwMode="auto">
          <a:xfrm>
            <a:off x="6096000" y="3657600"/>
            <a:ext cx="2438400" cy="163121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If demand is Perfectly Inelastic :  all of the tax is passed on to consumers.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4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pPr algn="l"/>
            <a:r>
              <a:rPr lang="en-US" sz="3200" u="sng" dirty="0"/>
              <a:t>Tax Incidence: Perfectly Elastic Demand</a:t>
            </a:r>
            <a:endParaRPr lang="en-US" sz="2000" u="sng" dirty="0"/>
          </a:p>
        </p:txBody>
      </p:sp>
      <p:sp>
        <p:nvSpPr>
          <p:cNvPr id="45059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60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4114800" y="5562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600" baseline="-25000"/>
          </a:p>
        </p:txBody>
      </p:sp>
      <p:sp>
        <p:nvSpPr>
          <p:cNvPr id="45064" name="Text Box 8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45067" name="Text Box 11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45068" name="Text Box 12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5943600" y="26670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r>
              <a:rPr lang="en-US" sz="1600" baseline="-25000"/>
              <a:t>0</a:t>
            </a:r>
            <a:endParaRPr lang="en-US" baseline="-25000"/>
          </a:p>
        </p:txBody>
      </p:sp>
      <p:sp>
        <p:nvSpPr>
          <p:cNvPr id="45070" name="Text Box 14"/>
          <p:cNvSpPr txBox="1">
            <a:spLocks noChangeArrowheads="1"/>
          </p:cNvSpPr>
          <p:nvPr/>
        </p:nvSpPr>
        <p:spPr bwMode="auto">
          <a:xfrm>
            <a:off x="6096000" y="3505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D</a:t>
            </a:r>
            <a:endParaRPr lang="en-US"/>
          </a:p>
        </p:txBody>
      </p:sp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1143000" y="3733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</a:t>
            </a:r>
            <a:r>
              <a:rPr lang="en-US" sz="1400" baseline="-25000"/>
              <a:t>0</a:t>
            </a:r>
          </a:p>
        </p:txBody>
      </p:sp>
      <p:sp>
        <p:nvSpPr>
          <p:cNvPr id="45072" name="Line 16"/>
          <p:cNvSpPr>
            <a:spLocks noChangeShapeType="1"/>
          </p:cNvSpPr>
          <p:nvPr/>
        </p:nvSpPr>
        <p:spPr bwMode="auto">
          <a:xfrm flipV="1">
            <a:off x="2057400" y="2895600"/>
            <a:ext cx="3886200" cy="2209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 flipV="1">
            <a:off x="1828800" y="2286000"/>
            <a:ext cx="3962400" cy="2209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74" name="Text Box 18"/>
          <p:cNvSpPr txBox="1">
            <a:spLocks noChangeArrowheads="1"/>
          </p:cNvSpPr>
          <p:nvPr/>
        </p:nvSpPr>
        <p:spPr bwMode="auto">
          <a:xfrm>
            <a:off x="5791200" y="20574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45075" name="Line 19"/>
          <p:cNvSpPr>
            <a:spLocks noChangeShapeType="1"/>
          </p:cNvSpPr>
          <p:nvPr/>
        </p:nvSpPr>
        <p:spPr bwMode="auto">
          <a:xfrm>
            <a:off x="4419600" y="3048000"/>
            <a:ext cx="0" cy="685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76" name="Text Box 20"/>
          <p:cNvSpPr txBox="1">
            <a:spLocks noChangeArrowheads="1"/>
          </p:cNvSpPr>
          <p:nvPr/>
        </p:nvSpPr>
        <p:spPr bwMode="auto">
          <a:xfrm>
            <a:off x="4419600" y="3200400"/>
            <a:ext cx="533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>
                <a:solidFill>
                  <a:srgbClr val="FF0000"/>
                </a:solidFill>
              </a:rPr>
              <a:t>tax</a:t>
            </a:r>
          </a:p>
        </p:txBody>
      </p:sp>
      <p:sp>
        <p:nvSpPr>
          <p:cNvPr id="45077" name="Line 21"/>
          <p:cNvSpPr>
            <a:spLocks noChangeShapeType="1"/>
          </p:cNvSpPr>
          <p:nvPr/>
        </p:nvSpPr>
        <p:spPr bwMode="auto">
          <a:xfrm flipH="1">
            <a:off x="1600200" y="3886200"/>
            <a:ext cx="434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79" name="Line 23"/>
          <p:cNvSpPr>
            <a:spLocks noChangeShapeType="1"/>
          </p:cNvSpPr>
          <p:nvPr/>
        </p:nvSpPr>
        <p:spPr bwMode="auto">
          <a:xfrm>
            <a:off x="4267200" y="3124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1" name="Text Box 25"/>
          <p:cNvSpPr txBox="1">
            <a:spLocks noChangeArrowheads="1"/>
          </p:cNvSpPr>
          <p:nvPr/>
        </p:nvSpPr>
        <p:spPr bwMode="auto">
          <a:xfrm>
            <a:off x="6781800" y="2743200"/>
            <a:ext cx="2209800" cy="14773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If demand is Perfectly Elastic :  all of the tax burden is borne by the producer.</a:t>
            </a:r>
          </a:p>
        </p:txBody>
      </p:sp>
      <p:sp>
        <p:nvSpPr>
          <p:cNvPr id="45082" name="Line 26"/>
          <p:cNvSpPr>
            <a:spLocks noChangeShapeType="1"/>
          </p:cNvSpPr>
          <p:nvPr/>
        </p:nvSpPr>
        <p:spPr bwMode="auto">
          <a:xfrm>
            <a:off x="2895600" y="38862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3" name="Text Box 27"/>
          <p:cNvSpPr txBox="1">
            <a:spLocks noChangeArrowheads="1"/>
          </p:cNvSpPr>
          <p:nvPr/>
        </p:nvSpPr>
        <p:spPr bwMode="auto">
          <a:xfrm>
            <a:off x="2743200" y="5562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</a:t>
            </a:r>
            <a:r>
              <a:rPr lang="en-US" sz="1400" baseline="-25000"/>
              <a:t>1</a:t>
            </a:r>
            <a:endParaRPr lang="en-US" sz="1600" baseline="-2500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8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Consumer </a:t>
            </a:r>
            <a:r>
              <a:rPr lang="en-US" u="sng" dirty="0" smtClean="0"/>
              <a:t>Surplus:</a:t>
            </a:r>
            <a:endParaRPr lang="en-US" u="sng" dirty="0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/>
              <a:t>Price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Quantity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34290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5562600" y="49530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</a:t>
            </a:r>
            <a:endParaRPr lang="en-US" baseline="-25000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1143000" y="37338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1</a:t>
            </a:r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>
            <a:off x="1600200" y="4038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>
            <a:off x="1600200" y="2743200"/>
            <a:ext cx="3962400" cy="23622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V="1">
            <a:off x="1981200" y="3048000"/>
            <a:ext cx="32004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5029200" y="25908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6629400" y="2895600"/>
            <a:ext cx="2133600" cy="2031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Consumer surplus:  difference between what a consumer is willing to pay and what he actually pays for the good.</a:t>
            </a:r>
          </a:p>
        </p:txBody>
      </p:sp>
      <p:sp>
        <p:nvSpPr>
          <p:cNvPr id="14371" name="Freeform 35"/>
          <p:cNvSpPr>
            <a:spLocks/>
          </p:cNvSpPr>
          <p:nvPr/>
        </p:nvSpPr>
        <p:spPr bwMode="auto">
          <a:xfrm>
            <a:off x="1600200" y="2743200"/>
            <a:ext cx="21336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16"/>
              </a:cxn>
              <a:cxn ang="0">
                <a:pos x="1344" y="816"/>
              </a:cxn>
              <a:cxn ang="0">
                <a:pos x="0" y="0"/>
              </a:cxn>
            </a:cxnLst>
            <a:rect l="0" t="0" r="r" b="b"/>
            <a:pathLst>
              <a:path w="1344" h="816">
                <a:moveTo>
                  <a:pt x="0" y="0"/>
                </a:moveTo>
                <a:lnTo>
                  <a:pt x="0" y="816"/>
                </a:lnTo>
                <a:lnTo>
                  <a:pt x="1344" y="8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88" name="Line 52"/>
          <p:cNvSpPr>
            <a:spLocks noChangeShapeType="1"/>
          </p:cNvSpPr>
          <p:nvPr/>
        </p:nvSpPr>
        <p:spPr bwMode="auto">
          <a:xfrm>
            <a:off x="3733800" y="40386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6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(Cont.)</a:t>
            </a:r>
            <a:endParaRPr lang="en-US" dirty="0"/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28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/>
              <a:t>Price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Quantity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34290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5562600" y="49530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</a:t>
            </a:r>
            <a:endParaRPr lang="en-US" baseline="-25000"/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1143000" y="37338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1</a:t>
            </a: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1600200" y="4038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1600200" y="2743200"/>
            <a:ext cx="3962400" cy="23622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 flipV="1">
            <a:off x="1981200" y="3048000"/>
            <a:ext cx="32004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5029200" y="25908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1</a:t>
            </a:r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 flipV="1">
            <a:off x="2590800" y="3276600"/>
            <a:ext cx="31242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6705600" y="3429000"/>
            <a:ext cx="2133600" cy="163121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When market price decreases, consumer surplus becomes bigger</a:t>
            </a:r>
          </a:p>
        </p:txBody>
      </p:sp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1143000" y="4267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2</a:t>
            </a:r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>
            <a:off x="1600200" y="43434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46" name="Freeform 22"/>
          <p:cNvSpPr>
            <a:spLocks/>
          </p:cNvSpPr>
          <p:nvPr/>
        </p:nvSpPr>
        <p:spPr bwMode="auto">
          <a:xfrm>
            <a:off x="1600200" y="2743200"/>
            <a:ext cx="21336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16"/>
              </a:cxn>
              <a:cxn ang="0">
                <a:pos x="1344" y="816"/>
              </a:cxn>
              <a:cxn ang="0">
                <a:pos x="0" y="0"/>
              </a:cxn>
            </a:cxnLst>
            <a:rect l="0" t="0" r="r" b="b"/>
            <a:pathLst>
              <a:path w="1344" h="816">
                <a:moveTo>
                  <a:pt x="0" y="0"/>
                </a:moveTo>
                <a:lnTo>
                  <a:pt x="0" y="816"/>
                </a:lnTo>
                <a:lnTo>
                  <a:pt x="1344" y="8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4038600" y="55626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2</a:t>
            </a:r>
            <a:endParaRPr lang="en-US" baseline="-25000"/>
          </a:p>
        </p:txBody>
      </p:sp>
      <p:sp>
        <p:nvSpPr>
          <p:cNvPr id="52251" name="Freeform 27"/>
          <p:cNvSpPr>
            <a:spLocks/>
          </p:cNvSpPr>
          <p:nvPr/>
        </p:nvSpPr>
        <p:spPr bwMode="auto">
          <a:xfrm>
            <a:off x="1600200" y="2743200"/>
            <a:ext cx="2667000" cy="160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16"/>
              </a:cxn>
              <a:cxn ang="0">
                <a:pos x="1344" y="816"/>
              </a:cxn>
              <a:cxn ang="0">
                <a:pos x="0" y="0"/>
              </a:cxn>
            </a:cxnLst>
            <a:rect l="0" t="0" r="r" b="b"/>
            <a:pathLst>
              <a:path w="1344" h="816">
                <a:moveTo>
                  <a:pt x="0" y="0"/>
                </a:moveTo>
                <a:lnTo>
                  <a:pt x="0" y="816"/>
                </a:lnTo>
                <a:lnTo>
                  <a:pt x="1344" y="8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57" name="Text Box 33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59" name="Text Box 35"/>
          <p:cNvSpPr txBox="1">
            <a:spLocks noChangeArrowheads="1"/>
          </p:cNvSpPr>
          <p:nvPr/>
        </p:nvSpPr>
        <p:spPr bwMode="auto">
          <a:xfrm>
            <a:off x="1143000" y="4267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2</a:t>
            </a:r>
          </a:p>
        </p:txBody>
      </p:sp>
      <p:sp>
        <p:nvSpPr>
          <p:cNvPr id="52260" name="Text Box 36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61" name="Freeform 37"/>
          <p:cNvSpPr>
            <a:spLocks/>
          </p:cNvSpPr>
          <p:nvPr/>
        </p:nvSpPr>
        <p:spPr bwMode="auto">
          <a:xfrm>
            <a:off x="1600200" y="2743200"/>
            <a:ext cx="2667000" cy="160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16"/>
              </a:cxn>
              <a:cxn ang="0">
                <a:pos x="1344" y="816"/>
              </a:cxn>
              <a:cxn ang="0">
                <a:pos x="0" y="0"/>
              </a:cxn>
            </a:cxnLst>
            <a:rect l="0" t="0" r="r" b="b"/>
            <a:pathLst>
              <a:path w="1344" h="816">
                <a:moveTo>
                  <a:pt x="0" y="0"/>
                </a:moveTo>
                <a:lnTo>
                  <a:pt x="0" y="816"/>
                </a:lnTo>
                <a:lnTo>
                  <a:pt x="1344" y="8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62" name="Text Box 38"/>
          <p:cNvSpPr txBox="1">
            <a:spLocks noChangeArrowheads="1"/>
          </p:cNvSpPr>
          <p:nvPr/>
        </p:nvSpPr>
        <p:spPr bwMode="auto">
          <a:xfrm>
            <a:off x="1143000" y="4267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2</a:t>
            </a:r>
          </a:p>
        </p:txBody>
      </p: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64" name="Line 40"/>
          <p:cNvSpPr>
            <a:spLocks noChangeShapeType="1"/>
          </p:cNvSpPr>
          <p:nvPr/>
        </p:nvSpPr>
        <p:spPr bwMode="auto">
          <a:xfrm flipV="1">
            <a:off x="2590800" y="3276600"/>
            <a:ext cx="31242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65" name="Freeform 41"/>
          <p:cNvSpPr>
            <a:spLocks/>
          </p:cNvSpPr>
          <p:nvPr/>
        </p:nvSpPr>
        <p:spPr bwMode="auto">
          <a:xfrm>
            <a:off x="1600200" y="2743200"/>
            <a:ext cx="2667000" cy="160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16"/>
              </a:cxn>
              <a:cxn ang="0">
                <a:pos x="1344" y="816"/>
              </a:cxn>
              <a:cxn ang="0">
                <a:pos x="0" y="0"/>
              </a:cxn>
            </a:cxnLst>
            <a:rect l="0" t="0" r="r" b="b"/>
            <a:pathLst>
              <a:path w="1344" h="816">
                <a:moveTo>
                  <a:pt x="0" y="0"/>
                </a:moveTo>
                <a:lnTo>
                  <a:pt x="0" y="816"/>
                </a:lnTo>
                <a:lnTo>
                  <a:pt x="1344" y="8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1143000" y="4267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2</a:t>
            </a:r>
          </a:p>
        </p:txBody>
      </p:sp>
      <p:sp>
        <p:nvSpPr>
          <p:cNvPr id="52267" name="Text Box 43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68" name="Text Box 44"/>
          <p:cNvSpPr txBox="1">
            <a:spLocks noChangeArrowheads="1"/>
          </p:cNvSpPr>
          <p:nvPr/>
        </p:nvSpPr>
        <p:spPr bwMode="auto">
          <a:xfrm>
            <a:off x="4038600" y="55626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2</a:t>
            </a:r>
            <a:endParaRPr lang="en-US" baseline="-25000"/>
          </a:p>
        </p:txBody>
      </p:sp>
      <p:sp>
        <p:nvSpPr>
          <p:cNvPr id="52269" name="Line 45"/>
          <p:cNvSpPr>
            <a:spLocks noChangeShapeType="1"/>
          </p:cNvSpPr>
          <p:nvPr/>
        </p:nvSpPr>
        <p:spPr bwMode="auto">
          <a:xfrm flipV="1">
            <a:off x="2590800" y="3276600"/>
            <a:ext cx="312420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70" name="Freeform 46"/>
          <p:cNvSpPr>
            <a:spLocks/>
          </p:cNvSpPr>
          <p:nvPr/>
        </p:nvSpPr>
        <p:spPr bwMode="auto">
          <a:xfrm>
            <a:off x="1600200" y="2743200"/>
            <a:ext cx="2667000" cy="160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16"/>
              </a:cxn>
              <a:cxn ang="0">
                <a:pos x="1344" y="816"/>
              </a:cxn>
              <a:cxn ang="0">
                <a:pos x="0" y="0"/>
              </a:cxn>
            </a:cxnLst>
            <a:rect l="0" t="0" r="r" b="b"/>
            <a:pathLst>
              <a:path w="1344" h="816">
                <a:moveTo>
                  <a:pt x="0" y="0"/>
                </a:moveTo>
                <a:lnTo>
                  <a:pt x="0" y="816"/>
                </a:lnTo>
                <a:lnTo>
                  <a:pt x="1344" y="8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1143000" y="4267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2</a:t>
            </a:r>
          </a:p>
        </p:txBody>
      </p:sp>
      <p:sp>
        <p:nvSpPr>
          <p:cNvPr id="52272" name="Text Box 48"/>
          <p:cNvSpPr txBox="1">
            <a:spLocks noChangeArrowheads="1"/>
          </p:cNvSpPr>
          <p:nvPr/>
        </p:nvSpPr>
        <p:spPr bwMode="auto">
          <a:xfrm>
            <a:off x="5715000" y="2895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52273" name="Line 49"/>
          <p:cNvSpPr>
            <a:spLocks noChangeShapeType="1"/>
          </p:cNvSpPr>
          <p:nvPr/>
        </p:nvSpPr>
        <p:spPr bwMode="auto">
          <a:xfrm>
            <a:off x="4267200" y="4343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44" name="Straight Connector 43"/>
          <p:cNvCxnSpPr/>
          <p:nvPr/>
        </p:nvCxnSpPr>
        <p:spPr bwMode="auto">
          <a:xfrm flipH="1">
            <a:off x="1600200" y="4038600"/>
            <a:ext cx="2133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>
            <a:off x="3733800" y="4038600"/>
            <a:ext cx="0" cy="152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u="sng" dirty="0"/>
              <a:t>Producer </a:t>
            </a:r>
            <a:r>
              <a:rPr lang="en-US" u="sng" dirty="0" smtClean="0"/>
              <a:t>Surplus:</a:t>
            </a:r>
            <a:endParaRPr lang="en-US" u="sng" dirty="0"/>
          </a:p>
        </p:txBody>
      </p:sp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76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/>
              <a:t>Price</a:t>
            </a: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Quantity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3429000" y="5562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Q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5562600" y="49530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</a:t>
            </a:r>
            <a:endParaRPr lang="en-US" baseline="-25000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1143000" y="37338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P</a:t>
            </a:r>
            <a:r>
              <a:rPr lang="en-US" sz="1600" baseline="-25000"/>
              <a:t>1</a:t>
            </a:r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>
            <a:off x="1600200" y="3962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1600200" y="2743200"/>
            <a:ext cx="3962400" cy="2362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 flipV="1">
            <a:off x="1600200" y="3048000"/>
            <a:ext cx="3581400" cy="2057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5029200" y="25908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  <a:r>
              <a:rPr lang="en-US" sz="2000" baseline="-25000"/>
              <a:t>1</a:t>
            </a:r>
          </a:p>
        </p:txBody>
      </p:sp>
      <p:sp>
        <p:nvSpPr>
          <p:cNvPr id="54289" name="Text Box 17"/>
          <p:cNvSpPr txBox="1">
            <a:spLocks noChangeArrowheads="1"/>
          </p:cNvSpPr>
          <p:nvPr/>
        </p:nvSpPr>
        <p:spPr bwMode="auto">
          <a:xfrm>
            <a:off x="6019800" y="2438400"/>
            <a:ext cx="2895600" cy="286232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/>
              <a:t>Producer surplus:</a:t>
            </a:r>
            <a:r>
              <a:rPr lang="en-US" sz="2000" dirty="0"/>
              <a:t>  difference between what a producer receives (market price) and the amount that will motivate him to supply the product (marginal costs must be recovered).</a:t>
            </a:r>
          </a:p>
        </p:txBody>
      </p:sp>
      <p:sp>
        <p:nvSpPr>
          <p:cNvPr id="54291" name="Freeform 19"/>
          <p:cNvSpPr>
            <a:spLocks/>
          </p:cNvSpPr>
          <p:nvPr/>
        </p:nvSpPr>
        <p:spPr bwMode="auto">
          <a:xfrm>
            <a:off x="1600200" y="3962400"/>
            <a:ext cx="1981200" cy="1143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48" y="0"/>
              </a:cxn>
              <a:cxn ang="0">
                <a:pos x="0" y="720"/>
              </a:cxn>
              <a:cxn ang="0">
                <a:pos x="0" y="0"/>
              </a:cxn>
            </a:cxnLst>
            <a:rect l="0" t="0" r="r" b="b"/>
            <a:pathLst>
              <a:path w="1248" h="720">
                <a:moveTo>
                  <a:pt x="0" y="0"/>
                </a:moveTo>
                <a:lnTo>
                  <a:pt x="1248" y="0"/>
                </a:lnTo>
                <a:lnTo>
                  <a:pt x="0" y="72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5428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342900"/>
            <a:ext cx="7958138" cy="982663"/>
          </a:xfrm>
        </p:spPr>
        <p:txBody>
          <a:bodyPr/>
          <a:lstStyle/>
          <a:p>
            <a:pPr algn="l"/>
            <a:r>
              <a:rPr lang="en-US" sz="3600" u="sng" dirty="0"/>
              <a:t>Tax </a:t>
            </a:r>
            <a:r>
              <a:rPr lang="en-US" sz="3600" u="sng" dirty="0" smtClean="0"/>
              <a:t>Incidence – Elastic Demand and Supply:</a:t>
            </a:r>
            <a:endParaRPr lang="en-US" sz="2400" u="sng" dirty="0"/>
          </a:p>
        </p:txBody>
      </p:sp>
      <p:sp>
        <p:nvSpPr>
          <p:cNvPr id="40963" name="Line 3"/>
          <p:cNvSpPr>
            <a:spLocks noChangeShapeType="1"/>
          </p:cNvSpPr>
          <p:nvPr/>
        </p:nvSpPr>
        <p:spPr bwMode="auto">
          <a:xfrm>
            <a:off x="1600200" y="16764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1600200" y="55626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1600200" y="2590800"/>
            <a:ext cx="5105400" cy="2438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 flipV="1">
            <a:off x="2819400" y="4648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4114800" y="5562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600" baseline="-25000"/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1295400" y="55626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0</a:t>
            </a:r>
            <a:endParaRPr 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7315200" y="548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Q</a:t>
            </a:r>
            <a:endParaRPr lang="en-US" sz="2000" baseline="-25000"/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1143000" y="16764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 sz="2000" baseline="-25000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 rot="10800000">
            <a:off x="533400" y="3048000"/>
            <a:ext cx="3968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Price</a:t>
            </a: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3886200" y="6096000"/>
            <a:ext cx="1295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Quantity</a:t>
            </a:r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6248400" y="2590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r>
              <a:rPr lang="en-US" sz="1600" baseline="-25000"/>
              <a:t>0</a:t>
            </a:r>
            <a:endParaRPr lang="en-US" baseline="-25000"/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6324600" y="5181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D</a:t>
            </a:r>
            <a:endParaRPr lang="en-US"/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1143000" y="3733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</a:t>
            </a:r>
            <a:r>
              <a:rPr lang="en-US" sz="1400" baseline="-25000"/>
              <a:t>0</a:t>
            </a:r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 flipV="1">
            <a:off x="2057400" y="2743200"/>
            <a:ext cx="419100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 flipV="1">
            <a:off x="1828800" y="2133600"/>
            <a:ext cx="419100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6019800" y="19812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</a:t>
            </a:r>
            <a:r>
              <a:rPr lang="en-US" sz="1600" baseline="-25000"/>
              <a:t>1</a:t>
            </a:r>
            <a:endParaRPr lang="en-US" baseline="-25000"/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>
            <a:off x="4419600" y="30480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4572000" y="31242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FF0000"/>
                </a:solidFill>
              </a:rPr>
              <a:t>tax</a:t>
            </a:r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H="1">
            <a:off x="1600200" y="3886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>
            <a:off x="3581400" y="35052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H="1">
            <a:off x="1600200" y="4267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 flipH="1">
            <a:off x="1600200" y="3124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1143000" y="4114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P</a:t>
            </a:r>
            <a:r>
              <a:rPr lang="en-US" sz="1400" baseline="-25000"/>
              <a:t>1</a:t>
            </a:r>
            <a:endParaRPr lang="en-US" baseline="-25000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>
            <a:off x="4267200" y="3124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00" name="Text Box 40"/>
          <p:cNvSpPr txBox="1">
            <a:spLocks noChangeArrowheads="1"/>
          </p:cNvSpPr>
          <p:nvPr/>
        </p:nvSpPr>
        <p:spPr bwMode="auto">
          <a:xfrm>
            <a:off x="1066800" y="33528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smtClean="0"/>
              <a:t>P</a:t>
            </a:r>
            <a:r>
              <a:rPr lang="en-US" sz="1400" baseline="-25000" dirty="0" smtClean="0"/>
              <a:t>1 + </a:t>
            </a:r>
            <a:r>
              <a:rPr lang="en-US" sz="1400" baseline="-25000" dirty="0"/>
              <a:t>t</a:t>
            </a:r>
            <a:endParaRPr lang="en-US" baseline="-25000" dirty="0"/>
          </a:p>
        </p:txBody>
      </p:sp>
      <p:sp>
        <p:nvSpPr>
          <p:cNvPr id="41001" name="Text Box 41"/>
          <p:cNvSpPr txBox="1">
            <a:spLocks noChangeArrowheads="1"/>
          </p:cNvSpPr>
          <p:nvPr/>
        </p:nvSpPr>
        <p:spPr bwMode="auto">
          <a:xfrm>
            <a:off x="1066800" y="29718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smtClean="0"/>
              <a:t>P</a:t>
            </a:r>
            <a:r>
              <a:rPr lang="en-US" sz="1400" baseline="-25000" dirty="0" smtClean="0"/>
              <a:t>0 + </a:t>
            </a:r>
            <a:r>
              <a:rPr lang="en-US" sz="1400" baseline="-25000" dirty="0"/>
              <a:t>t</a:t>
            </a:r>
            <a:endParaRPr lang="en-US" baseline="-25000" dirty="0"/>
          </a:p>
        </p:txBody>
      </p:sp>
      <p:sp>
        <p:nvSpPr>
          <p:cNvPr id="41002" name="Text Box 42"/>
          <p:cNvSpPr txBox="1">
            <a:spLocks noChangeArrowheads="1"/>
          </p:cNvSpPr>
          <p:nvPr/>
        </p:nvSpPr>
        <p:spPr bwMode="auto">
          <a:xfrm>
            <a:off x="3352800" y="5562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</a:t>
            </a:r>
            <a:r>
              <a:rPr lang="en-US" sz="1400" baseline="-25000"/>
              <a:t>2</a:t>
            </a:r>
            <a:endParaRPr lang="en-US" sz="1600" baseline="-25000"/>
          </a:p>
        </p:txBody>
      </p:sp>
      <p:sp>
        <p:nvSpPr>
          <p:cNvPr id="41003" name="Text Box 43"/>
          <p:cNvSpPr txBox="1">
            <a:spLocks noChangeArrowheads="1"/>
          </p:cNvSpPr>
          <p:nvPr/>
        </p:nvSpPr>
        <p:spPr bwMode="auto">
          <a:xfrm>
            <a:off x="2590800" y="5562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Q</a:t>
            </a:r>
            <a:r>
              <a:rPr lang="en-US" sz="1400" baseline="-25000"/>
              <a:t>1</a:t>
            </a:r>
            <a:endParaRPr lang="en-US" sz="1600" baseline="-25000"/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>
            <a:off x="2743200" y="3124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05" name="Line 45"/>
          <p:cNvSpPr>
            <a:spLocks noChangeShapeType="1"/>
          </p:cNvSpPr>
          <p:nvPr/>
        </p:nvSpPr>
        <p:spPr bwMode="auto">
          <a:xfrm flipH="1">
            <a:off x="1600200" y="3505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705600" y="2895600"/>
            <a:ext cx="22098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 this case part of the tax will be paid by the consumer (P</a:t>
            </a:r>
            <a:r>
              <a:rPr lang="en-US" baseline="-25000" dirty="0" smtClean="0"/>
              <a:t>0</a:t>
            </a:r>
            <a:r>
              <a:rPr lang="en-US" dirty="0" smtClean="0"/>
              <a:t> – P</a:t>
            </a:r>
            <a:r>
              <a:rPr lang="en-US" baseline="-25000" dirty="0" smtClean="0"/>
              <a:t>1+ t</a:t>
            </a:r>
            <a:r>
              <a:rPr lang="en-US" dirty="0" smtClean="0"/>
              <a:t> ) and the other part by the producer (P</a:t>
            </a:r>
            <a:r>
              <a:rPr lang="en-US" baseline="-25000" dirty="0" smtClean="0"/>
              <a:t>1 </a:t>
            </a:r>
            <a:r>
              <a:rPr lang="en-US" dirty="0" smtClean="0"/>
              <a:t> - P</a:t>
            </a:r>
            <a:r>
              <a:rPr lang="en-US" baseline="-25000" dirty="0" smtClean="0"/>
              <a:t>0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hlink"/>
              </a:buClr>
              <a:buNone/>
            </a:pPr>
            <a:r>
              <a:rPr lang="en-US" b="1" u="sng" dirty="0" smtClean="0"/>
              <a:t>Readings:</a:t>
            </a:r>
            <a:r>
              <a:rPr lang="en-US" b="1" dirty="0" smtClean="0"/>
              <a:t> Samuelson &amp; </a:t>
            </a:r>
            <a:r>
              <a:rPr lang="en-US" b="1" dirty="0" err="1" smtClean="0"/>
              <a:t>Nordhaus</a:t>
            </a:r>
            <a:r>
              <a:rPr lang="en-US" b="1" dirty="0" smtClean="0"/>
              <a:t>, Ch. </a:t>
            </a:r>
            <a:r>
              <a:rPr lang="en-US" b="1" smtClean="0"/>
              <a:t>4 </a:t>
            </a:r>
            <a:endParaRPr lang="en-US" b="1" u="sng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2C234-73F2-4F2C-B842-C35085E39203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739</TotalTime>
  <Words>1296</Words>
  <Application>Microsoft Office PowerPoint</Application>
  <PresentationFormat>On-screen Show (4:3)</PresentationFormat>
  <Paragraphs>336</Paragraphs>
  <Slides>31</Slides>
  <Notes>30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Theme1</vt:lpstr>
      <vt:lpstr>Equation</vt:lpstr>
      <vt:lpstr>ELASTICITY</vt:lpstr>
      <vt:lpstr>Elasticity Concepts:</vt:lpstr>
      <vt:lpstr>Elasticity Values:</vt:lpstr>
      <vt:lpstr>Demand Elasticity Concepts:</vt:lpstr>
      <vt:lpstr>Own-Price Elasticity:</vt:lpstr>
      <vt:lpstr>Two ways of measuring elasticity:</vt:lpstr>
      <vt:lpstr>Point Elasticity:</vt:lpstr>
      <vt:lpstr>Arc Elasticity:</vt:lpstr>
      <vt:lpstr>Arc Elasticity: Example</vt:lpstr>
      <vt:lpstr>Special Case 1:</vt:lpstr>
      <vt:lpstr>Special Case 2:</vt:lpstr>
      <vt:lpstr>Elasticity and Total Revenue:</vt:lpstr>
      <vt:lpstr>What happens to TR when price increases?</vt:lpstr>
      <vt:lpstr>What happens to TR when price decreases?</vt:lpstr>
      <vt:lpstr>Determinants of Price Elasticity of Demand:</vt:lpstr>
      <vt:lpstr>Cross-Price Elasticity of Demand:</vt:lpstr>
      <vt:lpstr>Income Elasticity of Demand:</vt:lpstr>
      <vt:lpstr>Some Applications of Supply and Demand and Elasticity:</vt:lpstr>
      <vt:lpstr>Minimum (Floor) Price Policies:</vt:lpstr>
      <vt:lpstr>Floor Price (minimum price policy)</vt:lpstr>
      <vt:lpstr>Maximum (Ceiling) Price Policy :</vt:lpstr>
      <vt:lpstr>Price Ceiling (maximum price policy)</vt:lpstr>
      <vt:lpstr>Tax incidence:</vt:lpstr>
      <vt:lpstr>(Cont.)</vt:lpstr>
      <vt:lpstr>Tax Incidence: Perfectly Inelastic Demand:</vt:lpstr>
      <vt:lpstr>Tax Incidence: Perfectly Elastic Demand</vt:lpstr>
      <vt:lpstr>Consumer Surplus:</vt:lpstr>
      <vt:lpstr>(Cont.)</vt:lpstr>
      <vt:lpstr>Producer Surplus:</vt:lpstr>
      <vt:lpstr>Tax Incidence – Elastic Demand and Supply:</vt:lpstr>
      <vt:lpstr>Slide 31</vt:lpstr>
    </vt:vector>
  </TitlesOfParts>
  <Company>UPLB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Tirso B. Paris</dc:creator>
  <cp:lastModifiedBy>ProBook</cp:lastModifiedBy>
  <cp:revision>53</cp:revision>
  <dcterms:created xsi:type="dcterms:W3CDTF">2007-11-27T13:38:03Z</dcterms:created>
  <dcterms:modified xsi:type="dcterms:W3CDTF">2016-06-11T10:27:08Z</dcterms:modified>
</cp:coreProperties>
</file>