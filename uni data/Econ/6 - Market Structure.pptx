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21"/>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482"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D81331F-AE5B-4D00-9F85-D1F5B73A573E}" type="datetimeFigureOut">
              <a:rPr lang="en-US" smtClean="0"/>
              <a:pPr/>
              <a:t>11-Jun-16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CAF81F1-6FD5-4679-A29D-6F866D79613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p>
            <a:fld id="{70209948-D4C7-4220-ACB1-C615CD8FB243}" type="slidenum">
              <a:rPr lang="en-US"/>
              <a:pPr/>
              <a:t>1</a:t>
            </a:fld>
            <a:endParaRPr lang="en-US" dirty="0"/>
          </a:p>
        </p:txBody>
      </p:sp>
      <p:sp>
        <p:nvSpPr>
          <p:cNvPr id="9219" name="Rectangle 2"/>
          <p:cNvSpPr>
            <a:spLocks noGrp="1" noRot="1" noChangeAspect="1" noChangeArrowheads="1" noTextEdit="1"/>
          </p:cNvSpPr>
          <p:nvPr>
            <p:ph type="sldImg"/>
          </p:nvPr>
        </p:nvSpPr>
        <p:spPr>
          <a:ln/>
        </p:spPr>
      </p:sp>
      <p:sp>
        <p:nvSpPr>
          <p:cNvPr id="9220"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0CCF4C6-5AEF-4431-B43E-D848DEE472DB}" type="slidenum">
              <a:rPr lang="en-US"/>
              <a:pPr/>
              <a:t>2</a:t>
            </a:fld>
            <a:endParaRPr lang="en-US"/>
          </a:p>
        </p:txBody>
      </p:sp>
      <p:sp>
        <p:nvSpPr>
          <p:cNvPr id="144386" name="Rectangle 2"/>
          <p:cNvSpPr>
            <a:spLocks noGrp="1" noRot="1" noChangeAspect="1" noChangeArrowheads="1" noTextEdit="1"/>
          </p:cNvSpPr>
          <p:nvPr>
            <p:ph type="sldImg"/>
          </p:nvPr>
        </p:nvSpPr>
        <p:spPr>
          <a:ln/>
        </p:spPr>
      </p:sp>
      <p:sp>
        <p:nvSpPr>
          <p:cNvPr id="1443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38CF2A5-7D85-4F95-8D5C-74078B42A0DE}" type="slidenum">
              <a:rPr lang="en-US"/>
              <a:pPr/>
              <a:t>3</a:t>
            </a:fld>
            <a:endParaRPr lang="en-US"/>
          </a:p>
        </p:txBody>
      </p:sp>
      <p:sp>
        <p:nvSpPr>
          <p:cNvPr id="145410" name="Rectangle 2"/>
          <p:cNvSpPr>
            <a:spLocks noGrp="1" noRot="1" noChangeAspect="1" noChangeArrowheads="1" noTextEdit="1"/>
          </p:cNvSpPr>
          <p:nvPr>
            <p:ph type="sldImg"/>
          </p:nvPr>
        </p:nvSpPr>
        <p:spPr>
          <a:ln/>
        </p:spPr>
      </p:sp>
      <p:sp>
        <p:nvSpPr>
          <p:cNvPr id="1454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446F200-B5DA-4987-914C-F1D488B65408}" type="slidenum">
              <a:rPr lang="en-US"/>
              <a:pPr/>
              <a:t>4</a:t>
            </a:fld>
            <a:endParaRPr lang="en-US"/>
          </a:p>
        </p:txBody>
      </p:sp>
      <p:sp>
        <p:nvSpPr>
          <p:cNvPr id="146434" name="Rectangle 2"/>
          <p:cNvSpPr>
            <a:spLocks noGrp="1" noRot="1" noChangeAspect="1" noChangeArrowheads="1" noTextEdit="1"/>
          </p:cNvSpPr>
          <p:nvPr>
            <p:ph type="sldImg"/>
          </p:nvPr>
        </p:nvSpPr>
        <p:spPr>
          <a:ln/>
        </p:spPr>
      </p:sp>
      <p:sp>
        <p:nvSpPr>
          <p:cNvPr id="1464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597940A-2311-4EB9-9040-9CC80D952DA0}" type="slidenum">
              <a:rPr lang="en-US"/>
              <a:pPr/>
              <a:t>5</a:t>
            </a:fld>
            <a:endParaRPr lang="en-US"/>
          </a:p>
        </p:txBody>
      </p:sp>
      <p:sp>
        <p:nvSpPr>
          <p:cNvPr id="148482" name="Rectangle 2"/>
          <p:cNvSpPr>
            <a:spLocks noGrp="1" noRot="1" noChangeAspect="1" noChangeArrowheads="1" noTextEdit="1"/>
          </p:cNvSpPr>
          <p:nvPr>
            <p:ph type="sldImg"/>
          </p:nvPr>
        </p:nvSpPr>
        <p:spPr>
          <a:ln/>
        </p:spPr>
      </p:sp>
      <p:sp>
        <p:nvSpPr>
          <p:cNvPr id="1484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3BD43B7-2F09-4979-91DE-98A41457F05A}" type="slidenum">
              <a:rPr lang="en-US"/>
              <a:pPr/>
              <a:t>6</a:t>
            </a:fld>
            <a:endParaRPr lang="en-US"/>
          </a:p>
        </p:txBody>
      </p:sp>
      <p:sp>
        <p:nvSpPr>
          <p:cNvPr id="149506" name="Rectangle 2"/>
          <p:cNvSpPr>
            <a:spLocks noGrp="1" noRot="1" noChangeAspect="1" noChangeArrowheads="1" noTextEdit="1"/>
          </p:cNvSpPr>
          <p:nvPr>
            <p:ph type="sldImg"/>
          </p:nvPr>
        </p:nvSpPr>
        <p:spPr>
          <a:ln/>
        </p:spPr>
      </p:sp>
      <p:sp>
        <p:nvSpPr>
          <p:cNvPr id="1495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AAE47BA-6183-43EE-B5DE-ACBE28FE5315}" type="slidenum">
              <a:rPr lang="en-US"/>
              <a:pPr/>
              <a:t>19</a:t>
            </a:fld>
            <a:endParaRPr lang="en-US"/>
          </a:p>
        </p:txBody>
      </p:sp>
      <p:sp>
        <p:nvSpPr>
          <p:cNvPr id="413698" name="Rectangle 2"/>
          <p:cNvSpPr>
            <a:spLocks noGrp="1" noRot="1" noChangeAspect="1" noChangeArrowheads="1" noTextEdit="1"/>
          </p:cNvSpPr>
          <p:nvPr>
            <p:ph type="sldImg"/>
          </p:nvPr>
        </p:nvSpPr>
        <p:spPr>
          <a:ln/>
        </p:spPr>
      </p:sp>
      <p:sp>
        <p:nvSpPr>
          <p:cNvPr id="413699" name="Rectangle 3"/>
          <p:cNvSpPr>
            <a:spLocks noGrp="1" noChangeArrowheads="1"/>
          </p:cNvSpPr>
          <p:nvPr>
            <p:ph type="body" idx="1"/>
          </p:nvPr>
        </p:nvSpPr>
        <p:spPr/>
        <p:txBody>
          <a:bodyPr/>
          <a:lstStyle/>
          <a:p>
            <a:r>
              <a:rPr lang="en-US" b="1" i="1"/>
              <a:t>Understanding real-world markets.</a:t>
            </a:r>
            <a:r>
              <a:rPr lang="en-US"/>
              <a:t> Students have no difficulty seeing oligopoly in the world around them. Again, emphasize that the work they’ve just done understanding the models of perfect competition and monopoly are not wasted because the real-world situation of oligopoly can be better understood by building on some of the features of competition and monopoly. Again, some of what they learned in each of the two previous chapters survives and operates in oligopoly.</a:t>
            </a:r>
          </a:p>
          <a:p>
            <a:r>
              <a:rPr lang="en-US" b="1" i="1"/>
              <a:t>Traditional oligopoly models.</a:t>
            </a:r>
            <a:r>
              <a:rPr lang="en-US"/>
              <a:t> Many instructors today want to skip the traditional models of oligopoly. Others want to teach only these models and skip the game theory approach. Your choice! This chapter is written in self-contained sections so that you can skip either approach.</a:t>
            </a:r>
          </a:p>
          <a:p>
            <a:endParaRPr lang="en-US" b="1" i="1"/>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p:cNvGrpSpPr>
            <a:grpSpLocks/>
          </p:cNvGrpSpPr>
          <p:nvPr/>
        </p:nvGrpSpPr>
        <p:grpSpPr bwMode="auto">
          <a:xfrm>
            <a:off x="0" y="0"/>
            <a:ext cx="9140825" cy="6850063"/>
            <a:chOff x="0" y="0"/>
            <a:chExt cx="5758" cy="4315"/>
          </a:xfrm>
        </p:grpSpPr>
        <p:grpSp>
          <p:nvGrpSpPr>
            <p:cNvPr id="3" name="Group 3"/>
            <p:cNvGrpSpPr>
              <a:grpSpLocks/>
            </p:cNvGrpSpPr>
            <p:nvPr userDrawn="1"/>
          </p:nvGrpSpPr>
          <p:grpSpPr bwMode="auto">
            <a:xfrm>
              <a:off x="1728" y="2230"/>
              <a:ext cx="4027" cy="2085"/>
              <a:chOff x="1728" y="2230"/>
              <a:chExt cx="4027" cy="2085"/>
            </a:xfrm>
          </p:grpSpPr>
          <p:sp>
            <p:nvSpPr>
              <p:cNvPr id="8" name="Freeform 4"/>
              <p:cNvSpPr>
                <a:spLocks/>
              </p:cNvSpPr>
              <p:nvPr/>
            </p:nvSpPr>
            <p:spPr bwMode="hidden">
              <a:xfrm>
                <a:off x="1728" y="2644"/>
                <a:ext cx="2882" cy="1671"/>
              </a:xfrm>
              <a:custGeom>
                <a:avLst/>
                <a:gdLst/>
                <a:ahLst/>
                <a:cxnLst>
                  <a:cxn ang="0">
                    <a:pos x="2740" y="528"/>
                  </a:cxn>
                  <a:cxn ang="0">
                    <a:pos x="2632" y="484"/>
                  </a:cxn>
                  <a:cxn ang="0">
                    <a:pos x="2480" y="424"/>
                  </a:cxn>
                  <a:cxn ang="0">
                    <a:pos x="2203" y="343"/>
                  </a:cxn>
                  <a:cxn ang="0">
                    <a:pos x="1970" y="277"/>
                  </a:cxn>
                  <a:cxn ang="0">
                    <a:pos x="1807" y="212"/>
                  </a:cxn>
                  <a:cxn ang="0">
                    <a:pos x="1693" y="152"/>
                  </a:cxn>
                  <a:cxn ang="0">
                    <a:pos x="1628" y="103"/>
                  </a:cxn>
                  <a:cxn ang="0">
                    <a:pos x="1590" y="60"/>
                  </a:cxn>
                  <a:cxn ang="0">
                    <a:pos x="1579" y="27"/>
                  </a:cxn>
                  <a:cxn ang="0">
                    <a:pos x="1585" y="0"/>
                  </a:cxn>
                  <a:cxn ang="0">
                    <a:pos x="1557" y="49"/>
                  </a:cxn>
                  <a:cxn ang="0">
                    <a:pos x="1568" y="98"/>
                  </a:cxn>
                  <a:cxn ang="0">
                    <a:pos x="1617" y="141"/>
                  </a:cxn>
                  <a:cxn ang="0">
                    <a:pos x="1688" y="185"/>
                  </a:cxn>
                  <a:cxn ang="0">
                    <a:pos x="1791" y="228"/>
                  </a:cxn>
                  <a:cxn ang="0">
                    <a:pos x="2040" y="310"/>
                  </a:cxn>
                  <a:cxn ang="0">
                    <a:pos x="2285" y="381"/>
                  </a:cxn>
                  <a:cxn ang="0">
                    <a:pos x="2464" y="435"/>
                  </a:cxn>
                  <a:cxn ang="0">
                    <a:pos x="2605" y="484"/>
                  </a:cxn>
                  <a:cxn ang="0">
                    <a:pos x="2708" y="528"/>
                  </a:cxn>
                  <a:cxn ang="0">
                    <a:pos x="2768" y="560"/>
                  </a:cxn>
                  <a:cxn ang="0">
                    <a:pos x="2795" y="593"/>
                  </a:cxn>
                  <a:cxn ang="0">
                    <a:pos x="2795" y="642"/>
                  </a:cxn>
                  <a:cxn ang="0">
                    <a:pos x="2762" y="691"/>
                  </a:cxn>
                  <a:cxn ang="0">
                    <a:pos x="2692" y="735"/>
                  </a:cxn>
                  <a:cxn ang="0">
                    <a:pos x="2589" y="778"/>
                  </a:cxn>
                  <a:cxn ang="0">
                    <a:pos x="2458" y="822"/>
                  </a:cxn>
                  <a:cxn ang="0">
                    <a:pos x="2301" y="865"/>
                  </a:cxn>
                  <a:cxn ang="0">
                    <a:pos x="2030" y="930"/>
                  </a:cxn>
                  <a:cxn ang="0">
                    <a:pos x="1606" y="1034"/>
                  </a:cxn>
                  <a:cxn ang="0">
                    <a:pos x="1145" y="1164"/>
                  </a:cxn>
                  <a:cxn ang="0">
                    <a:pos x="673" y="1328"/>
                  </a:cxn>
                  <a:cxn ang="0">
                    <a:pos x="217" y="1545"/>
                  </a:cxn>
                  <a:cxn ang="0">
                    <a:pos x="353" y="1671"/>
                  </a:cxn>
                  <a:cxn ang="0">
                    <a:pos x="754" y="1469"/>
                  </a:cxn>
                  <a:cxn ang="0">
                    <a:pos x="1145" y="1311"/>
                  </a:cxn>
                  <a:cxn ang="0">
                    <a:pos x="1519" y="1186"/>
                  </a:cxn>
                  <a:cxn ang="0">
                    <a:pos x="1861" y="1083"/>
                  </a:cxn>
                  <a:cxn ang="0">
                    <a:pos x="2165" y="1007"/>
                  </a:cxn>
                  <a:cxn ang="0">
                    <a:pos x="2426" y="947"/>
                  </a:cxn>
                  <a:cxn ang="0">
                    <a:pos x="2626" y="892"/>
                  </a:cxn>
                  <a:cxn ang="0">
                    <a:pos x="2762" y="838"/>
                  </a:cxn>
                  <a:cxn ang="0">
                    <a:pos x="2827" y="794"/>
                  </a:cxn>
                  <a:cxn ang="0">
                    <a:pos x="2865" y="745"/>
                  </a:cxn>
                  <a:cxn ang="0">
                    <a:pos x="2882" y="702"/>
                  </a:cxn>
                  <a:cxn ang="0">
                    <a:pos x="2854" y="620"/>
                  </a:cxn>
                  <a:cxn ang="0">
                    <a:pos x="2800" y="560"/>
                  </a:cxn>
                  <a:cxn ang="0">
                    <a:pos x="2773" y="544"/>
                  </a:cxn>
                </a:cxnLst>
                <a:rect l="0" t="0" r="r" b="b"/>
                <a:pathLst>
                  <a:path w="2882" h="1671">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rotWithShape="0">
                <a:gsLst>
                  <a:gs pos="0">
                    <a:schemeClr val="bg1"/>
                  </a:gs>
                  <a:gs pos="100000">
                    <a:schemeClr val="bg1">
                      <a:gamma/>
                      <a:shade val="90980"/>
                      <a:invGamma/>
                    </a:schemeClr>
                  </a:gs>
                </a:gsLst>
                <a:lin ang="0" scaled="1"/>
              </a:gradFill>
              <a:ln w="9525">
                <a:noFill/>
                <a:round/>
                <a:headEnd/>
                <a:tailEnd/>
              </a:ln>
            </p:spPr>
            <p:txBody>
              <a:bodyPr/>
              <a:lstStyle/>
              <a:p>
                <a:pPr>
                  <a:defRPr/>
                </a:pPr>
                <a:endParaRPr lang="en-US"/>
              </a:p>
            </p:txBody>
          </p:sp>
          <p:sp>
            <p:nvSpPr>
              <p:cNvPr id="9" name="Freeform 5"/>
              <p:cNvSpPr>
                <a:spLocks/>
              </p:cNvSpPr>
              <p:nvPr/>
            </p:nvSpPr>
            <p:spPr bwMode="hidden">
              <a:xfrm>
                <a:off x="4170" y="2671"/>
                <a:ext cx="1259" cy="811"/>
              </a:xfrm>
              <a:custGeom>
                <a:avLst/>
                <a:gdLst/>
                <a:ahLst/>
                <a:cxnLst>
                  <a:cxn ang="0">
                    <a:pos x="1259" y="615"/>
                  </a:cxn>
                  <a:cxn ang="0">
                    <a:pos x="1248" y="588"/>
                  </a:cxn>
                  <a:cxn ang="0">
                    <a:pos x="1237" y="566"/>
                  </a:cxn>
                  <a:cxn ang="0">
                    <a:pos x="1216" y="539"/>
                  </a:cxn>
                  <a:cxn ang="0">
                    <a:pos x="1188" y="517"/>
                  </a:cxn>
                  <a:cxn ang="0">
                    <a:pos x="1123" y="479"/>
                  </a:cxn>
                  <a:cxn ang="0">
                    <a:pos x="1042" y="441"/>
                  </a:cxn>
                  <a:cxn ang="0">
                    <a:pos x="944" y="408"/>
                  </a:cxn>
                  <a:cxn ang="0">
                    <a:pos x="841" y="381"/>
                  </a:cxn>
                  <a:cxn ang="0">
                    <a:pos x="727" y="348"/>
                  </a:cxn>
                  <a:cxn ang="0">
                    <a:pos x="613" y="321"/>
                  </a:cxn>
                  <a:cxn ang="0">
                    <a:pos x="499" y="294"/>
                  </a:cxn>
                  <a:cxn ang="0">
                    <a:pos x="391" y="261"/>
                  </a:cxn>
                  <a:cxn ang="0">
                    <a:pos x="288" y="229"/>
                  </a:cxn>
                  <a:cxn ang="0">
                    <a:pos x="195" y="196"/>
                  </a:cxn>
                  <a:cxn ang="0">
                    <a:pos x="119" y="152"/>
                  </a:cxn>
                  <a:cxn ang="0">
                    <a:pos x="54" y="109"/>
                  </a:cxn>
                  <a:cxn ang="0">
                    <a:pos x="33" y="87"/>
                  </a:cxn>
                  <a:cxn ang="0">
                    <a:pos x="16" y="60"/>
                  </a:cxn>
                  <a:cxn ang="0">
                    <a:pos x="5" y="33"/>
                  </a:cxn>
                  <a:cxn ang="0">
                    <a:pos x="0" y="0"/>
                  </a:cxn>
                  <a:cxn ang="0">
                    <a:pos x="0" y="6"/>
                  </a:cxn>
                  <a:cxn ang="0">
                    <a:pos x="0" y="11"/>
                  </a:cxn>
                  <a:cxn ang="0">
                    <a:pos x="0" y="38"/>
                  </a:cxn>
                  <a:cxn ang="0">
                    <a:pos x="5" y="60"/>
                  </a:cxn>
                  <a:cxn ang="0">
                    <a:pos x="16" y="87"/>
                  </a:cxn>
                  <a:cxn ang="0">
                    <a:pos x="33" y="114"/>
                  </a:cxn>
                  <a:cxn ang="0">
                    <a:pos x="54" y="142"/>
                  </a:cxn>
                  <a:cxn ang="0">
                    <a:pos x="87" y="174"/>
                  </a:cxn>
                  <a:cxn ang="0">
                    <a:pos x="125" y="207"/>
                  </a:cxn>
                  <a:cxn ang="0">
                    <a:pos x="179" y="240"/>
                  </a:cxn>
                  <a:cxn ang="0">
                    <a:pos x="244" y="278"/>
                  </a:cxn>
                  <a:cxn ang="0">
                    <a:pos x="326" y="310"/>
                  </a:cxn>
                  <a:cxn ang="0">
                    <a:pos x="418" y="348"/>
                  </a:cxn>
                  <a:cxn ang="0">
                    <a:pos x="526" y="381"/>
                  </a:cxn>
                  <a:cxn ang="0">
                    <a:pos x="657" y="414"/>
                  </a:cxn>
                  <a:cxn ang="0">
                    <a:pos x="749" y="435"/>
                  </a:cxn>
                  <a:cxn ang="0">
                    <a:pos x="830" y="463"/>
                  </a:cxn>
                  <a:cxn ang="0">
                    <a:pos x="901" y="490"/>
                  </a:cxn>
                  <a:cxn ang="0">
                    <a:pos x="966" y="512"/>
                  </a:cxn>
                  <a:cxn ang="0">
                    <a:pos x="1015" y="539"/>
                  </a:cxn>
                  <a:cxn ang="0">
                    <a:pos x="1053" y="566"/>
                  </a:cxn>
                  <a:cxn ang="0">
                    <a:pos x="1080" y="593"/>
                  </a:cxn>
                  <a:cxn ang="0">
                    <a:pos x="1102" y="620"/>
                  </a:cxn>
                  <a:cxn ang="0">
                    <a:pos x="1112" y="648"/>
                  </a:cxn>
                  <a:cxn ang="0">
                    <a:pos x="1118" y="675"/>
                  </a:cxn>
                  <a:cxn ang="0">
                    <a:pos x="1112" y="697"/>
                  </a:cxn>
                  <a:cxn ang="0">
                    <a:pos x="1096" y="724"/>
                  </a:cxn>
                  <a:cxn ang="0">
                    <a:pos x="1080" y="746"/>
                  </a:cxn>
                  <a:cxn ang="0">
                    <a:pos x="1053" y="767"/>
                  </a:cxn>
                  <a:cxn ang="0">
                    <a:pos x="1015" y="789"/>
                  </a:cxn>
                  <a:cxn ang="0">
                    <a:pos x="977" y="811"/>
                  </a:cxn>
                  <a:cxn ang="0">
                    <a:pos x="1047" y="789"/>
                  </a:cxn>
                  <a:cxn ang="0">
                    <a:pos x="1107" y="767"/>
                  </a:cxn>
                  <a:cxn ang="0">
                    <a:pos x="1156" y="746"/>
                  </a:cxn>
                  <a:cxn ang="0">
                    <a:pos x="1199" y="724"/>
                  </a:cxn>
                  <a:cxn ang="0">
                    <a:pos x="1226" y="702"/>
                  </a:cxn>
                  <a:cxn ang="0">
                    <a:pos x="1248" y="675"/>
                  </a:cxn>
                  <a:cxn ang="0">
                    <a:pos x="1259" y="648"/>
                  </a:cxn>
                  <a:cxn ang="0">
                    <a:pos x="1259" y="615"/>
                  </a:cxn>
                  <a:cxn ang="0">
                    <a:pos x="1259" y="615"/>
                  </a:cxn>
                </a:cxnLst>
                <a:rect l="0" t="0" r="r" b="b"/>
                <a:pathLst>
                  <a:path w="1259" h="811">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rotWithShape="0">
                <a:gsLst>
                  <a:gs pos="0">
                    <a:schemeClr val="bg1"/>
                  </a:gs>
                  <a:gs pos="100000">
                    <a:schemeClr val="bg1">
                      <a:gamma/>
                      <a:shade val="90980"/>
                      <a:invGamma/>
                    </a:schemeClr>
                  </a:gs>
                </a:gsLst>
                <a:lin ang="2700000" scaled="1"/>
              </a:gradFill>
              <a:ln w="9525">
                <a:noFill/>
                <a:round/>
                <a:headEnd/>
                <a:tailEnd/>
              </a:ln>
            </p:spPr>
            <p:txBody>
              <a:bodyPr/>
              <a:lstStyle/>
              <a:p>
                <a:pPr>
                  <a:defRPr/>
                </a:pPr>
                <a:endParaRPr lang="en-US"/>
              </a:p>
            </p:txBody>
          </p:sp>
          <p:sp>
            <p:nvSpPr>
              <p:cNvPr id="10" name="Freeform 6"/>
              <p:cNvSpPr>
                <a:spLocks/>
              </p:cNvSpPr>
              <p:nvPr/>
            </p:nvSpPr>
            <p:spPr bwMode="hidden">
              <a:xfrm>
                <a:off x="2900" y="3346"/>
                <a:ext cx="2849" cy="969"/>
              </a:xfrm>
              <a:custGeom>
                <a:avLst/>
                <a:gdLst/>
                <a:ahLst/>
                <a:cxnLst>
                  <a:cxn ang="0">
                    <a:pos x="92" y="958"/>
                  </a:cxn>
                  <a:cxn ang="0">
                    <a:pos x="0" y="969"/>
                  </a:cxn>
                  <a:cxn ang="0">
                    <a:pos x="391" y="969"/>
                  </a:cxn>
                  <a:cxn ang="0">
                    <a:pos x="434" y="947"/>
                  </a:cxn>
                  <a:cxn ang="0">
                    <a:pos x="483" y="914"/>
                  </a:cxn>
                  <a:cxn ang="0">
                    <a:pos x="554" y="876"/>
                  </a:cxn>
                  <a:cxn ang="0">
                    <a:pos x="635" y="838"/>
                  </a:cxn>
                  <a:cxn ang="0">
                    <a:pos x="727" y="794"/>
                  </a:cxn>
                  <a:cxn ang="0">
                    <a:pos x="836" y="745"/>
                  </a:cxn>
                  <a:cxn ang="0">
                    <a:pos x="961" y="696"/>
                  </a:cxn>
                  <a:cxn ang="0">
                    <a:pos x="1102" y="642"/>
                  </a:cxn>
                  <a:cxn ang="0">
                    <a:pos x="1259" y="582"/>
                  </a:cxn>
                  <a:cxn ang="0">
                    <a:pos x="1433" y="522"/>
                  </a:cxn>
                  <a:cxn ang="0">
                    <a:pos x="1623" y="462"/>
                  </a:cxn>
                  <a:cxn ang="0">
                    <a:pos x="1829" y="403"/>
                  </a:cxn>
                  <a:cxn ang="0">
                    <a:pos x="2057" y="343"/>
                  </a:cxn>
                  <a:cxn ang="0">
                    <a:pos x="2301" y="283"/>
                  </a:cxn>
                  <a:cxn ang="0">
                    <a:pos x="2567" y="223"/>
                  </a:cxn>
                  <a:cxn ang="0">
                    <a:pos x="2849" y="163"/>
                  </a:cxn>
                  <a:cxn ang="0">
                    <a:pos x="2849" y="0"/>
                  </a:cxn>
                  <a:cxn ang="0">
                    <a:pos x="2817" y="16"/>
                  </a:cxn>
                  <a:cxn ang="0">
                    <a:pos x="2773" y="33"/>
                  </a:cxn>
                  <a:cxn ang="0">
                    <a:pos x="2719" y="54"/>
                  </a:cxn>
                  <a:cxn ang="0">
                    <a:pos x="2648" y="76"/>
                  </a:cxn>
                  <a:cxn ang="0">
                    <a:pos x="2572" y="98"/>
                  </a:cxn>
                  <a:cxn ang="0">
                    <a:pos x="2491" y="120"/>
                  </a:cxn>
                  <a:cxn ang="0">
                    <a:pos x="2399" y="147"/>
                  </a:cxn>
                  <a:cxn ang="0">
                    <a:pos x="2301" y="169"/>
                  </a:cxn>
                  <a:cxn ang="0">
                    <a:pos x="2095" y="223"/>
                  </a:cxn>
                  <a:cxn ang="0">
                    <a:pos x="1889" y="277"/>
                  </a:cxn>
                  <a:cxn ang="0">
                    <a:pos x="1688" y="326"/>
                  </a:cxn>
                  <a:cxn ang="0">
                    <a:pos x="1590" y="354"/>
                  </a:cxn>
                  <a:cxn ang="0">
                    <a:pos x="1503" y="381"/>
                  </a:cxn>
                  <a:cxn ang="0">
                    <a:pos x="1107" y="506"/>
                  </a:cxn>
                  <a:cxn ang="0">
                    <a:pos x="912" y="577"/>
                  </a:cxn>
                  <a:cxn ang="0">
                    <a:pos x="727" y="647"/>
                  </a:cxn>
                  <a:cxn ang="0">
                    <a:pos x="548" y="718"/>
                  </a:cxn>
                  <a:cxn ang="0">
                    <a:pos x="380" y="794"/>
                  </a:cxn>
                  <a:cxn ang="0">
                    <a:pos x="228" y="876"/>
                  </a:cxn>
                  <a:cxn ang="0">
                    <a:pos x="92" y="958"/>
                  </a:cxn>
                  <a:cxn ang="0">
                    <a:pos x="92" y="958"/>
                  </a:cxn>
                </a:cxnLst>
                <a:rect l="0" t="0" r="r" b="b"/>
                <a:pathLst>
                  <a:path w="2849" h="96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rotWithShape="0">
                <a:gsLst>
                  <a:gs pos="0">
                    <a:schemeClr val="bg1">
                      <a:gamma/>
                      <a:shade val="81961"/>
                      <a:invGamma/>
                    </a:schemeClr>
                  </a:gs>
                  <a:gs pos="100000">
                    <a:schemeClr val="bg1"/>
                  </a:gs>
                </a:gsLst>
                <a:lin ang="5400000" scaled="1"/>
              </a:gradFill>
              <a:ln w="9525">
                <a:noFill/>
                <a:round/>
                <a:headEnd/>
                <a:tailEnd/>
              </a:ln>
            </p:spPr>
            <p:txBody>
              <a:bodyPr/>
              <a:lstStyle/>
              <a:p>
                <a:pPr>
                  <a:defRPr/>
                </a:pPr>
                <a:endParaRPr lang="en-US"/>
              </a:p>
            </p:txBody>
          </p:sp>
          <p:sp>
            <p:nvSpPr>
              <p:cNvPr id="11" name="Freeform 7"/>
              <p:cNvSpPr>
                <a:spLocks/>
              </p:cNvSpPr>
              <p:nvPr/>
            </p:nvSpPr>
            <p:spPr bwMode="hidden">
              <a:xfrm>
                <a:off x="2748" y="2230"/>
                <a:ext cx="3007" cy="2085"/>
              </a:xfrm>
              <a:custGeom>
                <a:avLst/>
                <a:gdLst/>
                <a:ahLst/>
                <a:cxnLst>
                  <a:cxn ang="0">
                    <a:pos x="1433" y="474"/>
                  </a:cxn>
                  <a:cxn ang="0">
                    <a:pos x="1460" y="528"/>
                  </a:cxn>
                  <a:cxn ang="0">
                    <a:pos x="1541" y="593"/>
                  </a:cxn>
                  <a:cxn ang="0">
                    <a:pos x="1715" y="670"/>
                  </a:cxn>
                  <a:cxn ang="0">
                    <a:pos x="1927" y="735"/>
                  </a:cxn>
                  <a:cxn ang="0">
                    <a:pos x="2155" y="789"/>
                  </a:cxn>
                  <a:cxn ang="0">
                    <a:pos x="2372" y="849"/>
                  </a:cxn>
                  <a:cxn ang="0">
                    <a:pos x="2551" y="920"/>
                  </a:cxn>
                  <a:cxn ang="0">
                    <a:pos x="2638" y="980"/>
                  </a:cxn>
                  <a:cxn ang="0">
                    <a:pos x="2676" y="1029"/>
                  </a:cxn>
                  <a:cxn ang="0">
                    <a:pos x="2681" y="1083"/>
                  </a:cxn>
                  <a:cxn ang="0">
                    <a:pos x="2665" y="1127"/>
                  </a:cxn>
                  <a:cxn ang="0">
                    <a:pos x="2616" y="1170"/>
                  </a:cxn>
                  <a:cxn ang="0">
                    <a:pos x="2545" y="1208"/>
                  </a:cxn>
                  <a:cxn ang="0">
                    <a:pos x="2448" y="1241"/>
                  </a:cxn>
                  <a:cxn ang="0">
                    <a:pos x="2328" y="1274"/>
                  </a:cxn>
                  <a:cxn ang="0">
                    <a:pos x="2106" y="1328"/>
                  </a:cxn>
                  <a:cxn ang="0">
                    <a:pos x="1742" y="1421"/>
                  </a:cxn>
                  <a:cxn ang="0">
                    <a:pos x="1308" y="1540"/>
                  </a:cxn>
                  <a:cxn ang="0">
                    <a:pos x="820" y="1709"/>
                  </a:cxn>
                  <a:cxn ang="0">
                    <a:pos x="282" y="1943"/>
                  </a:cxn>
                  <a:cxn ang="0">
                    <a:pos x="152" y="2085"/>
                  </a:cxn>
                  <a:cxn ang="0">
                    <a:pos x="386" y="1992"/>
                  </a:cxn>
                  <a:cxn ang="0">
                    <a:pos x="700" y="1834"/>
                  </a:cxn>
                  <a:cxn ang="0">
                    <a:pos x="1064" y="1693"/>
                  </a:cxn>
                  <a:cxn ang="0">
                    <a:pos x="1661" y="1497"/>
                  </a:cxn>
                  <a:cxn ang="0">
                    <a:pos x="1845" y="1442"/>
                  </a:cxn>
                  <a:cxn ang="0">
                    <a:pos x="2252" y="1339"/>
                  </a:cxn>
                  <a:cxn ang="0">
                    <a:pos x="2551" y="1263"/>
                  </a:cxn>
                  <a:cxn ang="0">
                    <a:pos x="2730" y="1214"/>
                  </a:cxn>
                  <a:cxn ang="0">
                    <a:pos x="2876" y="1170"/>
                  </a:cxn>
                  <a:cxn ang="0">
                    <a:pos x="2974" y="1132"/>
                  </a:cxn>
                  <a:cxn ang="0">
                    <a:pos x="3007" y="871"/>
                  </a:cxn>
                  <a:cxn ang="0">
                    <a:pos x="2860" y="844"/>
                  </a:cxn>
                  <a:cxn ang="0">
                    <a:pos x="2670" y="806"/>
                  </a:cxn>
                  <a:cxn ang="0">
                    <a:pos x="2458" y="757"/>
                  </a:cxn>
                  <a:cxn ang="0">
                    <a:pos x="2138" y="670"/>
                  </a:cxn>
                  <a:cxn ang="0">
                    <a:pos x="1959" y="604"/>
                  </a:cxn>
                  <a:cxn ang="0">
                    <a:pos x="1824" y="534"/>
                  </a:cxn>
                  <a:cxn ang="0">
                    <a:pos x="1769" y="474"/>
                  </a:cxn>
                  <a:cxn ang="0">
                    <a:pos x="1753" y="436"/>
                  </a:cxn>
                  <a:cxn ang="0">
                    <a:pos x="1780" y="381"/>
                  </a:cxn>
                  <a:cxn ang="0">
                    <a:pos x="1862" y="316"/>
                  </a:cxn>
                  <a:cxn ang="0">
                    <a:pos x="1986" y="267"/>
                  </a:cxn>
                  <a:cxn ang="0">
                    <a:pos x="2149" y="229"/>
                  </a:cxn>
                  <a:cxn ang="0">
                    <a:pos x="2431" y="180"/>
                  </a:cxn>
                  <a:cxn ang="0">
                    <a:pos x="2827" y="125"/>
                  </a:cxn>
                  <a:cxn ang="0">
                    <a:pos x="3007" y="87"/>
                  </a:cxn>
                  <a:cxn ang="0">
                    <a:pos x="2909" y="22"/>
                  </a:cxn>
                  <a:cxn ang="0">
                    <a:pos x="2676" y="66"/>
                  </a:cxn>
                  <a:cxn ang="0">
                    <a:pos x="2285" y="120"/>
                  </a:cxn>
                  <a:cxn ang="0">
                    <a:pos x="2030" y="158"/>
                  </a:cxn>
                  <a:cxn ang="0">
                    <a:pos x="1791" y="202"/>
                  </a:cxn>
                  <a:cxn ang="0">
                    <a:pos x="1601" y="261"/>
                  </a:cxn>
                  <a:cxn ang="0">
                    <a:pos x="1471" y="338"/>
                  </a:cxn>
                  <a:cxn ang="0">
                    <a:pos x="1438" y="387"/>
                  </a:cxn>
                  <a:cxn ang="0">
                    <a:pos x="1427" y="441"/>
                  </a:cxn>
                </a:cxnLst>
                <a:rect l="0" t="0" r="r" b="b"/>
                <a:pathLst>
                  <a:path w="3007" h="2085">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lnTo>
                      <a:pt x="1427" y="441"/>
                    </a:lnTo>
                    <a:close/>
                  </a:path>
                </a:pathLst>
              </a:custGeom>
              <a:solidFill>
                <a:schemeClr val="bg1"/>
              </a:solidFill>
              <a:ln w="9525">
                <a:noFill/>
                <a:round/>
                <a:headEnd/>
                <a:tailEnd/>
              </a:ln>
            </p:spPr>
            <p:txBody>
              <a:bodyPr/>
              <a:lstStyle/>
              <a:p>
                <a:pPr>
                  <a:defRPr/>
                </a:pPr>
                <a:endParaRPr lang="en-US"/>
              </a:p>
            </p:txBody>
          </p:sp>
          <p:sp>
            <p:nvSpPr>
              <p:cNvPr id="12" name="Freeform 8"/>
              <p:cNvSpPr>
                <a:spLocks/>
              </p:cNvSpPr>
              <p:nvPr/>
            </p:nvSpPr>
            <p:spPr bwMode="hidden">
              <a:xfrm>
                <a:off x="4501" y="2317"/>
                <a:ext cx="1248" cy="539"/>
              </a:xfrm>
              <a:custGeom>
                <a:avLst/>
                <a:gdLst/>
                <a:ahLst/>
                <a:cxnLst>
                  <a:cxn ang="0">
                    <a:pos x="0" y="332"/>
                  </a:cxn>
                  <a:cxn ang="0">
                    <a:pos x="0" y="360"/>
                  </a:cxn>
                  <a:cxn ang="0">
                    <a:pos x="5" y="387"/>
                  </a:cxn>
                  <a:cxn ang="0">
                    <a:pos x="27" y="414"/>
                  </a:cxn>
                  <a:cxn ang="0">
                    <a:pos x="54" y="436"/>
                  </a:cxn>
                  <a:cxn ang="0">
                    <a:pos x="92" y="463"/>
                  </a:cxn>
                  <a:cxn ang="0">
                    <a:pos x="141" y="490"/>
                  </a:cxn>
                  <a:cxn ang="0">
                    <a:pos x="195" y="512"/>
                  </a:cxn>
                  <a:cxn ang="0">
                    <a:pos x="255" y="539"/>
                  </a:cxn>
                  <a:cxn ang="0">
                    <a:pos x="212" y="517"/>
                  </a:cxn>
                  <a:cxn ang="0">
                    <a:pos x="179" y="490"/>
                  </a:cxn>
                  <a:cxn ang="0">
                    <a:pos x="157" y="468"/>
                  </a:cxn>
                  <a:cxn ang="0">
                    <a:pos x="141" y="447"/>
                  </a:cxn>
                  <a:cxn ang="0">
                    <a:pos x="136" y="425"/>
                  </a:cxn>
                  <a:cxn ang="0">
                    <a:pos x="136" y="403"/>
                  </a:cxn>
                  <a:cxn ang="0">
                    <a:pos x="141" y="381"/>
                  </a:cxn>
                  <a:cxn ang="0">
                    <a:pos x="157" y="365"/>
                  </a:cxn>
                  <a:cxn ang="0">
                    <a:pos x="179" y="343"/>
                  </a:cxn>
                  <a:cxn ang="0">
                    <a:pos x="201" y="327"/>
                  </a:cxn>
                  <a:cxn ang="0">
                    <a:pos x="266" y="294"/>
                  </a:cxn>
                  <a:cxn ang="0">
                    <a:pos x="353" y="262"/>
                  </a:cxn>
                  <a:cxn ang="0">
                    <a:pos x="445" y="234"/>
                  </a:cxn>
                  <a:cxn ang="0">
                    <a:pos x="554" y="213"/>
                  </a:cxn>
                  <a:cxn ang="0">
                    <a:pos x="662" y="191"/>
                  </a:cxn>
                  <a:cxn ang="0">
                    <a:pos x="890" y="153"/>
                  </a:cxn>
                  <a:cxn ang="0">
                    <a:pos x="993" y="136"/>
                  </a:cxn>
                  <a:cxn ang="0">
                    <a:pos x="1091" y="120"/>
                  </a:cxn>
                  <a:cxn ang="0">
                    <a:pos x="1178" y="115"/>
                  </a:cxn>
                  <a:cxn ang="0">
                    <a:pos x="1248" y="104"/>
                  </a:cxn>
                  <a:cxn ang="0">
                    <a:pos x="1248" y="0"/>
                  </a:cxn>
                  <a:cxn ang="0">
                    <a:pos x="1161" y="22"/>
                  </a:cxn>
                  <a:cxn ang="0">
                    <a:pos x="1069" y="38"/>
                  </a:cxn>
                  <a:cxn ang="0">
                    <a:pos x="874" y="71"/>
                  </a:cxn>
                  <a:cxn ang="0">
                    <a:pos x="673" y="93"/>
                  </a:cxn>
                  <a:cxn ang="0">
                    <a:pos x="483" y="126"/>
                  </a:cxn>
                  <a:cxn ang="0">
                    <a:pos x="391" y="142"/>
                  </a:cxn>
                  <a:cxn ang="0">
                    <a:pos x="309" y="158"/>
                  </a:cxn>
                  <a:cxn ang="0">
                    <a:pos x="228" y="180"/>
                  </a:cxn>
                  <a:cxn ang="0">
                    <a:pos x="163" y="202"/>
                  </a:cxn>
                  <a:cxn ang="0">
                    <a:pos x="103" y="229"/>
                  </a:cxn>
                  <a:cxn ang="0">
                    <a:pos x="54" y="256"/>
                  </a:cxn>
                  <a:cxn ang="0">
                    <a:pos x="22" y="294"/>
                  </a:cxn>
                  <a:cxn ang="0">
                    <a:pos x="0" y="332"/>
                  </a:cxn>
                  <a:cxn ang="0">
                    <a:pos x="0" y="332"/>
                  </a:cxn>
                </a:cxnLst>
                <a:rect l="0" t="0" r="r" b="b"/>
                <a:pathLst>
                  <a:path w="1248" h="539">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rotWithShape="0">
                <a:gsLst>
                  <a:gs pos="0">
                    <a:schemeClr val="bg1">
                      <a:gamma/>
                      <a:shade val="87843"/>
                      <a:invGamma/>
                    </a:schemeClr>
                  </a:gs>
                  <a:gs pos="100000">
                    <a:schemeClr val="bg1"/>
                  </a:gs>
                </a:gsLst>
                <a:lin ang="2700000" scaled="1"/>
              </a:gradFill>
              <a:ln w="9525">
                <a:noFill/>
                <a:round/>
                <a:headEnd/>
                <a:tailEnd/>
              </a:ln>
            </p:spPr>
            <p:txBody>
              <a:bodyPr/>
              <a:lstStyle/>
              <a:p>
                <a:pPr>
                  <a:defRPr/>
                </a:pPr>
                <a:endParaRPr lang="en-US"/>
              </a:p>
            </p:txBody>
          </p:sp>
        </p:grpSp>
        <p:sp>
          <p:nvSpPr>
            <p:cNvPr id="6" name="Freeform 9"/>
            <p:cNvSpPr>
              <a:spLocks/>
            </p:cNvSpPr>
            <p:nvPr/>
          </p:nvSpPr>
          <p:spPr bwMode="hidden">
            <a:xfrm>
              <a:off x="3322" y="1341"/>
              <a:ext cx="1825" cy="1537"/>
            </a:xfrm>
            <a:custGeom>
              <a:avLst/>
              <a:gdLst/>
              <a:ahLst/>
              <a:cxnLst>
                <a:cxn ang="0">
                  <a:pos x="982" y="1061"/>
                </a:cxn>
                <a:cxn ang="0">
                  <a:pos x="1357" y="1012"/>
                </a:cxn>
                <a:cxn ang="0">
                  <a:pos x="1666" y="957"/>
                </a:cxn>
                <a:cxn ang="0">
                  <a:pos x="1916" y="897"/>
                </a:cxn>
                <a:cxn ang="0">
                  <a:pos x="2100" y="832"/>
                </a:cxn>
                <a:cxn ang="0">
                  <a:pos x="2220" y="756"/>
                </a:cxn>
                <a:cxn ang="0">
                  <a:pos x="2285" y="669"/>
                </a:cxn>
                <a:cxn ang="0">
                  <a:pos x="2290" y="560"/>
                </a:cxn>
                <a:cxn ang="0">
                  <a:pos x="2241" y="457"/>
                </a:cxn>
                <a:cxn ang="0">
                  <a:pos x="2144" y="364"/>
                </a:cxn>
                <a:cxn ang="0">
                  <a:pos x="2008" y="277"/>
                </a:cxn>
                <a:cxn ang="0">
                  <a:pos x="1769" y="157"/>
                </a:cxn>
                <a:cxn ang="0">
                  <a:pos x="1612" y="92"/>
                </a:cxn>
                <a:cxn ang="0">
                  <a:pos x="1476" y="43"/>
                </a:cxn>
                <a:cxn ang="0">
                  <a:pos x="1384" y="10"/>
                </a:cxn>
                <a:cxn ang="0">
                  <a:pos x="1346" y="0"/>
                </a:cxn>
                <a:cxn ang="0">
                  <a:pos x="1655" y="119"/>
                </a:cxn>
                <a:cxn ang="0">
                  <a:pos x="1948" y="255"/>
                </a:cxn>
                <a:cxn ang="0">
                  <a:pos x="2068" y="326"/>
                </a:cxn>
                <a:cxn ang="0">
                  <a:pos x="2171" y="402"/>
                </a:cxn>
                <a:cxn ang="0">
                  <a:pos x="2236" y="478"/>
                </a:cxn>
                <a:cxn ang="0">
                  <a:pos x="2263" y="560"/>
                </a:cxn>
                <a:cxn ang="0">
                  <a:pos x="2241" y="636"/>
                </a:cxn>
                <a:cxn ang="0">
                  <a:pos x="2171" y="702"/>
                </a:cxn>
                <a:cxn ang="0">
                  <a:pos x="2062" y="756"/>
                </a:cxn>
                <a:cxn ang="0">
                  <a:pos x="1921" y="800"/>
                </a:cxn>
                <a:cxn ang="0">
                  <a:pos x="1748" y="843"/>
                </a:cxn>
                <a:cxn ang="0">
                  <a:pos x="1351" y="908"/>
                </a:cxn>
                <a:cxn ang="0">
                  <a:pos x="923" y="968"/>
                </a:cxn>
                <a:cxn ang="0">
                  <a:pos x="521" y="1028"/>
                </a:cxn>
                <a:cxn ang="0">
                  <a:pos x="353" y="1066"/>
                </a:cxn>
                <a:cxn ang="0">
                  <a:pos x="206" y="1104"/>
                </a:cxn>
                <a:cxn ang="0">
                  <a:pos x="92" y="1148"/>
                </a:cxn>
                <a:cxn ang="0">
                  <a:pos x="22" y="1202"/>
                </a:cxn>
                <a:cxn ang="0">
                  <a:pos x="0" y="1262"/>
                </a:cxn>
                <a:cxn ang="0">
                  <a:pos x="27" y="1327"/>
                </a:cxn>
                <a:cxn ang="0">
                  <a:pos x="98" y="1382"/>
                </a:cxn>
                <a:cxn ang="0">
                  <a:pos x="196" y="1425"/>
                </a:cxn>
                <a:cxn ang="0">
                  <a:pos x="326" y="1469"/>
                </a:cxn>
                <a:cxn ang="0">
                  <a:pos x="217" y="1414"/>
                </a:cxn>
                <a:cxn ang="0">
                  <a:pos x="147" y="1360"/>
                </a:cxn>
                <a:cxn ang="0">
                  <a:pos x="120" y="1306"/>
                </a:cxn>
                <a:cxn ang="0">
                  <a:pos x="141" y="1257"/>
                </a:cxn>
                <a:cxn ang="0">
                  <a:pos x="212" y="1208"/>
                </a:cxn>
                <a:cxn ang="0">
                  <a:pos x="342" y="1164"/>
                </a:cxn>
                <a:cxn ang="0">
                  <a:pos x="527" y="1121"/>
                </a:cxn>
                <a:cxn ang="0">
                  <a:pos x="771" y="1088"/>
                </a:cxn>
              </a:cxnLst>
              <a:rect l="0" t="0" r="r" b="b"/>
              <a:pathLst>
                <a:path w="2296" h="1469">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rotWithShape="0">
              <a:gsLst>
                <a:gs pos="0">
                  <a:schemeClr val="bg1">
                    <a:gamma/>
                    <a:shade val="84706"/>
                    <a:invGamma/>
                  </a:schemeClr>
                </a:gs>
                <a:gs pos="100000">
                  <a:schemeClr val="bg1"/>
                </a:gs>
              </a:gsLst>
              <a:lin ang="2700000" scaled="1"/>
            </a:gradFill>
            <a:ln w="9525">
              <a:noFill/>
              <a:round/>
              <a:headEnd/>
              <a:tailEnd/>
            </a:ln>
          </p:spPr>
          <p:txBody>
            <a:bodyPr/>
            <a:lstStyle/>
            <a:p>
              <a:pPr>
                <a:defRPr/>
              </a:pPr>
              <a:endParaRPr lang="en-US"/>
            </a:p>
          </p:txBody>
        </p:sp>
        <p:sp>
          <p:nvSpPr>
            <p:cNvPr id="7" name="Freeform 10"/>
            <p:cNvSpPr>
              <a:spLocks/>
            </p:cNvSpPr>
            <p:nvPr/>
          </p:nvSpPr>
          <p:spPr bwMode="hidden">
            <a:xfrm>
              <a:off x="0" y="0"/>
              <a:ext cx="5758" cy="1776"/>
            </a:xfrm>
            <a:custGeom>
              <a:avLst/>
              <a:gdLst/>
              <a:ahLst/>
              <a:cxnLst>
                <a:cxn ang="0">
                  <a:pos x="0" y="0"/>
                </a:cxn>
                <a:cxn ang="0">
                  <a:pos x="0" y="1906"/>
                </a:cxn>
                <a:cxn ang="0">
                  <a:pos x="5740" y="1906"/>
                </a:cxn>
                <a:cxn ang="0">
                  <a:pos x="5740" y="0"/>
                </a:cxn>
                <a:cxn ang="0">
                  <a:pos x="0" y="0"/>
                </a:cxn>
                <a:cxn ang="0">
                  <a:pos x="0" y="0"/>
                </a:cxn>
              </a:cxnLst>
              <a:rect l="0" t="0" r="r" b="b"/>
              <a:pathLst>
                <a:path w="5740" h="1906">
                  <a:moveTo>
                    <a:pt x="0" y="0"/>
                  </a:moveTo>
                  <a:lnTo>
                    <a:pt x="0" y="1906"/>
                  </a:lnTo>
                  <a:lnTo>
                    <a:pt x="5740" y="1906"/>
                  </a:lnTo>
                  <a:lnTo>
                    <a:pt x="5740" y="0"/>
                  </a:lnTo>
                  <a:lnTo>
                    <a:pt x="0" y="0"/>
                  </a:lnTo>
                  <a:lnTo>
                    <a:pt x="0" y="0"/>
                  </a:lnTo>
                  <a:close/>
                </a:path>
              </a:pathLst>
            </a:custGeom>
            <a:gradFill rotWithShape="0">
              <a:gsLst>
                <a:gs pos="0">
                  <a:schemeClr val="bg2"/>
                </a:gs>
                <a:gs pos="100000">
                  <a:schemeClr val="bg1"/>
                </a:gs>
              </a:gsLst>
              <a:lin ang="5400000" scaled="1"/>
            </a:gradFill>
            <a:ln w="9525">
              <a:noFill/>
              <a:round/>
              <a:headEnd/>
              <a:tailEnd/>
            </a:ln>
          </p:spPr>
          <p:txBody>
            <a:bodyPr/>
            <a:lstStyle/>
            <a:p>
              <a:pPr>
                <a:defRPr/>
              </a:pPr>
              <a:endParaRPr lang="en-US"/>
            </a:p>
          </p:txBody>
        </p:sp>
      </p:grpSp>
      <p:sp>
        <p:nvSpPr>
          <p:cNvPr id="41995" name="Rectangle 11"/>
          <p:cNvSpPr>
            <a:spLocks noGrp="1" noChangeArrowheads="1"/>
          </p:cNvSpPr>
          <p:nvPr>
            <p:ph type="ctrTitle" sz="quarter"/>
          </p:nvPr>
        </p:nvSpPr>
        <p:spPr>
          <a:xfrm>
            <a:off x="685800" y="1736725"/>
            <a:ext cx="7772400" cy="1920875"/>
          </a:xfrm>
        </p:spPr>
        <p:txBody>
          <a:bodyPr/>
          <a:lstStyle>
            <a:lvl1pPr>
              <a:defRPr sz="6000"/>
            </a:lvl1pPr>
          </a:lstStyle>
          <a:p>
            <a:r>
              <a:rPr lang="en-US" smtClean="0"/>
              <a:t>Click to edit Master title style</a:t>
            </a:r>
            <a:endParaRPr lang="en-US"/>
          </a:p>
        </p:txBody>
      </p:sp>
      <p:sp>
        <p:nvSpPr>
          <p:cNvPr id="41996" name="Rectangle 12"/>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r>
              <a:rPr lang="en-US" smtClean="0"/>
              <a:t>Click to edit Master subtitle style</a:t>
            </a:r>
            <a:endParaRPr lang="en-US"/>
          </a:p>
        </p:txBody>
      </p:sp>
      <p:sp>
        <p:nvSpPr>
          <p:cNvPr id="13" name="Rectangle 13"/>
          <p:cNvSpPr>
            <a:spLocks noGrp="1" noChangeArrowheads="1"/>
          </p:cNvSpPr>
          <p:nvPr>
            <p:ph type="dt" sz="quarter" idx="10"/>
          </p:nvPr>
        </p:nvSpPr>
        <p:spPr>
          <a:xfrm>
            <a:off x="457200" y="6248400"/>
            <a:ext cx="2133600" cy="476250"/>
          </a:xfrm>
        </p:spPr>
        <p:txBody>
          <a:bodyPr/>
          <a:lstStyle>
            <a:lvl1pPr>
              <a:defRPr smtClean="0"/>
            </a:lvl1pPr>
          </a:lstStyle>
          <a:p>
            <a:fld id="{A165304B-2F39-4493-96D2-8B6900CE8D88}" type="datetime1">
              <a:rPr lang="en-US" smtClean="0"/>
              <a:pPr/>
              <a:t>11-Jun-16</a:t>
            </a:fld>
            <a:endParaRPr lang="en-US"/>
          </a:p>
        </p:txBody>
      </p:sp>
      <p:sp>
        <p:nvSpPr>
          <p:cNvPr id="14" name="Rectangle 14"/>
          <p:cNvSpPr>
            <a:spLocks noGrp="1" noChangeArrowheads="1"/>
          </p:cNvSpPr>
          <p:nvPr>
            <p:ph type="ftr" sz="quarter" idx="11"/>
          </p:nvPr>
        </p:nvSpPr>
        <p:spPr>
          <a:xfrm>
            <a:off x="3124200" y="6251575"/>
            <a:ext cx="2895600" cy="476250"/>
          </a:xfrm>
        </p:spPr>
        <p:txBody>
          <a:bodyPr/>
          <a:lstStyle>
            <a:lvl1pPr>
              <a:defRPr smtClean="0"/>
            </a:lvl1pPr>
          </a:lstStyle>
          <a:p>
            <a:endParaRPr lang="en-US"/>
          </a:p>
        </p:txBody>
      </p:sp>
      <p:sp>
        <p:nvSpPr>
          <p:cNvPr id="15" name="Rectangle 15"/>
          <p:cNvSpPr>
            <a:spLocks noGrp="1" noChangeArrowheads="1"/>
          </p:cNvSpPr>
          <p:nvPr>
            <p:ph type="sldNum" sz="quarter" idx="12"/>
          </p:nvPr>
        </p:nvSpPr>
        <p:spPr>
          <a:xfrm>
            <a:off x="6553200" y="6254750"/>
            <a:ext cx="2133600" cy="476250"/>
          </a:xfrm>
        </p:spPr>
        <p:txBody>
          <a:bodyPr/>
          <a:lstStyle>
            <a:lvl1pPr>
              <a:defRPr smtClean="0"/>
            </a:lvl1pPr>
          </a:lstStyle>
          <a:p>
            <a:fld id="{340D1AEE-C263-4C84-AC27-F8F5EA3F37E8}"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2"/>
          <p:cNvSpPr>
            <a:spLocks noGrp="1" noChangeArrowheads="1"/>
          </p:cNvSpPr>
          <p:nvPr>
            <p:ph type="dt" sz="half" idx="10"/>
          </p:nvPr>
        </p:nvSpPr>
        <p:spPr>
          <a:ln/>
        </p:spPr>
        <p:txBody>
          <a:bodyPr/>
          <a:lstStyle>
            <a:lvl1pPr>
              <a:defRPr/>
            </a:lvl1pPr>
          </a:lstStyle>
          <a:p>
            <a:fld id="{E10CB6AF-C757-4AAB-BA64-FD0B4877513B}" type="datetime1">
              <a:rPr lang="en-US" smtClean="0"/>
              <a:pPr/>
              <a:t>11-Jun-16</a:t>
            </a:fld>
            <a:endParaRPr lang="en-US"/>
          </a:p>
        </p:txBody>
      </p:sp>
      <p:sp>
        <p:nvSpPr>
          <p:cNvPr id="5" name="Rectangle 3"/>
          <p:cNvSpPr>
            <a:spLocks noGrp="1" noChangeArrowheads="1"/>
          </p:cNvSpPr>
          <p:nvPr>
            <p:ph type="sldNum" sz="quarter" idx="11"/>
          </p:nvPr>
        </p:nvSpPr>
        <p:spPr>
          <a:ln/>
        </p:spPr>
        <p:txBody>
          <a:bodyPr/>
          <a:lstStyle>
            <a:lvl1pPr>
              <a:defRPr/>
            </a:lvl1pPr>
          </a:lstStyle>
          <a:p>
            <a:fld id="{340D1AEE-C263-4C84-AC27-F8F5EA3F37E8}" type="slidenum">
              <a:rPr lang="en-US" smtClean="0"/>
              <a:pPr/>
              <a:t>‹#›</a:t>
            </a:fld>
            <a:endParaRPr lang="en-US"/>
          </a:p>
        </p:txBody>
      </p:sp>
      <p:sp>
        <p:nvSpPr>
          <p:cNvPr id="6" name="Rectangle 14"/>
          <p:cNvSpPr>
            <a:spLocks noGrp="1" noChangeArrowheads="1"/>
          </p:cNvSpPr>
          <p:nvPr>
            <p:ph type="ftr" sz="quarter" idx="12"/>
          </p:nvPr>
        </p:nvSpPr>
        <p:spPr>
          <a:ln/>
        </p:spPr>
        <p:txBody>
          <a:bodyPr/>
          <a:lstStyle>
            <a:lvl1pPr>
              <a:defRPr/>
            </a:lvl1pPr>
          </a:lstStyle>
          <a:p>
            <a:endParaRPr 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2"/>
          <p:cNvSpPr>
            <a:spLocks noGrp="1" noChangeArrowheads="1"/>
          </p:cNvSpPr>
          <p:nvPr>
            <p:ph type="dt" sz="half" idx="10"/>
          </p:nvPr>
        </p:nvSpPr>
        <p:spPr>
          <a:ln/>
        </p:spPr>
        <p:txBody>
          <a:bodyPr/>
          <a:lstStyle>
            <a:lvl1pPr>
              <a:defRPr/>
            </a:lvl1pPr>
          </a:lstStyle>
          <a:p>
            <a:fld id="{3323CE42-D7AB-4B87-A409-33B25815DDFB}" type="datetime1">
              <a:rPr lang="en-US" smtClean="0"/>
              <a:pPr/>
              <a:t>11-Jun-16</a:t>
            </a:fld>
            <a:endParaRPr lang="en-US"/>
          </a:p>
        </p:txBody>
      </p:sp>
      <p:sp>
        <p:nvSpPr>
          <p:cNvPr id="5" name="Rectangle 3"/>
          <p:cNvSpPr>
            <a:spLocks noGrp="1" noChangeArrowheads="1"/>
          </p:cNvSpPr>
          <p:nvPr>
            <p:ph type="sldNum" sz="quarter" idx="11"/>
          </p:nvPr>
        </p:nvSpPr>
        <p:spPr>
          <a:ln/>
        </p:spPr>
        <p:txBody>
          <a:bodyPr/>
          <a:lstStyle>
            <a:lvl1pPr>
              <a:defRPr/>
            </a:lvl1pPr>
          </a:lstStyle>
          <a:p>
            <a:fld id="{340D1AEE-C263-4C84-AC27-F8F5EA3F37E8}" type="slidenum">
              <a:rPr lang="en-US" smtClean="0"/>
              <a:pPr/>
              <a:t>‹#›</a:t>
            </a:fld>
            <a:endParaRPr lang="en-US"/>
          </a:p>
        </p:txBody>
      </p:sp>
      <p:sp>
        <p:nvSpPr>
          <p:cNvPr id="6" name="Rectangle 14"/>
          <p:cNvSpPr>
            <a:spLocks noGrp="1" noChangeArrowheads="1"/>
          </p:cNvSpPr>
          <p:nvPr>
            <p:ph type="ftr" sz="quarter" idx="12"/>
          </p:nvPr>
        </p:nvSpPr>
        <p:spPr>
          <a:ln/>
        </p:spPr>
        <p:txBody>
          <a:bodyPr/>
          <a:lstStyle>
            <a:lvl1pPr>
              <a:defRPr/>
            </a:lvl1pPr>
          </a:lstStyle>
          <a:p>
            <a:endParaRPr 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2"/>
          <p:cNvSpPr>
            <a:spLocks noGrp="1" noChangeArrowheads="1"/>
          </p:cNvSpPr>
          <p:nvPr>
            <p:ph type="dt" sz="half" idx="10"/>
          </p:nvPr>
        </p:nvSpPr>
        <p:spPr>
          <a:ln/>
        </p:spPr>
        <p:txBody>
          <a:bodyPr/>
          <a:lstStyle>
            <a:lvl1pPr>
              <a:defRPr/>
            </a:lvl1pPr>
          </a:lstStyle>
          <a:p>
            <a:fld id="{E0CB7A99-2E20-4940-8C9D-7AD0451DF5EB}" type="datetime1">
              <a:rPr lang="en-US" smtClean="0"/>
              <a:pPr/>
              <a:t>11-Jun-16</a:t>
            </a:fld>
            <a:endParaRPr lang="en-US"/>
          </a:p>
        </p:txBody>
      </p:sp>
      <p:sp>
        <p:nvSpPr>
          <p:cNvPr id="6" name="Rectangle 3"/>
          <p:cNvSpPr>
            <a:spLocks noGrp="1" noChangeArrowheads="1"/>
          </p:cNvSpPr>
          <p:nvPr>
            <p:ph type="sldNum" sz="quarter" idx="11"/>
          </p:nvPr>
        </p:nvSpPr>
        <p:spPr>
          <a:ln/>
        </p:spPr>
        <p:txBody>
          <a:bodyPr/>
          <a:lstStyle>
            <a:lvl1pPr>
              <a:defRPr/>
            </a:lvl1pPr>
          </a:lstStyle>
          <a:p>
            <a:fld id="{340D1AEE-C263-4C84-AC27-F8F5EA3F37E8}" type="slidenum">
              <a:rPr lang="en-US" smtClean="0"/>
              <a:pPr/>
              <a:t>‹#›</a:t>
            </a:fld>
            <a:endParaRPr lang="en-US"/>
          </a:p>
        </p:txBody>
      </p:sp>
      <p:sp>
        <p:nvSpPr>
          <p:cNvPr id="7" name="Rectangle 14"/>
          <p:cNvSpPr>
            <a:spLocks noGrp="1" noChangeArrowheads="1"/>
          </p:cNvSpPr>
          <p:nvPr>
            <p:ph type="ftr" sz="quarter" idx="12"/>
          </p:nvPr>
        </p:nvSpPr>
        <p:spPr>
          <a:ln/>
        </p:spPr>
        <p:txBody>
          <a:bodyPr/>
          <a:lstStyle>
            <a:lvl1pPr>
              <a:defRPr/>
            </a:lvl1pPr>
          </a:lstStyle>
          <a:p>
            <a:endParaRPr 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2"/>
          <p:cNvSpPr>
            <a:spLocks noGrp="1" noChangeArrowheads="1"/>
          </p:cNvSpPr>
          <p:nvPr>
            <p:ph type="dt" sz="half" idx="10"/>
          </p:nvPr>
        </p:nvSpPr>
        <p:spPr>
          <a:ln/>
        </p:spPr>
        <p:txBody>
          <a:bodyPr/>
          <a:lstStyle>
            <a:lvl1pPr>
              <a:defRPr/>
            </a:lvl1pPr>
          </a:lstStyle>
          <a:p>
            <a:fld id="{6EC7CBC4-43DC-4BD9-9927-657B242B1FBF}" type="datetime1">
              <a:rPr lang="en-US" smtClean="0"/>
              <a:pPr/>
              <a:t>11-Jun-16</a:t>
            </a:fld>
            <a:endParaRPr lang="en-US"/>
          </a:p>
        </p:txBody>
      </p:sp>
      <p:sp>
        <p:nvSpPr>
          <p:cNvPr id="8" name="Rectangle 3"/>
          <p:cNvSpPr>
            <a:spLocks noGrp="1" noChangeArrowheads="1"/>
          </p:cNvSpPr>
          <p:nvPr>
            <p:ph type="sldNum" sz="quarter" idx="11"/>
          </p:nvPr>
        </p:nvSpPr>
        <p:spPr>
          <a:ln/>
        </p:spPr>
        <p:txBody>
          <a:bodyPr/>
          <a:lstStyle>
            <a:lvl1pPr>
              <a:defRPr/>
            </a:lvl1pPr>
          </a:lstStyle>
          <a:p>
            <a:fld id="{340D1AEE-C263-4C84-AC27-F8F5EA3F37E8}" type="slidenum">
              <a:rPr lang="en-US" smtClean="0"/>
              <a:pPr/>
              <a:t>‹#›</a:t>
            </a:fld>
            <a:endParaRPr lang="en-US"/>
          </a:p>
        </p:txBody>
      </p:sp>
      <p:sp>
        <p:nvSpPr>
          <p:cNvPr id="9" name="Rectangle 14"/>
          <p:cNvSpPr>
            <a:spLocks noGrp="1" noChangeArrowheads="1"/>
          </p:cNvSpPr>
          <p:nvPr>
            <p:ph type="ftr" sz="quarter" idx="12"/>
          </p:nvPr>
        </p:nvSpPr>
        <p:spPr>
          <a:ln/>
        </p:spPr>
        <p:txBody>
          <a:bodyPr/>
          <a:lstStyle>
            <a:lvl1pPr>
              <a:defRPr/>
            </a:lvl1pPr>
          </a:lstStyle>
          <a:p>
            <a:endParaRPr 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2"/>
          <p:cNvSpPr>
            <a:spLocks noGrp="1" noChangeArrowheads="1"/>
          </p:cNvSpPr>
          <p:nvPr>
            <p:ph type="dt" sz="half" idx="10"/>
          </p:nvPr>
        </p:nvSpPr>
        <p:spPr>
          <a:ln/>
        </p:spPr>
        <p:txBody>
          <a:bodyPr/>
          <a:lstStyle>
            <a:lvl1pPr>
              <a:defRPr/>
            </a:lvl1pPr>
          </a:lstStyle>
          <a:p>
            <a:fld id="{FD8E9E04-10B5-4660-941C-D1FFD4497D2D}" type="datetime1">
              <a:rPr lang="en-US" smtClean="0"/>
              <a:pPr/>
              <a:t>11-Jun-16</a:t>
            </a:fld>
            <a:endParaRPr lang="en-US"/>
          </a:p>
        </p:txBody>
      </p:sp>
      <p:sp>
        <p:nvSpPr>
          <p:cNvPr id="4" name="Rectangle 3"/>
          <p:cNvSpPr>
            <a:spLocks noGrp="1" noChangeArrowheads="1"/>
          </p:cNvSpPr>
          <p:nvPr>
            <p:ph type="sldNum" sz="quarter" idx="11"/>
          </p:nvPr>
        </p:nvSpPr>
        <p:spPr>
          <a:ln/>
        </p:spPr>
        <p:txBody>
          <a:bodyPr/>
          <a:lstStyle>
            <a:lvl1pPr>
              <a:defRPr/>
            </a:lvl1pPr>
          </a:lstStyle>
          <a:p>
            <a:fld id="{340D1AEE-C263-4C84-AC27-F8F5EA3F37E8}" type="slidenum">
              <a:rPr lang="en-US" smtClean="0"/>
              <a:pPr/>
              <a:t>‹#›</a:t>
            </a:fld>
            <a:endParaRPr lang="en-US"/>
          </a:p>
        </p:txBody>
      </p:sp>
      <p:sp>
        <p:nvSpPr>
          <p:cNvPr id="5" name="Rectangle 14"/>
          <p:cNvSpPr>
            <a:spLocks noGrp="1" noChangeArrowheads="1"/>
          </p:cNvSpPr>
          <p:nvPr>
            <p:ph type="ftr" sz="quarter" idx="12"/>
          </p:nvPr>
        </p:nvSpPr>
        <p:spPr>
          <a:ln/>
        </p:spPr>
        <p:txBody>
          <a:bodyPr/>
          <a:lstStyle>
            <a:lvl1pPr>
              <a:defRPr/>
            </a:lvl1pPr>
          </a:lstStyle>
          <a:p>
            <a:endParaRPr 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p:cNvSpPr>
            <a:spLocks noGrp="1" noChangeArrowheads="1"/>
          </p:cNvSpPr>
          <p:nvPr>
            <p:ph type="dt" sz="half" idx="10"/>
          </p:nvPr>
        </p:nvSpPr>
        <p:spPr>
          <a:ln/>
        </p:spPr>
        <p:txBody>
          <a:bodyPr/>
          <a:lstStyle>
            <a:lvl1pPr>
              <a:defRPr/>
            </a:lvl1pPr>
          </a:lstStyle>
          <a:p>
            <a:fld id="{1BB3FA9A-26EB-417B-829E-5E7F97AA09DF}" type="datetime1">
              <a:rPr lang="en-US" smtClean="0"/>
              <a:pPr/>
              <a:t>11-Jun-16</a:t>
            </a:fld>
            <a:endParaRPr lang="en-US"/>
          </a:p>
        </p:txBody>
      </p:sp>
      <p:sp>
        <p:nvSpPr>
          <p:cNvPr id="3" name="Rectangle 3"/>
          <p:cNvSpPr>
            <a:spLocks noGrp="1" noChangeArrowheads="1"/>
          </p:cNvSpPr>
          <p:nvPr>
            <p:ph type="sldNum" sz="quarter" idx="11"/>
          </p:nvPr>
        </p:nvSpPr>
        <p:spPr>
          <a:ln/>
        </p:spPr>
        <p:txBody>
          <a:bodyPr/>
          <a:lstStyle>
            <a:lvl1pPr>
              <a:defRPr/>
            </a:lvl1pPr>
          </a:lstStyle>
          <a:p>
            <a:fld id="{340D1AEE-C263-4C84-AC27-F8F5EA3F37E8}" type="slidenum">
              <a:rPr lang="en-US" smtClean="0"/>
              <a:pPr/>
              <a:t>‹#›</a:t>
            </a:fld>
            <a:endParaRPr lang="en-US"/>
          </a:p>
        </p:txBody>
      </p:sp>
      <p:sp>
        <p:nvSpPr>
          <p:cNvPr id="4" name="Rectangle 14"/>
          <p:cNvSpPr>
            <a:spLocks noGrp="1" noChangeArrowheads="1"/>
          </p:cNvSpPr>
          <p:nvPr>
            <p:ph type="ftr" sz="quarter" idx="12"/>
          </p:nvPr>
        </p:nvSpPr>
        <p:spPr>
          <a:ln/>
        </p:spPr>
        <p:txBody>
          <a:bodyPr/>
          <a:lstStyle>
            <a:lvl1pPr>
              <a:defRPr/>
            </a:lvl1pPr>
          </a:lstStyle>
          <a:p>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2"/>
          <p:cNvSpPr>
            <a:spLocks noGrp="1" noChangeArrowheads="1"/>
          </p:cNvSpPr>
          <p:nvPr>
            <p:ph type="dt" sz="half" idx="10"/>
          </p:nvPr>
        </p:nvSpPr>
        <p:spPr>
          <a:ln/>
        </p:spPr>
        <p:txBody>
          <a:bodyPr/>
          <a:lstStyle>
            <a:lvl1pPr>
              <a:defRPr/>
            </a:lvl1pPr>
          </a:lstStyle>
          <a:p>
            <a:fld id="{5CD21601-EB45-4AAB-B31F-5DEEDC95C078}" type="datetime1">
              <a:rPr lang="en-US" smtClean="0"/>
              <a:pPr/>
              <a:t>11-Jun-16</a:t>
            </a:fld>
            <a:endParaRPr lang="en-US"/>
          </a:p>
        </p:txBody>
      </p:sp>
      <p:sp>
        <p:nvSpPr>
          <p:cNvPr id="6" name="Rectangle 3"/>
          <p:cNvSpPr>
            <a:spLocks noGrp="1" noChangeArrowheads="1"/>
          </p:cNvSpPr>
          <p:nvPr>
            <p:ph type="sldNum" sz="quarter" idx="11"/>
          </p:nvPr>
        </p:nvSpPr>
        <p:spPr>
          <a:ln/>
        </p:spPr>
        <p:txBody>
          <a:bodyPr/>
          <a:lstStyle>
            <a:lvl1pPr>
              <a:defRPr/>
            </a:lvl1pPr>
          </a:lstStyle>
          <a:p>
            <a:fld id="{340D1AEE-C263-4C84-AC27-F8F5EA3F37E8}" type="slidenum">
              <a:rPr lang="en-US" smtClean="0"/>
              <a:pPr/>
              <a:t>‹#›</a:t>
            </a:fld>
            <a:endParaRPr lang="en-US"/>
          </a:p>
        </p:txBody>
      </p:sp>
      <p:sp>
        <p:nvSpPr>
          <p:cNvPr id="7" name="Rectangle 14"/>
          <p:cNvSpPr>
            <a:spLocks noGrp="1" noChangeArrowheads="1"/>
          </p:cNvSpPr>
          <p:nvPr>
            <p:ph type="ftr" sz="quarter" idx="12"/>
          </p:nvPr>
        </p:nvSpPr>
        <p:spPr>
          <a:ln/>
        </p:spPr>
        <p:txBody>
          <a:bodyPr/>
          <a:lstStyle>
            <a:lvl1pPr>
              <a:defRPr/>
            </a:lvl1pPr>
          </a:lstStyle>
          <a:p>
            <a:endParaRPr 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2"/>
          <p:cNvSpPr>
            <a:spLocks noGrp="1" noChangeArrowheads="1"/>
          </p:cNvSpPr>
          <p:nvPr>
            <p:ph type="dt" sz="half" idx="10"/>
          </p:nvPr>
        </p:nvSpPr>
        <p:spPr>
          <a:ln/>
        </p:spPr>
        <p:txBody>
          <a:bodyPr/>
          <a:lstStyle>
            <a:lvl1pPr>
              <a:defRPr/>
            </a:lvl1pPr>
          </a:lstStyle>
          <a:p>
            <a:fld id="{233F5013-5D3F-4201-B772-73B4177F359B}" type="datetime1">
              <a:rPr lang="en-US" smtClean="0"/>
              <a:pPr/>
              <a:t>11-Jun-16</a:t>
            </a:fld>
            <a:endParaRPr lang="en-US"/>
          </a:p>
        </p:txBody>
      </p:sp>
      <p:sp>
        <p:nvSpPr>
          <p:cNvPr id="6" name="Rectangle 3"/>
          <p:cNvSpPr>
            <a:spLocks noGrp="1" noChangeArrowheads="1"/>
          </p:cNvSpPr>
          <p:nvPr>
            <p:ph type="sldNum" sz="quarter" idx="11"/>
          </p:nvPr>
        </p:nvSpPr>
        <p:spPr>
          <a:ln/>
        </p:spPr>
        <p:txBody>
          <a:bodyPr/>
          <a:lstStyle>
            <a:lvl1pPr>
              <a:defRPr/>
            </a:lvl1pPr>
          </a:lstStyle>
          <a:p>
            <a:fld id="{340D1AEE-C263-4C84-AC27-F8F5EA3F37E8}" type="slidenum">
              <a:rPr lang="en-US" smtClean="0"/>
              <a:pPr/>
              <a:t>‹#›</a:t>
            </a:fld>
            <a:endParaRPr lang="en-US"/>
          </a:p>
        </p:txBody>
      </p:sp>
      <p:sp>
        <p:nvSpPr>
          <p:cNvPr id="7" name="Rectangle 14"/>
          <p:cNvSpPr>
            <a:spLocks noGrp="1" noChangeArrowheads="1"/>
          </p:cNvSpPr>
          <p:nvPr>
            <p:ph type="ftr" sz="quarter" idx="12"/>
          </p:nvPr>
        </p:nvSpPr>
        <p:spPr>
          <a:ln/>
        </p:spPr>
        <p:txBody>
          <a:bodyPr/>
          <a:lstStyle>
            <a:lvl1pPr>
              <a:defRPr/>
            </a:lvl1pPr>
          </a:lstStyle>
          <a:p>
            <a:endParaRPr lang="en-US"/>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2"/>
          <p:cNvSpPr>
            <a:spLocks noGrp="1" noChangeArrowheads="1"/>
          </p:cNvSpPr>
          <p:nvPr>
            <p:ph type="dt" sz="half" idx="10"/>
          </p:nvPr>
        </p:nvSpPr>
        <p:spPr>
          <a:ln/>
        </p:spPr>
        <p:txBody>
          <a:bodyPr/>
          <a:lstStyle>
            <a:lvl1pPr>
              <a:defRPr/>
            </a:lvl1pPr>
          </a:lstStyle>
          <a:p>
            <a:fld id="{1A076E3F-E879-4F11-9F11-AE680F355C96}" type="datetime1">
              <a:rPr lang="en-US" smtClean="0"/>
              <a:pPr/>
              <a:t>11-Jun-16</a:t>
            </a:fld>
            <a:endParaRPr lang="en-US"/>
          </a:p>
        </p:txBody>
      </p:sp>
      <p:sp>
        <p:nvSpPr>
          <p:cNvPr id="5" name="Rectangle 3"/>
          <p:cNvSpPr>
            <a:spLocks noGrp="1" noChangeArrowheads="1"/>
          </p:cNvSpPr>
          <p:nvPr>
            <p:ph type="sldNum" sz="quarter" idx="11"/>
          </p:nvPr>
        </p:nvSpPr>
        <p:spPr>
          <a:ln/>
        </p:spPr>
        <p:txBody>
          <a:bodyPr/>
          <a:lstStyle>
            <a:lvl1pPr>
              <a:defRPr/>
            </a:lvl1pPr>
          </a:lstStyle>
          <a:p>
            <a:fld id="{340D1AEE-C263-4C84-AC27-F8F5EA3F37E8}" type="slidenum">
              <a:rPr lang="en-US" smtClean="0"/>
              <a:pPr/>
              <a:t>‹#›</a:t>
            </a:fld>
            <a:endParaRPr lang="en-US"/>
          </a:p>
        </p:txBody>
      </p:sp>
      <p:sp>
        <p:nvSpPr>
          <p:cNvPr id="6" name="Rectangle 14"/>
          <p:cNvSpPr>
            <a:spLocks noGrp="1" noChangeArrowheads="1"/>
          </p:cNvSpPr>
          <p:nvPr>
            <p:ph type="ftr" sz="quarter" idx="12"/>
          </p:nvPr>
        </p:nvSpPr>
        <p:spPr>
          <a:ln/>
        </p:spPr>
        <p:txBody>
          <a:bodyPr/>
          <a:lstStyle>
            <a:lvl1pPr>
              <a:defRPr/>
            </a:lvl1pPr>
          </a:lstStyle>
          <a:p>
            <a:endParaRPr lang="en-US"/>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2"/>
          <p:cNvSpPr>
            <a:spLocks noGrp="1" noChangeArrowheads="1"/>
          </p:cNvSpPr>
          <p:nvPr>
            <p:ph type="dt" sz="half" idx="10"/>
          </p:nvPr>
        </p:nvSpPr>
        <p:spPr>
          <a:ln/>
        </p:spPr>
        <p:txBody>
          <a:bodyPr/>
          <a:lstStyle>
            <a:lvl1pPr>
              <a:defRPr/>
            </a:lvl1pPr>
          </a:lstStyle>
          <a:p>
            <a:fld id="{CC3A5044-DBA0-4C88-8D92-5F8DF2659E98}" type="datetime1">
              <a:rPr lang="en-US" smtClean="0"/>
              <a:pPr/>
              <a:t>11-Jun-16</a:t>
            </a:fld>
            <a:endParaRPr lang="en-US"/>
          </a:p>
        </p:txBody>
      </p:sp>
      <p:sp>
        <p:nvSpPr>
          <p:cNvPr id="5" name="Rectangle 3"/>
          <p:cNvSpPr>
            <a:spLocks noGrp="1" noChangeArrowheads="1"/>
          </p:cNvSpPr>
          <p:nvPr>
            <p:ph type="sldNum" sz="quarter" idx="11"/>
          </p:nvPr>
        </p:nvSpPr>
        <p:spPr>
          <a:ln/>
        </p:spPr>
        <p:txBody>
          <a:bodyPr/>
          <a:lstStyle>
            <a:lvl1pPr>
              <a:defRPr/>
            </a:lvl1pPr>
          </a:lstStyle>
          <a:p>
            <a:fld id="{340D1AEE-C263-4C84-AC27-F8F5EA3F37E8}" type="slidenum">
              <a:rPr lang="en-US" smtClean="0"/>
              <a:pPr/>
              <a:t>‹#›</a:t>
            </a:fld>
            <a:endParaRPr lang="en-US"/>
          </a:p>
        </p:txBody>
      </p:sp>
      <p:sp>
        <p:nvSpPr>
          <p:cNvPr id="6" name="Rectangle 14"/>
          <p:cNvSpPr>
            <a:spLocks noGrp="1" noChangeArrowheads="1"/>
          </p:cNvSpPr>
          <p:nvPr>
            <p:ph type="ftr" sz="quarter" idx="12"/>
          </p:nvPr>
        </p:nvSpPr>
        <p:spPr>
          <a:ln/>
        </p:spPr>
        <p:txBody>
          <a:bodyPr/>
          <a:lstStyle>
            <a:lvl1pPr>
              <a:defRPr/>
            </a:lvl1pPr>
          </a:lstStyle>
          <a:p>
            <a:endParaRPr lang="en-US"/>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p:cNvSpPr>
            <a:spLocks noGrp="1" noChangeArrowheads="1"/>
          </p:cNvSpPr>
          <p:nvPr>
            <p:ph type="dt" sz="half" idx="2"/>
          </p:nvPr>
        </p:nvSpPr>
        <p:spPr bwMode="auto">
          <a:xfrm>
            <a:off x="457200" y="625157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atin typeface="Arial" charset="0"/>
              </a:defRPr>
            </a:lvl1pPr>
          </a:lstStyle>
          <a:p>
            <a:fld id="{00A2F4E9-D944-46C4-B016-DB41E019BBF7}" type="datetime1">
              <a:rPr lang="en-US" smtClean="0"/>
              <a:pPr/>
              <a:t>11-Jun-16</a:t>
            </a:fld>
            <a:endParaRPr lang="en-US"/>
          </a:p>
        </p:txBody>
      </p:sp>
      <p:sp>
        <p:nvSpPr>
          <p:cNvPr id="40963" name="Rectangle 3"/>
          <p:cNvSpPr>
            <a:spLocks noGrp="1" noChangeArrowheads="1"/>
          </p:cNvSpPr>
          <p:nvPr>
            <p:ph type="sldNum" sz="quarter" idx="4"/>
          </p:nvPr>
        </p:nvSpPr>
        <p:spPr bwMode="auto">
          <a:xfrm>
            <a:off x="6553200" y="6248400"/>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atin typeface="Arial" charset="0"/>
              </a:defRPr>
            </a:lvl1pPr>
          </a:lstStyle>
          <a:p>
            <a:fld id="{340D1AEE-C263-4C84-AC27-F8F5EA3F37E8}" type="slidenum">
              <a:rPr lang="en-US" smtClean="0"/>
              <a:pPr/>
              <a:t>‹#›</a:t>
            </a:fld>
            <a:endParaRPr lang="en-US"/>
          </a:p>
        </p:txBody>
      </p:sp>
      <p:grpSp>
        <p:nvGrpSpPr>
          <p:cNvPr id="2" name="Group 4"/>
          <p:cNvGrpSpPr>
            <a:grpSpLocks/>
          </p:cNvGrpSpPr>
          <p:nvPr/>
        </p:nvGrpSpPr>
        <p:grpSpPr bwMode="auto">
          <a:xfrm>
            <a:off x="0" y="0"/>
            <a:ext cx="9140825" cy="6850063"/>
            <a:chOff x="0" y="0"/>
            <a:chExt cx="5758" cy="4315"/>
          </a:xfrm>
        </p:grpSpPr>
        <p:grpSp>
          <p:nvGrpSpPr>
            <p:cNvPr id="3" name="Group 5"/>
            <p:cNvGrpSpPr>
              <a:grpSpLocks/>
            </p:cNvGrpSpPr>
            <p:nvPr userDrawn="1"/>
          </p:nvGrpSpPr>
          <p:grpSpPr bwMode="auto">
            <a:xfrm>
              <a:off x="1728" y="2230"/>
              <a:ext cx="4027" cy="2085"/>
              <a:chOff x="1728" y="2230"/>
              <a:chExt cx="4027" cy="2085"/>
            </a:xfrm>
          </p:grpSpPr>
          <p:sp>
            <p:nvSpPr>
              <p:cNvPr id="40966" name="Freeform 6"/>
              <p:cNvSpPr>
                <a:spLocks/>
              </p:cNvSpPr>
              <p:nvPr/>
            </p:nvSpPr>
            <p:spPr bwMode="hidden">
              <a:xfrm>
                <a:off x="1728" y="2644"/>
                <a:ext cx="2882" cy="1671"/>
              </a:xfrm>
              <a:custGeom>
                <a:avLst/>
                <a:gdLst/>
                <a:ahLst/>
                <a:cxnLst>
                  <a:cxn ang="0">
                    <a:pos x="2740" y="528"/>
                  </a:cxn>
                  <a:cxn ang="0">
                    <a:pos x="2632" y="484"/>
                  </a:cxn>
                  <a:cxn ang="0">
                    <a:pos x="2480" y="424"/>
                  </a:cxn>
                  <a:cxn ang="0">
                    <a:pos x="2203" y="343"/>
                  </a:cxn>
                  <a:cxn ang="0">
                    <a:pos x="1970" y="277"/>
                  </a:cxn>
                  <a:cxn ang="0">
                    <a:pos x="1807" y="212"/>
                  </a:cxn>
                  <a:cxn ang="0">
                    <a:pos x="1693" y="152"/>
                  </a:cxn>
                  <a:cxn ang="0">
                    <a:pos x="1628" y="103"/>
                  </a:cxn>
                  <a:cxn ang="0">
                    <a:pos x="1590" y="60"/>
                  </a:cxn>
                  <a:cxn ang="0">
                    <a:pos x="1579" y="27"/>
                  </a:cxn>
                  <a:cxn ang="0">
                    <a:pos x="1585" y="0"/>
                  </a:cxn>
                  <a:cxn ang="0">
                    <a:pos x="1557" y="49"/>
                  </a:cxn>
                  <a:cxn ang="0">
                    <a:pos x="1568" y="98"/>
                  </a:cxn>
                  <a:cxn ang="0">
                    <a:pos x="1617" y="141"/>
                  </a:cxn>
                  <a:cxn ang="0">
                    <a:pos x="1688" y="185"/>
                  </a:cxn>
                  <a:cxn ang="0">
                    <a:pos x="1791" y="228"/>
                  </a:cxn>
                  <a:cxn ang="0">
                    <a:pos x="2040" y="310"/>
                  </a:cxn>
                  <a:cxn ang="0">
                    <a:pos x="2285" y="381"/>
                  </a:cxn>
                  <a:cxn ang="0">
                    <a:pos x="2464" y="435"/>
                  </a:cxn>
                  <a:cxn ang="0">
                    <a:pos x="2605" y="484"/>
                  </a:cxn>
                  <a:cxn ang="0">
                    <a:pos x="2708" y="528"/>
                  </a:cxn>
                  <a:cxn ang="0">
                    <a:pos x="2768" y="560"/>
                  </a:cxn>
                  <a:cxn ang="0">
                    <a:pos x="2795" y="593"/>
                  </a:cxn>
                  <a:cxn ang="0">
                    <a:pos x="2795" y="642"/>
                  </a:cxn>
                  <a:cxn ang="0">
                    <a:pos x="2762" y="691"/>
                  </a:cxn>
                  <a:cxn ang="0">
                    <a:pos x="2692" y="735"/>
                  </a:cxn>
                  <a:cxn ang="0">
                    <a:pos x="2589" y="778"/>
                  </a:cxn>
                  <a:cxn ang="0">
                    <a:pos x="2458" y="822"/>
                  </a:cxn>
                  <a:cxn ang="0">
                    <a:pos x="2301" y="865"/>
                  </a:cxn>
                  <a:cxn ang="0">
                    <a:pos x="2030" y="930"/>
                  </a:cxn>
                  <a:cxn ang="0">
                    <a:pos x="1606" y="1034"/>
                  </a:cxn>
                  <a:cxn ang="0">
                    <a:pos x="1145" y="1164"/>
                  </a:cxn>
                  <a:cxn ang="0">
                    <a:pos x="673" y="1328"/>
                  </a:cxn>
                  <a:cxn ang="0">
                    <a:pos x="217" y="1545"/>
                  </a:cxn>
                  <a:cxn ang="0">
                    <a:pos x="353" y="1671"/>
                  </a:cxn>
                  <a:cxn ang="0">
                    <a:pos x="754" y="1469"/>
                  </a:cxn>
                  <a:cxn ang="0">
                    <a:pos x="1145" y="1311"/>
                  </a:cxn>
                  <a:cxn ang="0">
                    <a:pos x="1519" y="1186"/>
                  </a:cxn>
                  <a:cxn ang="0">
                    <a:pos x="1861" y="1083"/>
                  </a:cxn>
                  <a:cxn ang="0">
                    <a:pos x="2165" y="1007"/>
                  </a:cxn>
                  <a:cxn ang="0">
                    <a:pos x="2426" y="947"/>
                  </a:cxn>
                  <a:cxn ang="0">
                    <a:pos x="2626" y="892"/>
                  </a:cxn>
                  <a:cxn ang="0">
                    <a:pos x="2762" y="838"/>
                  </a:cxn>
                  <a:cxn ang="0">
                    <a:pos x="2827" y="794"/>
                  </a:cxn>
                  <a:cxn ang="0">
                    <a:pos x="2865" y="745"/>
                  </a:cxn>
                  <a:cxn ang="0">
                    <a:pos x="2882" y="702"/>
                  </a:cxn>
                  <a:cxn ang="0">
                    <a:pos x="2854" y="620"/>
                  </a:cxn>
                  <a:cxn ang="0">
                    <a:pos x="2800" y="560"/>
                  </a:cxn>
                  <a:cxn ang="0">
                    <a:pos x="2773" y="544"/>
                  </a:cxn>
                </a:cxnLst>
                <a:rect l="0" t="0" r="r" b="b"/>
                <a:pathLst>
                  <a:path w="2882" h="1671">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rotWithShape="0">
                <a:gsLst>
                  <a:gs pos="0">
                    <a:schemeClr val="bg1"/>
                  </a:gs>
                  <a:gs pos="100000">
                    <a:schemeClr val="bg1">
                      <a:gamma/>
                      <a:shade val="90980"/>
                      <a:invGamma/>
                    </a:schemeClr>
                  </a:gs>
                </a:gsLst>
                <a:lin ang="0" scaled="1"/>
              </a:gradFill>
              <a:ln w="9525">
                <a:noFill/>
                <a:round/>
                <a:headEnd/>
                <a:tailEnd/>
              </a:ln>
            </p:spPr>
            <p:txBody>
              <a:bodyPr/>
              <a:lstStyle/>
              <a:p>
                <a:pPr>
                  <a:defRPr/>
                </a:pPr>
                <a:endParaRPr lang="en-US"/>
              </a:p>
            </p:txBody>
          </p:sp>
          <p:sp>
            <p:nvSpPr>
              <p:cNvPr id="40967" name="Freeform 7"/>
              <p:cNvSpPr>
                <a:spLocks/>
              </p:cNvSpPr>
              <p:nvPr/>
            </p:nvSpPr>
            <p:spPr bwMode="hidden">
              <a:xfrm>
                <a:off x="4170" y="2671"/>
                <a:ext cx="1259" cy="811"/>
              </a:xfrm>
              <a:custGeom>
                <a:avLst/>
                <a:gdLst/>
                <a:ahLst/>
                <a:cxnLst>
                  <a:cxn ang="0">
                    <a:pos x="1259" y="615"/>
                  </a:cxn>
                  <a:cxn ang="0">
                    <a:pos x="1248" y="588"/>
                  </a:cxn>
                  <a:cxn ang="0">
                    <a:pos x="1237" y="566"/>
                  </a:cxn>
                  <a:cxn ang="0">
                    <a:pos x="1216" y="539"/>
                  </a:cxn>
                  <a:cxn ang="0">
                    <a:pos x="1188" y="517"/>
                  </a:cxn>
                  <a:cxn ang="0">
                    <a:pos x="1123" y="479"/>
                  </a:cxn>
                  <a:cxn ang="0">
                    <a:pos x="1042" y="441"/>
                  </a:cxn>
                  <a:cxn ang="0">
                    <a:pos x="944" y="408"/>
                  </a:cxn>
                  <a:cxn ang="0">
                    <a:pos x="841" y="381"/>
                  </a:cxn>
                  <a:cxn ang="0">
                    <a:pos x="727" y="348"/>
                  </a:cxn>
                  <a:cxn ang="0">
                    <a:pos x="613" y="321"/>
                  </a:cxn>
                  <a:cxn ang="0">
                    <a:pos x="499" y="294"/>
                  </a:cxn>
                  <a:cxn ang="0">
                    <a:pos x="391" y="261"/>
                  </a:cxn>
                  <a:cxn ang="0">
                    <a:pos x="288" y="229"/>
                  </a:cxn>
                  <a:cxn ang="0">
                    <a:pos x="195" y="196"/>
                  </a:cxn>
                  <a:cxn ang="0">
                    <a:pos x="119" y="152"/>
                  </a:cxn>
                  <a:cxn ang="0">
                    <a:pos x="54" y="109"/>
                  </a:cxn>
                  <a:cxn ang="0">
                    <a:pos x="33" y="87"/>
                  </a:cxn>
                  <a:cxn ang="0">
                    <a:pos x="16" y="60"/>
                  </a:cxn>
                  <a:cxn ang="0">
                    <a:pos x="5" y="33"/>
                  </a:cxn>
                  <a:cxn ang="0">
                    <a:pos x="0" y="0"/>
                  </a:cxn>
                  <a:cxn ang="0">
                    <a:pos x="0" y="6"/>
                  </a:cxn>
                  <a:cxn ang="0">
                    <a:pos x="0" y="11"/>
                  </a:cxn>
                  <a:cxn ang="0">
                    <a:pos x="0" y="38"/>
                  </a:cxn>
                  <a:cxn ang="0">
                    <a:pos x="5" y="60"/>
                  </a:cxn>
                  <a:cxn ang="0">
                    <a:pos x="16" y="87"/>
                  </a:cxn>
                  <a:cxn ang="0">
                    <a:pos x="33" y="114"/>
                  </a:cxn>
                  <a:cxn ang="0">
                    <a:pos x="54" y="142"/>
                  </a:cxn>
                  <a:cxn ang="0">
                    <a:pos x="87" y="174"/>
                  </a:cxn>
                  <a:cxn ang="0">
                    <a:pos x="125" y="207"/>
                  </a:cxn>
                  <a:cxn ang="0">
                    <a:pos x="179" y="240"/>
                  </a:cxn>
                  <a:cxn ang="0">
                    <a:pos x="244" y="278"/>
                  </a:cxn>
                  <a:cxn ang="0">
                    <a:pos x="326" y="310"/>
                  </a:cxn>
                  <a:cxn ang="0">
                    <a:pos x="418" y="348"/>
                  </a:cxn>
                  <a:cxn ang="0">
                    <a:pos x="526" y="381"/>
                  </a:cxn>
                  <a:cxn ang="0">
                    <a:pos x="657" y="414"/>
                  </a:cxn>
                  <a:cxn ang="0">
                    <a:pos x="749" y="435"/>
                  </a:cxn>
                  <a:cxn ang="0">
                    <a:pos x="830" y="463"/>
                  </a:cxn>
                  <a:cxn ang="0">
                    <a:pos x="901" y="490"/>
                  </a:cxn>
                  <a:cxn ang="0">
                    <a:pos x="966" y="512"/>
                  </a:cxn>
                  <a:cxn ang="0">
                    <a:pos x="1015" y="539"/>
                  </a:cxn>
                  <a:cxn ang="0">
                    <a:pos x="1053" y="566"/>
                  </a:cxn>
                  <a:cxn ang="0">
                    <a:pos x="1080" y="593"/>
                  </a:cxn>
                  <a:cxn ang="0">
                    <a:pos x="1102" y="620"/>
                  </a:cxn>
                  <a:cxn ang="0">
                    <a:pos x="1112" y="648"/>
                  </a:cxn>
                  <a:cxn ang="0">
                    <a:pos x="1118" y="675"/>
                  </a:cxn>
                  <a:cxn ang="0">
                    <a:pos x="1112" y="697"/>
                  </a:cxn>
                  <a:cxn ang="0">
                    <a:pos x="1096" y="724"/>
                  </a:cxn>
                  <a:cxn ang="0">
                    <a:pos x="1080" y="746"/>
                  </a:cxn>
                  <a:cxn ang="0">
                    <a:pos x="1053" y="767"/>
                  </a:cxn>
                  <a:cxn ang="0">
                    <a:pos x="1015" y="789"/>
                  </a:cxn>
                  <a:cxn ang="0">
                    <a:pos x="977" y="811"/>
                  </a:cxn>
                  <a:cxn ang="0">
                    <a:pos x="1047" y="789"/>
                  </a:cxn>
                  <a:cxn ang="0">
                    <a:pos x="1107" y="767"/>
                  </a:cxn>
                  <a:cxn ang="0">
                    <a:pos x="1156" y="746"/>
                  </a:cxn>
                  <a:cxn ang="0">
                    <a:pos x="1199" y="724"/>
                  </a:cxn>
                  <a:cxn ang="0">
                    <a:pos x="1226" y="702"/>
                  </a:cxn>
                  <a:cxn ang="0">
                    <a:pos x="1248" y="675"/>
                  </a:cxn>
                  <a:cxn ang="0">
                    <a:pos x="1259" y="648"/>
                  </a:cxn>
                  <a:cxn ang="0">
                    <a:pos x="1259" y="615"/>
                  </a:cxn>
                  <a:cxn ang="0">
                    <a:pos x="1259" y="615"/>
                  </a:cxn>
                </a:cxnLst>
                <a:rect l="0" t="0" r="r" b="b"/>
                <a:pathLst>
                  <a:path w="1259" h="811">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rotWithShape="0">
                <a:gsLst>
                  <a:gs pos="0">
                    <a:schemeClr val="bg1"/>
                  </a:gs>
                  <a:gs pos="100000">
                    <a:schemeClr val="bg1">
                      <a:gamma/>
                      <a:shade val="90980"/>
                      <a:invGamma/>
                    </a:schemeClr>
                  </a:gs>
                </a:gsLst>
                <a:lin ang="2700000" scaled="1"/>
              </a:gradFill>
              <a:ln w="9525">
                <a:noFill/>
                <a:round/>
                <a:headEnd/>
                <a:tailEnd/>
              </a:ln>
            </p:spPr>
            <p:txBody>
              <a:bodyPr/>
              <a:lstStyle/>
              <a:p>
                <a:pPr>
                  <a:defRPr/>
                </a:pPr>
                <a:endParaRPr lang="en-US"/>
              </a:p>
            </p:txBody>
          </p:sp>
          <p:sp>
            <p:nvSpPr>
              <p:cNvPr id="40968" name="Freeform 8"/>
              <p:cNvSpPr>
                <a:spLocks/>
              </p:cNvSpPr>
              <p:nvPr/>
            </p:nvSpPr>
            <p:spPr bwMode="hidden">
              <a:xfrm>
                <a:off x="2900" y="3346"/>
                <a:ext cx="2849" cy="969"/>
              </a:xfrm>
              <a:custGeom>
                <a:avLst/>
                <a:gdLst/>
                <a:ahLst/>
                <a:cxnLst>
                  <a:cxn ang="0">
                    <a:pos x="92" y="958"/>
                  </a:cxn>
                  <a:cxn ang="0">
                    <a:pos x="0" y="969"/>
                  </a:cxn>
                  <a:cxn ang="0">
                    <a:pos x="391" y="969"/>
                  </a:cxn>
                  <a:cxn ang="0">
                    <a:pos x="434" y="947"/>
                  </a:cxn>
                  <a:cxn ang="0">
                    <a:pos x="483" y="914"/>
                  </a:cxn>
                  <a:cxn ang="0">
                    <a:pos x="554" y="876"/>
                  </a:cxn>
                  <a:cxn ang="0">
                    <a:pos x="635" y="838"/>
                  </a:cxn>
                  <a:cxn ang="0">
                    <a:pos x="727" y="794"/>
                  </a:cxn>
                  <a:cxn ang="0">
                    <a:pos x="836" y="745"/>
                  </a:cxn>
                  <a:cxn ang="0">
                    <a:pos x="961" y="696"/>
                  </a:cxn>
                  <a:cxn ang="0">
                    <a:pos x="1102" y="642"/>
                  </a:cxn>
                  <a:cxn ang="0">
                    <a:pos x="1259" y="582"/>
                  </a:cxn>
                  <a:cxn ang="0">
                    <a:pos x="1433" y="522"/>
                  </a:cxn>
                  <a:cxn ang="0">
                    <a:pos x="1623" y="462"/>
                  </a:cxn>
                  <a:cxn ang="0">
                    <a:pos x="1829" y="403"/>
                  </a:cxn>
                  <a:cxn ang="0">
                    <a:pos x="2057" y="343"/>
                  </a:cxn>
                  <a:cxn ang="0">
                    <a:pos x="2301" y="283"/>
                  </a:cxn>
                  <a:cxn ang="0">
                    <a:pos x="2567" y="223"/>
                  </a:cxn>
                  <a:cxn ang="0">
                    <a:pos x="2849" y="163"/>
                  </a:cxn>
                  <a:cxn ang="0">
                    <a:pos x="2849" y="0"/>
                  </a:cxn>
                  <a:cxn ang="0">
                    <a:pos x="2817" y="16"/>
                  </a:cxn>
                  <a:cxn ang="0">
                    <a:pos x="2773" y="33"/>
                  </a:cxn>
                  <a:cxn ang="0">
                    <a:pos x="2719" y="54"/>
                  </a:cxn>
                  <a:cxn ang="0">
                    <a:pos x="2648" y="76"/>
                  </a:cxn>
                  <a:cxn ang="0">
                    <a:pos x="2572" y="98"/>
                  </a:cxn>
                  <a:cxn ang="0">
                    <a:pos x="2491" y="120"/>
                  </a:cxn>
                  <a:cxn ang="0">
                    <a:pos x="2399" y="147"/>
                  </a:cxn>
                  <a:cxn ang="0">
                    <a:pos x="2301" y="169"/>
                  </a:cxn>
                  <a:cxn ang="0">
                    <a:pos x="2095" y="223"/>
                  </a:cxn>
                  <a:cxn ang="0">
                    <a:pos x="1889" y="277"/>
                  </a:cxn>
                  <a:cxn ang="0">
                    <a:pos x="1688" y="326"/>
                  </a:cxn>
                  <a:cxn ang="0">
                    <a:pos x="1590" y="354"/>
                  </a:cxn>
                  <a:cxn ang="0">
                    <a:pos x="1503" y="381"/>
                  </a:cxn>
                  <a:cxn ang="0">
                    <a:pos x="1107" y="506"/>
                  </a:cxn>
                  <a:cxn ang="0">
                    <a:pos x="912" y="577"/>
                  </a:cxn>
                  <a:cxn ang="0">
                    <a:pos x="727" y="647"/>
                  </a:cxn>
                  <a:cxn ang="0">
                    <a:pos x="548" y="718"/>
                  </a:cxn>
                  <a:cxn ang="0">
                    <a:pos x="380" y="794"/>
                  </a:cxn>
                  <a:cxn ang="0">
                    <a:pos x="228" y="876"/>
                  </a:cxn>
                  <a:cxn ang="0">
                    <a:pos x="92" y="958"/>
                  </a:cxn>
                  <a:cxn ang="0">
                    <a:pos x="92" y="958"/>
                  </a:cxn>
                </a:cxnLst>
                <a:rect l="0" t="0" r="r" b="b"/>
                <a:pathLst>
                  <a:path w="2849" h="96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rotWithShape="0">
                <a:gsLst>
                  <a:gs pos="0">
                    <a:schemeClr val="bg1">
                      <a:gamma/>
                      <a:shade val="81961"/>
                      <a:invGamma/>
                    </a:schemeClr>
                  </a:gs>
                  <a:gs pos="100000">
                    <a:schemeClr val="bg1"/>
                  </a:gs>
                </a:gsLst>
                <a:lin ang="5400000" scaled="1"/>
              </a:gradFill>
              <a:ln w="9525">
                <a:noFill/>
                <a:round/>
                <a:headEnd/>
                <a:tailEnd/>
              </a:ln>
            </p:spPr>
            <p:txBody>
              <a:bodyPr/>
              <a:lstStyle/>
              <a:p>
                <a:pPr>
                  <a:defRPr/>
                </a:pPr>
                <a:endParaRPr lang="en-US"/>
              </a:p>
            </p:txBody>
          </p:sp>
          <p:sp>
            <p:nvSpPr>
              <p:cNvPr id="40969" name="Freeform 9"/>
              <p:cNvSpPr>
                <a:spLocks/>
              </p:cNvSpPr>
              <p:nvPr/>
            </p:nvSpPr>
            <p:spPr bwMode="hidden">
              <a:xfrm>
                <a:off x="2748" y="2230"/>
                <a:ext cx="3007" cy="2085"/>
              </a:xfrm>
              <a:custGeom>
                <a:avLst/>
                <a:gdLst/>
                <a:ahLst/>
                <a:cxnLst>
                  <a:cxn ang="0">
                    <a:pos x="1433" y="474"/>
                  </a:cxn>
                  <a:cxn ang="0">
                    <a:pos x="1460" y="528"/>
                  </a:cxn>
                  <a:cxn ang="0">
                    <a:pos x="1541" y="593"/>
                  </a:cxn>
                  <a:cxn ang="0">
                    <a:pos x="1715" y="670"/>
                  </a:cxn>
                  <a:cxn ang="0">
                    <a:pos x="1927" y="735"/>
                  </a:cxn>
                  <a:cxn ang="0">
                    <a:pos x="2155" y="789"/>
                  </a:cxn>
                  <a:cxn ang="0">
                    <a:pos x="2372" y="849"/>
                  </a:cxn>
                  <a:cxn ang="0">
                    <a:pos x="2551" y="920"/>
                  </a:cxn>
                  <a:cxn ang="0">
                    <a:pos x="2638" y="980"/>
                  </a:cxn>
                  <a:cxn ang="0">
                    <a:pos x="2676" y="1029"/>
                  </a:cxn>
                  <a:cxn ang="0">
                    <a:pos x="2681" y="1083"/>
                  </a:cxn>
                  <a:cxn ang="0">
                    <a:pos x="2665" y="1127"/>
                  </a:cxn>
                  <a:cxn ang="0">
                    <a:pos x="2616" y="1170"/>
                  </a:cxn>
                  <a:cxn ang="0">
                    <a:pos x="2545" y="1208"/>
                  </a:cxn>
                  <a:cxn ang="0">
                    <a:pos x="2448" y="1241"/>
                  </a:cxn>
                  <a:cxn ang="0">
                    <a:pos x="2328" y="1274"/>
                  </a:cxn>
                  <a:cxn ang="0">
                    <a:pos x="2106" y="1328"/>
                  </a:cxn>
                  <a:cxn ang="0">
                    <a:pos x="1742" y="1421"/>
                  </a:cxn>
                  <a:cxn ang="0">
                    <a:pos x="1308" y="1540"/>
                  </a:cxn>
                  <a:cxn ang="0">
                    <a:pos x="820" y="1709"/>
                  </a:cxn>
                  <a:cxn ang="0">
                    <a:pos x="282" y="1943"/>
                  </a:cxn>
                  <a:cxn ang="0">
                    <a:pos x="152" y="2085"/>
                  </a:cxn>
                  <a:cxn ang="0">
                    <a:pos x="386" y="1992"/>
                  </a:cxn>
                  <a:cxn ang="0">
                    <a:pos x="700" y="1834"/>
                  </a:cxn>
                  <a:cxn ang="0">
                    <a:pos x="1064" y="1693"/>
                  </a:cxn>
                  <a:cxn ang="0">
                    <a:pos x="1661" y="1497"/>
                  </a:cxn>
                  <a:cxn ang="0">
                    <a:pos x="1845" y="1442"/>
                  </a:cxn>
                  <a:cxn ang="0">
                    <a:pos x="2252" y="1339"/>
                  </a:cxn>
                  <a:cxn ang="0">
                    <a:pos x="2551" y="1263"/>
                  </a:cxn>
                  <a:cxn ang="0">
                    <a:pos x="2730" y="1214"/>
                  </a:cxn>
                  <a:cxn ang="0">
                    <a:pos x="2876" y="1170"/>
                  </a:cxn>
                  <a:cxn ang="0">
                    <a:pos x="2974" y="1132"/>
                  </a:cxn>
                  <a:cxn ang="0">
                    <a:pos x="3007" y="871"/>
                  </a:cxn>
                  <a:cxn ang="0">
                    <a:pos x="2860" y="844"/>
                  </a:cxn>
                  <a:cxn ang="0">
                    <a:pos x="2670" y="806"/>
                  </a:cxn>
                  <a:cxn ang="0">
                    <a:pos x="2458" y="757"/>
                  </a:cxn>
                  <a:cxn ang="0">
                    <a:pos x="2138" y="670"/>
                  </a:cxn>
                  <a:cxn ang="0">
                    <a:pos x="1959" y="604"/>
                  </a:cxn>
                  <a:cxn ang="0">
                    <a:pos x="1824" y="534"/>
                  </a:cxn>
                  <a:cxn ang="0">
                    <a:pos x="1769" y="474"/>
                  </a:cxn>
                  <a:cxn ang="0">
                    <a:pos x="1753" y="436"/>
                  </a:cxn>
                  <a:cxn ang="0">
                    <a:pos x="1780" y="381"/>
                  </a:cxn>
                  <a:cxn ang="0">
                    <a:pos x="1862" y="316"/>
                  </a:cxn>
                  <a:cxn ang="0">
                    <a:pos x="1986" y="267"/>
                  </a:cxn>
                  <a:cxn ang="0">
                    <a:pos x="2149" y="229"/>
                  </a:cxn>
                  <a:cxn ang="0">
                    <a:pos x="2431" y="180"/>
                  </a:cxn>
                  <a:cxn ang="0">
                    <a:pos x="2827" y="125"/>
                  </a:cxn>
                  <a:cxn ang="0">
                    <a:pos x="3007" y="87"/>
                  </a:cxn>
                  <a:cxn ang="0">
                    <a:pos x="2909" y="22"/>
                  </a:cxn>
                  <a:cxn ang="0">
                    <a:pos x="2676" y="66"/>
                  </a:cxn>
                  <a:cxn ang="0">
                    <a:pos x="2285" y="120"/>
                  </a:cxn>
                  <a:cxn ang="0">
                    <a:pos x="2030" y="158"/>
                  </a:cxn>
                  <a:cxn ang="0">
                    <a:pos x="1791" y="202"/>
                  </a:cxn>
                  <a:cxn ang="0">
                    <a:pos x="1601" y="261"/>
                  </a:cxn>
                  <a:cxn ang="0">
                    <a:pos x="1471" y="338"/>
                  </a:cxn>
                  <a:cxn ang="0">
                    <a:pos x="1438" y="387"/>
                  </a:cxn>
                  <a:cxn ang="0">
                    <a:pos x="1427" y="441"/>
                  </a:cxn>
                </a:cxnLst>
                <a:rect l="0" t="0" r="r" b="b"/>
                <a:pathLst>
                  <a:path w="3007" h="2085">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lnTo>
                      <a:pt x="1427" y="441"/>
                    </a:lnTo>
                    <a:close/>
                  </a:path>
                </a:pathLst>
              </a:custGeom>
              <a:solidFill>
                <a:schemeClr val="bg1"/>
              </a:solidFill>
              <a:ln w="9525">
                <a:noFill/>
                <a:round/>
                <a:headEnd/>
                <a:tailEnd/>
              </a:ln>
            </p:spPr>
            <p:txBody>
              <a:bodyPr/>
              <a:lstStyle/>
              <a:p>
                <a:pPr>
                  <a:defRPr/>
                </a:pPr>
                <a:endParaRPr lang="en-US"/>
              </a:p>
            </p:txBody>
          </p:sp>
          <p:sp>
            <p:nvSpPr>
              <p:cNvPr id="40970" name="Freeform 10"/>
              <p:cNvSpPr>
                <a:spLocks/>
              </p:cNvSpPr>
              <p:nvPr/>
            </p:nvSpPr>
            <p:spPr bwMode="hidden">
              <a:xfrm>
                <a:off x="4501" y="2317"/>
                <a:ext cx="1248" cy="539"/>
              </a:xfrm>
              <a:custGeom>
                <a:avLst/>
                <a:gdLst/>
                <a:ahLst/>
                <a:cxnLst>
                  <a:cxn ang="0">
                    <a:pos x="0" y="332"/>
                  </a:cxn>
                  <a:cxn ang="0">
                    <a:pos x="0" y="360"/>
                  </a:cxn>
                  <a:cxn ang="0">
                    <a:pos x="5" y="387"/>
                  </a:cxn>
                  <a:cxn ang="0">
                    <a:pos x="27" y="414"/>
                  </a:cxn>
                  <a:cxn ang="0">
                    <a:pos x="54" y="436"/>
                  </a:cxn>
                  <a:cxn ang="0">
                    <a:pos x="92" y="463"/>
                  </a:cxn>
                  <a:cxn ang="0">
                    <a:pos x="141" y="490"/>
                  </a:cxn>
                  <a:cxn ang="0">
                    <a:pos x="195" y="512"/>
                  </a:cxn>
                  <a:cxn ang="0">
                    <a:pos x="255" y="539"/>
                  </a:cxn>
                  <a:cxn ang="0">
                    <a:pos x="212" y="517"/>
                  </a:cxn>
                  <a:cxn ang="0">
                    <a:pos x="179" y="490"/>
                  </a:cxn>
                  <a:cxn ang="0">
                    <a:pos x="157" y="468"/>
                  </a:cxn>
                  <a:cxn ang="0">
                    <a:pos x="141" y="447"/>
                  </a:cxn>
                  <a:cxn ang="0">
                    <a:pos x="136" y="425"/>
                  </a:cxn>
                  <a:cxn ang="0">
                    <a:pos x="136" y="403"/>
                  </a:cxn>
                  <a:cxn ang="0">
                    <a:pos x="141" y="381"/>
                  </a:cxn>
                  <a:cxn ang="0">
                    <a:pos x="157" y="365"/>
                  </a:cxn>
                  <a:cxn ang="0">
                    <a:pos x="179" y="343"/>
                  </a:cxn>
                  <a:cxn ang="0">
                    <a:pos x="201" y="327"/>
                  </a:cxn>
                  <a:cxn ang="0">
                    <a:pos x="266" y="294"/>
                  </a:cxn>
                  <a:cxn ang="0">
                    <a:pos x="353" y="262"/>
                  </a:cxn>
                  <a:cxn ang="0">
                    <a:pos x="445" y="234"/>
                  </a:cxn>
                  <a:cxn ang="0">
                    <a:pos x="554" y="213"/>
                  </a:cxn>
                  <a:cxn ang="0">
                    <a:pos x="662" y="191"/>
                  </a:cxn>
                  <a:cxn ang="0">
                    <a:pos x="890" y="153"/>
                  </a:cxn>
                  <a:cxn ang="0">
                    <a:pos x="993" y="136"/>
                  </a:cxn>
                  <a:cxn ang="0">
                    <a:pos x="1091" y="120"/>
                  </a:cxn>
                  <a:cxn ang="0">
                    <a:pos x="1178" y="115"/>
                  </a:cxn>
                  <a:cxn ang="0">
                    <a:pos x="1248" y="104"/>
                  </a:cxn>
                  <a:cxn ang="0">
                    <a:pos x="1248" y="0"/>
                  </a:cxn>
                  <a:cxn ang="0">
                    <a:pos x="1161" y="22"/>
                  </a:cxn>
                  <a:cxn ang="0">
                    <a:pos x="1069" y="38"/>
                  </a:cxn>
                  <a:cxn ang="0">
                    <a:pos x="874" y="71"/>
                  </a:cxn>
                  <a:cxn ang="0">
                    <a:pos x="673" y="93"/>
                  </a:cxn>
                  <a:cxn ang="0">
                    <a:pos x="483" y="126"/>
                  </a:cxn>
                  <a:cxn ang="0">
                    <a:pos x="391" y="142"/>
                  </a:cxn>
                  <a:cxn ang="0">
                    <a:pos x="309" y="158"/>
                  </a:cxn>
                  <a:cxn ang="0">
                    <a:pos x="228" y="180"/>
                  </a:cxn>
                  <a:cxn ang="0">
                    <a:pos x="163" y="202"/>
                  </a:cxn>
                  <a:cxn ang="0">
                    <a:pos x="103" y="229"/>
                  </a:cxn>
                  <a:cxn ang="0">
                    <a:pos x="54" y="256"/>
                  </a:cxn>
                  <a:cxn ang="0">
                    <a:pos x="22" y="294"/>
                  </a:cxn>
                  <a:cxn ang="0">
                    <a:pos x="0" y="332"/>
                  </a:cxn>
                  <a:cxn ang="0">
                    <a:pos x="0" y="332"/>
                  </a:cxn>
                </a:cxnLst>
                <a:rect l="0" t="0" r="r" b="b"/>
                <a:pathLst>
                  <a:path w="1248" h="539">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rotWithShape="0">
                <a:gsLst>
                  <a:gs pos="0">
                    <a:schemeClr val="bg1">
                      <a:gamma/>
                      <a:shade val="87843"/>
                      <a:invGamma/>
                    </a:schemeClr>
                  </a:gs>
                  <a:gs pos="100000">
                    <a:schemeClr val="bg1"/>
                  </a:gs>
                </a:gsLst>
                <a:lin ang="2700000" scaled="1"/>
              </a:gradFill>
              <a:ln w="9525">
                <a:noFill/>
                <a:round/>
                <a:headEnd/>
                <a:tailEnd/>
              </a:ln>
            </p:spPr>
            <p:txBody>
              <a:bodyPr/>
              <a:lstStyle/>
              <a:p>
                <a:pPr>
                  <a:defRPr/>
                </a:pPr>
                <a:endParaRPr lang="en-US"/>
              </a:p>
            </p:txBody>
          </p:sp>
        </p:grpSp>
        <p:sp>
          <p:nvSpPr>
            <p:cNvPr id="40971" name="Freeform 11"/>
            <p:cNvSpPr>
              <a:spLocks/>
            </p:cNvSpPr>
            <p:nvPr/>
          </p:nvSpPr>
          <p:spPr bwMode="hidden">
            <a:xfrm>
              <a:off x="3322" y="1341"/>
              <a:ext cx="1825" cy="1537"/>
            </a:xfrm>
            <a:custGeom>
              <a:avLst/>
              <a:gdLst/>
              <a:ahLst/>
              <a:cxnLst>
                <a:cxn ang="0">
                  <a:pos x="982" y="1061"/>
                </a:cxn>
                <a:cxn ang="0">
                  <a:pos x="1357" y="1012"/>
                </a:cxn>
                <a:cxn ang="0">
                  <a:pos x="1666" y="957"/>
                </a:cxn>
                <a:cxn ang="0">
                  <a:pos x="1916" y="897"/>
                </a:cxn>
                <a:cxn ang="0">
                  <a:pos x="2100" y="832"/>
                </a:cxn>
                <a:cxn ang="0">
                  <a:pos x="2220" y="756"/>
                </a:cxn>
                <a:cxn ang="0">
                  <a:pos x="2285" y="669"/>
                </a:cxn>
                <a:cxn ang="0">
                  <a:pos x="2290" y="560"/>
                </a:cxn>
                <a:cxn ang="0">
                  <a:pos x="2241" y="457"/>
                </a:cxn>
                <a:cxn ang="0">
                  <a:pos x="2144" y="364"/>
                </a:cxn>
                <a:cxn ang="0">
                  <a:pos x="2008" y="277"/>
                </a:cxn>
                <a:cxn ang="0">
                  <a:pos x="1769" y="157"/>
                </a:cxn>
                <a:cxn ang="0">
                  <a:pos x="1612" y="92"/>
                </a:cxn>
                <a:cxn ang="0">
                  <a:pos x="1476" y="43"/>
                </a:cxn>
                <a:cxn ang="0">
                  <a:pos x="1384" y="10"/>
                </a:cxn>
                <a:cxn ang="0">
                  <a:pos x="1346" y="0"/>
                </a:cxn>
                <a:cxn ang="0">
                  <a:pos x="1655" y="119"/>
                </a:cxn>
                <a:cxn ang="0">
                  <a:pos x="1948" y="255"/>
                </a:cxn>
                <a:cxn ang="0">
                  <a:pos x="2068" y="326"/>
                </a:cxn>
                <a:cxn ang="0">
                  <a:pos x="2171" y="402"/>
                </a:cxn>
                <a:cxn ang="0">
                  <a:pos x="2236" y="478"/>
                </a:cxn>
                <a:cxn ang="0">
                  <a:pos x="2263" y="560"/>
                </a:cxn>
                <a:cxn ang="0">
                  <a:pos x="2241" y="636"/>
                </a:cxn>
                <a:cxn ang="0">
                  <a:pos x="2171" y="702"/>
                </a:cxn>
                <a:cxn ang="0">
                  <a:pos x="2062" y="756"/>
                </a:cxn>
                <a:cxn ang="0">
                  <a:pos x="1921" y="800"/>
                </a:cxn>
                <a:cxn ang="0">
                  <a:pos x="1748" y="843"/>
                </a:cxn>
                <a:cxn ang="0">
                  <a:pos x="1351" y="908"/>
                </a:cxn>
                <a:cxn ang="0">
                  <a:pos x="923" y="968"/>
                </a:cxn>
                <a:cxn ang="0">
                  <a:pos x="521" y="1028"/>
                </a:cxn>
                <a:cxn ang="0">
                  <a:pos x="353" y="1066"/>
                </a:cxn>
                <a:cxn ang="0">
                  <a:pos x="206" y="1104"/>
                </a:cxn>
                <a:cxn ang="0">
                  <a:pos x="92" y="1148"/>
                </a:cxn>
                <a:cxn ang="0">
                  <a:pos x="22" y="1202"/>
                </a:cxn>
                <a:cxn ang="0">
                  <a:pos x="0" y="1262"/>
                </a:cxn>
                <a:cxn ang="0">
                  <a:pos x="27" y="1327"/>
                </a:cxn>
                <a:cxn ang="0">
                  <a:pos x="98" y="1382"/>
                </a:cxn>
                <a:cxn ang="0">
                  <a:pos x="196" y="1425"/>
                </a:cxn>
                <a:cxn ang="0">
                  <a:pos x="326" y="1469"/>
                </a:cxn>
                <a:cxn ang="0">
                  <a:pos x="217" y="1414"/>
                </a:cxn>
                <a:cxn ang="0">
                  <a:pos x="147" y="1360"/>
                </a:cxn>
                <a:cxn ang="0">
                  <a:pos x="120" y="1306"/>
                </a:cxn>
                <a:cxn ang="0">
                  <a:pos x="141" y="1257"/>
                </a:cxn>
                <a:cxn ang="0">
                  <a:pos x="212" y="1208"/>
                </a:cxn>
                <a:cxn ang="0">
                  <a:pos x="342" y="1164"/>
                </a:cxn>
                <a:cxn ang="0">
                  <a:pos x="527" y="1121"/>
                </a:cxn>
                <a:cxn ang="0">
                  <a:pos x="771" y="1088"/>
                </a:cxn>
              </a:cxnLst>
              <a:rect l="0" t="0" r="r" b="b"/>
              <a:pathLst>
                <a:path w="2296" h="1469">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rotWithShape="0">
              <a:gsLst>
                <a:gs pos="0">
                  <a:schemeClr val="bg1">
                    <a:gamma/>
                    <a:shade val="84706"/>
                    <a:invGamma/>
                  </a:schemeClr>
                </a:gs>
                <a:gs pos="100000">
                  <a:schemeClr val="bg1"/>
                </a:gs>
              </a:gsLst>
              <a:lin ang="2700000" scaled="1"/>
            </a:gradFill>
            <a:ln w="9525">
              <a:noFill/>
              <a:round/>
              <a:headEnd/>
              <a:tailEnd/>
            </a:ln>
          </p:spPr>
          <p:txBody>
            <a:bodyPr/>
            <a:lstStyle/>
            <a:p>
              <a:pPr>
                <a:defRPr/>
              </a:pPr>
              <a:endParaRPr lang="en-US"/>
            </a:p>
          </p:txBody>
        </p:sp>
        <p:sp>
          <p:nvSpPr>
            <p:cNvPr id="40972" name="Freeform 12"/>
            <p:cNvSpPr>
              <a:spLocks/>
            </p:cNvSpPr>
            <p:nvPr/>
          </p:nvSpPr>
          <p:spPr bwMode="hidden">
            <a:xfrm>
              <a:off x="0" y="0"/>
              <a:ext cx="5758" cy="1776"/>
            </a:xfrm>
            <a:custGeom>
              <a:avLst/>
              <a:gdLst/>
              <a:ahLst/>
              <a:cxnLst>
                <a:cxn ang="0">
                  <a:pos x="0" y="0"/>
                </a:cxn>
                <a:cxn ang="0">
                  <a:pos x="0" y="1906"/>
                </a:cxn>
                <a:cxn ang="0">
                  <a:pos x="5740" y="1906"/>
                </a:cxn>
                <a:cxn ang="0">
                  <a:pos x="5740" y="0"/>
                </a:cxn>
                <a:cxn ang="0">
                  <a:pos x="0" y="0"/>
                </a:cxn>
                <a:cxn ang="0">
                  <a:pos x="0" y="0"/>
                </a:cxn>
              </a:cxnLst>
              <a:rect l="0" t="0" r="r" b="b"/>
              <a:pathLst>
                <a:path w="5740" h="1906">
                  <a:moveTo>
                    <a:pt x="0" y="0"/>
                  </a:moveTo>
                  <a:lnTo>
                    <a:pt x="0" y="1906"/>
                  </a:lnTo>
                  <a:lnTo>
                    <a:pt x="5740" y="1906"/>
                  </a:lnTo>
                  <a:lnTo>
                    <a:pt x="5740" y="0"/>
                  </a:lnTo>
                  <a:lnTo>
                    <a:pt x="0" y="0"/>
                  </a:lnTo>
                  <a:lnTo>
                    <a:pt x="0" y="0"/>
                  </a:lnTo>
                  <a:close/>
                </a:path>
              </a:pathLst>
            </a:custGeom>
            <a:gradFill rotWithShape="0">
              <a:gsLst>
                <a:gs pos="0">
                  <a:schemeClr val="bg2"/>
                </a:gs>
                <a:gs pos="100000">
                  <a:schemeClr val="bg1"/>
                </a:gs>
              </a:gsLst>
              <a:lin ang="5400000" scaled="1"/>
            </a:gradFill>
            <a:ln w="9525">
              <a:noFill/>
              <a:round/>
              <a:headEnd/>
              <a:tailEnd/>
            </a:ln>
          </p:spPr>
          <p:txBody>
            <a:bodyPr/>
            <a:lstStyle/>
            <a:p>
              <a:pPr>
                <a:defRPr/>
              </a:pPr>
              <a:endParaRPr lang="en-US"/>
            </a:p>
          </p:txBody>
        </p:sp>
      </p:grpSp>
      <p:sp>
        <p:nvSpPr>
          <p:cNvPr id="40973" name="Rectangle 13"/>
          <p:cNvSpPr>
            <a:spLocks noGrp="1" noRot="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40974" name="Rectangle 14"/>
          <p:cNvSpPr>
            <a:spLocks noGrp="1" noChangeArrowheads="1"/>
          </p:cNvSpPr>
          <p:nvPr>
            <p:ph type="ftr" sz="quarter" idx="3"/>
          </p:nvPr>
        </p:nvSpPr>
        <p:spPr bwMode="auto">
          <a:xfrm>
            <a:off x="3124200" y="6248400"/>
            <a:ext cx="2895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smtClean="0">
                <a:latin typeface="Arial" charset="0"/>
              </a:defRPr>
            </a:lvl1pPr>
          </a:lstStyle>
          <a:p>
            <a:endParaRPr lang="en-US"/>
          </a:p>
        </p:txBody>
      </p:sp>
      <p:sp>
        <p:nvSpPr>
          <p:cNvPr id="40975" name="Rectangle 15"/>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dk2" tx1="lt1" bg2="dk1"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iming>
    <p:tnLst>
      <p:par>
        <p:cTn id="1" dur="indefinite" restart="never" nodeType="tmRoot"/>
      </p:par>
    </p:tnLst>
  </p:timing>
  <p:hf hdr="0" ftr="0" dt="0"/>
  <p:txStyles>
    <p:titleStyle>
      <a:lvl1pPr algn="ctr" rtl="0" eaLnBrk="1" fontAlgn="base" hangingPunct="1">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ctr" rtl="0" eaLnBrk="1" fontAlgn="base" hangingPunct="1">
        <a:spcBef>
          <a:spcPct val="0"/>
        </a:spcBef>
        <a:spcAft>
          <a:spcPct val="0"/>
        </a:spcAft>
        <a:defRPr sz="4400" b="1">
          <a:solidFill>
            <a:schemeClr val="tx2"/>
          </a:solidFill>
          <a:effectLst>
            <a:outerShdw blurRad="38100" dist="38100" dir="2700000" algn="tl">
              <a:srgbClr val="000000"/>
            </a:outerShdw>
          </a:effectLst>
          <a:latin typeface="Garamond" pitchFamily="18" charset="0"/>
          <a:cs typeface="Arial" charset="0"/>
        </a:defRPr>
      </a:lvl2pPr>
      <a:lvl3pPr algn="ctr" rtl="0" eaLnBrk="1" fontAlgn="base" hangingPunct="1">
        <a:spcBef>
          <a:spcPct val="0"/>
        </a:spcBef>
        <a:spcAft>
          <a:spcPct val="0"/>
        </a:spcAft>
        <a:defRPr sz="4400" b="1">
          <a:solidFill>
            <a:schemeClr val="tx2"/>
          </a:solidFill>
          <a:effectLst>
            <a:outerShdw blurRad="38100" dist="38100" dir="2700000" algn="tl">
              <a:srgbClr val="000000"/>
            </a:outerShdw>
          </a:effectLst>
          <a:latin typeface="Garamond" pitchFamily="18" charset="0"/>
          <a:cs typeface="Arial" charset="0"/>
        </a:defRPr>
      </a:lvl3pPr>
      <a:lvl4pPr algn="ctr" rtl="0" eaLnBrk="1" fontAlgn="base" hangingPunct="1">
        <a:spcBef>
          <a:spcPct val="0"/>
        </a:spcBef>
        <a:spcAft>
          <a:spcPct val="0"/>
        </a:spcAft>
        <a:defRPr sz="4400" b="1">
          <a:solidFill>
            <a:schemeClr val="tx2"/>
          </a:solidFill>
          <a:effectLst>
            <a:outerShdw blurRad="38100" dist="38100" dir="2700000" algn="tl">
              <a:srgbClr val="000000"/>
            </a:outerShdw>
          </a:effectLst>
          <a:latin typeface="Garamond" pitchFamily="18" charset="0"/>
          <a:cs typeface="Arial" charset="0"/>
        </a:defRPr>
      </a:lvl4pPr>
      <a:lvl5pPr algn="ctr" rtl="0" eaLnBrk="1" fontAlgn="base" hangingPunct="1">
        <a:spcBef>
          <a:spcPct val="0"/>
        </a:spcBef>
        <a:spcAft>
          <a:spcPct val="0"/>
        </a:spcAft>
        <a:defRPr sz="4400" b="1">
          <a:solidFill>
            <a:schemeClr val="tx2"/>
          </a:solidFill>
          <a:effectLst>
            <a:outerShdw blurRad="38100" dist="38100" dir="2700000" algn="tl">
              <a:srgbClr val="000000"/>
            </a:outerShdw>
          </a:effectLst>
          <a:latin typeface="Garamond" pitchFamily="18" charset="0"/>
          <a:cs typeface="Arial" charset="0"/>
        </a:defRPr>
      </a:lvl5pPr>
      <a:lvl6pPr marL="457200" algn="ctr" rtl="0" eaLnBrk="1" fontAlgn="base" hangingPunct="1">
        <a:spcBef>
          <a:spcPct val="0"/>
        </a:spcBef>
        <a:spcAft>
          <a:spcPct val="0"/>
        </a:spcAft>
        <a:defRPr sz="4400" b="1">
          <a:solidFill>
            <a:schemeClr val="tx2"/>
          </a:solidFill>
          <a:effectLst>
            <a:outerShdw blurRad="38100" dist="38100" dir="2700000" algn="tl">
              <a:srgbClr val="000000"/>
            </a:outerShdw>
          </a:effectLst>
          <a:latin typeface="Garamond" pitchFamily="18" charset="0"/>
          <a:cs typeface="Arial" charset="0"/>
        </a:defRPr>
      </a:lvl6pPr>
      <a:lvl7pPr marL="914400" algn="ctr" rtl="0" eaLnBrk="1" fontAlgn="base" hangingPunct="1">
        <a:spcBef>
          <a:spcPct val="0"/>
        </a:spcBef>
        <a:spcAft>
          <a:spcPct val="0"/>
        </a:spcAft>
        <a:defRPr sz="4400" b="1">
          <a:solidFill>
            <a:schemeClr val="tx2"/>
          </a:solidFill>
          <a:effectLst>
            <a:outerShdw blurRad="38100" dist="38100" dir="2700000" algn="tl">
              <a:srgbClr val="000000"/>
            </a:outerShdw>
          </a:effectLst>
          <a:latin typeface="Garamond" pitchFamily="18" charset="0"/>
          <a:cs typeface="Arial" charset="0"/>
        </a:defRPr>
      </a:lvl7pPr>
      <a:lvl8pPr marL="1371600" algn="ctr" rtl="0" eaLnBrk="1" fontAlgn="base" hangingPunct="1">
        <a:spcBef>
          <a:spcPct val="0"/>
        </a:spcBef>
        <a:spcAft>
          <a:spcPct val="0"/>
        </a:spcAft>
        <a:defRPr sz="4400" b="1">
          <a:solidFill>
            <a:schemeClr val="tx2"/>
          </a:solidFill>
          <a:effectLst>
            <a:outerShdw blurRad="38100" dist="38100" dir="2700000" algn="tl">
              <a:srgbClr val="000000"/>
            </a:outerShdw>
          </a:effectLst>
          <a:latin typeface="Garamond" pitchFamily="18" charset="0"/>
          <a:cs typeface="Arial" charset="0"/>
        </a:defRPr>
      </a:lvl8pPr>
      <a:lvl9pPr marL="1828800" algn="ctr" rtl="0" eaLnBrk="1" fontAlgn="base" hangingPunct="1">
        <a:spcBef>
          <a:spcPct val="0"/>
        </a:spcBef>
        <a:spcAft>
          <a:spcPct val="0"/>
        </a:spcAft>
        <a:defRPr sz="4400" b="1">
          <a:solidFill>
            <a:schemeClr val="tx2"/>
          </a:solidFill>
          <a:effectLst>
            <a:outerShdw blurRad="38100" dist="38100" dir="2700000" algn="tl">
              <a:srgbClr val="000000"/>
            </a:outerShdw>
          </a:effectLst>
          <a:latin typeface="Garamond" pitchFamily="18" charset="0"/>
          <a:cs typeface="Arial" charset="0"/>
        </a:defRPr>
      </a:lvl9pPr>
    </p:titleStyle>
    <p:bodyStyle>
      <a:lvl1pPr marL="342900" indent="-342900" algn="l" rtl="0" eaLnBrk="1" fontAlgn="base" hangingPunct="1">
        <a:spcBef>
          <a:spcPct val="20000"/>
        </a:spcBef>
        <a:spcAft>
          <a:spcPct val="0"/>
        </a:spcAft>
        <a:buClr>
          <a:schemeClr val="hlink"/>
        </a:buClr>
        <a:buSzPct val="70000"/>
        <a:buFont typeface="Wingdings"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1" fontAlgn="base" hangingPunct="1">
        <a:spcBef>
          <a:spcPct val="20000"/>
        </a:spcBef>
        <a:spcAft>
          <a:spcPct val="0"/>
        </a:spcAft>
        <a:buClr>
          <a:schemeClr val="accent2"/>
        </a:buClr>
        <a:buSzPct val="70000"/>
        <a:buFont typeface="Wingdings" pitchFamily="2" charset="2"/>
        <a:buChar char="n"/>
        <a:defRPr sz="2800">
          <a:solidFill>
            <a:schemeClr val="tx1"/>
          </a:solidFill>
          <a:effectLst>
            <a:outerShdw blurRad="38100" dist="38100" dir="2700000" algn="tl">
              <a:srgbClr val="000000"/>
            </a:outerShdw>
          </a:effectLst>
          <a:latin typeface="+mn-lt"/>
          <a:cs typeface="+mn-cs"/>
        </a:defRPr>
      </a:lvl2pPr>
      <a:lvl3pPr marL="1143000" indent="-228600" algn="l" rtl="0" eaLnBrk="1" fontAlgn="base" hangingPunct="1">
        <a:spcBef>
          <a:spcPct val="20000"/>
        </a:spcBef>
        <a:spcAft>
          <a:spcPct val="0"/>
        </a:spcAft>
        <a:buClr>
          <a:schemeClr val="tx2"/>
        </a:buClr>
        <a:buSzPct val="70000"/>
        <a:buFont typeface="Wingdings" pitchFamily="2" charset="2"/>
        <a:buChar char="n"/>
        <a:defRPr sz="2400">
          <a:solidFill>
            <a:schemeClr val="tx1"/>
          </a:solidFill>
          <a:effectLst>
            <a:outerShdw blurRad="38100" dist="38100" dir="2700000" algn="tl">
              <a:srgbClr val="000000"/>
            </a:outerShdw>
          </a:effectLst>
          <a:latin typeface="+mn-lt"/>
          <a:cs typeface="+mn-cs"/>
        </a:defRPr>
      </a:lvl3pPr>
      <a:lvl4pPr marL="1600200" indent="-228600" algn="l" rtl="0" eaLnBrk="1" fontAlgn="base" hangingPunct="1">
        <a:spcBef>
          <a:spcPct val="20000"/>
        </a:spcBef>
        <a:spcAft>
          <a:spcPct val="0"/>
        </a:spcAft>
        <a:buClr>
          <a:schemeClr val="accent2"/>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4pPr>
      <a:lvl5pPr marL="2057400" indent="-228600" algn="l" rtl="0" eaLnBrk="1" fontAlgn="base" hangingPunct="1">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5pPr>
      <a:lvl6pPr marL="2514600" indent="-228600" algn="l" rtl="0" eaLnBrk="1" fontAlgn="base" hangingPunct="1">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6pPr>
      <a:lvl7pPr marL="2971800" indent="-228600" algn="l" rtl="0" eaLnBrk="1" fontAlgn="base" hangingPunct="1">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7pPr>
      <a:lvl8pPr marL="3429000" indent="-228600" algn="l" rtl="0" eaLnBrk="1" fontAlgn="base" hangingPunct="1">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8pPr>
      <a:lvl9pPr marL="3886200" indent="-228600" algn="l" rtl="0" eaLnBrk="1" fontAlgn="base" hangingPunct="1">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rrowheads="1"/>
          </p:cNvSpPr>
          <p:nvPr>
            <p:ph type="ctrTitle" sz="quarter"/>
          </p:nvPr>
        </p:nvSpPr>
        <p:spPr/>
        <p:txBody>
          <a:bodyPr/>
          <a:lstStyle/>
          <a:p>
            <a:pPr eaLnBrk="1" hangingPunct="1">
              <a:defRPr/>
            </a:pPr>
            <a:r>
              <a:rPr lang="en-US" b="0" u="sng" dirty="0" smtClean="0">
                <a:effectLst/>
                <a:latin typeface="Constantia" pitchFamily="18" charset="0"/>
              </a:rPr>
              <a:t>Market Structure</a:t>
            </a:r>
          </a:p>
        </p:txBody>
      </p:sp>
      <p:sp>
        <p:nvSpPr>
          <p:cNvPr id="7171" name="Rectangle 3"/>
          <p:cNvSpPr>
            <a:spLocks noGrp="1" noChangeArrowheads="1"/>
          </p:cNvSpPr>
          <p:nvPr>
            <p:ph type="subTitle" sz="quarter" idx="1"/>
          </p:nvPr>
        </p:nvSpPr>
        <p:spPr/>
        <p:txBody>
          <a:bodyPr/>
          <a:lstStyle/>
          <a:p>
            <a:pPr eaLnBrk="1" hangingPunct="1">
              <a:buFont typeface="Wingdings" pitchFamily="2" charset="2"/>
              <a:buNone/>
              <a:defRPr/>
            </a:pPr>
            <a:endParaRPr lang="en-US" b="1" dirty="0" smtClean="0"/>
          </a:p>
          <a:p>
            <a:pPr algn="ctr" eaLnBrk="1" hangingPunct="1">
              <a:buFont typeface="Wingdings" pitchFamily="2" charset="2"/>
              <a:buNone/>
              <a:defRPr/>
            </a:pPr>
            <a:r>
              <a:rPr lang="en-US" sz="4000" dirty="0" smtClean="0">
                <a:effectLst/>
              </a:rPr>
              <a:t>Basic Models</a:t>
            </a:r>
          </a:p>
          <a:p>
            <a:pPr algn="ctr" eaLnBrk="1" hangingPunct="1">
              <a:buFont typeface="Wingdings" pitchFamily="2" charset="2"/>
              <a:buNone/>
              <a:defRPr/>
            </a:pPr>
            <a:endParaRPr lang="en-US" b="1" dirty="0" smtClean="0"/>
          </a:p>
          <a:p>
            <a:pPr eaLnBrk="1" hangingPunct="1">
              <a:buNone/>
              <a:defRPr/>
            </a:pPr>
            <a:endParaRPr lang="en-US"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Rot="1" noChangeArrowheads="1"/>
          </p:cNvSpPr>
          <p:nvPr>
            <p:ph type="title"/>
          </p:nvPr>
        </p:nvSpPr>
        <p:spPr/>
        <p:txBody>
          <a:bodyPr/>
          <a:lstStyle/>
          <a:p>
            <a:r>
              <a:rPr lang="en-US" u="sng" dirty="0" smtClean="0">
                <a:latin typeface="Constantia" pitchFamily="18" charset="0"/>
              </a:rPr>
              <a:t>General </a:t>
            </a:r>
            <a:r>
              <a:rPr lang="en-US" u="sng" dirty="0">
                <a:latin typeface="Constantia" pitchFamily="18" charset="0"/>
              </a:rPr>
              <a:t>Types of </a:t>
            </a:r>
            <a:r>
              <a:rPr lang="en-US" u="sng" dirty="0" smtClean="0">
                <a:latin typeface="Constantia" pitchFamily="18" charset="0"/>
              </a:rPr>
              <a:t>Markets:</a:t>
            </a:r>
            <a:endParaRPr lang="en-US" u="sng" dirty="0">
              <a:latin typeface="Constantia" pitchFamily="18" charset="0"/>
            </a:endParaRPr>
          </a:p>
        </p:txBody>
      </p:sp>
      <p:sp>
        <p:nvSpPr>
          <p:cNvPr id="135171" name="Rectangle 3"/>
          <p:cNvSpPr>
            <a:spLocks noGrp="1" noChangeArrowheads="1"/>
          </p:cNvSpPr>
          <p:nvPr>
            <p:ph idx="1"/>
          </p:nvPr>
        </p:nvSpPr>
        <p:spPr/>
        <p:txBody>
          <a:bodyPr>
            <a:normAutofit fontScale="92500" lnSpcReduction="10000"/>
          </a:bodyPr>
          <a:lstStyle/>
          <a:p>
            <a:pPr marL="812800" indent="-812800">
              <a:buSzTx/>
              <a:buFont typeface="Wingdings" pitchFamily="2" charset="2"/>
              <a:buAutoNum type="romanUcPeriod"/>
            </a:pPr>
            <a:r>
              <a:rPr lang="en-US" sz="2800" dirty="0" smtClean="0">
                <a:latin typeface="Constantia" pitchFamily="18" charset="0"/>
              </a:rPr>
              <a:t>Perfectly </a:t>
            </a:r>
            <a:r>
              <a:rPr lang="en-US" sz="2800" dirty="0">
                <a:latin typeface="Constantia" pitchFamily="18" charset="0"/>
              </a:rPr>
              <a:t>c</a:t>
            </a:r>
            <a:r>
              <a:rPr lang="en-US" sz="2800" dirty="0" smtClean="0">
                <a:latin typeface="Constantia" pitchFamily="18" charset="0"/>
              </a:rPr>
              <a:t>ompetitive </a:t>
            </a:r>
            <a:r>
              <a:rPr lang="en-US" sz="2800" dirty="0">
                <a:latin typeface="Constantia" pitchFamily="18" charset="0"/>
              </a:rPr>
              <a:t>m</a:t>
            </a:r>
            <a:r>
              <a:rPr lang="en-US" sz="2800" dirty="0" smtClean="0">
                <a:latin typeface="Constantia" pitchFamily="18" charset="0"/>
              </a:rPr>
              <a:t>arket </a:t>
            </a:r>
            <a:r>
              <a:rPr lang="en-US" sz="2800" dirty="0">
                <a:latin typeface="Constantia" pitchFamily="18" charset="0"/>
              </a:rPr>
              <a:t>[5 main features]</a:t>
            </a:r>
          </a:p>
          <a:p>
            <a:pPr marL="812800" indent="-812800">
              <a:buSzTx/>
              <a:buFont typeface="Wingdings" pitchFamily="2" charset="2"/>
              <a:buAutoNum type="romanUcPeriod"/>
            </a:pPr>
            <a:r>
              <a:rPr lang="en-US" sz="2800" dirty="0" smtClean="0">
                <a:latin typeface="Constantia" pitchFamily="18" charset="0"/>
              </a:rPr>
              <a:t>Imperfect </a:t>
            </a:r>
            <a:r>
              <a:rPr lang="en-US" sz="2800" dirty="0">
                <a:latin typeface="Constantia" pitchFamily="18" charset="0"/>
              </a:rPr>
              <a:t>market </a:t>
            </a:r>
          </a:p>
          <a:p>
            <a:pPr marL="1168400" lvl="1" indent="-711200"/>
            <a:r>
              <a:rPr lang="en-US" sz="2800" b="1" dirty="0">
                <a:latin typeface="Constantia" pitchFamily="18" charset="0"/>
              </a:rPr>
              <a:t>Monopoly</a:t>
            </a:r>
            <a:r>
              <a:rPr lang="en-US" sz="2800" dirty="0">
                <a:latin typeface="Constantia" pitchFamily="18" charset="0"/>
              </a:rPr>
              <a:t> – one </a:t>
            </a:r>
            <a:r>
              <a:rPr lang="en-US" sz="2800" dirty="0" smtClean="0">
                <a:latin typeface="Constantia" pitchFamily="18" charset="0"/>
              </a:rPr>
              <a:t>firm (seller)</a:t>
            </a:r>
          </a:p>
          <a:p>
            <a:pPr marL="1168400" lvl="1" indent="-711200"/>
            <a:r>
              <a:rPr lang="en-US" sz="2800" b="1" dirty="0" smtClean="0">
                <a:latin typeface="Constantia" pitchFamily="18" charset="0"/>
              </a:rPr>
              <a:t>Monopsony</a:t>
            </a:r>
            <a:r>
              <a:rPr lang="en-US" sz="2800" dirty="0" smtClean="0">
                <a:latin typeface="Constantia" pitchFamily="18" charset="0"/>
              </a:rPr>
              <a:t> – one buyer</a:t>
            </a:r>
          </a:p>
          <a:p>
            <a:pPr marL="1168400" lvl="1" indent="-711200"/>
            <a:r>
              <a:rPr lang="en-US" sz="2800" b="1" dirty="0" smtClean="0">
                <a:latin typeface="Constantia" pitchFamily="18" charset="0"/>
              </a:rPr>
              <a:t>Duopoly</a:t>
            </a:r>
            <a:r>
              <a:rPr lang="en-US" sz="2800" dirty="0" smtClean="0">
                <a:latin typeface="Constantia" pitchFamily="18" charset="0"/>
              </a:rPr>
              <a:t> – two large firms</a:t>
            </a:r>
          </a:p>
          <a:p>
            <a:pPr marL="1168400" lvl="1" indent="-711200"/>
            <a:r>
              <a:rPr lang="en-US" sz="2800" b="1" dirty="0" err="1" smtClean="0">
                <a:latin typeface="Constantia" pitchFamily="18" charset="0"/>
              </a:rPr>
              <a:t>Duopsony</a:t>
            </a:r>
            <a:r>
              <a:rPr lang="en-US" sz="2800" dirty="0" smtClean="0">
                <a:latin typeface="Constantia" pitchFamily="18" charset="0"/>
              </a:rPr>
              <a:t> – two large buyers</a:t>
            </a:r>
            <a:endParaRPr lang="en-US" sz="2800" dirty="0">
              <a:latin typeface="Constantia" pitchFamily="18" charset="0"/>
            </a:endParaRPr>
          </a:p>
          <a:p>
            <a:pPr marL="1168400" lvl="1" indent="-711200"/>
            <a:r>
              <a:rPr lang="en-US" sz="2800" b="1" dirty="0">
                <a:latin typeface="Constantia" pitchFamily="18" charset="0"/>
              </a:rPr>
              <a:t>Oligopoly</a:t>
            </a:r>
            <a:r>
              <a:rPr lang="en-US" sz="2800" dirty="0">
                <a:latin typeface="Constantia" pitchFamily="18" charset="0"/>
              </a:rPr>
              <a:t> </a:t>
            </a:r>
            <a:r>
              <a:rPr lang="en-US" sz="2800" dirty="0" smtClean="0">
                <a:latin typeface="Constantia" pitchFamily="18" charset="0"/>
              </a:rPr>
              <a:t>– </a:t>
            </a:r>
            <a:r>
              <a:rPr lang="en-US" sz="2800" dirty="0">
                <a:latin typeface="Constantia" pitchFamily="18" charset="0"/>
              </a:rPr>
              <a:t>few </a:t>
            </a:r>
            <a:r>
              <a:rPr lang="en-US" sz="2800" dirty="0" smtClean="0">
                <a:latin typeface="Constantia" pitchFamily="18" charset="0"/>
              </a:rPr>
              <a:t>firms</a:t>
            </a:r>
          </a:p>
          <a:p>
            <a:pPr marL="1168400" lvl="1" indent="-711200"/>
            <a:r>
              <a:rPr lang="en-US" sz="2800" b="1" dirty="0" smtClean="0">
                <a:latin typeface="Constantia" pitchFamily="18" charset="0"/>
              </a:rPr>
              <a:t>Oligopsony</a:t>
            </a:r>
            <a:r>
              <a:rPr lang="en-US" sz="2800" dirty="0" smtClean="0">
                <a:latin typeface="Constantia" pitchFamily="18" charset="0"/>
              </a:rPr>
              <a:t> – few buyers</a:t>
            </a:r>
            <a:endParaRPr lang="en-US" sz="2800" dirty="0">
              <a:latin typeface="Constantia" pitchFamily="18" charset="0"/>
            </a:endParaRPr>
          </a:p>
          <a:p>
            <a:pPr marL="1168400" lvl="1" indent="-711200"/>
            <a:r>
              <a:rPr lang="en-US" sz="2800" b="1" dirty="0">
                <a:latin typeface="Constantia" pitchFamily="18" charset="0"/>
              </a:rPr>
              <a:t>Monopolistic competition</a:t>
            </a:r>
            <a:r>
              <a:rPr lang="en-US" sz="2800" dirty="0">
                <a:latin typeface="Constantia" pitchFamily="18" charset="0"/>
              </a:rPr>
              <a:t> – many firms selling differentiated products.</a:t>
            </a:r>
          </a:p>
        </p:txBody>
      </p:sp>
      <p:sp>
        <p:nvSpPr>
          <p:cNvPr id="4" name="Slide Number Placeholder 3"/>
          <p:cNvSpPr>
            <a:spLocks noGrp="1"/>
          </p:cNvSpPr>
          <p:nvPr>
            <p:ph type="sldNum" sz="quarter" idx="12"/>
          </p:nvPr>
        </p:nvSpPr>
        <p:spPr/>
        <p:txBody>
          <a:bodyPr/>
          <a:lstStyle/>
          <a:p>
            <a:fld id="{435A53F3-E167-4BB6-BF93-0C10F778919C}" type="slidenum">
              <a:rPr lang="en-US" smtClean="0"/>
              <a:pPr/>
              <a:t>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135170"/>
                                        </p:tgtEl>
                                        <p:attrNameLst>
                                          <p:attrName>style.visibility</p:attrName>
                                        </p:attrNameLst>
                                      </p:cBhvr>
                                      <p:to>
                                        <p:strVal val="visible"/>
                                      </p:to>
                                    </p:set>
                                    <p:animEffect transition="in" filter="fade">
                                      <p:cBhvr>
                                        <p:cTn id="7" dur="800" decel="100000"/>
                                        <p:tgtEl>
                                          <p:spTgt spid="135170"/>
                                        </p:tgtEl>
                                      </p:cBhvr>
                                    </p:animEffect>
                                    <p:anim calcmode="lin" valueType="num">
                                      <p:cBhvr>
                                        <p:cTn id="8" dur="800" decel="100000" fill="hold"/>
                                        <p:tgtEl>
                                          <p:spTgt spid="135170"/>
                                        </p:tgtEl>
                                        <p:attrNameLst>
                                          <p:attrName>style.rotation</p:attrName>
                                        </p:attrNameLst>
                                      </p:cBhvr>
                                      <p:tavLst>
                                        <p:tav tm="0">
                                          <p:val>
                                            <p:fltVal val="-90"/>
                                          </p:val>
                                        </p:tav>
                                        <p:tav tm="100000">
                                          <p:val>
                                            <p:fltVal val="0"/>
                                          </p:val>
                                        </p:tav>
                                      </p:tavLst>
                                    </p:anim>
                                    <p:anim calcmode="lin" valueType="num">
                                      <p:cBhvr>
                                        <p:cTn id="9" dur="800" decel="100000" fill="hold"/>
                                        <p:tgtEl>
                                          <p:spTgt spid="135170"/>
                                        </p:tgtEl>
                                        <p:attrNameLst>
                                          <p:attrName>ppt_x</p:attrName>
                                        </p:attrNameLst>
                                      </p:cBhvr>
                                      <p:tavLst>
                                        <p:tav tm="0">
                                          <p:val>
                                            <p:strVal val="#ppt_x+0.4"/>
                                          </p:val>
                                        </p:tav>
                                        <p:tav tm="100000">
                                          <p:val>
                                            <p:strVal val="#ppt_x-0.05"/>
                                          </p:val>
                                        </p:tav>
                                      </p:tavLst>
                                    </p:anim>
                                    <p:anim calcmode="lin" valueType="num">
                                      <p:cBhvr>
                                        <p:cTn id="10" dur="800" decel="100000" fill="hold"/>
                                        <p:tgtEl>
                                          <p:spTgt spid="135170"/>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35170"/>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35170"/>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nodeType="clickEffect">
                                  <p:stCondLst>
                                    <p:cond delay="0"/>
                                  </p:stCondLst>
                                  <p:childTnLst>
                                    <p:set>
                                      <p:cBhvr>
                                        <p:cTn id="16" dur="1" fill="hold">
                                          <p:stCondLst>
                                            <p:cond delay="0"/>
                                          </p:stCondLst>
                                        </p:cTn>
                                        <p:tgtEl>
                                          <p:spTgt spid="135171">
                                            <p:txEl>
                                              <p:pRg st="0" end="0"/>
                                            </p:txEl>
                                          </p:spTgt>
                                        </p:tgtEl>
                                        <p:attrNameLst>
                                          <p:attrName>style.visibility</p:attrName>
                                        </p:attrNameLst>
                                      </p:cBhvr>
                                      <p:to>
                                        <p:strVal val="visible"/>
                                      </p:to>
                                    </p:set>
                                    <p:animEffect transition="in" filter="fade">
                                      <p:cBhvr>
                                        <p:cTn id="17" dur="800" decel="100000"/>
                                        <p:tgtEl>
                                          <p:spTgt spid="135171">
                                            <p:txEl>
                                              <p:pRg st="0" end="0"/>
                                            </p:txEl>
                                          </p:spTgt>
                                        </p:tgtEl>
                                      </p:cBhvr>
                                    </p:animEffect>
                                    <p:anim calcmode="lin" valueType="num">
                                      <p:cBhvr>
                                        <p:cTn id="18" dur="800" decel="100000" fill="hold"/>
                                        <p:tgtEl>
                                          <p:spTgt spid="135171">
                                            <p:txEl>
                                              <p:pRg st="0" end="0"/>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135171">
                                            <p:txEl>
                                              <p:pRg st="0" end="0"/>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135171">
                                            <p:txEl>
                                              <p:pRg st="0" end="0"/>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135171">
                                            <p:txEl>
                                              <p:pRg st="0" end="0"/>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135171">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0" presetClass="entr" presetSubtype="0" fill="hold" nodeType="clickEffect">
                                  <p:stCondLst>
                                    <p:cond delay="0"/>
                                  </p:stCondLst>
                                  <p:childTnLst>
                                    <p:set>
                                      <p:cBhvr>
                                        <p:cTn id="26" dur="1" fill="hold">
                                          <p:stCondLst>
                                            <p:cond delay="0"/>
                                          </p:stCondLst>
                                        </p:cTn>
                                        <p:tgtEl>
                                          <p:spTgt spid="135171">
                                            <p:txEl>
                                              <p:pRg st="1" end="1"/>
                                            </p:txEl>
                                          </p:spTgt>
                                        </p:tgtEl>
                                        <p:attrNameLst>
                                          <p:attrName>style.visibility</p:attrName>
                                        </p:attrNameLst>
                                      </p:cBhvr>
                                      <p:to>
                                        <p:strVal val="visible"/>
                                      </p:to>
                                    </p:set>
                                    <p:animEffect transition="in" filter="fade">
                                      <p:cBhvr>
                                        <p:cTn id="27" dur="800" decel="100000"/>
                                        <p:tgtEl>
                                          <p:spTgt spid="135171">
                                            <p:txEl>
                                              <p:pRg st="1" end="1"/>
                                            </p:txEl>
                                          </p:spTgt>
                                        </p:tgtEl>
                                      </p:cBhvr>
                                    </p:animEffect>
                                    <p:anim calcmode="lin" valueType="num">
                                      <p:cBhvr>
                                        <p:cTn id="28" dur="800" decel="100000" fill="hold"/>
                                        <p:tgtEl>
                                          <p:spTgt spid="135171">
                                            <p:txEl>
                                              <p:pRg st="1" end="1"/>
                                            </p:txEl>
                                          </p:spTgt>
                                        </p:tgtEl>
                                        <p:attrNameLst>
                                          <p:attrName>style.rotation</p:attrName>
                                        </p:attrNameLst>
                                      </p:cBhvr>
                                      <p:tavLst>
                                        <p:tav tm="0">
                                          <p:val>
                                            <p:fltVal val="-90"/>
                                          </p:val>
                                        </p:tav>
                                        <p:tav tm="100000">
                                          <p:val>
                                            <p:fltVal val="0"/>
                                          </p:val>
                                        </p:tav>
                                      </p:tavLst>
                                    </p:anim>
                                    <p:anim calcmode="lin" valueType="num">
                                      <p:cBhvr>
                                        <p:cTn id="29" dur="800" decel="100000" fill="hold"/>
                                        <p:tgtEl>
                                          <p:spTgt spid="135171">
                                            <p:txEl>
                                              <p:pRg st="1" end="1"/>
                                            </p:txEl>
                                          </p:spTgt>
                                        </p:tgtEl>
                                        <p:attrNameLst>
                                          <p:attrName>ppt_x</p:attrName>
                                        </p:attrNameLst>
                                      </p:cBhvr>
                                      <p:tavLst>
                                        <p:tav tm="0">
                                          <p:val>
                                            <p:strVal val="#ppt_x+0.4"/>
                                          </p:val>
                                        </p:tav>
                                        <p:tav tm="100000">
                                          <p:val>
                                            <p:strVal val="#ppt_x-0.05"/>
                                          </p:val>
                                        </p:tav>
                                      </p:tavLst>
                                    </p:anim>
                                    <p:anim calcmode="lin" valueType="num">
                                      <p:cBhvr>
                                        <p:cTn id="30" dur="800" decel="100000" fill="hold"/>
                                        <p:tgtEl>
                                          <p:spTgt spid="135171">
                                            <p:txEl>
                                              <p:pRg st="1" end="1"/>
                                            </p:txEl>
                                          </p:spTgt>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135171">
                                            <p:txEl>
                                              <p:pRg st="1" end="1"/>
                                            </p:txEl>
                                          </p:spTgt>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135171">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0" presetClass="entr" presetSubtype="0" fill="hold" nodeType="clickEffect">
                                  <p:stCondLst>
                                    <p:cond delay="0"/>
                                  </p:stCondLst>
                                  <p:childTnLst>
                                    <p:set>
                                      <p:cBhvr>
                                        <p:cTn id="36" dur="1" fill="hold">
                                          <p:stCondLst>
                                            <p:cond delay="0"/>
                                          </p:stCondLst>
                                        </p:cTn>
                                        <p:tgtEl>
                                          <p:spTgt spid="135171">
                                            <p:txEl>
                                              <p:pRg st="2" end="2"/>
                                            </p:txEl>
                                          </p:spTgt>
                                        </p:tgtEl>
                                        <p:attrNameLst>
                                          <p:attrName>style.visibility</p:attrName>
                                        </p:attrNameLst>
                                      </p:cBhvr>
                                      <p:to>
                                        <p:strVal val="visible"/>
                                      </p:to>
                                    </p:set>
                                    <p:animEffect transition="in" filter="fade">
                                      <p:cBhvr>
                                        <p:cTn id="37" dur="800" decel="100000"/>
                                        <p:tgtEl>
                                          <p:spTgt spid="135171">
                                            <p:txEl>
                                              <p:pRg st="2" end="2"/>
                                            </p:txEl>
                                          </p:spTgt>
                                        </p:tgtEl>
                                      </p:cBhvr>
                                    </p:animEffect>
                                    <p:anim calcmode="lin" valueType="num">
                                      <p:cBhvr>
                                        <p:cTn id="38" dur="800" decel="100000" fill="hold"/>
                                        <p:tgtEl>
                                          <p:spTgt spid="135171">
                                            <p:txEl>
                                              <p:pRg st="2" end="2"/>
                                            </p:txEl>
                                          </p:spTgt>
                                        </p:tgtEl>
                                        <p:attrNameLst>
                                          <p:attrName>style.rotation</p:attrName>
                                        </p:attrNameLst>
                                      </p:cBhvr>
                                      <p:tavLst>
                                        <p:tav tm="0">
                                          <p:val>
                                            <p:fltVal val="-90"/>
                                          </p:val>
                                        </p:tav>
                                        <p:tav tm="100000">
                                          <p:val>
                                            <p:fltVal val="0"/>
                                          </p:val>
                                        </p:tav>
                                      </p:tavLst>
                                    </p:anim>
                                    <p:anim calcmode="lin" valueType="num">
                                      <p:cBhvr>
                                        <p:cTn id="39" dur="800" decel="100000" fill="hold"/>
                                        <p:tgtEl>
                                          <p:spTgt spid="135171">
                                            <p:txEl>
                                              <p:pRg st="2" end="2"/>
                                            </p:txEl>
                                          </p:spTgt>
                                        </p:tgtEl>
                                        <p:attrNameLst>
                                          <p:attrName>ppt_x</p:attrName>
                                        </p:attrNameLst>
                                      </p:cBhvr>
                                      <p:tavLst>
                                        <p:tav tm="0">
                                          <p:val>
                                            <p:strVal val="#ppt_x+0.4"/>
                                          </p:val>
                                        </p:tav>
                                        <p:tav tm="100000">
                                          <p:val>
                                            <p:strVal val="#ppt_x-0.05"/>
                                          </p:val>
                                        </p:tav>
                                      </p:tavLst>
                                    </p:anim>
                                    <p:anim calcmode="lin" valueType="num">
                                      <p:cBhvr>
                                        <p:cTn id="40" dur="800" decel="100000" fill="hold"/>
                                        <p:tgtEl>
                                          <p:spTgt spid="135171">
                                            <p:txEl>
                                              <p:pRg st="2" end="2"/>
                                            </p:txEl>
                                          </p:spTgt>
                                        </p:tgtEl>
                                        <p:attrNameLst>
                                          <p:attrName>ppt_y</p:attrName>
                                        </p:attrNameLst>
                                      </p:cBhvr>
                                      <p:tavLst>
                                        <p:tav tm="0">
                                          <p:val>
                                            <p:strVal val="#ppt_y-0.4"/>
                                          </p:val>
                                        </p:tav>
                                        <p:tav tm="100000">
                                          <p:val>
                                            <p:strVal val="#ppt_y+0.1"/>
                                          </p:val>
                                        </p:tav>
                                      </p:tavLst>
                                    </p:anim>
                                    <p:anim calcmode="lin" valueType="num">
                                      <p:cBhvr>
                                        <p:cTn id="41" dur="200" accel="100000" fill="hold">
                                          <p:stCondLst>
                                            <p:cond delay="800"/>
                                          </p:stCondLst>
                                        </p:cTn>
                                        <p:tgtEl>
                                          <p:spTgt spid="135171">
                                            <p:txEl>
                                              <p:pRg st="2" end="2"/>
                                            </p:txEl>
                                          </p:spTgt>
                                        </p:tgtEl>
                                        <p:attrNameLst>
                                          <p:attrName>ppt_x</p:attrName>
                                        </p:attrNameLst>
                                      </p:cBhvr>
                                      <p:tavLst>
                                        <p:tav tm="0">
                                          <p:val>
                                            <p:strVal val="#ppt_x-0.05"/>
                                          </p:val>
                                        </p:tav>
                                        <p:tav tm="100000">
                                          <p:val>
                                            <p:strVal val="#ppt_x"/>
                                          </p:val>
                                        </p:tav>
                                      </p:tavLst>
                                    </p:anim>
                                    <p:anim calcmode="lin" valueType="num">
                                      <p:cBhvr>
                                        <p:cTn id="42" dur="200" accel="100000" fill="hold">
                                          <p:stCondLst>
                                            <p:cond delay="800"/>
                                          </p:stCondLst>
                                        </p:cTn>
                                        <p:tgtEl>
                                          <p:spTgt spid="135171">
                                            <p:txEl>
                                              <p:pRg st="2" end="2"/>
                                            </p:txEl>
                                          </p:spTgt>
                                        </p:tgtEl>
                                        <p:attrNameLst>
                                          <p:attrName>ppt_y</p:attrName>
                                        </p:attrNameLst>
                                      </p:cBhvr>
                                      <p:tavLst>
                                        <p:tav tm="0">
                                          <p:val>
                                            <p:strVal val="#ppt_y+0.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30" presetClass="entr" presetSubtype="0" fill="hold" nodeType="clickEffect">
                                  <p:stCondLst>
                                    <p:cond delay="0"/>
                                  </p:stCondLst>
                                  <p:childTnLst>
                                    <p:set>
                                      <p:cBhvr>
                                        <p:cTn id="46" dur="1" fill="hold">
                                          <p:stCondLst>
                                            <p:cond delay="0"/>
                                          </p:stCondLst>
                                        </p:cTn>
                                        <p:tgtEl>
                                          <p:spTgt spid="135171">
                                            <p:txEl>
                                              <p:pRg st="3" end="3"/>
                                            </p:txEl>
                                          </p:spTgt>
                                        </p:tgtEl>
                                        <p:attrNameLst>
                                          <p:attrName>style.visibility</p:attrName>
                                        </p:attrNameLst>
                                      </p:cBhvr>
                                      <p:to>
                                        <p:strVal val="visible"/>
                                      </p:to>
                                    </p:set>
                                    <p:animEffect transition="in" filter="fade">
                                      <p:cBhvr>
                                        <p:cTn id="47" dur="800" decel="100000"/>
                                        <p:tgtEl>
                                          <p:spTgt spid="135171">
                                            <p:txEl>
                                              <p:pRg st="3" end="3"/>
                                            </p:txEl>
                                          </p:spTgt>
                                        </p:tgtEl>
                                      </p:cBhvr>
                                    </p:animEffect>
                                    <p:anim calcmode="lin" valueType="num">
                                      <p:cBhvr>
                                        <p:cTn id="48" dur="800" decel="100000" fill="hold"/>
                                        <p:tgtEl>
                                          <p:spTgt spid="135171">
                                            <p:txEl>
                                              <p:pRg st="3" end="3"/>
                                            </p:txEl>
                                          </p:spTgt>
                                        </p:tgtEl>
                                        <p:attrNameLst>
                                          <p:attrName>style.rotation</p:attrName>
                                        </p:attrNameLst>
                                      </p:cBhvr>
                                      <p:tavLst>
                                        <p:tav tm="0">
                                          <p:val>
                                            <p:fltVal val="-90"/>
                                          </p:val>
                                        </p:tav>
                                        <p:tav tm="100000">
                                          <p:val>
                                            <p:fltVal val="0"/>
                                          </p:val>
                                        </p:tav>
                                      </p:tavLst>
                                    </p:anim>
                                    <p:anim calcmode="lin" valueType="num">
                                      <p:cBhvr>
                                        <p:cTn id="49" dur="800" decel="100000" fill="hold"/>
                                        <p:tgtEl>
                                          <p:spTgt spid="135171">
                                            <p:txEl>
                                              <p:pRg st="3" end="3"/>
                                            </p:txEl>
                                          </p:spTgt>
                                        </p:tgtEl>
                                        <p:attrNameLst>
                                          <p:attrName>ppt_x</p:attrName>
                                        </p:attrNameLst>
                                      </p:cBhvr>
                                      <p:tavLst>
                                        <p:tav tm="0">
                                          <p:val>
                                            <p:strVal val="#ppt_x+0.4"/>
                                          </p:val>
                                        </p:tav>
                                        <p:tav tm="100000">
                                          <p:val>
                                            <p:strVal val="#ppt_x-0.05"/>
                                          </p:val>
                                        </p:tav>
                                      </p:tavLst>
                                    </p:anim>
                                    <p:anim calcmode="lin" valueType="num">
                                      <p:cBhvr>
                                        <p:cTn id="50" dur="800" decel="100000" fill="hold"/>
                                        <p:tgtEl>
                                          <p:spTgt spid="135171">
                                            <p:txEl>
                                              <p:pRg st="3" end="3"/>
                                            </p:txEl>
                                          </p:spTgt>
                                        </p:tgtEl>
                                        <p:attrNameLst>
                                          <p:attrName>ppt_y</p:attrName>
                                        </p:attrNameLst>
                                      </p:cBhvr>
                                      <p:tavLst>
                                        <p:tav tm="0">
                                          <p:val>
                                            <p:strVal val="#ppt_y-0.4"/>
                                          </p:val>
                                        </p:tav>
                                        <p:tav tm="100000">
                                          <p:val>
                                            <p:strVal val="#ppt_y+0.1"/>
                                          </p:val>
                                        </p:tav>
                                      </p:tavLst>
                                    </p:anim>
                                    <p:anim calcmode="lin" valueType="num">
                                      <p:cBhvr>
                                        <p:cTn id="51" dur="200" accel="100000" fill="hold">
                                          <p:stCondLst>
                                            <p:cond delay="800"/>
                                          </p:stCondLst>
                                        </p:cTn>
                                        <p:tgtEl>
                                          <p:spTgt spid="135171">
                                            <p:txEl>
                                              <p:pRg st="3" end="3"/>
                                            </p:txEl>
                                          </p:spTgt>
                                        </p:tgtEl>
                                        <p:attrNameLst>
                                          <p:attrName>ppt_x</p:attrName>
                                        </p:attrNameLst>
                                      </p:cBhvr>
                                      <p:tavLst>
                                        <p:tav tm="0">
                                          <p:val>
                                            <p:strVal val="#ppt_x-0.05"/>
                                          </p:val>
                                        </p:tav>
                                        <p:tav tm="100000">
                                          <p:val>
                                            <p:strVal val="#ppt_x"/>
                                          </p:val>
                                        </p:tav>
                                      </p:tavLst>
                                    </p:anim>
                                    <p:anim calcmode="lin" valueType="num">
                                      <p:cBhvr>
                                        <p:cTn id="52" dur="200" accel="100000" fill="hold">
                                          <p:stCondLst>
                                            <p:cond delay="800"/>
                                          </p:stCondLst>
                                        </p:cTn>
                                        <p:tgtEl>
                                          <p:spTgt spid="135171">
                                            <p:txEl>
                                              <p:pRg st="3" end="3"/>
                                            </p:txEl>
                                          </p:spTgt>
                                        </p:tgtEl>
                                        <p:attrNameLst>
                                          <p:attrName>ppt_y</p:attrName>
                                        </p:attrNameLst>
                                      </p:cBhvr>
                                      <p:tavLst>
                                        <p:tav tm="0">
                                          <p:val>
                                            <p:strVal val="#ppt_y+0.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30" presetClass="entr" presetSubtype="0" fill="hold" nodeType="clickEffect">
                                  <p:stCondLst>
                                    <p:cond delay="0"/>
                                  </p:stCondLst>
                                  <p:childTnLst>
                                    <p:set>
                                      <p:cBhvr>
                                        <p:cTn id="56" dur="1" fill="hold">
                                          <p:stCondLst>
                                            <p:cond delay="0"/>
                                          </p:stCondLst>
                                        </p:cTn>
                                        <p:tgtEl>
                                          <p:spTgt spid="135171">
                                            <p:txEl>
                                              <p:pRg st="4" end="4"/>
                                            </p:txEl>
                                          </p:spTgt>
                                        </p:tgtEl>
                                        <p:attrNameLst>
                                          <p:attrName>style.visibility</p:attrName>
                                        </p:attrNameLst>
                                      </p:cBhvr>
                                      <p:to>
                                        <p:strVal val="visible"/>
                                      </p:to>
                                    </p:set>
                                    <p:animEffect transition="in" filter="fade">
                                      <p:cBhvr>
                                        <p:cTn id="57" dur="800" decel="100000"/>
                                        <p:tgtEl>
                                          <p:spTgt spid="135171">
                                            <p:txEl>
                                              <p:pRg st="4" end="4"/>
                                            </p:txEl>
                                          </p:spTgt>
                                        </p:tgtEl>
                                      </p:cBhvr>
                                    </p:animEffect>
                                    <p:anim calcmode="lin" valueType="num">
                                      <p:cBhvr>
                                        <p:cTn id="58" dur="800" decel="100000" fill="hold"/>
                                        <p:tgtEl>
                                          <p:spTgt spid="135171">
                                            <p:txEl>
                                              <p:pRg st="4" end="4"/>
                                            </p:txEl>
                                          </p:spTgt>
                                        </p:tgtEl>
                                        <p:attrNameLst>
                                          <p:attrName>style.rotation</p:attrName>
                                        </p:attrNameLst>
                                      </p:cBhvr>
                                      <p:tavLst>
                                        <p:tav tm="0">
                                          <p:val>
                                            <p:fltVal val="-90"/>
                                          </p:val>
                                        </p:tav>
                                        <p:tav tm="100000">
                                          <p:val>
                                            <p:fltVal val="0"/>
                                          </p:val>
                                        </p:tav>
                                      </p:tavLst>
                                    </p:anim>
                                    <p:anim calcmode="lin" valueType="num">
                                      <p:cBhvr>
                                        <p:cTn id="59" dur="800" decel="100000" fill="hold"/>
                                        <p:tgtEl>
                                          <p:spTgt spid="135171">
                                            <p:txEl>
                                              <p:pRg st="4" end="4"/>
                                            </p:txEl>
                                          </p:spTgt>
                                        </p:tgtEl>
                                        <p:attrNameLst>
                                          <p:attrName>ppt_x</p:attrName>
                                        </p:attrNameLst>
                                      </p:cBhvr>
                                      <p:tavLst>
                                        <p:tav tm="0">
                                          <p:val>
                                            <p:strVal val="#ppt_x+0.4"/>
                                          </p:val>
                                        </p:tav>
                                        <p:tav tm="100000">
                                          <p:val>
                                            <p:strVal val="#ppt_x-0.05"/>
                                          </p:val>
                                        </p:tav>
                                      </p:tavLst>
                                    </p:anim>
                                    <p:anim calcmode="lin" valueType="num">
                                      <p:cBhvr>
                                        <p:cTn id="60" dur="800" decel="100000" fill="hold"/>
                                        <p:tgtEl>
                                          <p:spTgt spid="135171">
                                            <p:txEl>
                                              <p:pRg st="4" end="4"/>
                                            </p:txEl>
                                          </p:spTgt>
                                        </p:tgtEl>
                                        <p:attrNameLst>
                                          <p:attrName>ppt_y</p:attrName>
                                        </p:attrNameLst>
                                      </p:cBhvr>
                                      <p:tavLst>
                                        <p:tav tm="0">
                                          <p:val>
                                            <p:strVal val="#ppt_y-0.4"/>
                                          </p:val>
                                        </p:tav>
                                        <p:tav tm="100000">
                                          <p:val>
                                            <p:strVal val="#ppt_y+0.1"/>
                                          </p:val>
                                        </p:tav>
                                      </p:tavLst>
                                    </p:anim>
                                    <p:anim calcmode="lin" valueType="num">
                                      <p:cBhvr>
                                        <p:cTn id="61" dur="200" accel="100000" fill="hold">
                                          <p:stCondLst>
                                            <p:cond delay="800"/>
                                          </p:stCondLst>
                                        </p:cTn>
                                        <p:tgtEl>
                                          <p:spTgt spid="135171">
                                            <p:txEl>
                                              <p:pRg st="4" end="4"/>
                                            </p:txEl>
                                          </p:spTgt>
                                        </p:tgtEl>
                                        <p:attrNameLst>
                                          <p:attrName>ppt_x</p:attrName>
                                        </p:attrNameLst>
                                      </p:cBhvr>
                                      <p:tavLst>
                                        <p:tav tm="0">
                                          <p:val>
                                            <p:strVal val="#ppt_x-0.05"/>
                                          </p:val>
                                        </p:tav>
                                        <p:tav tm="100000">
                                          <p:val>
                                            <p:strVal val="#ppt_x"/>
                                          </p:val>
                                        </p:tav>
                                      </p:tavLst>
                                    </p:anim>
                                    <p:anim calcmode="lin" valueType="num">
                                      <p:cBhvr>
                                        <p:cTn id="62" dur="200" accel="100000" fill="hold">
                                          <p:stCondLst>
                                            <p:cond delay="800"/>
                                          </p:stCondLst>
                                        </p:cTn>
                                        <p:tgtEl>
                                          <p:spTgt spid="135171">
                                            <p:txEl>
                                              <p:pRg st="4" end="4"/>
                                            </p:txEl>
                                          </p:spTgt>
                                        </p:tgtEl>
                                        <p:attrNameLst>
                                          <p:attrName>ppt_y</p:attrName>
                                        </p:attrNameLst>
                                      </p:cBhvr>
                                      <p:tavLst>
                                        <p:tav tm="0">
                                          <p:val>
                                            <p:strVal val="#ppt_y+0.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30" presetClass="entr" presetSubtype="0" fill="hold" nodeType="clickEffect">
                                  <p:stCondLst>
                                    <p:cond delay="0"/>
                                  </p:stCondLst>
                                  <p:childTnLst>
                                    <p:set>
                                      <p:cBhvr>
                                        <p:cTn id="66" dur="1" fill="hold">
                                          <p:stCondLst>
                                            <p:cond delay="0"/>
                                          </p:stCondLst>
                                        </p:cTn>
                                        <p:tgtEl>
                                          <p:spTgt spid="135171">
                                            <p:txEl>
                                              <p:pRg st="5" end="5"/>
                                            </p:txEl>
                                          </p:spTgt>
                                        </p:tgtEl>
                                        <p:attrNameLst>
                                          <p:attrName>style.visibility</p:attrName>
                                        </p:attrNameLst>
                                      </p:cBhvr>
                                      <p:to>
                                        <p:strVal val="visible"/>
                                      </p:to>
                                    </p:set>
                                    <p:animEffect transition="in" filter="fade">
                                      <p:cBhvr>
                                        <p:cTn id="67" dur="800" decel="100000"/>
                                        <p:tgtEl>
                                          <p:spTgt spid="135171">
                                            <p:txEl>
                                              <p:pRg st="5" end="5"/>
                                            </p:txEl>
                                          </p:spTgt>
                                        </p:tgtEl>
                                      </p:cBhvr>
                                    </p:animEffect>
                                    <p:anim calcmode="lin" valueType="num">
                                      <p:cBhvr>
                                        <p:cTn id="68" dur="800" decel="100000" fill="hold"/>
                                        <p:tgtEl>
                                          <p:spTgt spid="135171">
                                            <p:txEl>
                                              <p:pRg st="5" end="5"/>
                                            </p:txEl>
                                          </p:spTgt>
                                        </p:tgtEl>
                                        <p:attrNameLst>
                                          <p:attrName>style.rotation</p:attrName>
                                        </p:attrNameLst>
                                      </p:cBhvr>
                                      <p:tavLst>
                                        <p:tav tm="0">
                                          <p:val>
                                            <p:fltVal val="-90"/>
                                          </p:val>
                                        </p:tav>
                                        <p:tav tm="100000">
                                          <p:val>
                                            <p:fltVal val="0"/>
                                          </p:val>
                                        </p:tav>
                                      </p:tavLst>
                                    </p:anim>
                                    <p:anim calcmode="lin" valueType="num">
                                      <p:cBhvr>
                                        <p:cTn id="69" dur="800" decel="100000" fill="hold"/>
                                        <p:tgtEl>
                                          <p:spTgt spid="135171">
                                            <p:txEl>
                                              <p:pRg st="5" end="5"/>
                                            </p:txEl>
                                          </p:spTgt>
                                        </p:tgtEl>
                                        <p:attrNameLst>
                                          <p:attrName>ppt_x</p:attrName>
                                        </p:attrNameLst>
                                      </p:cBhvr>
                                      <p:tavLst>
                                        <p:tav tm="0">
                                          <p:val>
                                            <p:strVal val="#ppt_x+0.4"/>
                                          </p:val>
                                        </p:tav>
                                        <p:tav tm="100000">
                                          <p:val>
                                            <p:strVal val="#ppt_x-0.05"/>
                                          </p:val>
                                        </p:tav>
                                      </p:tavLst>
                                    </p:anim>
                                    <p:anim calcmode="lin" valueType="num">
                                      <p:cBhvr>
                                        <p:cTn id="70" dur="800" decel="100000" fill="hold"/>
                                        <p:tgtEl>
                                          <p:spTgt spid="135171">
                                            <p:txEl>
                                              <p:pRg st="5" end="5"/>
                                            </p:txEl>
                                          </p:spTgt>
                                        </p:tgtEl>
                                        <p:attrNameLst>
                                          <p:attrName>ppt_y</p:attrName>
                                        </p:attrNameLst>
                                      </p:cBhvr>
                                      <p:tavLst>
                                        <p:tav tm="0">
                                          <p:val>
                                            <p:strVal val="#ppt_y-0.4"/>
                                          </p:val>
                                        </p:tav>
                                        <p:tav tm="100000">
                                          <p:val>
                                            <p:strVal val="#ppt_y+0.1"/>
                                          </p:val>
                                        </p:tav>
                                      </p:tavLst>
                                    </p:anim>
                                    <p:anim calcmode="lin" valueType="num">
                                      <p:cBhvr>
                                        <p:cTn id="71" dur="200" accel="100000" fill="hold">
                                          <p:stCondLst>
                                            <p:cond delay="800"/>
                                          </p:stCondLst>
                                        </p:cTn>
                                        <p:tgtEl>
                                          <p:spTgt spid="135171">
                                            <p:txEl>
                                              <p:pRg st="5" end="5"/>
                                            </p:txEl>
                                          </p:spTgt>
                                        </p:tgtEl>
                                        <p:attrNameLst>
                                          <p:attrName>ppt_x</p:attrName>
                                        </p:attrNameLst>
                                      </p:cBhvr>
                                      <p:tavLst>
                                        <p:tav tm="0">
                                          <p:val>
                                            <p:strVal val="#ppt_x-0.05"/>
                                          </p:val>
                                        </p:tav>
                                        <p:tav tm="100000">
                                          <p:val>
                                            <p:strVal val="#ppt_x"/>
                                          </p:val>
                                        </p:tav>
                                      </p:tavLst>
                                    </p:anim>
                                    <p:anim calcmode="lin" valueType="num">
                                      <p:cBhvr>
                                        <p:cTn id="72" dur="200" accel="100000" fill="hold">
                                          <p:stCondLst>
                                            <p:cond delay="800"/>
                                          </p:stCondLst>
                                        </p:cTn>
                                        <p:tgtEl>
                                          <p:spTgt spid="135171">
                                            <p:txEl>
                                              <p:pRg st="5" end="5"/>
                                            </p:txEl>
                                          </p:spTgt>
                                        </p:tgtEl>
                                        <p:attrNameLst>
                                          <p:attrName>ppt_y</p:attrName>
                                        </p:attrNameLst>
                                      </p:cBhvr>
                                      <p:tavLst>
                                        <p:tav tm="0">
                                          <p:val>
                                            <p:strVal val="#ppt_y+0.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30" presetClass="entr" presetSubtype="0" fill="hold" nodeType="clickEffect">
                                  <p:stCondLst>
                                    <p:cond delay="0"/>
                                  </p:stCondLst>
                                  <p:childTnLst>
                                    <p:set>
                                      <p:cBhvr>
                                        <p:cTn id="76" dur="1" fill="hold">
                                          <p:stCondLst>
                                            <p:cond delay="0"/>
                                          </p:stCondLst>
                                        </p:cTn>
                                        <p:tgtEl>
                                          <p:spTgt spid="135171">
                                            <p:txEl>
                                              <p:pRg st="6" end="6"/>
                                            </p:txEl>
                                          </p:spTgt>
                                        </p:tgtEl>
                                        <p:attrNameLst>
                                          <p:attrName>style.visibility</p:attrName>
                                        </p:attrNameLst>
                                      </p:cBhvr>
                                      <p:to>
                                        <p:strVal val="visible"/>
                                      </p:to>
                                    </p:set>
                                    <p:animEffect transition="in" filter="fade">
                                      <p:cBhvr>
                                        <p:cTn id="77" dur="800" decel="100000"/>
                                        <p:tgtEl>
                                          <p:spTgt spid="135171">
                                            <p:txEl>
                                              <p:pRg st="6" end="6"/>
                                            </p:txEl>
                                          </p:spTgt>
                                        </p:tgtEl>
                                      </p:cBhvr>
                                    </p:animEffect>
                                    <p:anim calcmode="lin" valueType="num">
                                      <p:cBhvr>
                                        <p:cTn id="78" dur="800" decel="100000" fill="hold"/>
                                        <p:tgtEl>
                                          <p:spTgt spid="135171">
                                            <p:txEl>
                                              <p:pRg st="6" end="6"/>
                                            </p:txEl>
                                          </p:spTgt>
                                        </p:tgtEl>
                                        <p:attrNameLst>
                                          <p:attrName>style.rotation</p:attrName>
                                        </p:attrNameLst>
                                      </p:cBhvr>
                                      <p:tavLst>
                                        <p:tav tm="0">
                                          <p:val>
                                            <p:fltVal val="-90"/>
                                          </p:val>
                                        </p:tav>
                                        <p:tav tm="100000">
                                          <p:val>
                                            <p:fltVal val="0"/>
                                          </p:val>
                                        </p:tav>
                                      </p:tavLst>
                                    </p:anim>
                                    <p:anim calcmode="lin" valueType="num">
                                      <p:cBhvr>
                                        <p:cTn id="79" dur="800" decel="100000" fill="hold"/>
                                        <p:tgtEl>
                                          <p:spTgt spid="135171">
                                            <p:txEl>
                                              <p:pRg st="6" end="6"/>
                                            </p:txEl>
                                          </p:spTgt>
                                        </p:tgtEl>
                                        <p:attrNameLst>
                                          <p:attrName>ppt_x</p:attrName>
                                        </p:attrNameLst>
                                      </p:cBhvr>
                                      <p:tavLst>
                                        <p:tav tm="0">
                                          <p:val>
                                            <p:strVal val="#ppt_x+0.4"/>
                                          </p:val>
                                        </p:tav>
                                        <p:tav tm="100000">
                                          <p:val>
                                            <p:strVal val="#ppt_x-0.05"/>
                                          </p:val>
                                        </p:tav>
                                      </p:tavLst>
                                    </p:anim>
                                    <p:anim calcmode="lin" valueType="num">
                                      <p:cBhvr>
                                        <p:cTn id="80" dur="800" decel="100000" fill="hold"/>
                                        <p:tgtEl>
                                          <p:spTgt spid="135171">
                                            <p:txEl>
                                              <p:pRg st="6" end="6"/>
                                            </p:txEl>
                                          </p:spTgt>
                                        </p:tgtEl>
                                        <p:attrNameLst>
                                          <p:attrName>ppt_y</p:attrName>
                                        </p:attrNameLst>
                                      </p:cBhvr>
                                      <p:tavLst>
                                        <p:tav tm="0">
                                          <p:val>
                                            <p:strVal val="#ppt_y-0.4"/>
                                          </p:val>
                                        </p:tav>
                                        <p:tav tm="100000">
                                          <p:val>
                                            <p:strVal val="#ppt_y+0.1"/>
                                          </p:val>
                                        </p:tav>
                                      </p:tavLst>
                                    </p:anim>
                                    <p:anim calcmode="lin" valueType="num">
                                      <p:cBhvr>
                                        <p:cTn id="81" dur="200" accel="100000" fill="hold">
                                          <p:stCondLst>
                                            <p:cond delay="800"/>
                                          </p:stCondLst>
                                        </p:cTn>
                                        <p:tgtEl>
                                          <p:spTgt spid="135171">
                                            <p:txEl>
                                              <p:pRg st="6" end="6"/>
                                            </p:txEl>
                                          </p:spTgt>
                                        </p:tgtEl>
                                        <p:attrNameLst>
                                          <p:attrName>ppt_x</p:attrName>
                                        </p:attrNameLst>
                                      </p:cBhvr>
                                      <p:tavLst>
                                        <p:tav tm="0">
                                          <p:val>
                                            <p:strVal val="#ppt_x-0.05"/>
                                          </p:val>
                                        </p:tav>
                                        <p:tav tm="100000">
                                          <p:val>
                                            <p:strVal val="#ppt_x"/>
                                          </p:val>
                                        </p:tav>
                                      </p:tavLst>
                                    </p:anim>
                                    <p:anim calcmode="lin" valueType="num">
                                      <p:cBhvr>
                                        <p:cTn id="82" dur="200" accel="100000" fill="hold">
                                          <p:stCondLst>
                                            <p:cond delay="800"/>
                                          </p:stCondLst>
                                        </p:cTn>
                                        <p:tgtEl>
                                          <p:spTgt spid="135171">
                                            <p:txEl>
                                              <p:pRg st="6" end="6"/>
                                            </p:txEl>
                                          </p:spTgt>
                                        </p:tgtEl>
                                        <p:attrNameLst>
                                          <p:attrName>ppt_y</p:attrName>
                                        </p:attrNameLst>
                                      </p:cBhvr>
                                      <p:tavLst>
                                        <p:tav tm="0">
                                          <p:val>
                                            <p:strVal val="#ppt_y+0.1"/>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30" presetClass="entr" presetSubtype="0" fill="hold" nodeType="clickEffect">
                                  <p:stCondLst>
                                    <p:cond delay="0"/>
                                  </p:stCondLst>
                                  <p:childTnLst>
                                    <p:set>
                                      <p:cBhvr>
                                        <p:cTn id="86" dur="1" fill="hold">
                                          <p:stCondLst>
                                            <p:cond delay="0"/>
                                          </p:stCondLst>
                                        </p:cTn>
                                        <p:tgtEl>
                                          <p:spTgt spid="135171">
                                            <p:txEl>
                                              <p:pRg st="7" end="7"/>
                                            </p:txEl>
                                          </p:spTgt>
                                        </p:tgtEl>
                                        <p:attrNameLst>
                                          <p:attrName>style.visibility</p:attrName>
                                        </p:attrNameLst>
                                      </p:cBhvr>
                                      <p:to>
                                        <p:strVal val="visible"/>
                                      </p:to>
                                    </p:set>
                                    <p:animEffect transition="in" filter="fade">
                                      <p:cBhvr>
                                        <p:cTn id="87" dur="800" decel="100000"/>
                                        <p:tgtEl>
                                          <p:spTgt spid="135171">
                                            <p:txEl>
                                              <p:pRg st="7" end="7"/>
                                            </p:txEl>
                                          </p:spTgt>
                                        </p:tgtEl>
                                      </p:cBhvr>
                                    </p:animEffect>
                                    <p:anim calcmode="lin" valueType="num">
                                      <p:cBhvr>
                                        <p:cTn id="88" dur="800" decel="100000" fill="hold"/>
                                        <p:tgtEl>
                                          <p:spTgt spid="135171">
                                            <p:txEl>
                                              <p:pRg st="7" end="7"/>
                                            </p:txEl>
                                          </p:spTgt>
                                        </p:tgtEl>
                                        <p:attrNameLst>
                                          <p:attrName>style.rotation</p:attrName>
                                        </p:attrNameLst>
                                      </p:cBhvr>
                                      <p:tavLst>
                                        <p:tav tm="0">
                                          <p:val>
                                            <p:fltVal val="-90"/>
                                          </p:val>
                                        </p:tav>
                                        <p:tav tm="100000">
                                          <p:val>
                                            <p:fltVal val="0"/>
                                          </p:val>
                                        </p:tav>
                                      </p:tavLst>
                                    </p:anim>
                                    <p:anim calcmode="lin" valueType="num">
                                      <p:cBhvr>
                                        <p:cTn id="89" dur="800" decel="100000" fill="hold"/>
                                        <p:tgtEl>
                                          <p:spTgt spid="135171">
                                            <p:txEl>
                                              <p:pRg st="7" end="7"/>
                                            </p:txEl>
                                          </p:spTgt>
                                        </p:tgtEl>
                                        <p:attrNameLst>
                                          <p:attrName>ppt_x</p:attrName>
                                        </p:attrNameLst>
                                      </p:cBhvr>
                                      <p:tavLst>
                                        <p:tav tm="0">
                                          <p:val>
                                            <p:strVal val="#ppt_x+0.4"/>
                                          </p:val>
                                        </p:tav>
                                        <p:tav tm="100000">
                                          <p:val>
                                            <p:strVal val="#ppt_x-0.05"/>
                                          </p:val>
                                        </p:tav>
                                      </p:tavLst>
                                    </p:anim>
                                    <p:anim calcmode="lin" valueType="num">
                                      <p:cBhvr>
                                        <p:cTn id="90" dur="800" decel="100000" fill="hold"/>
                                        <p:tgtEl>
                                          <p:spTgt spid="135171">
                                            <p:txEl>
                                              <p:pRg st="7" end="7"/>
                                            </p:txEl>
                                          </p:spTgt>
                                        </p:tgtEl>
                                        <p:attrNameLst>
                                          <p:attrName>ppt_y</p:attrName>
                                        </p:attrNameLst>
                                      </p:cBhvr>
                                      <p:tavLst>
                                        <p:tav tm="0">
                                          <p:val>
                                            <p:strVal val="#ppt_y-0.4"/>
                                          </p:val>
                                        </p:tav>
                                        <p:tav tm="100000">
                                          <p:val>
                                            <p:strVal val="#ppt_y+0.1"/>
                                          </p:val>
                                        </p:tav>
                                      </p:tavLst>
                                    </p:anim>
                                    <p:anim calcmode="lin" valueType="num">
                                      <p:cBhvr>
                                        <p:cTn id="91" dur="200" accel="100000" fill="hold">
                                          <p:stCondLst>
                                            <p:cond delay="800"/>
                                          </p:stCondLst>
                                        </p:cTn>
                                        <p:tgtEl>
                                          <p:spTgt spid="135171">
                                            <p:txEl>
                                              <p:pRg st="7" end="7"/>
                                            </p:txEl>
                                          </p:spTgt>
                                        </p:tgtEl>
                                        <p:attrNameLst>
                                          <p:attrName>ppt_x</p:attrName>
                                        </p:attrNameLst>
                                      </p:cBhvr>
                                      <p:tavLst>
                                        <p:tav tm="0">
                                          <p:val>
                                            <p:strVal val="#ppt_x-0.05"/>
                                          </p:val>
                                        </p:tav>
                                        <p:tav tm="100000">
                                          <p:val>
                                            <p:strVal val="#ppt_x"/>
                                          </p:val>
                                        </p:tav>
                                      </p:tavLst>
                                    </p:anim>
                                    <p:anim calcmode="lin" valueType="num">
                                      <p:cBhvr>
                                        <p:cTn id="92" dur="200" accel="100000" fill="hold">
                                          <p:stCondLst>
                                            <p:cond delay="800"/>
                                          </p:stCondLst>
                                        </p:cTn>
                                        <p:tgtEl>
                                          <p:spTgt spid="135171">
                                            <p:txEl>
                                              <p:pRg st="7" end="7"/>
                                            </p:txEl>
                                          </p:spTgt>
                                        </p:tgtEl>
                                        <p:attrNameLst>
                                          <p:attrName>ppt_y</p:attrName>
                                        </p:attrNameLst>
                                      </p:cBhvr>
                                      <p:tavLst>
                                        <p:tav tm="0">
                                          <p:val>
                                            <p:strVal val="#ppt_y+0.1"/>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30" presetClass="entr" presetSubtype="0" fill="hold" nodeType="clickEffect">
                                  <p:stCondLst>
                                    <p:cond delay="0"/>
                                  </p:stCondLst>
                                  <p:childTnLst>
                                    <p:set>
                                      <p:cBhvr>
                                        <p:cTn id="96" dur="1" fill="hold">
                                          <p:stCondLst>
                                            <p:cond delay="0"/>
                                          </p:stCondLst>
                                        </p:cTn>
                                        <p:tgtEl>
                                          <p:spTgt spid="135171">
                                            <p:txEl>
                                              <p:pRg st="8" end="8"/>
                                            </p:txEl>
                                          </p:spTgt>
                                        </p:tgtEl>
                                        <p:attrNameLst>
                                          <p:attrName>style.visibility</p:attrName>
                                        </p:attrNameLst>
                                      </p:cBhvr>
                                      <p:to>
                                        <p:strVal val="visible"/>
                                      </p:to>
                                    </p:set>
                                    <p:animEffect transition="in" filter="fade">
                                      <p:cBhvr>
                                        <p:cTn id="97" dur="800" decel="100000"/>
                                        <p:tgtEl>
                                          <p:spTgt spid="135171">
                                            <p:txEl>
                                              <p:pRg st="8" end="8"/>
                                            </p:txEl>
                                          </p:spTgt>
                                        </p:tgtEl>
                                      </p:cBhvr>
                                    </p:animEffect>
                                    <p:anim calcmode="lin" valueType="num">
                                      <p:cBhvr>
                                        <p:cTn id="98" dur="800" decel="100000" fill="hold"/>
                                        <p:tgtEl>
                                          <p:spTgt spid="135171">
                                            <p:txEl>
                                              <p:pRg st="8" end="8"/>
                                            </p:txEl>
                                          </p:spTgt>
                                        </p:tgtEl>
                                        <p:attrNameLst>
                                          <p:attrName>style.rotation</p:attrName>
                                        </p:attrNameLst>
                                      </p:cBhvr>
                                      <p:tavLst>
                                        <p:tav tm="0">
                                          <p:val>
                                            <p:fltVal val="-90"/>
                                          </p:val>
                                        </p:tav>
                                        <p:tav tm="100000">
                                          <p:val>
                                            <p:fltVal val="0"/>
                                          </p:val>
                                        </p:tav>
                                      </p:tavLst>
                                    </p:anim>
                                    <p:anim calcmode="lin" valueType="num">
                                      <p:cBhvr>
                                        <p:cTn id="99" dur="800" decel="100000" fill="hold"/>
                                        <p:tgtEl>
                                          <p:spTgt spid="135171">
                                            <p:txEl>
                                              <p:pRg st="8" end="8"/>
                                            </p:txEl>
                                          </p:spTgt>
                                        </p:tgtEl>
                                        <p:attrNameLst>
                                          <p:attrName>ppt_x</p:attrName>
                                        </p:attrNameLst>
                                      </p:cBhvr>
                                      <p:tavLst>
                                        <p:tav tm="0">
                                          <p:val>
                                            <p:strVal val="#ppt_x+0.4"/>
                                          </p:val>
                                        </p:tav>
                                        <p:tav tm="100000">
                                          <p:val>
                                            <p:strVal val="#ppt_x-0.05"/>
                                          </p:val>
                                        </p:tav>
                                      </p:tavLst>
                                    </p:anim>
                                    <p:anim calcmode="lin" valueType="num">
                                      <p:cBhvr>
                                        <p:cTn id="100" dur="800" decel="100000" fill="hold"/>
                                        <p:tgtEl>
                                          <p:spTgt spid="135171">
                                            <p:txEl>
                                              <p:pRg st="8" end="8"/>
                                            </p:txEl>
                                          </p:spTgt>
                                        </p:tgtEl>
                                        <p:attrNameLst>
                                          <p:attrName>ppt_y</p:attrName>
                                        </p:attrNameLst>
                                      </p:cBhvr>
                                      <p:tavLst>
                                        <p:tav tm="0">
                                          <p:val>
                                            <p:strVal val="#ppt_y-0.4"/>
                                          </p:val>
                                        </p:tav>
                                        <p:tav tm="100000">
                                          <p:val>
                                            <p:strVal val="#ppt_y+0.1"/>
                                          </p:val>
                                        </p:tav>
                                      </p:tavLst>
                                    </p:anim>
                                    <p:anim calcmode="lin" valueType="num">
                                      <p:cBhvr>
                                        <p:cTn id="101" dur="200" accel="100000" fill="hold">
                                          <p:stCondLst>
                                            <p:cond delay="800"/>
                                          </p:stCondLst>
                                        </p:cTn>
                                        <p:tgtEl>
                                          <p:spTgt spid="135171">
                                            <p:txEl>
                                              <p:pRg st="8" end="8"/>
                                            </p:txEl>
                                          </p:spTgt>
                                        </p:tgtEl>
                                        <p:attrNameLst>
                                          <p:attrName>ppt_x</p:attrName>
                                        </p:attrNameLst>
                                      </p:cBhvr>
                                      <p:tavLst>
                                        <p:tav tm="0">
                                          <p:val>
                                            <p:strVal val="#ppt_x-0.05"/>
                                          </p:val>
                                        </p:tav>
                                        <p:tav tm="100000">
                                          <p:val>
                                            <p:strVal val="#ppt_x"/>
                                          </p:val>
                                        </p:tav>
                                      </p:tavLst>
                                    </p:anim>
                                    <p:anim calcmode="lin" valueType="num">
                                      <p:cBhvr>
                                        <p:cTn id="102" dur="200" accel="100000" fill="hold">
                                          <p:stCondLst>
                                            <p:cond delay="800"/>
                                          </p:stCondLst>
                                        </p:cTn>
                                        <p:tgtEl>
                                          <p:spTgt spid="135171">
                                            <p:txEl>
                                              <p:pRg st="8" end="8"/>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rrowheads="1"/>
          </p:cNvSpPr>
          <p:nvPr>
            <p:ph type="title"/>
          </p:nvPr>
        </p:nvSpPr>
        <p:spPr/>
        <p:txBody>
          <a:bodyPr>
            <a:noAutofit/>
          </a:bodyPr>
          <a:lstStyle/>
          <a:p>
            <a:pPr algn="l"/>
            <a:r>
              <a:rPr lang="en-US" u="sng" dirty="0" smtClean="0">
                <a:latin typeface="Constantia" pitchFamily="18" charset="0"/>
              </a:rPr>
              <a:t>Characteristics of a Perfectly </a:t>
            </a:r>
            <a:r>
              <a:rPr lang="en-US" u="sng" dirty="0">
                <a:latin typeface="Constantia" pitchFamily="18" charset="0"/>
              </a:rPr>
              <a:t>Competitive </a:t>
            </a:r>
            <a:r>
              <a:rPr lang="en-US" u="sng" dirty="0" smtClean="0">
                <a:latin typeface="Constantia" pitchFamily="18" charset="0"/>
              </a:rPr>
              <a:t>Market: </a:t>
            </a:r>
            <a:endParaRPr lang="en-US" u="sng" dirty="0">
              <a:latin typeface="Constantia" pitchFamily="18" charset="0"/>
            </a:endParaRPr>
          </a:p>
        </p:txBody>
      </p:sp>
      <p:sp>
        <p:nvSpPr>
          <p:cNvPr id="92163" name="Rectangle 3"/>
          <p:cNvSpPr>
            <a:spLocks noGrp="1" noChangeArrowheads="1"/>
          </p:cNvSpPr>
          <p:nvPr>
            <p:ph idx="1"/>
          </p:nvPr>
        </p:nvSpPr>
        <p:spPr/>
        <p:txBody>
          <a:bodyPr>
            <a:normAutofit/>
          </a:bodyPr>
          <a:lstStyle/>
          <a:p>
            <a:pPr marL="609600" indent="-609600">
              <a:buSzTx/>
              <a:buFont typeface="Wingdings" pitchFamily="2" charset="2"/>
              <a:buAutoNum type="arabicPeriod"/>
            </a:pPr>
            <a:r>
              <a:rPr lang="en-US" sz="3200" dirty="0">
                <a:latin typeface="Constantia" pitchFamily="18" charset="0"/>
              </a:rPr>
              <a:t>Smallness of buyers and sellers relative to the </a:t>
            </a:r>
            <a:r>
              <a:rPr lang="en-US" sz="3200" dirty="0" smtClean="0">
                <a:latin typeface="Constantia" pitchFamily="18" charset="0"/>
              </a:rPr>
              <a:t>size of the market (price takers). </a:t>
            </a:r>
            <a:endParaRPr lang="en-US" sz="3200" dirty="0">
              <a:latin typeface="Constantia" pitchFamily="18" charset="0"/>
            </a:endParaRPr>
          </a:p>
          <a:p>
            <a:pPr marL="609600" indent="-609600">
              <a:buSzTx/>
              <a:buFont typeface="Wingdings" pitchFamily="2" charset="2"/>
              <a:buAutoNum type="arabicPeriod"/>
            </a:pPr>
            <a:r>
              <a:rPr lang="en-US" sz="3200" dirty="0">
                <a:latin typeface="Constantia" pitchFamily="18" charset="0"/>
              </a:rPr>
              <a:t>Homogeneous </a:t>
            </a:r>
            <a:r>
              <a:rPr lang="en-US" sz="3200" dirty="0" smtClean="0">
                <a:latin typeface="Constantia" pitchFamily="18" charset="0"/>
              </a:rPr>
              <a:t>product.</a:t>
            </a:r>
            <a:endParaRPr lang="en-US" sz="3200" dirty="0">
              <a:latin typeface="Constantia" pitchFamily="18" charset="0"/>
            </a:endParaRPr>
          </a:p>
          <a:p>
            <a:pPr marL="609600" indent="-609600">
              <a:buSzTx/>
              <a:buFont typeface="Wingdings" pitchFamily="2" charset="2"/>
              <a:buAutoNum type="arabicPeriod"/>
            </a:pPr>
            <a:r>
              <a:rPr lang="en-US" sz="3200" dirty="0">
                <a:latin typeface="Constantia" pitchFamily="18" charset="0"/>
              </a:rPr>
              <a:t>Absence of artificial restraints or </a:t>
            </a:r>
            <a:r>
              <a:rPr lang="en-US" sz="3200" dirty="0" smtClean="0">
                <a:latin typeface="Constantia" pitchFamily="18" charset="0"/>
              </a:rPr>
              <a:t>controls (free entry and exit). </a:t>
            </a:r>
            <a:endParaRPr lang="en-US" sz="3200" dirty="0">
              <a:latin typeface="Constantia" pitchFamily="18" charset="0"/>
            </a:endParaRPr>
          </a:p>
          <a:p>
            <a:pPr marL="609600" indent="-609600">
              <a:buSzTx/>
              <a:buFont typeface="Wingdings" pitchFamily="2" charset="2"/>
              <a:buAutoNum type="arabicPeriod"/>
            </a:pPr>
            <a:r>
              <a:rPr lang="en-US" sz="3200" dirty="0">
                <a:latin typeface="Constantia" pitchFamily="18" charset="0"/>
              </a:rPr>
              <a:t>Perfect mobility of goods and </a:t>
            </a:r>
            <a:r>
              <a:rPr lang="en-US" sz="3200" dirty="0" smtClean="0">
                <a:latin typeface="Constantia" pitchFamily="18" charset="0"/>
              </a:rPr>
              <a:t>resources. </a:t>
            </a:r>
            <a:endParaRPr lang="en-US" sz="3200" dirty="0">
              <a:latin typeface="Constantia" pitchFamily="18" charset="0"/>
            </a:endParaRPr>
          </a:p>
          <a:p>
            <a:pPr marL="609600" indent="-609600">
              <a:buSzTx/>
              <a:buFont typeface="Wingdings" pitchFamily="2" charset="2"/>
              <a:buAutoNum type="arabicPeriod"/>
            </a:pPr>
            <a:r>
              <a:rPr lang="en-US" sz="3200" dirty="0">
                <a:latin typeface="Constantia" pitchFamily="18" charset="0"/>
              </a:rPr>
              <a:t>Perfect </a:t>
            </a:r>
            <a:r>
              <a:rPr lang="en-US" sz="3200" dirty="0" smtClean="0">
                <a:latin typeface="Constantia" pitchFamily="18" charset="0"/>
              </a:rPr>
              <a:t>information. </a:t>
            </a:r>
            <a:endParaRPr lang="en-US" sz="3200" dirty="0">
              <a:latin typeface="Constantia" pitchFamily="18" charset="0"/>
            </a:endParaRPr>
          </a:p>
        </p:txBody>
      </p:sp>
      <p:sp>
        <p:nvSpPr>
          <p:cNvPr id="4" name="Slide Number Placeholder 3"/>
          <p:cNvSpPr>
            <a:spLocks noGrp="1"/>
          </p:cNvSpPr>
          <p:nvPr>
            <p:ph type="sldNum" sz="quarter" idx="12"/>
          </p:nvPr>
        </p:nvSpPr>
        <p:spPr/>
        <p:txBody>
          <a:bodyPr/>
          <a:lstStyle/>
          <a:p>
            <a:fld id="{435A53F3-E167-4BB6-BF93-0C10F778919C}" type="slidenum">
              <a:rPr lang="en-US" smtClean="0"/>
              <a:pPr/>
              <a:t>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92162"/>
                                        </p:tgtEl>
                                        <p:attrNameLst>
                                          <p:attrName>style.visibility</p:attrName>
                                        </p:attrNameLst>
                                      </p:cBhvr>
                                      <p:to>
                                        <p:strVal val="visible"/>
                                      </p:to>
                                    </p:set>
                                    <p:animEffect transition="in" filter="fade">
                                      <p:cBhvr>
                                        <p:cTn id="7" dur="800" decel="100000"/>
                                        <p:tgtEl>
                                          <p:spTgt spid="92162"/>
                                        </p:tgtEl>
                                      </p:cBhvr>
                                    </p:animEffect>
                                    <p:anim calcmode="lin" valueType="num">
                                      <p:cBhvr>
                                        <p:cTn id="8" dur="800" decel="100000" fill="hold"/>
                                        <p:tgtEl>
                                          <p:spTgt spid="92162"/>
                                        </p:tgtEl>
                                        <p:attrNameLst>
                                          <p:attrName>style.rotation</p:attrName>
                                        </p:attrNameLst>
                                      </p:cBhvr>
                                      <p:tavLst>
                                        <p:tav tm="0">
                                          <p:val>
                                            <p:fltVal val="-90"/>
                                          </p:val>
                                        </p:tav>
                                        <p:tav tm="100000">
                                          <p:val>
                                            <p:fltVal val="0"/>
                                          </p:val>
                                        </p:tav>
                                      </p:tavLst>
                                    </p:anim>
                                    <p:anim calcmode="lin" valueType="num">
                                      <p:cBhvr>
                                        <p:cTn id="9" dur="800" decel="100000" fill="hold"/>
                                        <p:tgtEl>
                                          <p:spTgt spid="92162"/>
                                        </p:tgtEl>
                                        <p:attrNameLst>
                                          <p:attrName>ppt_x</p:attrName>
                                        </p:attrNameLst>
                                      </p:cBhvr>
                                      <p:tavLst>
                                        <p:tav tm="0">
                                          <p:val>
                                            <p:strVal val="#ppt_x+0.4"/>
                                          </p:val>
                                        </p:tav>
                                        <p:tav tm="100000">
                                          <p:val>
                                            <p:strVal val="#ppt_x-0.05"/>
                                          </p:val>
                                        </p:tav>
                                      </p:tavLst>
                                    </p:anim>
                                    <p:anim calcmode="lin" valueType="num">
                                      <p:cBhvr>
                                        <p:cTn id="10" dur="800" decel="100000" fill="hold"/>
                                        <p:tgtEl>
                                          <p:spTgt spid="92162"/>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92162"/>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92162"/>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grpId="0" nodeType="clickEffect">
                                  <p:stCondLst>
                                    <p:cond delay="0"/>
                                  </p:stCondLst>
                                  <p:childTnLst>
                                    <p:set>
                                      <p:cBhvr>
                                        <p:cTn id="16" dur="1" fill="hold">
                                          <p:stCondLst>
                                            <p:cond delay="0"/>
                                          </p:stCondLst>
                                        </p:cTn>
                                        <p:tgtEl>
                                          <p:spTgt spid="92163">
                                            <p:txEl>
                                              <p:pRg st="0" end="0"/>
                                            </p:txEl>
                                          </p:spTgt>
                                        </p:tgtEl>
                                        <p:attrNameLst>
                                          <p:attrName>style.visibility</p:attrName>
                                        </p:attrNameLst>
                                      </p:cBhvr>
                                      <p:to>
                                        <p:strVal val="visible"/>
                                      </p:to>
                                    </p:set>
                                    <p:animEffect transition="in" filter="fade">
                                      <p:cBhvr>
                                        <p:cTn id="17" dur="800" decel="100000"/>
                                        <p:tgtEl>
                                          <p:spTgt spid="92163">
                                            <p:txEl>
                                              <p:pRg st="0" end="0"/>
                                            </p:txEl>
                                          </p:spTgt>
                                        </p:tgtEl>
                                      </p:cBhvr>
                                    </p:animEffect>
                                    <p:anim calcmode="lin" valueType="num">
                                      <p:cBhvr>
                                        <p:cTn id="18" dur="800" decel="100000" fill="hold"/>
                                        <p:tgtEl>
                                          <p:spTgt spid="92163">
                                            <p:txEl>
                                              <p:pRg st="0" end="0"/>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92163">
                                            <p:txEl>
                                              <p:pRg st="0" end="0"/>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92163">
                                            <p:txEl>
                                              <p:pRg st="0" end="0"/>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92163">
                                            <p:txEl>
                                              <p:pRg st="0" end="0"/>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92163">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0" presetClass="entr" presetSubtype="0" fill="hold" grpId="0" nodeType="clickEffect">
                                  <p:stCondLst>
                                    <p:cond delay="0"/>
                                  </p:stCondLst>
                                  <p:childTnLst>
                                    <p:set>
                                      <p:cBhvr>
                                        <p:cTn id="26" dur="1" fill="hold">
                                          <p:stCondLst>
                                            <p:cond delay="0"/>
                                          </p:stCondLst>
                                        </p:cTn>
                                        <p:tgtEl>
                                          <p:spTgt spid="92163">
                                            <p:txEl>
                                              <p:pRg st="1" end="1"/>
                                            </p:txEl>
                                          </p:spTgt>
                                        </p:tgtEl>
                                        <p:attrNameLst>
                                          <p:attrName>style.visibility</p:attrName>
                                        </p:attrNameLst>
                                      </p:cBhvr>
                                      <p:to>
                                        <p:strVal val="visible"/>
                                      </p:to>
                                    </p:set>
                                    <p:animEffect transition="in" filter="fade">
                                      <p:cBhvr>
                                        <p:cTn id="27" dur="800" decel="100000"/>
                                        <p:tgtEl>
                                          <p:spTgt spid="92163">
                                            <p:txEl>
                                              <p:pRg st="1" end="1"/>
                                            </p:txEl>
                                          </p:spTgt>
                                        </p:tgtEl>
                                      </p:cBhvr>
                                    </p:animEffect>
                                    <p:anim calcmode="lin" valueType="num">
                                      <p:cBhvr>
                                        <p:cTn id="28" dur="800" decel="100000" fill="hold"/>
                                        <p:tgtEl>
                                          <p:spTgt spid="92163">
                                            <p:txEl>
                                              <p:pRg st="1" end="1"/>
                                            </p:txEl>
                                          </p:spTgt>
                                        </p:tgtEl>
                                        <p:attrNameLst>
                                          <p:attrName>style.rotation</p:attrName>
                                        </p:attrNameLst>
                                      </p:cBhvr>
                                      <p:tavLst>
                                        <p:tav tm="0">
                                          <p:val>
                                            <p:fltVal val="-90"/>
                                          </p:val>
                                        </p:tav>
                                        <p:tav tm="100000">
                                          <p:val>
                                            <p:fltVal val="0"/>
                                          </p:val>
                                        </p:tav>
                                      </p:tavLst>
                                    </p:anim>
                                    <p:anim calcmode="lin" valueType="num">
                                      <p:cBhvr>
                                        <p:cTn id="29" dur="800" decel="100000" fill="hold"/>
                                        <p:tgtEl>
                                          <p:spTgt spid="92163">
                                            <p:txEl>
                                              <p:pRg st="1" end="1"/>
                                            </p:txEl>
                                          </p:spTgt>
                                        </p:tgtEl>
                                        <p:attrNameLst>
                                          <p:attrName>ppt_x</p:attrName>
                                        </p:attrNameLst>
                                      </p:cBhvr>
                                      <p:tavLst>
                                        <p:tav tm="0">
                                          <p:val>
                                            <p:strVal val="#ppt_x+0.4"/>
                                          </p:val>
                                        </p:tav>
                                        <p:tav tm="100000">
                                          <p:val>
                                            <p:strVal val="#ppt_x-0.05"/>
                                          </p:val>
                                        </p:tav>
                                      </p:tavLst>
                                    </p:anim>
                                    <p:anim calcmode="lin" valueType="num">
                                      <p:cBhvr>
                                        <p:cTn id="30" dur="800" decel="100000" fill="hold"/>
                                        <p:tgtEl>
                                          <p:spTgt spid="92163">
                                            <p:txEl>
                                              <p:pRg st="1" end="1"/>
                                            </p:txEl>
                                          </p:spTgt>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92163">
                                            <p:txEl>
                                              <p:pRg st="1" end="1"/>
                                            </p:txEl>
                                          </p:spTgt>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92163">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0" presetClass="entr" presetSubtype="0" fill="hold" grpId="0" nodeType="clickEffect">
                                  <p:stCondLst>
                                    <p:cond delay="0"/>
                                  </p:stCondLst>
                                  <p:childTnLst>
                                    <p:set>
                                      <p:cBhvr>
                                        <p:cTn id="36" dur="1" fill="hold">
                                          <p:stCondLst>
                                            <p:cond delay="0"/>
                                          </p:stCondLst>
                                        </p:cTn>
                                        <p:tgtEl>
                                          <p:spTgt spid="92163">
                                            <p:txEl>
                                              <p:pRg st="2" end="2"/>
                                            </p:txEl>
                                          </p:spTgt>
                                        </p:tgtEl>
                                        <p:attrNameLst>
                                          <p:attrName>style.visibility</p:attrName>
                                        </p:attrNameLst>
                                      </p:cBhvr>
                                      <p:to>
                                        <p:strVal val="visible"/>
                                      </p:to>
                                    </p:set>
                                    <p:animEffect transition="in" filter="fade">
                                      <p:cBhvr>
                                        <p:cTn id="37" dur="800" decel="100000"/>
                                        <p:tgtEl>
                                          <p:spTgt spid="92163">
                                            <p:txEl>
                                              <p:pRg st="2" end="2"/>
                                            </p:txEl>
                                          </p:spTgt>
                                        </p:tgtEl>
                                      </p:cBhvr>
                                    </p:animEffect>
                                    <p:anim calcmode="lin" valueType="num">
                                      <p:cBhvr>
                                        <p:cTn id="38" dur="800" decel="100000" fill="hold"/>
                                        <p:tgtEl>
                                          <p:spTgt spid="92163">
                                            <p:txEl>
                                              <p:pRg st="2" end="2"/>
                                            </p:txEl>
                                          </p:spTgt>
                                        </p:tgtEl>
                                        <p:attrNameLst>
                                          <p:attrName>style.rotation</p:attrName>
                                        </p:attrNameLst>
                                      </p:cBhvr>
                                      <p:tavLst>
                                        <p:tav tm="0">
                                          <p:val>
                                            <p:fltVal val="-90"/>
                                          </p:val>
                                        </p:tav>
                                        <p:tav tm="100000">
                                          <p:val>
                                            <p:fltVal val="0"/>
                                          </p:val>
                                        </p:tav>
                                      </p:tavLst>
                                    </p:anim>
                                    <p:anim calcmode="lin" valueType="num">
                                      <p:cBhvr>
                                        <p:cTn id="39" dur="800" decel="100000" fill="hold"/>
                                        <p:tgtEl>
                                          <p:spTgt spid="92163">
                                            <p:txEl>
                                              <p:pRg st="2" end="2"/>
                                            </p:txEl>
                                          </p:spTgt>
                                        </p:tgtEl>
                                        <p:attrNameLst>
                                          <p:attrName>ppt_x</p:attrName>
                                        </p:attrNameLst>
                                      </p:cBhvr>
                                      <p:tavLst>
                                        <p:tav tm="0">
                                          <p:val>
                                            <p:strVal val="#ppt_x+0.4"/>
                                          </p:val>
                                        </p:tav>
                                        <p:tav tm="100000">
                                          <p:val>
                                            <p:strVal val="#ppt_x-0.05"/>
                                          </p:val>
                                        </p:tav>
                                      </p:tavLst>
                                    </p:anim>
                                    <p:anim calcmode="lin" valueType="num">
                                      <p:cBhvr>
                                        <p:cTn id="40" dur="800" decel="100000" fill="hold"/>
                                        <p:tgtEl>
                                          <p:spTgt spid="92163">
                                            <p:txEl>
                                              <p:pRg st="2" end="2"/>
                                            </p:txEl>
                                          </p:spTgt>
                                        </p:tgtEl>
                                        <p:attrNameLst>
                                          <p:attrName>ppt_y</p:attrName>
                                        </p:attrNameLst>
                                      </p:cBhvr>
                                      <p:tavLst>
                                        <p:tav tm="0">
                                          <p:val>
                                            <p:strVal val="#ppt_y-0.4"/>
                                          </p:val>
                                        </p:tav>
                                        <p:tav tm="100000">
                                          <p:val>
                                            <p:strVal val="#ppt_y+0.1"/>
                                          </p:val>
                                        </p:tav>
                                      </p:tavLst>
                                    </p:anim>
                                    <p:anim calcmode="lin" valueType="num">
                                      <p:cBhvr>
                                        <p:cTn id="41" dur="200" accel="100000" fill="hold">
                                          <p:stCondLst>
                                            <p:cond delay="800"/>
                                          </p:stCondLst>
                                        </p:cTn>
                                        <p:tgtEl>
                                          <p:spTgt spid="92163">
                                            <p:txEl>
                                              <p:pRg st="2" end="2"/>
                                            </p:txEl>
                                          </p:spTgt>
                                        </p:tgtEl>
                                        <p:attrNameLst>
                                          <p:attrName>ppt_x</p:attrName>
                                        </p:attrNameLst>
                                      </p:cBhvr>
                                      <p:tavLst>
                                        <p:tav tm="0">
                                          <p:val>
                                            <p:strVal val="#ppt_x-0.05"/>
                                          </p:val>
                                        </p:tav>
                                        <p:tav tm="100000">
                                          <p:val>
                                            <p:strVal val="#ppt_x"/>
                                          </p:val>
                                        </p:tav>
                                      </p:tavLst>
                                    </p:anim>
                                    <p:anim calcmode="lin" valueType="num">
                                      <p:cBhvr>
                                        <p:cTn id="42" dur="200" accel="100000" fill="hold">
                                          <p:stCondLst>
                                            <p:cond delay="800"/>
                                          </p:stCondLst>
                                        </p:cTn>
                                        <p:tgtEl>
                                          <p:spTgt spid="92163">
                                            <p:txEl>
                                              <p:pRg st="2" end="2"/>
                                            </p:txEl>
                                          </p:spTgt>
                                        </p:tgtEl>
                                        <p:attrNameLst>
                                          <p:attrName>ppt_y</p:attrName>
                                        </p:attrNameLst>
                                      </p:cBhvr>
                                      <p:tavLst>
                                        <p:tav tm="0">
                                          <p:val>
                                            <p:strVal val="#ppt_y+0.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30" presetClass="entr" presetSubtype="0" fill="hold" grpId="0" nodeType="clickEffect">
                                  <p:stCondLst>
                                    <p:cond delay="0"/>
                                  </p:stCondLst>
                                  <p:childTnLst>
                                    <p:set>
                                      <p:cBhvr>
                                        <p:cTn id="46" dur="1" fill="hold">
                                          <p:stCondLst>
                                            <p:cond delay="0"/>
                                          </p:stCondLst>
                                        </p:cTn>
                                        <p:tgtEl>
                                          <p:spTgt spid="92163">
                                            <p:txEl>
                                              <p:pRg st="3" end="3"/>
                                            </p:txEl>
                                          </p:spTgt>
                                        </p:tgtEl>
                                        <p:attrNameLst>
                                          <p:attrName>style.visibility</p:attrName>
                                        </p:attrNameLst>
                                      </p:cBhvr>
                                      <p:to>
                                        <p:strVal val="visible"/>
                                      </p:to>
                                    </p:set>
                                    <p:animEffect transition="in" filter="fade">
                                      <p:cBhvr>
                                        <p:cTn id="47" dur="800" decel="100000"/>
                                        <p:tgtEl>
                                          <p:spTgt spid="92163">
                                            <p:txEl>
                                              <p:pRg st="3" end="3"/>
                                            </p:txEl>
                                          </p:spTgt>
                                        </p:tgtEl>
                                      </p:cBhvr>
                                    </p:animEffect>
                                    <p:anim calcmode="lin" valueType="num">
                                      <p:cBhvr>
                                        <p:cTn id="48" dur="800" decel="100000" fill="hold"/>
                                        <p:tgtEl>
                                          <p:spTgt spid="92163">
                                            <p:txEl>
                                              <p:pRg st="3" end="3"/>
                                            </p:txEl>
                                          </p:spTgt>
                                        </p:tgtEl>
                                        <p:attrNameLst>
                                          <p:attrName>style.rotation</p:attrName>
                                        </p:attrNameLst>
                                      </p:cBhvr>
                                      <p:tavLst>
                                        <p:tav tm="0">
                                          <p:val>
                                            <p:fltVal val="-90"/>
                                          </p:val>
                                        </p:tav>
                                        <p:tav tm="100000">
                                          <p:val>
                                            <p:fltVal val="0"/>
                                          </p:val>
                                        </p:tav>
                                      </p:tavLst>
                                    </p:anim>
                                    <p:anim calcmode="lin" valueType="num">
                                      <p:cBhvr>
                                        <p:cTn id="49" dur="800" decel="100000" fill="hold"/>
                                        <p:tgtEl>
                                          <p:spTgt spid="92163">
                                            <p:txEl>
                                              <p:pRg st="3" end="3"/>
                                            </p:txEl>
                                          </p:spTgt>
                                        </p:tgtEl>
                                        <p:attrNameLst>
                                          <p:attrName>ppt_x</p:attrName>
                                        </p:attrNameLst>
                                      </p:cBhvr>
                                      <p:tavLst>
                                        <p:tav tm="0">
                                          <p:val>
                                            <p:strVal val="#ppt_x+0.4"/>
                                          </p:val>
                                        </p:tav>
                                        <p:tav tm="100000">
                                          <p:val>
                                            <p:strVal val="#ppt_x-0.05"/>
                                          </p:val>
                                        </p:tav>
                                      </p:tavLst>
                                    </p:anim>
                                    <p:anim calcmode="lin" valueType="num">
                                      <p:cBhvr>
                                        <p:cTn id="50" dur="800" decel="100000" fill="hold"/>
                                        <p:tgtEl>
                                          <p:spTgt spid="92163">
                                            <p:txEl>
                                              <p:pRg st="3" end="3"/>
                                            </p:txEl>
                                          </p:spTgt>
                                        </p:tgtEl>
                                        <p:attrNameLst>
                                          <p:attrName>ppt_y</p:attrName>
                                        </p:attrNameLst>
                                      </p:cBhvr>
                                      <p:tavLst>
                                        <p:tav tm="0">
                                          <p:val>
                                            <p:strVal val="#ppt_y-0.4"/>
                                          </p:val>
                                        </p:tav>
                                        <p:tav tm="100000">
                                          <p:val>
                                            <p:strVal val="#ppt_y+0.1"/>
                                          </p:val>
                                        </p:tav>
                                      </p:tavLst>
                                    </p:anim>
                                    <p:anim calcmode="lin" valueType="num">
                                      <p:cBhvr>
                                        <p:cTn id="51" dur="200" accel="100000" fill="hold">
                                          <p:stCondLst>
                                            <p:cond delay="800"/>
                                          </p:stCondLst>
                                        </p:cTn>
                                        <p:tgtEl>
                                          <p:spTgt spid="92163">
                                            <p:txEl>
                                              <p:pRg st="3" end="3"/>
                                            </p:txEl>
                                          </p:spTgt>
                                        </p:tgtEl>
                                        <p:attrNameLst>
                                          <p:attrName>ppt_x</p:attrName>
                                        </p:attrNameLst>
                                      </p:cBhvr>
                                      <p:tavLst>
                                        <p:tav tm="0">
                                          <p:val>
                                            <p:strVal val="#ppt_x-0.05"/>
                                          </p:val>
                                        </p:tav>
                                        <p:tav tm="100000">
                                          <p:val>
                                            <p:strVal val="#ppt_x"/>
                                          </p:val>
                                        </p:tav>
                                      </p:tavLst>
                                    </p:anim>
                                    <p:anim calcmode="lin" valueType="num">
                                      <p:cBhvr>
                                        <p:cTn id="52" dur="200" accel="100000" fill="hold">
                                          <p:stCondLst>
                                            <p:cond delay="800"/>
                                          </p:stCondLst>
                                        </p:cTn>
                                        <p:tgtEl>
                                          <p:spTgt spid="92163">
                                            <p:txEl>
                                              <p:pRg st="3" end="3"/>
                                            </p:txEl>
                                          </p:spTgt>
                                        </p:tgtEl>
                                        <p:attrNameLst>
                                          <p:attrName>ppt_y</p:attrName>
                                        </p:attrNameLst>
                                      </p:cBhvr>
                                      <p:tavLst>
                                        <p:tav tm="0">
                                          <p:val>
                                            <p:strVal val="#ppt_y+0.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30" presetClass="entr" presetSubtype="0" fill="hold" grpId="0" nodeType="clickEffect">
                                  <p:stCondLst>
                                    <p:cond delay="0"/>
                                  </p:stCondLst>
                                  <p:childTnLst>
                                    <p:set>
                                      <p:cBhvr>
                                        <p:cTn id="56" dur="1" fill="hold">
                                          <p:stCondLst>
                                            <p:cond delay="0"/>
                                          </p:stCondLst>
                                        </p:cTn>
                                        <p:tgtEl>
                                          <p:spTgt spid="92163">
                                            <p:txEl>
                                              <p:pRg st="4" end="4"/>
                                            </p:txEl>
                                          </p:spTgt>
                                        </p:tgtEl>
                                        <p:attrNameLst>
                                          <p:attrName>style.visibility</p:attrName>
                                        </p:attrNameLst>
                                      </p:cBhvr>
                                      <p:to>
                                        <p:strVal val="visible"/>
                                      </p:to>
                                    </p:set>
                                    <p:animEffect transition="in" filter="fade">
                                      <p:cBhvr>
                                        <p:cTn id="57" dur="800" decel="100000"/>
                                        <p:tgtEl>
                                          <p:spTgt spid="92163">
                                            <p:txEl>
                                              <p:pRg st="4" end="4"/>
                                            </p:txEl>
                                          </p:spTgt>
                                        </p:tgtEl>
                                      </p:cBhvr>
                                    </p:animEffect>
                                    <p:anim calcmode="lin" valueType="num">
                                      <p:cBhvr>
                                        <p:cTn id="58" dur="800" decel="100000" fill="hold"/>
                                        <p:tgtEl>
                                          <p:spTgt spid="92163">
                                            <p:txEl>
                                              <p:pRg st="4" end="4"/>
                                            </p:txEl>
                                          </p:spTgt>
                                        </p:tgtEl>
                                        <p:attrNameLst>
                                          <p:attrName>style.rotation</p:attrName>
                                        </p:attrNameLst>
                                      </p:cBhvr>
                                      <p:tavLst>
                                        <p:tav tm="0">
                                          <p:val>
                                            <p:fltVal val="-90"/>
                                          </p:val>
                                        </p:tav>
                                        <p:tav tm="100000">
                                          <p:val>
                                            <p:fltVal val="0"/>
                                          </p:val>
                                        </p:tav>
                                      </p:tavLst>
                                    </p:anim>
                                    <p:anim calcmode="lin" valueType="num">
                                      <p:cBhvr>
                                        <p:cTn id="59" dur="800" decel="100000" fill="hold"/>
                                        <p:tgtEl>
                                          <p:spTgt spid="92163">
                                            <p:txEl>
                                              <p:pRg st="4" end="4"/>
                                            </p:txEl>
                                          </p:spTgt>
                                        </p:tgtEl>
                                        <p:attrNameLst>
                                          <p:attrName>ppt_x</p:attrName>
                                        </p:attrNameLst>
                                      </p:cBhvr>
                                      <p:tavLst>
                                        <p:tav tm="0">
                                          <p:val>
                                            <p:strVal val="#ppt_x+0.4"/>
                                          </p:val>
                                        </p:tav>
                                        <p:tav tm="100000">
                                          <p:val>
                                            <p:strVal val="#ppt_x-0.05"/>
                                          </p:val>
                                        </p:tav>
                                      </p:tavLst>
                                    </p:anim>
                                    <p:anim calcmode="lin" valueType="num">
                                      <p:cBhvr>
                                        <p:cTn id="60" dur="800" decel="100000" fill="hold"/>
                                        <p:tgtEl>
                                          <p:spTgt spid="92163">
                                            <p:txEl>
                                              <p:pRg st="4" end="4"/>
                                            </p:txEl>
                                          </p:spTgt>
                                        </p:tgtEl>
                                        <p:attrNameLst>
                                          <p:attrName>ppt_y</p:attrName>
                                        </p:attrNameLst>
                                      </p:cBhvr>
                                      <p:tavLst>
                                        <p:tav tm="0">
                                          <p:val>
                                            <p:strVal val="#ppt_y-0.4"/>
                                          </p:val>
                                        </p:tav>
                                        <p:tav tm="100000">
                                          <p:val>
                                            <p:strVal val="#ppt_y+0.1"/>
                                          </p:val>
                                        </p:tav>
                                      </p:tavLst>
                                    </p:anim>
                                    <p:anim calcmode="lin" valueType="num">
                                      <p:cBhvr>
                                        <p:cTn id="61" dur="200" accel="100000" fill="hold">
                                          <p:stCondLst>
                                            <p:cond delay="800"/>
                                          </p:stCondLst>
                                        </p:cTn>
                                        <p:tgtEl>
                                          <p:spTgt spid="92163">
                                            <p:txEl>
                                              <p:pRg st="4" end="4"/>
                                            </p:txEl>
                                          </p:spTgt>
                                        </p:tgtEl>
                                        <p:attrNameLst>
                                          <p:attrName>ppt_x</p:attrName>
                                        </p:attrNameLst>
                                      </p:cBhvr>
                                      <p:tavLst>
                                        <p:tav tm="0">
                                          <p:val>
                                            <p:strVal val="#ppt_x-0.05"/>
                                          </p:val>
                                        </p:tav>
                                        <p:tav tm="100000">
                                          <p:val>
                                            <p:strVal val="#ppt_x"/>
                                          </p:val>
                                        </p:tav>
                                      </p:tavLst>
                                    </p:anim>
                                    <p:anim calcmode="lin" valueType="num">
                                      <p:cBhvr>
                                        <p:cTn id="62" dur="200" accel="100000" fill="hold">
                                          <p:stCondLst>
                                            <p:cond delay="800"/>
                                          </p:stCondLst>
                                        </p:cTn>
                                        <p:tgtEl>
                                          <p:spTgt spid="92163">
                                            <p:txEl>
                                              <p:pRg st="4" end="4"/>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2" grpId="0"/>
      <p:bldP spid="9216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Rot="1" noChangeArrowheads="1"/>
          </p:cNvSpPr>
          <p:nvPr>
            <p:ph type="title"/>
          </p:nvPr>
        </p:nvSpPr>
        <p:spPr/>
        <p:txBody>
          <a:bodyPr>
            <a:noAutofit/>
          </a:bodyPr>
          <a:lstStyle/>
          <a:p>
            <a:pPr algn="l"/>
            <a:r>
              <a:rPr lang="en-US" u="sng" dirty="0">
                <a:latin typeface="Constantia" pitchFamily="18" charset="0"/>
              </a:rPr>
              <a:t>The Demand Curve Faced by </a:t>
            </a:r>
            <a:r>
              <a:rPr lang="en-US" u="sng" dirty="0" smtClean="0">
                <a:latin typeface="Constantia" pitchFamily="18" charset="0"/>
              </a:rPr>
              <a:t>a Perfectly Competitive Firm: </a:t>
            </a:r>
            <a:endParaRPr lang="en-US" u="sng" dirty="0">
              <a:latin typeface="Constantia" pitchFamily="18" charset="0"/>
            </a:endParaRPr>
          </a:p>
        </p:txBody>
      </p:sp>
      <p:sp>
        <p:nvSpPr>
          <p:cNvPr id="93187" name="Rectangle 3"/>
          <p:cNvSpPr>
            <a:spLocks noGrp="1" noChangeArrowheads="1"/>
          </p:cNvSpPr>
          <p:nvPr>
            <p:ph idx="1"/>
          </p:nvPr>
        </p:nvSpPr>
        <p:spPr/>
        <p:txBody>
          <a:bodyPr>
            <a:normAutofit/>
          </a:bodyPr>
          <a:lstStyle/>
          <a:p>
            <a:pPr>
              <a:lnSpc>
                <a:spcPct val="90000"/>
              </a:lnSpc>
            </a:pPr>
            <a:r>
              <a:rPr lang="en-US" sz="3200" dirty="0">
                <a:latin typeface="Constantia" pitchFamily="18" charset="0"/>
              </a:rPr>
              <a:t>S</a:t>
            </a:r>
            <a:r>
              <a:rPr lang="en-US" sz="3200" dirty="0" smtClean="0">
                <a:latin typeface="Constantia" pitchFamily="18" charset="0"/>
              </a:rPr>
              <a:t>ince </a:t>
            </a:r>
            <a:r>
              <a:rPr lang="en-US" sz="3200" dirty="0">
                <a:latin typeface="Constantia" pitchFamily="18" charset="0"/>
              </a:rPr>
              <a:t>the firm cannot control the market price, owing to its smallness relative to the market, the firm can actually sell as much output as it wants without influencing the price. </a:t>
            </a:r>
            <a:r>
              <a:rPr lang="en-US" sz="3200" dirty="0" smtClean="0">
                <a:latin typeface="Constantia" pitchFamily="18" charset="0"/>
              </a:rPr>
              <a:t>The firm is said to be a </a:t>
            </a:r>
            <a:r>
              <a:rPr lang="en-US" sz="3200" u="sng" dirty="0" smtClean="0">
                <a:latin typeface="Constantia" pitchFamily="18" charset="0"/>
              </a:rPr>
              <a:t>price taker</a:t>
            </a:r>
            <a:r>
              <a:rPr lang="en-US" sz="3200" dirty="0" smtClean="0">
                <a:latin typeface="Constantia" pitchFamily="18" charset="0"/>
              </a:rPr>
              <a:t>.</a:t>
            </a:r>
            <a:endParaRPr lang="en-US" sz="3200" dirty="0">
              <a:latin typeface="Constantia" pitchFamily="18" charset="0"/>
            </a:endParaRPr>
          </a:p>
          <a:p>
            <a:pPr>
              <a:lnSpc>
                <a:spcPct val="90000"/>
              </a:lnSpc>
            </a:pPr>
            <a:r>
              <a:rPr lang="en-US" sz="3200" dirty="0">
                <a:latin typeface="Constantia" pitchFamily="18" charset="0"/>
              </a:rPr>
              <a:t>T</a:t>
            </a:r>
            <a:r>
              <a:rPr lang="en-US" sz="3200" dirty="0" smtClean="0">
                <a:latin typeface="Constantia" pitchFamily="18" charset="0"/>
              </a:rPr>
              <a:t>he </a:t>
            </a:r>
            <a:r>
              <a:rPr lang="en-US" sz="3200" dirty="0">
                <a:latin typeface="Constantia" pitchFamily="18" charset="0"/>
              </a:rPr>
              <a:t>firm in </a:t>
            </a:r>
            <a:r>
              <a:rPr lang="en-US" sz="3200" dirty="0" smtClean="0">
                <a:latin typeface="Constantia" pitchFamily="18" charset="0"/>
              </a:rPr>
              <a:t>a perfectly competitive market </a:t>
            </a:r>
            <a:r>
              <a:rPr lang="en-US" sz="3200" dirty="0">
                <a:latin typeface="Constantia" pitchFamily="18" charset="0"/>
              </a:rPr>
              <a:t>faces a perfectly elastic demand </a:t>
            </a:r>
            <a:r>
              <a:rPr lang="en-US" sz="3200" dirty="0" smtClean="0">
                <a:latin typeface="Constantia" pitchFamily="18" charset="0"/>
              </a:rPr>
              <a:t>curve.</a:t>
            </a:r>
          </a:p>
          <a:p>
            <a:pPr>
              <a:lnSpc>
                <a:spcPct val="90000"/>
              </a:lnSpc>
            </a:pPr>
            <a:r>
              <a:rPr lang="en-US" sz="3200" dirty="0" smtClean="0">
                <a:latin typeface="Constantia" pitchFamily="18" charset="0"/>
              </a:rPr>
              <a:t>However, the </a:t>
            </a:r>
            <a:r>
              <a:rPr lang="en-US" sz="3200" i="1" dirty="0" smtClean="0">
                <a:latin typeface="Constantia" pitchFamily="18" charset="0"/>
              </a:rPr>
              <a:t>market</a:t>
            </a:r>
            <a:r>
              <a:rPr lang="en-US" sz="3200" dirty="0" smtClean="0">
                <a:latin typeface="Constantia" pitchFamily="18" charset="0"/>
              </a:rPr>
              <a:t> price is still determined by supply and demand.</a:t>
            </a:r>
          </a:p>
        </p:txBody>
      </p:sp>
      <p:sp>
        <p:nvSpPr>
          <p:cNvPr id="10" name="Slide Number Placeholder 9"/>
          <p:cNvSpPr>
            <a:spLocks noGrp="1"/>
          </p:cNvSpPr>
          <p:nvPr>
            <p:ph type="sldNum" sz="quarter" idx="12"/>
          </p:nvPr>
        </p:nvSpPr>
        <p:spPr/>
        <p:txBody>
          <a:bodyPr/>
          <a:lstStyle/>
          <a:p>
            <a:fld id="{435A53F3-E167-4BB6-BF93-0C10F778919C}" type="slidenum">
              <a:rPr lang="en-US" smtClean="0"/>
              <a:pPr/>
              <a:t>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93186"/>
                                        </p:tgtEl>
                                        <p:attrNameLst>
                                          <p:attrName>style.visibility</p:attrName>
                                        </p:attrNameLst>
                                      </p:cBhvr>
                                      <p:to>
                                        <p:strVal val="visible"/>
                                      </p:to>
                                    </p:set>
                                    <p:animEffect transition="in" filter="fade">
                                      <p:cBhvr>
                                        <p:cTn id="7" dur="800" decel="100000"/>
                                        <p:tgtEl>
                                          <p:spTgt spid="93186"/>
                                        </p:tgtEl>
                                      </p:cBhvr>
                                    </p:animEffect>
                                    <p:anim calcmode="lin" valueType="num">
                                      <p:cBhvr>
                                        <p:cTn id="8" dur="800" decel="100000" fill="hold"/>
                                        <p:tgtEl>
                                          <p:spTgt spid="93186"/>
                                        </p:tgtEl>
                                        <p:attrNameLst>
                                          <p:attrName>style.rotation</p:attrName>
                                        </p:attrNameLst>
                                      </p:cBhvr>
                                      <p:tavLst>
                                        <p:tav tm="0">
                                          <p:val>
                                            <p:fltVal val="-90"/>
                                          </p:val>
                                        </p:tav>
                                        <p:tav tm="100000">
                                          <p:val>
                                            <p:fltVal val="0"/>
                                          </p:val>
                                        </p:tav>
                                      </p:tavLst>
                                    </p:anim>
                                    <p:anim calcmode="lin" valueType="num">
                                      <p:cBhvr>
                                        <p:cTn id="9" dur="800" decel="100000" fill="hold"/>
                                        <p:tgtEl>
                                          <p:spTgt spid="93186"/>
                                        </p:tgtEl>
                                        <p:attrNameLst>
                                          <p:attrName>ppt_x</p:attrName>
                                        </p:attrNameLst>
                                      </p:cBhvr>
                                      <p:tavLst>
                                        <p:tav tm="0">
                                          <p:val>
                                            <p:strVal val="#ppt_x+0.4"/>
                                          </p:val>
                                        </p:tav>
                                        <p:tav tm="100000">
                                          <p:val>
                                            <p:strVal val="#ppt_x-0.05"/>
                                          </p:val>
                                        </p:tav>
                                      </p:tavLst>
                                    </p:anim>
                                    <p:anim calcmode="lin" valueType="num">
                                      <p:cBhvr>
                                        <p:cTn id="10" dur="800" decel="100000" fill="hold"/>
                                        <p:tgtEl>
                                          <p:spTgt spid="93186"/>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93186"/>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93186"/>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grpId="0" nodeType="clickEffect">
                                  <p:stCondLst>
                                    <p:cond delay="0"/>
                                  </p:stCondLst>
                                  <p:childTnLst>
                                    <p:set>
                                      <p:cBhvr>
                                        <p:cTn id="16" dur="1" fill="hold">
                                          <p:stCondLst>
                                            <p:cond delay="0"/>
                                          </p:stCondLst>
                                        </p:cTn>
                                        <p:tgtEl>
                                          <p:spTgt spid="93187">
                                            <p:txEl>
                                              <p:pRg st="0" end="0"/>
                                            </p:txEl>
                                          </p:spTgt>
                                        </p:tgtEl>
                                        <p:attrNameLst>
                                          <p:attrName>style.visibility</p:attrName>
                                        </p:attrNameLst>
                                      </p:cBhvr>
                                      <p:to>
                                        <p:strVal val="visible"/>
                                      </p:to>
                                    </p:set>
                                    <p:animEffect transition="in" filter="fade">
                                      <p:cBhvr>
                                        <p:cTn id="17" dur="800" decel="100000"/>
                                        <p:tgtEl>
                                          <p:spTgt spid="93187">
                                            <p:txEl>
                                              <p:pRg st="0" end="0"/>
                                            </p:txEl>
                                          </p:spTgt>
                                        </p:tgtEl>
                                      </p:cBhvr>
                                    </p:animEffect>
                                    <p:anim calcmode="lin" valueType="num">
                                      <p:cBhvr>
                                        <p:cTn id="18" dur="800" decel="100000" fill="hold"/>
                                        <p:tgtEl>
                                          <p:spTgt spid="93187">
                                            <p:txEl>
                                              <p:pRg st="0" end="0"/>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93187">
                                            <p:txEl>
                                              <p:pRg st="0" end="0"/>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93187">
                                            <p:txEl>
                                              <p:pRg st="0" end="0"/>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93187">
                                            <p:txEl>
                                              <p:pRg st="0" end="0"/>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93187">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0" presetClass="entr" presetSubtype="0" fill="hold" grpId="0" nodeType="clickEffect">
                                  <p:stCondLst>
                                    <p:cond delay="0"/>
                                  </p:stCondLst>
                                  <p:childTnLst>
                                    <p:set>
                                      <p:cBhvr>
                                        <p:cTn id="26" dur="1" fill="hold">
                                          <p:stCondLst>
                                            <p:cond delay="0"/>
                                          </p:stCondLst>
                                        </p:cTn>
                                        <p:tgtEl>
                                          <p:spTgt spid="93187">
                                            <p:txEl>
                                              <p:pRg st="1" end="1"/>
                                            </p:txEl>
                                          </p:spTgt>
                                        </p:tgtEl>
                                        <p:attrNameLst>
                                          <p:attrName>style.visibility</p:attrName>
                                        </p:attrNameLst>
                                      </p:cBhvr>
                                      <p:to>
                                        <p:strVal val="visible"/>
                                      </p:to>
                                    </p:set>
                                    <p:animEffect transition="in" filter="fade">
                                      <p:cBhvr>
                                        <p:cTn id="27" dur="800" decel="100000"/>
                                        <p:tgtEl>
                                          <p:spTgt spid="93187">
                                            <p:txEl>
                                              <p:pRg st="1" end="1"/>
                                            </p:txEl>
                                          </p:spTgt>
                                        </p:tgtEl>
                                      </p:cBhvr>
                                    </p:animEffect>
                                    <p:anim calcmode="lin" valueType="num">
                                      <p:cBhvr>
                                        <p:cTn id="28" dur="800" decel="100000" fill="hold"/>
                                        <p:tgtEl>
                                          <p:spTgt spid="93187">
                                            <p:txEl>
                                              <p:pRg st="1" end="1"/>
                                            </p:txEl>
                                          </p:spTgt>
                                        </p:tgtEl>
                                        <p:attrNameLst>
                                          <p:attrName>style.rotation</p:attrName>
                                        </p:attrNameLst>
                                      </p:cBhvr>
                                      <p:tavLst>
                                        <p:tav tm="0">
                                          <p:val>
                                            <p:fltVal val="-90"/>
                                          </p:val>
                                        </p:tav>
                                        <p:tav tm="100000">
                                          <p:val>
                                            <p:fltVal val="0"/>
                                          </p:val>
                                        </p:tav>
                                      </p:tavLst>
                                    </p:anim>
                                    <p:anim calcmode="lin" valueType="num">
                                      <p:cBhvr>
                                        <p:cTn id="29" dur="800" decel="100000" fill="hold"/>
                                        <p:tgtEl>
                                          <p:spTgt spid="93187">
                                            <p:txEl>
                                              <p:pRg st="1" end="1"/>
                                            </p:txEl>
                                          </p:spTgt>
                                        </p:tgtEl>
                                        <p:attrNameLst>
                                          <p:attrName>ppt_x</p:attrName>
                                        </p:attrNameLst>
                                      </p:cBhvr>
                                      <p:tavLst>
                                        <p:tav tm="0">
                                          <p:val>
                                            <p:strVal val="#ppt_x+0.4"/>
                                          </p:val>
                                        </p:tav>
                                        <p:tav tm="100000">
                                          <p:val>
                                            <p:strVal val="#ppt_x-0.05"/>
                                          </p:val>
                                        </p:tav>
                                      </p:tavLst>
                                    </p:anim>
                                    <p:anim calcmode="lin" valueType="num">
                                      <p:cBhvr>
                                        <p:cTn id="30" dur="800" decel="100000" fill="hold"/>
                                        <p:tgtEl>
                                          <p:spTgt spid="93187">
                                            <p:txEl>
                                              <p:pRg st="1" end="1"/>
                                            </p:txEl>
                                          </p:spTgt>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93187">
                                            <p:txEl>
                                              <p:pRg st="1" end="1"/>
                                            </p:txEl>
                                          </p:spTgt>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93187">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0" presetClass="entr" presetSubtype="0" fill="hold" grpId="0" nodeType="clickEffect">
                                  <p:stCondLst>
                                    <p:cond delay="0"/>
                                  </p:stCondLst>
                                  <p:childTnLst>
                                    <p:set>
                                      <p:cBhvr>
                                        <p:cTn id="36" dur="1" fill="hold">
                                          <p:stCondLst>
                                            <p:cond delay="0"/>
                                          </p:stCondLst>
                                        </p:cTn>
                                        <p:tgtEl>
                                          <p:spTgt spid="93187">
                                            <p:txEl>
                                              <p:pRg st="2" end="2"/>
                                            </p:txEl>
                                          </p:spTgt>
                                        </p:tgtEl>
                                        <p:attrNameLst>
                                          <p:attrName>style.visibility</p:attrName>
                                        </p:attrNameLst>
                                      </p:cBhvr>
                                      <p:to>
                                        <p:strVal val="visible"/>
                                      </p:to>
                                    </p:set>
                                    <p:animEffect transition="in" filter="fade">
                                      <p:cBhvr>
                                        <p:cTn id="37" dur="800" decel="100000"/>
                                        <p:tgtEl>
                                          <p:spTgt spid="93187">
                                            <p:txEl>
                                              <p:pRg st="2" end="2"/>
                                            </p:txEl>
                                          </p:spTgt>
                                        </p:tgtEl>
                                      </p:cBhvr>
                                    </p:animEffect>
                                    <p:anim calcmode="lin" valueType="num">
                                      <p:cBhvr>
                                        <p:cTn id="38" dur="800" decel="100000" fill="hold"/>
                                        <p:tgtEl>
                                          <p:spTgt spid="93187">
                                            <p:txEl>
                                              <p:pRg st="2" end="2"/>
                                            </p:txEl>
                                          </p:spTgt>
                                        </p:tgtEl>
                                        <p:attrNameLst>
                                          <p:attrName>style.rotation</p:attrName>
                                        </p:attrNameLst>
                                      </p:cBhvr>
                                      <p:tavLst>
                                        <p:tav tm="0">
                                          <p:val>
                                            <p:fltVal val="-90"/>
                                          </p:val>
                                        </p:tav>
                                        <p:tav tm="100000">
                                          <p:val>
                                            <p:fltVal val="0"/>
                                          </p:val>
                                        </p:tav>
                                      </p:tavLst>
                                    </p:anim>
                                    <p:anim calcmode="lin" valueType="num">
                                      <p:cBhvr>
                                        <p:cTn id="39" dur="800" decel="100000" fill="hold"/>
                                        <p:tgtEl>
                                          <p:spTgt spid="93187">
                                            <p:txEl>
                                              <p:pRg st="2" end="2"/>
                                            </p:txEl>
                                          </p:spTgt>
                                        </p:tgtEl>
                                        <p:attrNameLst>
                                          <p:attrName>ppt_x</p:attrName>
                                        </p:attrNameLst>
                                      </p:cBhvr>
                                      <p:tavLst>
                                        <p:tav tm="0">
                                          <p:val>
                                            <p:strVal val="#ppt_x+0.4"/>
                                          </p:val>
                                        </p:tav>
                                        <p:tav tm="100000">
                                          <p:val>
                                            <p:strVal val="#ppt_x-0.05"/>
                                          </p:val>
                                        </p:tav>
                                      </p:tavLst>
                                    </p:anim>
                                    <p:anim calcmode="lin" valueType="num">
                                      <p:cBhvr>
                                        <p:cTn id="40" dur="800" decel="100000" fill="hold"/>
                                        <p:tgtEl>
                                          <p:spTgt spid="93187">
                                            <p:txEl>
                                              <p:pRg st="2" end="2"/>
                                            </p:txEl>
                                          </p:spTgt>
                                        </p:tgtEl>
                                        <p:attrNameLst>
                                          <p:attrName>ppt_y</p:attrName>
                                        </p:attrNameLst>
                                      </p:cBhvr>
                                      <p:tavLst>
                                        <p:tav tm="0">
                                          <p:val>
                                            <p:strVal val="#ppt_y-0.4"/>
                                          </p:val>
                                        </p:tav>
                                        <p:tav tm="100000">
                                          <p:val>
                                            <p:strVal val="#ppt_y+0.1"/>
                                          </p:val>
                                        </p:tav>
                                      </p:tavLst>
                                    </p:anim>
                                    <p:anim calcmode="lin" valueType="num">
                                      <p:cBhvr>
                                        <p:cTn id="41" dur="200" accel="100000" fill="hold">
                                          <p:stCondLst>
                                            <p:cond delay="800"/>
                                          </p:stCondLst>
                                        </p:cTn>
                                        <p:tgtEl>
                                          <p:spTgt spid="93187">
                                            <p:txEl>
                                              <p:pRg st="2" end="2"/>
                                            </p:txEl>
                                          </p:spTgt>
                                        </p:tgtEl>
                                        <p:attrNameLst>
                                          <p:attrName>ppt_x</p:attrName>
                                        </p:attrNameLst>
                                      </p:cBhvr>
                                      <p:tavLst>
                                        <p:tav tm="0">
                                          <p:val>
                                            <p:strVal val="#ppt_x-0.05"/>
                                          </p:val>
                                        </p:tav>
                                        <p:tav tm="100000">
                                          <p:val>
                                            <p:strVal val="#ppt_x"/>
                                          </p:val>
                                        </p:tav>
                                      </p:tavLst>
                                    </p:anim>
                                    <p:anim calcmode="lin" valueType="num">
                                      <p:cBhvr>
                                        <p:cTn id="42" dur="200" accel="100000" fill="hold">
                                          <p:stCondLst>
                                            <p:cond delay="800"/>
                                          </p:stCondLst>
                                        </p:cTn>
                                        <p:tgtEl>
                                          <p:spTgt spid="93187">
                                            <p:txEl>
                                              <p:pRg st="2" end="2"/>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6" grpId="0"/>
      <p:bldP spid="9318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Line 4"/>
          <p:cNvSpPr>
            <a:spLocks noChangeShapeType="1"/>
          </p:cNvSpPr>
          <p:nvPr/>
        </p:nvSpPr>
        <p:spPr bwMode="auto">
          <a:xfrm>
            <a:off x="838200" y="1676400"/>
            <a:ext cx="0" cy="3581400"/>
          </a:xfrm>
          <a:prstGeom prst="line">
            <a:avLst/>
          </a:prstGeom>
          <a:noFill/>
          <a:ln w="9525">
            <a:solidFill>
              <a:schemeClr val="tx1"/>
            </a:solidFill>
            <a:round/>
            <a:headEnd/>
            <a:tailEnd/>
          </a:ln>
          <a:effectLst/>
        </p:spPr>
        <p:txBody>
          <a:bodyPr/>
          <a:lstStyle/>
          <a:p>
            <a:endParaRPr lang="en-US"/>
          </a:p>
        </p:txBody>
      </p:sp>
      <p:sp>
        <p:nvSpPr>
          <p:cNvPr id="51205" name="Line 5"/>
          <p:cNvSpPr>
            <a:spLocks noChangeShapeType="1"/>
          </p:cNvSpPr>
          <p:nvPr/>
        </p:nvSpPr>
        <p:spPr bwMode="auto">
          <a:xfrm>
            <a:off x="838200" y="5257800"/>
            <a:ext cx="3657600" cy="0"/>
          </a:xfrm>
          <a:prstGeom prst="line">
            <a:avLst/>
          </a:prstGeom>
          <a:noFill/>
          <a:ln w="9525">
            <a:solidFill>
              <a:schemeClr val="tx1"/>
            </a:solidFill>
            <a:round/>
            <a:headEnd/>
            <a:tailEnd/>
          </a:ln>
          <a:effectLst/>
        </p:spPr>
        <p:txBody>
          <a:bodyPr/>
          <a:lstStyle/>
          <a:p>
            <a:endParaRPr lang="en-US"/>
          </a:p>
        </p:txBody>
      </p:sp>
      <p:sp>
        <p:nvSpPr>
          <p:cNvPr id="51206" name="Line 6"/>
          <p:cNvSpPr>
            <a:spLocks noChangeShapeType="1"/>
          </p:cNvSpPr>
          <p:nvPr/>
        </p:nvSpPr>
        <p:spPr bwMode="auto">
          <a:xfrm>
            <a:off x="5029200" y="1676400"/>
            <a:ext cx="0" cy="3581400"/>
          </a:xfrm>
          <a:prstGeom prst="line">
            <a:avLst/>
          </a:prstGeom>
          <a:noFill/>
          <a:ln w="28575">
            <a:solidFill>
              <a:schemeClr val="tx1"/>
            </a:solidFill>
            <a:round/>
            <a:headEnd/>
            <a:tailEnd/>
          </a:ln>
          <a:effectLst/>
        </p:spPr>
        <p:txBody>
          <a:bodyPr/>
          <a:lstStyle/>
          <a:p>
            <a:endParaRPr lang="en-US"/>
          </a:p>
        </p:txBody>
      </p:sp>
      <p:sp>
        <p:nvSpPr>
          <p:cNvPr id="51207" name="Line 7"/>
          <p:cNvSpPr>
            <a:spLocks noChangeShapeType="1"/>
          </p:cNvSpPr>
          <p:nvPr/>
        </p:nvSpPr>
        <p:spPr bwMode="auto">
          <a:xfrm>
            <a:off x="5029200" y="5257800"/>
            <a:ext cx="3657600" cy="0"/>
          </a:xfrm>
          <a:prstGeom prst="line">
            <a:avLst/>
          </a:prstGeom>
          <a:noFill/>
          <a:ln w="28575">
            <a:solidFill>
              <a:schemeClr val="tx1"/>
            </a:solidFill>
            <a:round/>
            <a:headEnd/>
            <a:tailEnd/>
          </a:ln>
          <a:effectLst/>
        </p:spPr>
        <p:txBody>
          <a:bodyPr/>
          <a:lstStyle/>
          <a:p>
            <a:endParaRPr lang="en-US"/>
          </a:p>
        </p:txBody>
      </p:sp>
      <p:sp>
        <p:nvSpPr>
          <p:cNvPr id="51209" name="Line 9"/>
          <p:cNvSpPr>
            <a:spLocks noChangeShapeType="1"/>
          </p:cNvSpPr>
          <p:nvPr/>
        </p:nvSpPr>
        <p:spPr bwMode="auto">
          <a:xfrm flipV="1">
            <a:off x="1143000" y="2286000"/>
            <a:ext cx="2514600" cy="2514600"/>
          </a:xfrm>
          <a:prstGeom prst="line">
            <a:avLst/>
          </a:prstGeom>
          <a:noFill/>
          <a:ln w="9525">
            <a:solidFill>
              <a:schemeClr val="tx1"/>
            </a:solidFill>
            <a:round/>
            <a:headEnd/>
            <a:tailEnd/>
          </a:ln>
          <a:effectLst/>
        </p:spPr>
        <p:txBody>
          <a:bodyPr/>
          <a:lstStyle/>
          <a:p>
            <a:endParaRPr lang="en-US"/>
          </a:p>
        </p:txBody>
      </p:sp>
      <p:sp>
        <p:nvSpPr>
          <p:cNvPr id="51210" name="Line 10"/>
          <p:cNvSpPr>
            <a:spLocks noChangeShapeType="1"/>
          </p:cNvSpPr>
          <p:nvPr/>
        </p:nvSpPr>
        <p:spPr bwMode="auto">
          <a:xfrm>
            <a:off x="838200" y="3505199"/>
            <a:ext cx="2667000" cy="45719"/>
          </a:xfrm>
          <a:prstGeom prst="line">
            <a:avLst/>
          </a:prstGeom>
          <a:noFill/>
          <a:ln w="9525">
            <a:solidFill>
              <a:schemeClr val="tx1"/>
            </a:solidFill>
            <a:prstDash val="dash"/>
            <a:round/>
            <a:headEnd/>
            <a:tailEnd/>
          </a:ln>
          <a:effectLst/>
        </p:spPr>
        <p:txBody>
          <a:bodyPr/>
          <a:lstStyle/>
          <a:p>
            <a:endParaRPr lang="en-US"/>
          </a:p>
        </p:txBody>
      </p:sp>
      <p:sp>
        <p:nvSpPr>
          <p:cNvPr id="51211" name="Text Box 11"/>
          <p:cNvSpPr txBox="1">
            <a:spLocks noChangeArrowheads="1"/>
          </p:cNvSpPr>
          <p:nvPr/>
        </p:nvSpPr>
        <p:spPr bwMode="auto">
          <a:xfrm>
            <a:off x="1066800" y="685800"/>
            <a:ext cx="2667000" cy="396875"/>
          </a:xfrm>
          <a:prstGeom prst="rect">
            <a:avLst/>
          </a:prstGeom>
          <a:noFill/>
          <a:ln w="9525">
            <a:noFill/>
            <a:miter lim="800000"/>
            <a:headEnd/>
            <a:tailEnd/>
          </a:ln>
          <a:effectLst/>
        </p:spPr>
        <p:txBody>
          <a:bodyPr>
            <a:spAutoFit/>
          </a:bodyPr>
          <a:lstStyle/>
          <a:p>
            <a:pPr algn="ctr" eaLnBrk="1" hangingPunct="1">
              <a:spcBef>
                <a:spcPct val="50000"/>
              </a:spcBef>
            </a:pPr>
            <a:r>
              <a:rPr lang="en-US" sz="2000" b="1">
                <a:latin typeface="Garamond" pitchFamily="18" charset="0"/>
              </a:rPr>
              <a:t>Market</a:t>
            </a:r>
          </a:p>
        </p:txBody>
      </p:sp>
      <p:sp>
        <p:nvSpPr>
          <p:cNvPr id="51212" name="Text Box 12"/>
          <p:cNvSpPr txBox="1">
            <a:spLocks noChangeArrowheads="1"/>
          </p:cNvSpPr>
          <p:nvPr/>
        </p:nvSpPr>
        <p:spPr bwMode="auto">
          <a:xfrm>
            <a:off x="5638800" y="762000"/>
            <a:ext cx="2667000" cy="396875"/>
          </a:xfrm>
          <a:prstGeom prst="rect">
            <a:avLst/>
          </a:prstGeom>
          <a:noFill/>
          <a:ln w="9525">
            <a:noFill/>
            <a:miter lim="800000"/>
            <a:headEnd/>
            <a:tailEnd/>
          </a:ln>
          <a:effectLst/>
        </p:spPr>
        <p:txBody>
          <a:bodyPr>
            <a:spAutoFit/>
          </a:bodyPr>
          <a:lstStyle/>
          <a:p>
            <a:pPr algn="ctr" eaLnBrk="1" hangingPunct="1">
              <a:spcBef>
                <a:spcPct val="50000"/>
              </a:spcBef>
            </a:pPr>
            <a:r>
              <a:rPr lang="en-US" sz="2000" b="1">
                <a:latin typeface="Garamond" pitchFamily="18" charset="0"/>
              </a:rPr>
              <a:t>Firm</a:t>
            </a:r>
          </a:p>
        </p:txBody>
      </p:sp>
      <p:sp>
        <p:nvSpPr>
          <p:cNvPr id="51213" name="Text Box 13"/>
          <p:cNvSpPr txBox="1">
            <a:spLocks noChangeArrowheads="1"/>
          </p:cNvSpPr>
          <p:nvPr/>
        </p:nvSpPr>
        <p:spPr bwMode="auto">
          <a:xfrm>
            <a:off x="4114800" y="5257800"/>
            <a:ext cx="609600" cy="366713"/>
          </a:xfrm>
          <a:prstGeom prst="rect">
            <a:avLst/>
          </a:prstGeom>
          <a:noFill/>
          <a:ln w="9525">
            <a:noFill/>
            <a:miter lim="800000"/>
            <a:headEnd/>
            <a:tailEnd/>
          </a:ln>
          <a:effectLst/>
        </p:spPr>
        <p:txBody>
          <a:bodyPr>
            <a:spAutoFit/>
          </a:bodyPr>
          <a:lstStyle/>
          <a:p>
            <a:pPr eaLnBrk="1" hangingPunct="1">
              <a:spcBef>
                <a:spcPct val="50000"/>
              </a:spcBef>
            </a:pPr>
            <a:r>
              <a:rPr lang="en-US">
                <a:latin typeface="Garamond" pitchFamily="18" charset="0"/>
              </a:rPr>
              <a:t>Q</a:t>
            </a:r>
          </a:p>
        </p:txBody>
      </p:sp>
      <p:sp>
        <p:nvSpPr>
          <p:cNvPr id="51214" name="Text Box 14"/>
          <p:cNvSpPr txBox="1">
            <a:spLocks noChangeArrowheads="1"/>
          </p:cNvSpPr>
          <p:nvPr/>
        </p:nvSpPr>
        <p:spPr bwMode="auto">
          <a:xfrm>
            <a:off x="1066800" y="1905000"/>
            <a:ext cx="609600" cy="366713"/>
          </a:xfrm>
          <a:prstGeom prst="rect">
            <a:avLst/>
          </a:prstGeom>
          <a:noFill/>
          <a:ln w="9525">
            <a:noFill/>
            <a:miter lim="800000"/>
            <a:headEnd/>
            <a:tailEnd/>
          </a:ln>
          <a:effectLst/>
        </p:spPr>
        <p:txBody>
          <a:bodyPr>
            <a:spAutoFit/>
          </a:bodyPr>
          <a:lstStyle/>
          <a:p>
            <a:pPr eaLnBrk="1" hangingPunct="1">
              <a:spcBef>
                <a:spcPct val="50000"/>
              </a:spcBef>
            </a:pPr>
            <a:r>
              <a:rPr lang="en-US">
                <a:latin typeface="Garamond" pitchFamily="18" charset="0"/>
              </a:rPr>
              <a:t>D</a:t>
            </a:r>
          </a:p>
        </p:txBody>
      </p:sp>
      <p:sp>
        <p:nvSpPr>
          <p:cNvPr id="51215" name="Text Box 15"/>
          <p:cNvSpPr txBox="1">
            <a:spLocks noChangeArrowheads="1"/>
          </p:cNvSpPr>
          <p:nvPr/>
        </p:nvSpPr>
        <p:spPr bwMode="auto">
          <a:xfrm>
            <a:off x="228600" y="3276600"/>
            <a:ext cx="609600" cy="366713"/>
          </a:xfrm>
          <a:prstGeom prst="rect">
            <a:avLst/>
          </a:prstGeom>
          <a:noFill/>
          <a:ln w="9525">
            <a:noFill/>
            <a:miter lim="800000"/>
            <a:headEnd/>
            <a:tailEnd/>
          </a:ln>
          <a:effectLst/>
        </p:spPr>
        <p:txBody>
          <a:bodyPr>
            <a:spAutoFit/>
          </a:bodyPr>
          <a:lstStyle/>
          <a:p>
            <a:pPr algn="r" eaLnBrk="1" hangingPunct="1">
              <a:spcBef>
                <a:spcPct val="50000"/>
              </a:spcBef>
            </a:pPr>
            <a:r>
              <a:rPr lang="en-US">
                <a:latin typeface="Garamond" pitchFamily="18" charset="0"/>
              </a:rPr>
              <a:t>P*</a:t>
            </a:r>
          </a:p>
        </p:txBody>
      </p:sp>
      <p:sp>
        <p:nvSpPr>
          <p:cNvPr id="51216" name="Line 16"/>
          <p:cNvSpPr>
            <a:spLocks noChangeShapeType="1"/>
          </p:cNvSpPr>
          <p:nvPr/>
        </p:nvSpPr>
        <p:spPr bwMode="auto">
          <a:xfrm>
            <a:off x="1219200" y="2286000"/>
            <a:ext cx="2514600" cy="2590800"/>
          </a:xfrm>
          <a:prstGeom prst="line">
            <a:avLst/>
          </a:prstGeom>
          <a:noFill/>
          <a:ln w="38100">
            <a:solidFill>
              <a:schemeClr val="tx2"/>
            </a:solidFill>
            <a:round/>
            <a:headEnd/>
            <a:tailEnd/>
          </a:ln>
          <a:effectLst/>
        </p:spPr>
        <p:txBody>
          <a:bodyPr/>
          <a:lstStyle/>
          <a:p>
            <a:endParaRPr lang="en-US"/>
          </a:p>
        </p:txBody>
      </p:sp>
      <p:sp>
        <p:nvSpPr>
          <p:cNvPr id="51217" name="Line 17"/>
          <p:cNvSpPr>
            <a:spLocks noChangeShapeType="1"/>
          </p:cNvSpPr>
          <p:nvPr/>
        </p:nvSpPr>
        <p:spPr bwMode="auto">
          <a:xfrm flipV="1">
            <a:off x="1143000" y="2286000"/>
            <a:ext cx="2514600" cy="2514600"/>
          </a:xfrm>
          <a:prstGeom prst="line">
            <a:avLst/>
          </a:prstGeom>
          <a:noFill/>
          <a:ln w="38100">
            <a:solidFill>
              <a:srgbClr val="C00000"/>
            </a:solidFill>
            <a:round/>
            <a:headEnd/>
            <a:tailEnd/>
          </a:ln>
          <a:effectLst/>
        </p:spPr>
        <p:txBody>
          <a:bodyPr/>
          <a:lstStyle/>
          <a:p>
            <a:endParaRPr lang="en-US"/>
          </a:p>
        </p:txBody>
      </p:sp>
      <p:sp>
        <p:nvSpPr>
          <p:cNvPr id="51218" name="Line 18"/>
          <p:cNvSpPr>
            <a:spLocks noChangeShapeType="1"/>
          </p:cNvSpPr>
          <p:nvPr/>
        </p:nvSpPr>
        <p:spPr bwMode="auto">
          <a:xfrm>
            <a:off x="838200" y="1676400"/>
            <a:ext cx="0" cy="3581400"/>
          </a:xfrm>
          <a:prstGeom prst="line">
            <a:avLst/>
          </a:prstGeom>
          <a:noFill/>
          <a:ln w="28575">
            <a:solidFill>
              <a:schemeClr val="tx1"/>
            </a:solidFill>
            <a:round/>
            <a:headEnd/>
            <a:tailEnd/>
          </a:ln>
          <a:effectLst/>
        </p:spPr>
        <p:txBody>
          <a:bodyPr/>
          <a:lstStyle/>
          <a:p>
            <a:endParaRPr lang="en-US"/>
          </a:p>
        </p:txBody>
      </p:sp>
      <p:sp>
        <p:nvSpPr>
          <p:cNvPr id="51219" name="Line 19"/>
          <p:cNvSpPr>
            <a:spLocks noChangeShapeType="1"/>
          </p:cNvSpPr>
          <p:nvPr/>
        </p:nvSpPr>
        <p:spPr bwMode="auto">
          <a:xfrm>
            <a:off x="838200" y="5257800"/>
            <a:ext cx="3657600" cy="0"/>
          </a:xfrm>
          <a:prstGeom prst="line">
            <a:avLst/>
          </a:prstGeom>
          <a:noFill/>
          <a:ln w="28575">
            <a:solidFill>
              <a:schemeClr val="tx1"/>
            </a:solidFill>
            <a:round/>
            <a:headEnd/>
            <a:tailEnd/>
          </a:ln>
          <a:effectLst/>
        </p:spPr>
        <p:txBody>
          <a:bodyPr/>
          <a:lstStyle/>
          <a:p>
            <a:endParaRPr lang="en-US"/>
          </a:p>
        </p:txBody>
      </p:sp>
      <p:sp>
        <p:nvSpPr>
          <p:cNvPr id="51220" name="Text Box 20"/>
          <p:cNvSpPr txBox="1">
            <a:spLocks noChangeArrowheads="1"/>
          </p:cNvSpPr>
          <p:nvPr/>
        </p:nvSpPr>
        <p:spPr bwMode="auto">
          <a:xfrm>
            <a:off x="4419600" y="3352800"/>
            <a:ext cx="609600" cy="366713"/>
          </a:xfrm>
          <a:prstGeom prst="rect">
            <a:avLst/>
          </a:prstGeom>
          <a:noFill/>
          <a:ln w="9525">
            <a:noFill/>
            <a:miter lim="800000"/>
            <a:headEnd/>
            <a:tailEnd/>
          </a:ln>
          <a:effectLst/>
        </p:spPr>
        <p:txBody>
          <a:bodyPr>
            <a:spAutoFit/>
          </a:bodyPr>
          <a:lstStyle/>
          <a:p>
            <a:pPr algn="r" eaLnBrk="1" hangingPunct="1">
              <a:spcBef>
                <a:spcPct val="50000"/>
              </a:spcBef>
            </a:pPr>
            <a:r>
              <a:rPr lang="en-US">
                <a:latin typeface="Garamond" pitchFamily="18" charset="0"/>
              </a:rPr>
              <a:t>P*</a:t>
            </a:r>
          </a:p>
        </p:txBody>
      </p:sp>
      <p:sp>
        <p:nvSpPr>
          <p:cNvPr id="51221" name="Line 21"/>
          <p:cNvSpPr>
            <a:spLocks noChangeShapeType="1"/>
          </p:cNvSpPr>
          <p:nvPr/>
        </p:nvSpPr>
        <p:spPr bwMode="auto">
          <a:xfrm>
            <a:off x="5029200" y="3505200"/>
            <a:ext cx="3352800" cy="0"/>
          </a:xfrm>
          <a:prstGeom prst="line">
            <a:avLst/>
          </a:prstGeom>
          <a:noFill/>
          <a:ln w="38100">
            <a:solidFill>
              <a:schemeClr val="accent2"/>
            </a:solidFill>
            <a:round/>
            <a:headEnd/>
            <a:tailEnd/>
          </a:ln>
          <a:effectLst/>
        </p:spPr>
        <p:txBody>
          <a:bodyPr/>
          <a:lstStyle/>
          <a:p>
            <a:endParaRPr lang="en-US"/>
          </a:p>
        </p:txBody>
      </p:sp>
      <p:sp>
        <p:nvSpPr>
          <p:cNvPr id="51222" name="Text Box 22"/>
          <p:cNvSpPr txBox="1">
            <a:spLocks noChangeArrowheads="1"/>
          </p:cNvSpPr>
          <p:nvPr/>
        </p:nvSpPr>
        <p:spPr bwMode="auto">
          <a:xfrm>
            <a:off x="8382000" y="3276600"/>
            <a:ext cx="609600" cy="366713"/>
          </a:xfrm>
          <a:prstGeom prst="rect">
            <a:avLst/>
          </a:prstGeom>
          <a:noFill/>
          <a:ln w="9525">
            <a:noFill/>
            <a:miter lim="800000"/>
            <a:headEnd/>
            <a:tailEnd/>
          </a:ln>
          <a:effectLst/>
        </p:spPr>
        <p:txBody>
          <a:bodyPr>
            <a:spAutoFit/>
          </a:bodyPr>
          <a:lstStyle/>
          <a:p>
            <a:pPr eaLnBrk="1" hangingPunct="1">
              <a:spcBef>
                <a:spcPct val="50000"/>
              </a:spcBef>
            </a:pPr>
            <a:r>
              <a:rPr lang="en-US">
                <a:latin typeface="Garamond" pitchFamily="18" charset="0"/>
              </a:rPr>
              <a:t>d</a:t>
            </a:r>
          </a:p>
        </p:txBody>
      </p:sp>
      <p:sp>
        <p:nvSpPr>
          <p:cNvPr id="51223" name="Text Box 23"/>
          <p:cNvSpPr txBox="1">
            <a:spLocks noChangeArrowheads="1"/>
          </p:cNvSpPr>
          <p:nvPr/>
        </p:nvSpPr>
        <p:spPr bwMode="auto">
          <a:xfrm>
            <a:off x="457200" y="5105400"/>
            <a:ext cx="381000" cy="366713"/>
          </a:xfrm>
          <a:prstGeom prst="rect">
            <a:avLst/>
          </a:prstGeom>
          <a:noFill/>
          <a:ln w="9525">
            <a:noFill/>
            <a:miter lim="800000"/>
            <a:headEnd/>
            <a:tailEnd/>
          </a:ln>
          <a:effectLst/>
        </p:spPr>
        <p:txBody>
          <a:bodyPr>
            <a:spAutoFit/>
          </a:bodyPr>
          <a:lstStyle/>
          <a:p>
            <a:pPr algn="r" eaLnBrk="1" hangingPunct="1">
              <a:spcBef>
                <a:spcPct val="50000"/>
              </a:spcBef>
            </a:pPr>
            <a:r>
              <a:rPr lang="en-US">
                <a:latin typeface="Garamond" pitchFamily="18" charset="0"/>
              </a:rPr>
              <a:t>0</a:t>
            </a:r>
          </a:p>
        </p:txBody>
      </p:sp>
      <p:sp>
        <p:nvSpPr>
          <p:cNvPr id="51224" name="Text Box 24"/>
          <p:cNvSpPr txBox="1">
            <a:spLocks noChangeArrowheads="1"/>
          </p:cNvSpPr>
          <p:nvPr/>
        </p:nvSpPr>
        <p:spPr bwMode="auto">
          <a:xfrm>
            <a:off x="4648200" y="5105400"/>
            <a:ext cx="381000" cy="366713"/>
          </a:xfrm>
          <a:prstGeom prst="rect">
            <a:avLst/>
          </a:prstGeom>
          <a:noFill/>
          <a:ln w="9525">
            <a:noFill/>
            <a:miter lim="800000"/>
            <a:headEnd/>
            <a:tailEnd/>
          </a:ln>
          <a:effectLst/>
        </p:spPr>
        <p:txBody>
          <a:bodyPr>
            <a:spAutoFit/>
          </a:bodyPr>
          <a:lstStyle/>
          <a:p>
            <a:pPr algn="r" eaLnBrk="1" hangingPunct="1">
              <a:spcBef>
                <a:spcPct val="50000"/>
              </a:spcBef>
            </a:pPr>
            <a:r>
              <a:rPr lang="en-US">
                <a:latin typeface="Garamond" pitchFamily="18" charset="0"/>
              </a:rPr>
              <a:t>0</a:t>
            </a:r>
          </a:p>
        </p:txBody>
      </p:sp>
      <p:sp>
        <p:nvSpPr>
          <p:cNvPr id="51225" name="Text Box 25"/>
          <p:cNvSpPr txBox="1">
            <a:spLocks noChangeArrowheads="1"/>
          </p:cNvSpPr>
          <p:nvPr/>
        </p:nvSpPr>
        <p:spPr bwMode="auto">
          <a:xfrm>
            <a:off x="8534400" y="5257800"/>
            <a:ext cx="609600" cy="366713"/>
          </a:xfrm>
          <a:prstGeom prst="rect">
            <a:avLst/>
          </a:prstGeom>
          <a:noFill/>
          <a:ln w="9525">
            <a:noFill/>
            <a:miter lim="800000"/>
            <a:headEnd/>
            <a:tailEnd/>
          </a:ln>
          <a:effectLst/>
        </p:spPr>
        <p:txBody>
          <a:bodyPr>
            <a:spAutoFit/>
          </a:bodyPr>
          <a:lstStyle/>
          <a:p>
            <a:pPr eaLnBrk="1" hangingPunct="1">
              <a:spcBef>
                <a:spcPct val="50000"/>
              </a:spcBef>
            </a:pPr>
            <a:r>
              <a:rPr lang="en-US">
                <a:latin typeface="Garamond" pitchFamily="18" charset="0"/>
              </a:rPr>
              <a:t>Q</a:t>
            </a:r>
          </a:p>
        </p:txBody>
      </p:sp>
      <p:sp>
        <p:nvSpPr>
          <p:cNvPr id="51226" name="Text Box 26"/>
          <p:cNvSpPr txBox="1">
            <a:spLocks noChangeArrowheads="1"/>
          </p:cNvSpPr>
          <p:nvPr/>
        </p:nvSpPr>
        <p:spPr bwMode="auto">
          <a:xfrm>
            <a:off x="0" y="1600200"/>
            <a:ext cx="762000" cy="366713"/>
          </a:xfrm>
          <a:prstGeom prst="rect">
            <a:avLst/>
          </a:prstGeom>
          <a:noFill/>
          <a:ln w="9525">
            <a:noFill/>
            <a:miter lim="800000"/>
            <a:headEnd/>
            <a:tailEnd/>
          </a:ln>
          <a:effectLst/>
        </p:spPr>
        <p:txBody>
          <a:bodyPr>
            <a:spAutoFit/>
          </a:bodyPr>
          <a:lstStyle/>
          <a:p>
            <a:pPr algn="r" eaLnBrk="1" hangingPunct="1">
              <a:spcBef>
                <a:spcPct val="50000"/>
              </a:spcBef>
            </a:pPr>
            <a:r>
              <a:rPr lang="en-US">
                <a:latin typeface="Garamond" pitchFamily="18" charset="0"/>
              </a:rPr>
              <a:t>Price</a:t>
            </a:r>
          </a:p>
        </p:txBody>
      </p:sp>
      <p:sp>
        <p:nvSpPr>
          <p:cNvPr id="51227" name="Text Box 27"/>
          <p:cNvSpPr txBox="1">
            <a:spLocks noChangeArrowheads="1"/>
          </p:cNvSpPr>
          <p:nvPr/>
        </p:nvSpPr>
        <p:spPr bwMode="auto">
          <a:xfrm>
            <a:off x="914400" y="5715000"/>
            <a:ext cx="3733800" cy="707886"/>
          </a:xfrm>
          <a:prstGeom prst="rect">
            <a:avLst/>
          </a:prstGeom>
          <a:noFill/>
          <a:ln w="9525">
            <a:noFill/>
            <a:miter lim="800000"/>
            <a:headEnd/>
            <a:tailEnd/>
          </a:ln>
          <a:effectLst/>
        </p:spPr>
        <p:txBody>
          <a:bodyPr wrap="square">
            <a:spAutoFit/>
          </a:bodyPr>
          <a:lstStyle/>
          <a:p>
            <a:pPr eaLnBrk="1" hangingPunct="1">
              <a:spcBef>
                <a:spcPct val="50000"/>
              </a:spcBef>
            </a:pPr>
            <a:r>
              <a:rPr lang="en-US" sz="2000" b="1" dirty="0">
                <a:latin typeface="Garamond" pitchFamily="18" charset="0"/>
              </a:rPr>
              <a:t>Equilibrium price is determined </a:t>
            </a:r>
            <a:br>
              <a:rPr lang="en-US" sz="2000" b="1" dirty="0">
                <a:latin typeface="Garamond" pitchFamily="18" charset="0"/>
              </a:rPr>
            </a:br>
            <a:r>
              <a:rPr lang="en-US" sz="2000" b="1" dirty="0">
                <a:latin typeface="Garamond" pitchFamily="18" charset="0"/>
              </a:rPr>
              <a:t>in the </a:t>
            </a:r>
            <a:r>
              <a:rPr lang="en-US" sz="2000" b="1" dirty="0" smtClean="0">
                <a:latin typeface="Garamond" pitchFamily="18" charset="0"/>
              </a:rPr>
              <a:t>market.</a:t>
            </a:r>
            <a:endParaRPr lang="en-US" sz="2000" b="1" dirty="0">
              <a:latin typeface="Garamond" pitchFamily="18" charset="0"/>
            </a:endParaRPr>
          </a:p>
        </p:txBody>
      </p:sp>
      <p:sp>
        <p:nvSpPr>
          <p:cNvPr id="51228" name="Text Box 28"/>
          <p:cNvSpPr txBox="1">
            <a:spLocks noChangeArrowheads="1"/>
          </p:cNvSpPr>
          <p:nvPr/>
        </p:nvSpPr>
        <p:spPr bwMode="auto">
          <a:xfrm>
            <a:off x="5181600" y="5715000"/>
            <a:ext cx="3810000" cy="707886"/>
          </a:xfrm>
          <a:prstGeom prst="rect">
            <a:avLst/>
          </a:prstGeom>
          <a:noFill/>
          <a:ln w="9525">
            <a:noFill/>
            <a:miter lim="800000"/>
            <a:headEnd/>
            <a:tailEnd/>
          </a:ln>
          <a:effectLst/>
        </p:spPr>
        <p:txBody>
          <a:bodyPr wrap="square">
            <a:spAutoFit/>
          </a:bodyPr>
          <a:lstStyle/>
          <a:p>
            <a:pPr eaLnBrk="1" hangingPunct="1">
              <a:spcBef>
                <a:spcPct val="50000"/>
              </a:spcBef>
            </a:pPr>
            <a:r>
              <a:rPr lang="en-US" sz="2000" b="1" dirty="0">
                <a:latin typeface="Garamond" pitchFamily="18" charset="0"/>
              </a:rPr>
              <a:t>Once determined, a firm can sell as much as it wants at that </a:t>
            </a:r>
            <a:r>
              <a:rPr lang="en-US" sz="2000" b="1" dirty="0" smtClean="0">
                <a:latin typeface="Garamond" pitchFamily="18" charset="0"/>
              </a:rPr>
              <a:t>price.</a:t>
            </a:r>
            <a:endParaRPr lang="en-US" sz="2000" b="1" dirty="0">
              <a:latin typeface="Garamond" pitchFamily="18" charset="0"/>
            </a:endParaRPr>
          </a:p>
        </p:txBody>
      </p:sp>
      <p:sp>
        <p:nvSpPr>
          <p:cNvPr id="51229" name="Text Box 29"/>
          <p:cNvSpPr txBox="1">
            <a:spLocks noChangeArrowheads="1"/>
          </p:cNvSpPr>
          <p:nvPr/>
        </p:nvSpPr>
        <p:spPr bwMode="auto">
          <a:xfrm>
            <a:off x="3733800" y="1981200"/>
            <a:ext cx="609600" cy="366713"/>
          </a:xfrm>
          <a:prstGeom prst="rect">
            <a:avLst/>
          </a:prstGeom>
          <a:noFill/>
          <a:ln w="9525">
            <a:noFill/>
            <a:miter lim="800000"/>
            <a:headEnd/>
            <a:tailEnd/>
          </a:ln>
          <a:effectLst/>
        </p:spPr>
        <p:txBody>
          <a:bodyPr>
            <a:spAutoFit/>
          </a:bodyPr>
          <a:lstStyle/>
          <a:p>
            <a:pPr eaLnBrk="1" hangingPunct="1">
              <a:spcBef>
                <a:spcPct val="50000"/>
              </a:spcBef>
            </a:pPr>
            <a:r>
              <a:rPr lang="en-US" dirty="0">
                <a:latin typeface="Garamond" pitchFamily="18" charset="0"/>
              </a:rPr>
              <a:t>S</a:t>
            </a:r>
          </a:p>
        </p:txBody>
      </p:sp>
      <p:sp>
        <p:nvSpPr>
          <p:cNvPr id="51233" name="Text Box 33"/>
          <p:cNvSpPr txBox="1">
            <a:spLocks noChangeArrowheads="1"/>
          </p:cNvSpPr>
          <p:nvPr/>
        </p:nvSpPr>
        <p:spPr bwMode="auto">
          <a:xfrm>
            <a:off x="1066800" y="685800"/>
            <a:ext cx="2667000" cy="396875"/>
          </a:xfrm>
          <a:prstGeom prst="rect">
            <a:avLst/>
          </a:prstGeom>
          <a:noFill/>
          <a:ln w="9525">
            <a:noFill/>
            <a:miter lim="800000"/>
            <a:headEnd/>
            <a:tailEnd/>
          </a:ln>
          <a:effectLst/>
        </p:spPr>
        <p:txBody>
          <a:bodyPr>
            <a:spAutoFit/>
          </a:bodyPr>
          <a:lstStyle/>
          <a:p>
            <a:pPr algn="ctr" eaLnBrk="1" hangingPunct="1">
              <a:spcBef>
                <a:spcPct val="50000"/>
              </a:spcBef>
            </a:pPr>
            <a:r>
              <a:rPr lang="en-US" sz="2000" b="1">
                <a:latin typeface="Garamond" pitchFamily="18" charset="0"/>
              </a:rPr>
              <a:t>Market</a:t>
            </a:r>
          </a:p>
        </p:txBody>
      </p:sp>
      <p:sp>
        <p:nvSpPr>
          <p:cNvPr id="29" name="Slide Number Placeholder 28"/>
          <p:cNvSpPr>
            <a:spLocks noGrp="1"/>
          </p:cNvSpPr>
          <p:nvPr>
            <p:ph type="sldNum" sz="quarter" idx="12"/>
          </p:nvPr>
        </p:nvSpPr>
        <p:spPr/>
        <p:txBody>
          <a:bodyPr/>
          <a:lstStyle/>
          <a:p>
            <a:fld id="{C1CAC32C-9519-4793-B058-9425B6C4AAE5}" type="slidenum">
              <a:rPr lang="en-US" smtClean="0"/>
              <a:pPr/>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Line 2"/>
          <p:cNvSpPr>
            <a:spLocks noChangeShapeType="1"/>
          </p:cNvSpPr>
          <p:nvPr/>
        </p:nvSpPr>
        <p:spPr bwMode="auto">
          <a:xfrm>
            <a:off x="838200" y="1676400"/>
            <a:ext cx="0" cy="3581400"/>
          </a:xfrm>
          <a:prstGeom prst="line">
            <a:avLst/>
          </a:prstGeom>
          <a:noFill/>
          <a:ln w="9525">
            <a:solidFill>
              <a:schemeClr val="tx1"/>
            </a:solidFill>
            <a:round/>
            <a:headEnd/>
            <a:tailEnd/>
          </a:ln>
          <a:effectLst/>
        </p:spPr>
        <p:txBody>
          <a:bodyPr/>
          <a:lstStyle/>
          <a:p>
            <a:endParaRPr lang="en-US"/>
          </a:p>
        </p:txBody>
      </p:sp>
      <p:sp>
        <p:nvSpPr>
          <p:cNvPr id="136195" name="Line 3"/>
          <p:cNvSpPr>
            <a:spLocks noChangeShapeType="1"/>
          </p:cNvSpPr>
          <p:nvPr/>
        </p:nvSpPr>
        <p:spPr bwMode="auto">
          <a:xfrm>
            <a:off x="838200" y="5257800"/>
            <a:ext cx="3657600" cy="0"/>
          </a:xfrm>
          <a:prstGeom prst="line">
            <a:avLst/>
          </a:prstGeom>
          <a:noFill/>
          <a:ln w="9525">
            <a:solidFill>
              <a:schemeClr val="tx1"/>
            </a:solidFill>
            <a:round/>
            <a:headEnd/>
            <a:tailEnd/>
          </a:ln>
          <a:effectLst/>
        </p:spPr>
        <p:txBody>
          <a:bodyPr/>
          <a:lstStyle/>
          <a:p>
            <a:endParaRPr lang="en-US"/>
          </a:p>
        </p:txBody>
      </p:sp>
      <p:sp>
        <p:nvSpPr>
          <p:cNvPr id="136196" name="Line 4"/>
          <p:cNvSpPr>
            <a:spLocks noChangeShapeType="1"/>
          </p:cNvSpPr>
          <p:nvPr/>
        </p:nvSpPr>
        <p:spPr bwMode="auto">
          <a:xfrm>
            <a:off x="5029200" y="1676400"/>
            <a:ext cx="0" cy="3581400"/>
          </a:xfrm>
          <a:prstGeom prst="line">
            <a:avLst/>
          </a:prstGeom>
          <a:noFill/>
          <a:ln w="28575">
            <a:solidFill>
              <a:schemeClr val="tx1"/>
            </a:solidFill>
            <a:round/>
            <a:headEnd/>
            <a:tailEnd/>
          </a:ln>
          <a:effectLst/>
        </p:spPr>
        <p:txBody>
          <a:bodyPr/>
          <a:lstStyle/>
          <a:p>
            <a:endParaRPr lang="en-US"/>
          </a:p>
        </p:txBody>
      </p:sp>
      <p:sp>
        <p:nvSpPr>
          <p:cNvPr id="136197" name="Line 5"/>
          <p:cNvSpPr>
            <a:spLocks noChangeShapeType="1"/>
          </p:cNvSpPr>
          <p:nvPr/>
        </p:nvSpPr>
        <p:spPr bwMode="auto">
          <a:xfrm>
            <a:off x="5029200" y="5257800"/>
            <a:ext cx="3657600" cy="0"/>
          </a:xfrm>
          <a:prstGeom prst="line">
            <a:avLst/>
          </a:prstGeom>
          <a:noFill/>
          <a:ln w="28575">
            <a:solidFill>
              <a:schemeClr val="tx1"/>
            </a:solidFill>
            <a:round/>
            <a:headEnd/>
            <a:tailEnd/>
          </a:ln>
          <a:effectLst/>
        </p:spPr>
        <p:txBody>
          <a:bodyPr/>
          <a:lstStyle/>
          <a:p>
            <a:endParaRPr lang="en-US"/>
          </a:p>
        </p:txBody>
      </p:sp>
      <p:sp>
        <p:nvSpPr>
          <p:cNvPr id="136198" name="Line 6"/>
          <p:cNvSpPr>
            <a:spLocks noChangeShapeType="1"/>
          </p:cNvSpPr>
          <p:nvPr/>
        </p:nvSpPr>
        <p:spPr bwMode="auto">
          <a:xfrm>
            <a:off x="1219200" y="2286000"/>
            <a:ext cx="2590800" cy="2514600"/>
          </a:xfrm>
          <a:prstGeom prst="line">
            <a:avLst/>
          </a:prstGeom>
          <a:noFill/>
          <a:ln w="9525">
            <a:solidFill>
              <a:schemeClr val="tx1"/>
            </a:solidFill>
            <a:round/>
            <a:headEnd/>
            <a:tailEnd/>
          </a:ln>
          <a:effectLst/>
        </p:spPr>
        <p:txBody>
          <a:bodyPr/>
          <a:lstStyle/>
          <a:p>
            <a:endParaRPr lang="en-US"/>
          </a:p>
        </p:txBody>
      </p:sp>
      <p:sp>
        <p:nvSpPr>
          <p:cNvPr id="136199" name="Line 7"/>
          <p:cNvSpPr>
            <a:spLocks noChangeShapeType="1"/>
          </p:cNvSpPr>
          <p:nvPr/>
        </p:nvSpPr>
        <p:spPr bwMode="auto">
          <a:xfrm flipV="1">
            <a:off x="1143000" y="2286000"/>
            <a:ext cx="2514600" cy="2514600"/>
          </a:xfrm>
          <a:prstGeom prst="line">
            <a:avLst/>
          </a:prstGeom>
          <a:noFill/>
          <a:ln w="9525">
            <a:solidFill>
              <a:schemeClr val="tx1"/>
            </a:solidFill>
            <a:round/>
            <a:headEnd/>
            <a:tailEnd/>
          </a:ln>
          <a:effectLst/>
        </p:spPr>
        <p:txBody>
          <a:bodyPr/>
          <a:lstStyle/>
          <a:p>
            <a:endParaRPr lang="en-US"/>
          </a:p>
        </p:txBody>
      </p:sp>
      <p:sp>
        <p:nvSpPr>
          <p:cNvPr id="136200" name="Line 8"/>
          <p:cNvSpPr>
            <a:spLocks noChangeShapeType="1"/>
          </p:cNvSpPr>
          <p:nvPr/>
        </p:nvSpPr>
        <p:spPr bwMode="auto">
          <a:xfrm>
            <a:off x="838200" y="3505200"/>
            <a:ext cx="1600200" cy="0"/>
          </a:xfrm>
          <a:prstGeom prst="line">
            <a:avLst/>
          </a:prstGeom>
          <a:noFill/>
          <a:ln w="9525">
            <a:solidFill>
              <a:schemeClr val="tx1"/>
            </a:solidFill>
            <a:prstDash val="dash"/>
            <a:round/>
            <a:headEnd/>
            <a:tailEnd/>
          </a:ln>
          <a:effectLst/>
        </p:spPr>
        <p:txBody>
          <a:bodyPr/>
          <a:lstStyle/>
          <a:p>
            <a:endParaRPr lang="en-US"/>
          </a:p>
        </p:txBody>
      </p:sp>
      <p:sp>
        <p:nvSpPr>
          <p:cNvPr id="136201" name="Text Box 9"/>
          <p:cNvSpPr txBox="1">
            <a:spLocks noChangeArrowheads="1"/>
          </p:cNvSpPr>
          <p:nvPr/>
        </p:nvSpPr>
        <p:spPr bwMode="auto">
          <a:xfrm>
            <a:off x="1066800" y="685800"/>
            <a:ext cx="2667000" cy="396875"/>
          </a:xfrm>
          <a:prstGeom prst="rect">
            <a:avLst/>
          </a:prstGeom>
          <a:noFill/>
          <a:ln w="9525">
            <a:noFill/>
            <a:miter lim="800000"/>
            <a:headEnd/>
            <a:tailEnd/>
          </a:ln>
          <a:effectLst/>
        </p:spPr>
        <p:txBody>
          <a:bodyPr>
            <a:spAutoFit/>
          </a:bodyPr>
          <a:lstStyle/>
          <a:p>
            <a:pPr algn="ctr" eaLnBrk="1" hangingPunct="1">
              <a:spcBef>
                <a:spcPct val="50000"/>
              </a:spcBef>
            </a:pPr>
            <a:r>
              <a:rPr lang="en-US" sz="2000" b="1">
                <a:latin typeface="Garamond" pitchFamily="18" charset="0"/>
              </a:rPr>
              <a:t>Market</a:t>
            </a:r>
          </a:p>
        </p:txBody>
      </p:sp>
      <p:sp>
        <p:nvSpPr>
          <p:cNvPr id="136202" name="Text Box 10"/>
          <p:cNvSpPr txBox="1">
            <a:spLocks noChangeArrowheads="1"/>
          </p:cNvSpPr>
          <p:nvPr/>
        </p:nvSpPr>
        <p:spPr bwMode="auto">
          <a:xfrm>
            <a:off x="5638800" y="762000"/>
            <a:ext cx="2667000" cy="396875"/>
          </a:xfrm>
          <a:prstGeom prst="rect">
            <a:avLst/>
          </a:prstGeom>
          <a:noFill/>
          <a:ln w="9525">
            <a:noFill/>
            <a:miter lim="800000"/>
            <a:headEnd/>
            <a:tailEnd/>
          </a:ln>
          <a:effectLst/>
        </p:spPr>
        <p:txBody>
          <a:bodyPr>
            <a:spAutoFit/>
          </a:bodyPr>
          <a:lstStyle/>
          <a:p>
            <a:pPr algn="ctr" eaLnBrk="1" hangingPunct="1">
              <a:spcBef>
                <a:spcPct val="50000"/>
              </a:spcBef>
            </a:pPr>
            <a:r>
              <a:rPr lang="en-US" sz="2000" b="1">
                <a:latin typeface="Garamond" pitchFamily="18" charset="0"/>
              </a:rPr>
              <a:t>Firm</a:t>
            </a:r>
          </a:p>
        </p:txBody>
      </p:sp>
      <p:sp>
        <p:nvSpPr>
          <p:cNvPr id="136203" name="Text Box 11"/>
          <p:cNvSpPr txBox="1">
            <a:spLocks noChangeArrowheads="1"/>
          </p:cNvSpPr>
          <p:nvPr/>
        </p:nvSpPr>
        <p:spPr bwMode="auto">
          <a:xfrm>
            <a:off x="4114800" y="5257800"/>
            <a:ext cx="609600" cy="366713"/>
          </a:xfrm>
          <a:prstGeom prst="rect">
            <a:avLst/>
          </a:prstGeom>
          <a:noFill/>
          <a:ln w="9525">
            <a:noFill/>
            <a:miter lim="800000"/>
            <a:headEnd/>
            <a:tailEnd/>
          </a:ln>
          <a:effectLst/>
        </p:spPr>
        <p:txBody>
          <a:bodyPr>
            <a:spAutoFit/>
          </a:bodyPr>
          <a:lstStyle/>
          <a:p>
            <a:pPr eaLnBrk="1" hangingPunct="1">
              <a:spcBef>
                <a:spcPct val="50000"/>
              </a:spcBef>
            </a:pPr>
            <a:r>
              <a:rPr lang="en-US">
                <a:latin typeface="Garamond" pitchFamily="18" charset="0"/>
              </a:rPr>
              <a:t>Q</a:t>
            </a:r>
          </a:p>
        </p:txBody>
      </p:sp>
      <p:sp>
        <p:nvSpPr>
          <p:cNvPr id="136204" name="Text Box 12"/>
          <p:cNvSpPr txBox="1">
            <a:spLocks noChangeArrowheads="1"/>
          </p:cNvSpPr>
          <p:nvPr/>
        </p:nvSpPr>
        <p:spPr bwMode="auto">
          <a:xfrm>
            <a:off x="1066800" y="1905000"/>
            <a:ext cx="609600" cy="366713"/>
          </a:xfrm>
          <a:prstGeom prst="rect">
            <a:avLst/>
          </a:prstGeom>
          <a:noFill/>
          <a:ln w="9525">
            <a:noFill/>
            <a:miter lim="800000"/>
            <a:headEnd/>
            <a:tailEnd/>
          </a:ln>
          <a:effectLst/>
        </p:spPr>
        <p:txBody>
          <a:bodyPr>
            <a:spAutoFit/>
          </a:bodyPr>
          <a:lstStyle/>
          <a:p>
            <a:pPr eaLnBrk="1" hangingPunct="1">
              <a:spcBef>
                <a:spcPct val="50000"/>
              </a:spcBef>
            </a:pPr>
            <a:r>
              <a:rPr lang="en-US" dirty="0" smtClean="0">
                <a:latin typeface="Garamond" pitchFamily="18" charset="0"/>
              </a:rPr>
              <a:t>D</a:t>
            </a:r>
            <a:r>
              <a:rPr lang="en-US" baseline="-25000" dirty="0" smtClean="0">
                <a:latin typeface="Garamond" pitchFamily="18" charset="0"/>
              </a:rPr>
              <a:t>1</a:t>
            </a:r>
            <a:endParaRPr lang="en-US" dirty="0">
              <a:latin typeface="Garamond" pitchFamily="18" charset="0"/>
            </a:endParaRPr>
          </a:p>
        </p:txBody>
      </p:sp>
      <p:sp>
        <p:nvSpPr>
          <p:cNvPr id="136205" name="Text Box 13"/>
          <p:cNvSpPr txBox="1">
            <a:spLocks noChangeArrowheads="1"/>
          </p:cNvSpPr>
          <p:nvPr/>
        </p:nvSpPr>
        <p:spPr bwMode="auto">
          <a:xfrm>
            <a:off x="228600" y="3276600"/>
            <a:ext cx="609600" cy="366713"/>
          </a:xfrm>
          <a:prstGeom prst="rect">
            <a:avLst/>
          </a:prstGeom>
          <a:noFill/>
          <a:ln w="9525">
            <a:noFill/>
            <a:miter lim="800000"/>
            <a:headEnd/>
            <a:tailEnd/>
          </a:ln>
          <a:effectLst/>
        </p:spPr>
        <p:txBody>
          <a:bodyPr>
            <a:spAutoFit/>
          </a:bodyPr>
          <a:lstStyle/>
          <a:p>
            <a:pPr algn="r" eaLnBrk="1" hangingPunct="1">
              <a:spcBef>
                <a:spcPct val="50000"/>
              </a:spcBef>
            </a:pPr>
            <a:r>
              <a:rPr lang="en-US">
                <a:latin typeface="Garamond" pitchFamily="18" charset="0"/>
              </a:rPr>
              <a:t>P*</a:t>
            </a:r>
          </a:p>
        </p:txBody>
      </p:sp>
      <p:sp>
        <p:nvSpPr>
          <p:cNvPr id="136206" name="Line 14"/>
          <p:cNvSpPr>
            <a:spLocks noChangeShapeType="1"/>
          </p:cNvSpPr>
          <p:nvPr/>
        </p:nvSpPr>
        <p:spPr bwMode="auto">
          <a:xfrm>
            <a:off x="1219200" y="2286000"/>
            <a:ext cx="2590800" cy="2514600"/>
          </a:xfrm>
          <a:prstGeom prst="line">
            <a:avLst/>
          </a:prstGeom>
          <a:noFill/>
          <a:ln w="38100">
            <a:solidFill>
              <a:schemeClr val="tx2"/>
            </a:solidFill>
            <a:round/>
            <a:headEnd/>
            <a:tailEnd/>
          </a:ln>
          <a:effectLst/>
        </p:spPr>
        <p:txBody>
          <a:bodyPr/>
          <a:lstStyle/>
          <a:p>
            <a:endParaRPr lang="en-US"/>
          </a:p>
        </p:txBody>
      </p:sp>
      <p:sp>
        <p:nvSpPr>
          <p:cNvPr id="136207" name="Line 15"/>
          <p:cNvSpPr>
            <a:spLocks noChangeShapeType="1"/>
          </p:cNvSpPr>
          <p:nvPr/>
        </p:nvSpPr>
        <p:spPr bwMode="auto">
          <a:xfrm flipV="1">
            <a:off x="1143000" y="2286000"/>
            <a:ext cx="2514600" cy="2514600"/>
          </a:xfrm>
          <a:prstGeom prst="line">
            <a:avLst/>
          </a:prstGeom>
          <a:noFill/>
          <a:ln w="38100">
            <a:solidFill>
              <a:srgbClr val="C00000"/>
            </a:solidFill>
            <a:round/>
            <a:headEnd/>
            <a:tailEnd/>
          </a:ln>
          <a:effectLst/>
        </p:spPr>
        <p:txBody>
          <a:bodyPr/>
          <a:lstStyle/>
          <a:p>
            <a:endParaRPr lang="en-US"/>
          </a:p>
        </p:txBody>
      </p:sp>
      <p:sp>
        <p:nvSpPr>
          <p:cNvPr id="136208" name="Line 16"/>
          <p:cNvSpPr>
            <a:spLocks noChangeShapeType="1"/>
          </p:cNvSpPr>
          <p:nvPr/>
        </p:nvSpPr>
        <p:spPr bwMode="auto">
          <a:xfrm>
            <a:off x="838200" y="1676400"/>
            <a:ext cx="0" cy="3581400"/>
          </a:xfrm>
          <a:prstGeom prst="line">
            <a:avLst/>
          </a:prstGeom>
          <a:noFill/>
          <a:ln w="28575">
            <a:solidFill>
              <a:schemeClr val="tx1"/>
            </a:solidFill>
            <a:round/>
            <a:headEnd/>
            <a:tailEnd/>
          </a:ln>
          <a:effectLst/>
        </p:spPr>
        <p:txBody>
          <a:bodyPr/>
          <a:lstStyle/>
          <a:p>
            <a:endParaRPr lang="en-US"/>
          </a:p>
        </p:txBody>
      </p:sp>
      <p:sp>
        <p:nvSpPr>
          <p:cNvPr id="136209" name="Line 17"/>
          <p:cNvSpPr>
            <a:spLocks noChangeShapeType="1"/>
          </p:cNvSpPr>
          <p:nvPr/>
        </p:nvSpPr>
        <p:spPr bwMode="auto">
          <a:xfrm>
            <a:off x="838200" y="5257800"/>
            <a:ext cx="3657600" cy="0"/>
          </a:xfrm>
          <a:prstGeom prst="line">
            <a:avLst/>
          </a:prstGeom>
          <a:noFill/>
          <a:ln w="28575">
            <a:solidFill>
              <a:schemeClr val="tx1"/>
            </a:solidFill>
            <a:round/>
            <a:headEnd/>
            <a:tailEnd/>
          </a:ln>
          <a:effectLst/>
        </p:spPr>
        <p:txBody>
          <a:bodyPr/>
          <a:lstStyle/>
          <a:p>
            <a:endParaRPr lang="en-US"/>
          </a:p>
        </p:txBody>
      </p:sp>
      <p:sp>
        <p:nvSpPr>
          <p:cNvPr id="136210" name="Text Box 18"/>
          <p:cNvSpPr txBox="1">
            <a:spLocks noChangeArrowheads="1"/>
          </p:cNvSpPr>
          <p:nvPr/>
        </p:nvSpPr>
        <p:spPr bwMode="auto">
          <a:xfrm>
            <a:off x="4419600" y="3352800"/>
            <a:ext cx="609600" cy="366713"/>
          </a:xfrm>
          <a:prstGeom prst="rect">
            <a:avLst/>
          </a:prstGeom>
          <a:noFill/>
          <a:ln w="9525">
            <a:noFill/>
            <a:miter lim="800000"/>
            <a:headEnd/>
            <a:tailEnd/>
          </a:ln>
          <a:effectLst/>
        </p:spPr>
        <p:txBody>
          <a:bodyPr>
            <a:spAutoFit/>
          </a:bodyPr>
          <a:lstStyle/>
          <a:p>
            <a:pPr algn="r" eaLnBrk="1" hangingPunct="1">
              <a:spcBef>
                <a:spcPct val="50000"/>
              </a:spcBef>
            </a:pPr>
            <a:r>
              <a:rPr lang="en-US">
                <a:latin typeface="Garamond" pitchFamily="18" charset="0"/>
              </a:rPr>
              <a:t>P*</a:t>
            </a:r>
          </a:p>
        </p:txBody>
      </p:sp>
      <p:sp>
        <p:nvSpPr>
          <p:cNvPr id="136211" name="Line 19"/>
          <p:cNvSpPr>
            <a:spLocks noChangeShapeType="1"/>
          </p:cNvSpPr>
          <p:nvPr/>
        </p:nvSpPr>
        <p:spPr bwMode="auto">
          <a:xfrm>
            <a:off x="5029200" y="3505200"/>
            <a:ext cx="3352800" cy="0"/>
          </a:xfrm>
          <a:prstGeom prst="line">
            <a:avLst/>
          </a:prstGeom>
          <a:noFill/>
          <a:ln w="38100">
            <a:solidFill>
              <a:srgbClr val="00B0F0"/>
            </a:solidFill>
            <a:round/>
            <a:headEnd/>
            <a:tailEnd/>
          </a:ln>
          <a:effectLst/>
        </p:spPr>
        <p:txBody>
          <a:bodyPr/>
          <a:lstStyle/>
          <a:p>
            <a:endParaRPr lang="en-US"/>
          </a:p>
        </p:txBody>
      </p:sp>
      <p:sp>
        <p:nvSpPr>
          <p:cNvPr id="136212" name="Text Box 20"/>
          <p:cNvSpPr txBox="1">
            <a:spLocks noChangeArrowheads="1"/>
          </p:cNvSpPr>
          <p:nvPr/>
        </p:nvSpPr>
        <p:spPr bwMode="auto">
          <a:xfrm>
            <a:off x="8382000" y="3276600"/>
            <a:ext cx="609600" cy="366713"/>
          </a:xfrm>
          <a:prstGeom prst="rect">
            <a:avLst/>
          </a:prstGeom>
          <a:noFill/>
          <a:ln w="9525">
            <a:noFill/>
            <a:miter lim="800000"/>
            <a:headEnd/>
            <a:tailEnd/>
          </a:ln>
          <a:effectLst/>
        </p:spPr>
        <p:txBody>
          <a:bodyPr>
            <a:spAutoFit/>
          </a:bodyPr>
          <a:lstStyle/>
          <a:p>
            <a:pPr eaLnBrk="1" hangingPunct="1">
              <a:spcBef>
                <a:spcPct val="50000"/>
              </a:spcBef>
            </a:pPr>
            <a:r>
              <a:rPr lang="en-US" dirty="0" smtClean="0">
                <a:latin typeface="Garamond" pitchFamily="18" charset="0"/>
              </a:rPr>
              <a:t>d</a:t>
            </a:r>
            <a:r>
              <a:rPr lang="en-US" baseline="-25000" dirty="0" smtClean="0">
                <a:latin typeface="Garamond" pitchFamily="18" charset="0"/>
              </a:rPr>
              <a:t>1</a:t>
            </a:r>
            <a:endParaRPr lang="en-US" dirty="0">
              <a:latin typeface="Garamond" pitchFamily="18" charset="0"/>
            </a:endParaRPr>
          </a:p>
        </p:txBody>
      </p:sp>
      <p:sp>
        <p:nvSpPr>
          <p:cNvPr id="136213" name="Text Box 21"/>
          <p:cNvSpPr txBox="1">
            <a:spLocks noChangeArrowheads="1"/>
          </p:cNvSpPr>
          <p:nvPr/>
        </p:nvSpPr>
        <p:spPr bwMode="auto">
          <a:xfrm>
            <a:off x="457200" y="5105400"/>
            <a:ext cx="381000" cy="366713"/>
          </a:xfrm>
          <a:prstGeom prst="rect">
            <a:avLst/>
          </a:prstGeom>
          <a:noFill/>
          <a:ln w="9525">
            <a:noFill/>
            <a:miter lim="800000"/>
            <a:headEnd/>
            <a:tailEnd/>
          </a:ln>
          <a:effectLst/>
        </p:spPr>
        <p:txBody>
          <a:bodyPr>
            <a:spAutoFit/>
          </a:bodyPr>
          <a:lstStyle/>
          <a:p>
            <a:pPr algn="r" eaLnBrk="1" hangingPunct="1">
              <a:spcBef>
                <a:spcPct val="50000"/>
              </a:spcBef>
            </a:pPr>
            <a:r>
              <a:rPr lang="en-US">
                <a:latin typeface="Garamond" pitchFamily="18" charset="0"/>
              </a:rPr>
              <a:t>0</a:t>
            </a:r>
          </a:p>
        </p:txBody>
      </p:sp>
      <p:sp>
        <p:nvSpPr>
          <p:cNvPr id="136214" name="Text Box 22"/>
          <p:cNvSpPr txBox="1">
            <a:spLocks noChangeArrowheads="1"/>
          </p:cNvSpPr>
          <p:nvPr/>
        </p:nvSpPr>
        <p:spPr bwMode="auto">
          <a:xfrm>
            <a:off x="4648200" y="5105400"/>
            <a:ext cx="381000" cy="366713"/>
          </a:xfrm>
          <a:prstGeom prst="rect">
            <a:avLst/>
          </a:prstGeom>
          <a:noFill/>
          <a:ln w="9525">
            <a:noFill/>
            <a:miter lim="800000"/>
            <a:headEnd/>
            <a:tailEnd/>
          </a:ln>
          <a:effectLst/>
        </p:spPr>
        <p:txBody>
          <a:bodyPr>
            <a:spAutoFit/>
          </a:bodyPr>
          <a:lstStyle/>
          <a:p>
            <a:pPr algn="r" eaLnBrk="1" hangingPunct="1">
              <a:spcBef>
                <a:spcPct val="50000"/>
              </a:spcBef>
            </a:pPr>
            <a:r>
              <a:rPr lang="en-US">
                <a:latin typeface="Garamond" pitchFamily="18" charset="0"/>
              </a:rPr>
              <a:t>0</a:t>
            </a:r>
          </a:p>
        </p:txBody>
      </p:sp>
      <p:sp>
        <p:nvSpPr>
          <p:cNvPr id="136215" name="Text Box 23"/>
          <p:cNvSpPr txBox="1">
            <a:spLocks noChangeArrowheads="1"/>
          </p:cNvSpPr>
          <p:nvPr/>
        </p:nvSpPr>
        <p:spPr bwMode="auto">
          <a:xfrm>
            <a:off x="8534400" y="5257800"/>
            <a:ext cx="609600" cy="366713"/>
          </a:xfrm>
          <a:prstGeom prst="rect">
            <a:avLst/>
          </a:prstGeom>
          <a:noFill/>
          <a:ln w="9525">
            <a:noFill/>
            <a:miter lim="800000"/>
            <a:headEnd/>
            <a:tailEnd/>
          </a:ln>
          <a:effectLst/>
        </p:spPr>
        <p:txBody>
          <a:bodyPr>
            <a:spAutoFit/>
          </a:bodyPr>
          <a:lstStyle/>
          <a:p>
            <a:pPr eaLnBrk="1" hangingPunct="1">
              <a:spcBef>
                <a:spcPct val="50000"/>
              </a:spcBef>
            </a:pPr>
            <a:r>
              <a:rPr lang="en-US">
                <a:latin typeface="Garamond" pitchFamily="18" charset="0"/>
              </a:rPr>
              <a:t>Q</a:t>
            </a:r>
          </a:p>
        </p:txBody>
      </p:sp>
      <p:sp>
        <p:nvSpPr>
          <p:cNvPr id="136216" name="Text Box 24"/>
          <p:cNvSpPr txBox="1">
            <a:spLocks noChangeArrowheads="1"/>
          </p:cNvSpPr>
          <p:nvPr/>
        </p:nvSpPr>
        <p:spPr bwMode="auto">
          <a:xfrm>
            <a:off x="0" y="1600200"/>
            <a:ext cx="762000" cy="366713"/>
          </a:xfrm>
          <a:prstGeom prst="rect">
            <a:avLst/>
          </a:prstGeom>
          <a:noFill/>
          <a:ln w="9525">
            <a:noFill/>
            <a:miter lim="800000"/>
            <a:headEnd/>
            <a:tailEnd/>
          </a:ln>
          <a:effectLst/>
        </p:spPr>
        <p:txBody>
          <a:bodyPr>
            <a:spAutoFit/>
          </a:bodyPr>
          <a:lstStyle/>
          <a:p>
            <a:pPr algn="r" eaLnBrk="1" hangingPunct="1">
              <a:spcBef>
                <a:spcPct val="50000"/>
              </a:spcBef>
            </a:pPr>
            <a:r>
              <a:rPr lang="en-US">
                <a:latin typeface="Garamond" pitchFamily="18" charset="0"/>
              </a:rPr>
              <a:t>Price</a:t>
            </a:r>
          </a:p>
        </p:txBody>
      </p:sp>
      <p:sp>
        <p:nvSpPr>
          <p:cNvPr id="136217" name="Text Box 25"/>
          <p:cNvSpPr txBox="1">
            <a:spLocks noChangeArrowheads="1"/>
          </p:cNvSpPr>
          <p:nvPr/>
        </p:nvSpPr>
        <p:spPr bwMode="auto">
          <a:xfrm>
            <a:off x="914400" y="5715000"/>
            <a:ext cx="3733800" cy="1015663"/>
          </a:xfrm>
          <a:prstGeom prst="rect">
            <a:avLst/>
          </a:prstGeom>
          <a:noFill/>
          <a:ln w="9525">
            <a:noFill/>
            <a:miter lim="800000"/>
            <a:headEnd/>
            <a:tailEnd/>
          </a:ln>
          <a:effectLst/>
        </p:spPr>
        <p:txBody>
          <a:bodyPr wrap="square">
            <a:spAutoFit/>
          </a:bodyPr>
          <a:lstStyle/>
          <a:p>
            <a:pPr eaLnBrk="1" hangingPunct="1">
              <a:spcBef>
                <a:spcPct val="50000"/>
              </a:spcBef>
            </a:pPr>
            <a:r>
              <a:rPr lang="en-US" sz="2000" b="1" dirty="0" smtClean="0">
                <a:latin typeface="Garamond" pitchFamily="18" charset="0"/>
              </a:rPr>
              <a:t>A change in D or S determines a new equilibrium price </a:t>
            </a:r>
            <a:r>
              <a:rPr lang="en-US" sz="2000" b="1" dirty="0">
                <a:latin typeface="Garamond" pitchFamily="18" charset="0"/>
              </a:rPr>
              <a:t/>
            </a:r>
            <a:br>
              <a:rPr lang="en-US" sz="2000" b="1" dirty="0">
                <a:latin typeface="Garamond" pitchFamily="18" charset="0"/>
              </a:rPr>
            </a:br>
            <a:r>
              <a:rPr lang="en-US" sz="2000" b="1" dirty="0">
                <a:latin typeface="Garamond" pitchFamily="18" charset="0"/>
              </a:rPr>
              <a:t>in the </a:t>
            </a:r>
            <a:r>
              <a:rPr lang="en-US" sz="2000" b="1" dirty="0" smtClean="0">
                <a:latin typeface="Garamond" pitchFamily="18" charset="0"/>
              </a:rPr>
              <a:t>market.</a:t>
            </a:r>
            <a:endParaRPr lang="en-US" sz="2000" b="1" dirty="0">
              <a:latin typeface="Garamond" pitchFamily="18" charset="0"/>
            </a:endParaRPr>
          </a:p>
        </p:txBody>
      </p:sp>
      <p:sp>
        <p:nvSpPr>
          <p:cNvPr id="136218" name="Text Box 26"/>
          <p:cNvSpPr txBox="1">
            <a:spLocks noChangeArrowheads="1"/>
          </p:cNvSpPr>
          <p:nvPr/>
        </p:nvSpPr>
        <p:spPr bwMode="auto">
          <a:xfrm>
            <a:off x="5181600" y="5715000"/>
            <a:ext cx="3352800" cy="1015663"/>
          </a:xfrm>
          <a:prstGeom prst="rect">
            <a:avLst/>
          </a:prstGeom>
          <a:noFill/>
          <a:ln w="9525">
            <a:noFill/>
            <a:miter lim="800000"/>
            <a:headEnd/>
            <a:tailEnd/>
          </a:ln>
          <a:effectLst/>
        </p:spPr>
        <p:txBody>
          <a:bodyPr>
            <a:spAutoFit/>
          </a:bodyPr>
          <a:lstStyle/>
          <a:p>
            <a:pPr eaLnBrk="1" hangingPunct="1">
              <a:spcBef>
                <a:spcPct val="50000"/>
              </a:spcBef>
            </a:pPr>
            <a:r>
              <a:rPr lang="en-US" sz="2000" b="1" dirty="0">
                <a:latin typeface="Garamond" pitchFamily="18" charset="0"/>
              </a:rPr>
              <a:t>Once determined, a firm can sell as much as it wants at </a:t>
            </a:r>
            <a:r>
              <a:rPr lang="en-US" sz="2000" b="1" dirty="0" smtClean="0">
                <a:latin typeface="Garamond" pitchFamily="18" charset="0"/>
              </a:rPr>
              <a:t>the new price.</a:t>
            </a:r>
            <a:endParaRPr lang="en-US" sz="2000" b="1" dirty="0">
              <a:latin typeface="Garamond" pitchFamily="18" charset="0"/>
            </a:endParaRPr>
          </a:p>
        </p:txBody>
      </p:sp>
      <p:sp>
        <p:nvSpPr>
          <p:cNvPr id="136219" name="Text Box 27"/>
          <p:cNvSpPr txBox="1">
            <a:spLocks noChangeArrowheads="1"/>
          </p:cNvSpPr>
          <p:nvPr/>
        </p:nvSpPr>
        <p:spPr bwMode="auto">
          <a:xfrm>
            <a:off x="3581400" y="1905000"/>
            <a:ext cx="609600" cy="366713"/>
          </a:xfrm>
          <a:prstGeom prst="rect">
            <a:avLst/>
          </a:prstGeom>
          <a:noFill/>
          <a:ln w="9525">
            <a:noFill/>
            <a:miter lim="800000"/>
            <a:headEnd/>
            <a:tailEnd/>
          </a:ln>
          <a:effectLst/>
        </p:spPr>
        <p:txBody>
          <a:bodyPr>
            <a:spAutoFit/>
          </a:bodyPr>
          <a:lstStyle/>
          <a:p>
            <a:pPr eaLnBrk="1" hangingPunct="1">
              <a:spcBef>
                <a:spcPct val="50000"/>
              </a:spcBef>
            </a:pPr>
            <a:r>
              <a:rPr lang="en-US">
                <a:latin typeface="Garamond" pitchFamily="18" charset="0"/>
              </a:rPr>
              <a:t>S</a:t>
            </a:r>
          </a:p>
        </p:txBody>
      </p:sp>
      <p:sp>
        <p:nvSpPr>
          <p:cNvPr id="136220" name="Line 28"/>
          <p:cNvSpPr>
            <a:spLocks noChangeShapeType="1"/>
          </p:cNvSpPr>
          <p:nvPr/>
        </p:nvSpPr>
        <p:spPr bwMode="auto">
          <a:xfrm>
            <a:off x="1676400" y="1905000"/>
            <a:ext cx="2590800" cy="2514600"/>
          </a:xfrm>
          <a:prstGeom prst="line">
            <a:avLst/>
          </a:prstGeom>
          <a:noFill/>
          <a:ln w="38100">
            <a:solidFill>
              <a:schemeClr val="tx2"/>
            </a:solidFill>
            <a:round/>
            <a:headEnd/>
            <a:tailEnd/>
          </a:ln>
          <a:effectLst/>
        </p:spPr>
        <p:txBody>
          <a:bodyPr/>
          <a:lstStyle/>
          <a:p>
            <a:endParaRPr lang="en-US"/>
          </a:p>
        </p:txBody>
      </p:sp>
      <p:sp>
        <p:nvSpPr>
          <p:cNvPr id="136221" name="Text Box 29"/>
          <p:cNvSpPr txBox="1">
            <a:spLocks noChangeArrowheads="1"/>
          </p:cNvSpPr>
          <p:nvPr/>
        </p:nvSpPr>
        <p:spPr bwMode="auto">
          <a:xfrm>
            <a:off x="1752600" y="1600200"/>
            <a:ext cx="609600" cy="366713"/>
          </a:xfrm>
          <a:prstGeom prst="rect">
            <a:avLst/>
          </a:prstGeom>
          <a:noFill/>
          <a:ln w="9525">
            <a:noFill/>
            <a:miter lim="800000"/>
            <a:headEnd/>
            <a:tailEnd/>
          </a:ln>
          <a:effectLst/>
        </p:spPr>
        <p:txBody>
          <a:bodyPr>
            <a:spAutoFit/>
          </a:bodyPr>
          <a:lstStyle/>
          <a:p>
            <a:pPr eaLnBrk="1" hangingPunct="1">
              <a:spcBef>
                <a:spcPct val="50000"/>
              </a:spcBef>
            </a:pPr>
            <a:r>
              <a:rPr lang="en-US">
                <a:latin typeface="Garamond" pitchFamily="18" charset="0"/>
              </a:rPr>
              <a:t>D</a:t>
            </a:r>
            <a:r>
              <a:rPr lang="en-US" baseline="-25000">
                <a:latin typeface="Garamond" pitchFamily="18" charset="0"/>
              </a:rPr>
              <a:t>2</a:t>
            </a:r>
          </a:p>
        </p:txBody>
      </p:sp>
      <p:sp>
        <p:nvSpPr>
          <p:cNvPr id="136222" name="Line 30"/>
          <p:cNvSpPr>
            <a:spLocks noChangeShapeType="1"/>
          </p:cNvSpPr>
          <p:nvPr/>
        </p:nvSpPr>
        <p:spPr bwMode="auto">
          <a:xfrm>
            <a:off x="838200" y="3048000"/>
            <a:ext cx="2057400" cy="0"/>
          </a:xfrm>
          <a:prstGeom prst="line">
            <a:avLst/>
          </a:prstGeom>
          <a:noFill/>
          <a:ln w="9525">
            <a:solidFill>
              <a:schemeClr val="tx1"/>
            </a:solidFill>
            <a:prstDash val="dash"/>
            <a:round/>
            <a:headEnd/>
            <a:tailEnd/>
          </a:ln>
          <a:effectLst/>
        </p:spPr>
        <p:txBody>
          <a:bodyPr/>
          <a:lstStyle/>
          <a:p>
            <a:endParaRPr lang="en-US"/>
          </a:p>
        </p:txBody>
      </p:sp>
      <p:sp>
        <p:nvSpPr>
          <p:cNvPr id="136223" name="Text Box 31"/>
          <p:cNvSpPr txBox="1">
            <a:spLocks noChangeArrowheads="1"/>
          </p:cNvSpPr>
          <p:nvPr/>
        </p:nvSpPr>
        <p:spPr bwMode="auto">
          <a:xfrm>
            <a:off x="1066800" y="685800"/>
            <a:ext cx="2667000" cy="396875"/>
          </a:xfrm>
          <a:prstGeom prst="rect">
            <a:avLst/>
          </a:prstGeom>
          <a:noFill/>
          <a:ln w="9525">
            <a:noFill/>
            <a:miter lim="800000"/>
            <a:headEnd/>
            <a:tailEnd/>
          </a:ln>
          <a:effectLst/>
        </p:spPr>
        <p:txBody>
          <a:bodyPr>
            <a:spAutoFit/>
          </a:bodyPr>
          <a:lstStyle/>
          <a:p>
            <a:pPr algn="ctr" eaLnBrk="1" hangingPunct="1">
              <a:spcBef>
                <a:spcPct val="50000"/>
              </a:spcBef>
            </a:pPr>
            <a:r>
              <a:rPr lang="en-US" sz="2000" b="1">
                <a:latin typeface="Garamond" pitchFamily="18" charset="0"/>
              </a:rPr>
              <a:t>Market</a:t>
            </a:r>
          </a:p>
        </p:txBody>
      </p:sp>
      <p:sp>
        <p:nvSpPr>
          <p:cNvPr id="136224" name="Text Box 32"/>
          <p:cNvSpPr txBox="1">
            <a:spLocks noChangeArrowheads="1"/>
          </p:cNvSpPr>
          <p:nvPr/>
        </p:nvSpPr>
        <p:spPr bwMode="auto">
          <a:xfrm>
            <a:off x="228600" y="2895600"/>
            <a:ext cx="609600" cy="366713"/>
          </a:xfrm>
          <a:prstGeom prst="rect">
            <a:avLst/>
          </a:prstGeom>
          <a:noFill/>
          <a:ln w="9525">
            <a:noFill/>
            <a:miter lim="800000"/>
            <a:headEnd/>
            <a:tailEnd/>
          </a:ln>
          <a:effectLst/>
        </p:spPr>
        <p:txBody>
          <a:bodyPr>
            <a:spAutoFit/>
          </a:bodyPr>
          <a:lstStyle/>
          <a:p>
            <a:pPr algn="r" eaLnBrk="1" hangingPunct="1">
              <a:spcBef>
                <a:spcPct val="50000"/>
              </a:spcBef>
            </a:pPr>
            <a:r>
              <a:rPr lang="en-US">
                <a:latin typeface="Garamond" pitchFamily="18" charset="0"/>
              </a:rPr>
              <a:t>P</a:t>
            </a:r>
            <a:r>
              <a:rPr lang="en-US" baseline="-25000">
                <a:latin typeface="Garamond" pitchFamily="18" charset="0"/>
              </a:rPr>
              <a:t>2</a:t>
            </a:r>
          </a:p>
        </p:txBody>
      </p:sp>
      <p:sp>
        <p:nvSpPr>
          <p:cNvPr id="136225" name="Line 33"/>
          <p:cNvSpPr>
            <a:spLocks noChangeShapeType="1"/>
          </p:cNvSpPr>
          <p:nvPr/>
        </p:nvSpPr>
        <p:spPr bwMode="auto">
          <a:xfrm>
            <a:off x="5029200" y="3048000"/>
            <a:ext cx="3352800" cy="0"/>
          </a:xfrm>
          <a:prstGeom prst="line">
            <a:avLst/>
          </a:prstGeom>
          <a:noFill/>
          <a:ln w="38100">
            <a:solidFill>
              <a:schemeClr val="accent2"/>
            </a:solidFill>
            <a:round/>
            <a:headEnd/>
            <a:tailEnd/>
          </a:ln>
          <a:effectLst/>
        </p:spPr>
        <p:txBody>
          <a:bodyPr/>
          <a:lstStyle/>
          <a:p>
            <a:endParaRPr lang="en-US"/>
          </a:p>
        </p:txBody>
      </p:sp>
      <p:sp>
        <p:nvSpPr>
          <p:cNvPr id="136226" name="Text Box 34"/>
          <p:cNvSpPr txBox="1">
            <a:spLocks noChangeArrowheads="1"/>
          </p:cNvSpPr>
          <p:nvPr/>
        </p:nvSpPr>
        <p:spPr bwMode="auto">
          <a:xfrm>
            <a:off x="8382000" y="2895600"/>
            <a:ext cx="609600" cy="366713"/>
          </a:xfrm>
          <a:prstGeom prst="rect">
            <a:avLst/>
          </a:prstGeom>
          <a:noFill/>
          <a:ln w="9525">
            <a:noFill/>
            <a:miter lim="800000"/>
            <a:headEnd/>
            <a:tailEnd/>
          </a:ln>
          <a:effectLst/>
        </p:spPr>
        <p:txBody>
          <a:bodyPr>
            <a:spAutoFit/>
          </a:bodyPr>
          <a:lstStyle/>
          <a:p>
            <a:pPr eaLnBrk="1" hangingPunct="1">
              <a:spcBef>
                <a:spcPct val="50000"/>
              </a:spcBef>
            </a:pPr>
            <a:r>
              <a:rPr lang="en-US">
                <a:latin typeface="Garamond" pitchFamily="18" charset="0"/>
              </a:rPr>
              <a:t>d</a:t>
            </a:r>
            <a:r>
              <a:rPr lang="en-US" baseline="-25000">
                <a:latin typeface="Garamond" pitchFamily="18" charset="0"/>
              </a:rPr>
              <a:t>2</a:t>
            </a:r>
          </a:p>
        </p:txBody>
      </p:sp>
      <p:sp>
        <p:nvSpPr>
          <p:cNvPr id="136227" name="Text Box 35"/>
          <p:cNvSpPr txBox="1">
            <a:spLocks noChangeArrowheads="1"/>
          </p:cNvSpPr>
          <p:nvPr/>
        </p:nvSpPr>
        <p:spPr bwMode="auto">
          <a:xfrm>
            <a:off x="4419600" y="2895600"/>
            <a:ext cx="609600" cy="366713"/>
          </a:xfrm>
          <a:prstGeom prst="rect">
            <a:avLst/>
          </a:prstGeom>
          <a:noFill/>
          <a:ln w="9525">
            <a:noFill/>
            <a:miter lim="800000"/>
            <a:headEnd/>
            <a:tailEnd/>
          </a:ln>
          <a:effectLst/>
        </p:spPr>
        <p:txBody>
          <a:bodyPr>
            <a:spAutoFit/>
          </a:bodyPr>
          <a:lstStyle/>
          <a:p>
            <a:pPr algn="r" eaLnBrk="1" hangingPunct="1">
              <a:spcBef>
                <a:spcPct val="50000"/>
              </a:spcBef>
            </a:pPr>
            <a:r>
              <a:rPr lang="en-US">
                <a:latin typeface="Garamond" pitchFamily="18" charset="0"/>
              </a:rPr>
              <a:t>P</a:t>
            </a:r>
            <a:r>
              <a:rPr lang="en-US" baseline="-25000">
                <a:latin typeface="Garamond" pitchFamily="18" charset="0"/>
              </a:rPr>
              <a:t>2</a:t>
            </a:r>
          </a:p>
        </p:txBody>
      </p:sp>
      <p:sp>
        <p:nvSpPr>
          <p:cNvPr id="136228" name="Text Box 36"/>
          <p:cNvSpPr txBox="1">
            <a:spLocks noChangeArrowheads="1"/>
          </p:cNvSpPr>
          <p:nvPr/>
        </p:nvSpPr>
        <p:spPr bwMode="auto">
          <a:xfrm>
            <a:off x="1752600" y="1600200"/>
            <a:ext cx="609600" cy="366713"/>
          </a:xfrm>
          <a:prstGeom prst="rect">
            <a:avLst/>
          </a:prstGeom>
          <a:noFill/>
          <a:ln w="9525">
            <a:noFill/>
            <a:miter lim="800000"/>
            <a:headEnd/>
            <a:tailEnd/>
          </a:ln>
          <a:effectLst/>
        </p:spPr>
        <p:txBody>
          <a:bodyPr>
            <a:spAutoFit/>
          </a:bodyPr>
          <a:lstStyle/>
          <a:p>
            <a:pPr eaLnBrk="1" hangingPunct="1">
              <a:spcBef>
                <a:spcPct val="50000"/>
              </a:spcBef>
            </a:pPr>
            <a:r>
              <a:rPr lang="en-US">
                <a:latin typeface="Garamond" pitchFamily="18" charset="0"/>
              </a:rPr>
              <a:t>D</a:t>
            </a:r>
            <a:r>
              <a:rPr lang="en-US" baseline="-25000">
                <a:latin typeface="Garamond" pitchFamily="18" charset="0"/>
              </a:rPr>
              <a:t>2</a:t>
            </a:r>
          </a:p>
        </p:txBody>
      </p:sp>
      <p:sp>
        <p:nvSpPr>
          <p:cNvPr id="37" name="Slide Number Placeholder 36"/>
          <p:cNvSpPr>
            <a:spLocks noGrp="1"/>
          </p:cNvSpPr>
          <p:nvPr>
            <p:ph type="sldNum" sz="quarter" idx="12"/>
          </p:nvPr>
        </p:nvSpPr>
        <p:spPr/>
        <p:txBody>
          <a:bodyPr/>
          <a:lstStyle/>
          <a:p>
            <a:fld id="{C1CAC32C-9519-4793-B058-9425B6C4AAE5}" type="slidenum">
              <a:rPr lang="en-US" smtClean="0"/>
              <a:pPr/>
              <a:t>6</a:t>
            </a:fld>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9442" name="Rectangle 2"/>
          <p:cNvSpPr>
            <a:spLocks noGrp="1" noChangeArrowheads="1"/>
          </p:cNvSpPr>
          <p:nvPr>
            <p:ph type="title"/>
          </p:nvPr>
        </p:nvSpPr>
        <p:spPr/>
        <p:txBody>
          <a:bodyPr/>
          <a:lstStyle/>
          <a:p>
            <a:pPr algn="l"/>
            <a:r>
              <a:rPr lang="en-US" u="sng" dirty="0" smtClean="0">
                <a:latin typeface="Constantia" pitchFamily="18" charset="0"/>
              </a:rPr>
              <a:t>Monopoly:</a:t>
            </a:r>
            <a:endParaRPr lang="en-US" u="sng" dirty="0">
              <a:latin typeface="Constantia" pitchFamily="18" charset="0"/>
            </a:endParaRPr>
          </a:p>
        </p:txBody>
      </p:sp>
      <p:sp>
        <p:nvSpPr>
          <p:cNvPr id="189443" name="Rectangle 3"/>
          <p:cNvSpPr>
            <a:spLocks noGrp="1" noChangeArrowheads="1"/>
          </p:cNvSpPr>
          <p:nvPr>
            <p:ph idx="1"/>
          </p:nvPr>
        </p:nvSpPr>
        <p:spPr/>
        <p:txBody>
          <a:bodyPr>
            <a:noAutofit/>
          </a:bodyPr>
          <a:lstStyle/>
          <a:p>
            <a:r>
              <a:rPr lang="en-US" sz="2200" dirty="0" smtClean="0">
                <a:latin typeface="Constantia" pitchFamily="18" charset="0"/>
              </a:rPr>
              <a:t>Monopoly is one form of market imperfection.</a:t>
            </a:r>
          </a:p>
          <a:p>
            <a:r>
              <a:rPr lang="en-US" sz="2200" dirty="0" smtClean="0">
                <a:latin typeface="Constantia" pitchFamily="18" charset="0"/>
              </a:rPr>
              <a:t> Imperfect competition refers to situations where firms have a measure of control over the price of a product.</a:t>
            </a:r>
          </a:p>
          <a:p>
            <a:r>
              <a:rPr lang="en-US" sz="2200" dirty="0" smtClean="0">
                <a:latin typeface="Constantia" pitchFamily="18" charset="0"/>
              </a:rPr>
              <a:t>A </a:t>
            </a:r>
            <a:r>
              <a:rPr lang="en-US" sz="2200" dirty="0">
                <a:latin typeface="Constantia" pitchFamily="18" charset="0"/>
              </a:rPr>
              <a:t>market </a:t>
            </a:r>
            <a:r>
              <a:rPr lang="en-US" sz="2200" dirty="0" smtClean="0">
                <a:latin typeface="Constantia" pitchFamily="18" charset="0"/>
              </a:rPr>
              <a:t>structure is </a:t>
            </a:r>
            <a:r>
              <a:rPr lang="en-US" sz="2200" dirty="0">
                <a:latin typeface="Constantia" pitchFamily="18" charset="0"/>
              </a:rPr>
              <a:t>described as a monopoly if there is only one </a:t>
            </a:r>
            <a:r>
              <a:rPr lang="en-US" sz="2200" dirty="0" smtClean="0">
                <a:latin typeface="Constantia" pitchFamily="18" charset="0"/>
              </a:rPr>
              <a:t>producer. Thus, the distinction between the firm and the industry disappears under conditions of monopoly.</a:t>
            </a:r>
          </a:p>
          <a:p>
            <a:r>
              <a:rPr lang="en-US" sz="2200" dirty="0" smtClean="0">
                <a:latin typeface="Constantia" pitchFamily="18" charset="0"/>
              </a:rPr>
              <a:t>The monopolist </a:t>
            </a:r>
            <a:r>
              <a:rPr lang="en-US" sz="2200" dirty="0">
                <a:latin typeface="Constantia" pitchFamily="18" charset="0"/>
              </a:rPr>
              <a:t>must make the decision of how much to </a:t>
            </a:r>
            <a:r>
              <a:rPr lang="en-US" sz="2200" dirty="0" smtClean="0">
                <a:latin typeface="Constantia" pitchFamily="18" charset="0"/>
              </a:rPr>
              <a:t>produce. The monopolist’s </a:t>
            </a:r>
            <a:r>
              <a:rPr lang="en-US" sz="2200" dirty="0">
                <a:latin typeface="Constantia" pitchFamily="18" charset="0"/>
              </a:rPr>
              <a:t>output decision will completely determine the good’s price</a:t>
            </a:r>
            <a:r>
              <a:rPr lang="en-US" sz="2200" dirty="0" smtClean="0">
                <a:latin typeface="Constantia" pitchFamily="18" charset="0"/>
              </a:rPr>
              <a:t>.</a:t>
            </a:r>
          </a:p>
          <a:p>
            <a:r>
              <a:rPr lang="en-US" sz="2200" dirty="0" smtClean="0">
                <a:latin typeface="Constantia" pitchFamily="18" charset="0"/>
              </a:rPr>
              <a:t>The monopolist can also set the price of its product but cannot determine both the price and the output nor the prices of the factors of production.</a:t>
            </a:r>
          </a:p>
          <a:p>
            <a:endParaRPr lang="en-US" sz="2200" dirty="0">
              <a:latin typeface="Constantia" pitchFamily="18" charset="0"/>
            </a:endParaRPr>
          </a:p>
        </p:txBody>
      </p:sp>
      <p:sp>
        <p:nvSpPr>
          <p:cNvPr id="6" name="Slide Number Placeholder 5"/>
          <p:cNvSpPr>
            <a:spLocks noGrp="1"/>
          </p:cNvSpPr>
          <p:nvPr>
            <p:ph type="sldNum" sz="quarter" idx="12"/>
          </p:nvPr>
        </p:nvSpPr>
        <p:spPr/>
        <p:txBody>
          <a:bodyPr/>
          <a:lstStyle/>
          <a:p>
            <a:fld id="{F27E0033-982D-416C-92E5-EDCF083D1B24}" type="slidenum">
              <a:rPr lang="en-US"/>
              <a:pPr/>
              <a:t>7</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189442"/>
                                        </p:tgtEl>
                                        <p:attrNameLst>
                                          <p:attrName>style.visibility</p:attrName>
                                        </p:attrNameLst>
                                      </p:cBhvr>
                                      <p:to>
                                        <p:strVal val="visible"/>
                                      </p:to>
                                    </p:set>
                                    <p:anim calcmode="lin" valueType="num">
                                      <p:cBhvr>
                                        <p:cTn id="7" dur="1000" fill="hold"/>
                                        <p:tgtEl>
                                          <p:spTgt spid="189442"/>
                                        </p:tgtEl>
                                        <p:attrNameLst>
                                          <p:attrName>ppt_w</p:attrName>
                                        </p:attrNameLst>
                                      </p:cBhvr>
                                      <p:tavLst>
                                        <p:tav tm="0">
                                          <p:val>
                                            <p:fltVal val="0"/>
                                          </p:val>
                                        </p:tav>
                                        <p:tav tm="100000">
                                          <p:val>
                                            <p:strVal val="#ppt_w"/>
                                          </p:val>
                                        </p:tav>
                                      </p:tavLst>
                                    </p:anim>
                                    <p:anim calcmode="lin" valueType="num">
                                      <p:cBhvr>
                                        <p:cTn id="8" dur="1000" fill="hold"/>
                                        <p:tgtEl>
                                          <p:spTgt spid="189442"/>
                                        </p:tgtEl>
                                        <p:attrNameLst>
                                          <p:attrName>ppt_h</p:attrName>
                                        </p:attrNameLst>
                                      </p:cBhvr>
                                      <p:tavLst>
                                        <p:tav tm="0">
                                          <p:val>
                                            <p:fltVal val="0"/>
                                          </p:val>
                                        </p:tav>
                                        <p:tav tm="100000">
                                          <p:val>
                                            <p:strVal val="#ppt_h"/>
                                          </p:val>
                                        </p:tav>
                                      </p:tavLst>
                                    </p:anim>
                                    <p:anim calcmode="lin" valueType="num">
                                      <p:cBhvr>
                                        <p:cTn id="9" dur="1000" fill="hold"/>
                                        <p:tgtEl>
                                          <p:spTgt spid="189442"/>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8944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189443">
                                            <p:txEl>
                                              <p:pRg st="0" end="0"/>
                                            </p:txEl>
                                          </p:spTgt>
                                        </p:tgtEl>
                                        <p:attrNameLst>
                                          <p:attrName>style.visibility</p:attrName>
                                        </p:attrNameLst>
                                      </p:cBhvr>
                                      <p:to>
                                        <p:strVal val="visible"/>
                                      </p:to>
                                    </p:set>
                                    <p:anim calcmode="lin" valueType="num">
                                      <p:cBhvr>
                                        <p:cTn id="15" dur="1000" fill="hold"/>
                                        <p:tgtEl>
                                          <p:spTgt spid="189443">
                                            <p:txEl>
                                              <p:pRg st="0" end="0"/>
                                            </p:txEl>
                                          </p:spTgt>
                                        </p:tgtEl>
                                        <p:attrNameLst>
                                          <p:attrName>ppt_w</p:attrName>
                                        </p:attrNameLst>
                                      </p:cBhvr>
                                      <p:tavLst>
                                        <p:tav tm="0">
                                          <p:val>
                                            <p:fltVal val="0"/>
                                          </p:val>
                                        </p:tav>
                                        <p:tav tm="100000">
                                          <p:val>
                                            <p:strVal val="#ppt_w"/>
                                          </p:val>
                                        </p:tav>
                                      </p:tavLst>
                                    </p:anim>
                                    <p:anim calcmode="lin" valueType="num">
                                      <p:cBhvr>
                                        <p:cTn id="16" dur="1000" fill="hold"/>
                                        <p:tgtEl>
                                          <p:spTgt spid="189443">
                                            <p:txEl>
                                              <p:pRg st="0" end="0"/>
                                            </p:txEl>
                                          </p:spTgt>
                                        </p:tgtEl>
                                        <p:attrNameLst>
                                          <p:attrName>ppt_h</p:attrName>
                                        </p:attrNameLst>
                                      </p:cBhvr>
                                      <p:tavLst>
                                        <p:tav tm="0">
                                          <p:val>
                                            <p:fltVal val="0"/>
                                          </p:val>
                                        </p:tav>
                                        <p:tav tm="100000">
                                          <p:val>
                                            <p:strVal val="#ppt_h"/>
                                          </p:val>
                                        </p:tav>
                                      </p:tavLst>
                                    </p:anim>
                                    <p:anim calcmode="lin" valueType="num">
                                      <p:cBhvr>
                                        <p:cTn id="17" dur="1000" fill="hold"/>
                                        <p:tgtEl>
                                          <p:spTgt spid="189443">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189443">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189443">
                                            <p:txEl>
                                              <p:pRg st="1" end="1"/>
                                            </p:txEl>
                                          </p:spTgt>
                                        </p:tgtEl>
                                        <p:attrNameLst>
                                          <p:attrName>style.visibility</p:attrName>
                                        </p:attrNameLst>
                                      </p:cBhvr>
                                      <p:to>
                                        <p:strVal val="visible"/>
                                      </p:to>
                                    </p:set>
                                    <p:anim calcmode="lin" valueType="num">
                                      <p:cBhvr>
                                        <p:cTn id="23" dur="1000" fill="hold"/>
                                        <p:tgtEl>
                                          <p:spTgt spid="189443">
                                            <p:txEl>
                                              <p:pRg st="1" end="1"/>
                                            </p:txEl>
                                          </p:spTgt>
                                        </p:tgtEl>
                                        <p:attrNameLst>
                                          <p:attrName>ppt_w</p:attrName>
                                        </p:attrNameLst>
                                      </p:cBhvr>
                                      <p:tavLst>
                                        <p:tav tm="0">
                                          <p:val>
                                            <p:fltVal val="0"/>
                                          </p:val>
                                        </p:tav>
                                        <p:tav tm="100000">
                                          <p:val>
                                            <p:strVal val="#ppt_w"/>
                                          </p:val>
                                        </p:tav>
                                      </p:tavLst>
                                    </p:anim>
                                    <p:anim calcmode="lin" valueType="num">
                                      <p:cBhvr>
                                        <p:cTn id="24" dur="1000" fill="hold"/>
                                        <p:tgtEl>
                                          <p:spTgt spid="189443">
                                            <p:txEl>
                                              <p:pRg st="1" end="1"/>
                                            </p:txEl>
                                          </p:spTgt>
                                        </p:tgtEl>
                                        <p:attrNameLst>
                                          <p:attrName>ppt_h</p:attrName>
                                        </p:attrNameLst>
                                      </p:cBhvr>
                                      <p:tavLst>
                                        <p:tav tm="0">
                                          <p:val>
                                            <p:fltVal val="0"/>
                                          </p:val>
                                        </p:tav>
                                        <p:tav tm="100000">
                                          <p:val>
                                            <p:strVal val="#ppt_h"/>
                                          </p:val>
                                        </p:tav>
                                      </p:tavLst>
                                    </p:anim>
                                    <p:anim calcmode="lin" valueType="num">
                                      <p:cBhvr>
                                        <p:cTn id="25" dur="1000" fill="hold"/>
                                        <p:tgtEl>
                                          <p:spTgt spid="189443">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189443">
                                            <p:txEl>
                                              <p:pRg st="1" end="1"/>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p:stCondLst>
                        <p:cond delay="indefinite"/>
                      </p:stCondLst>
                      <p:childTnLst>
                        <p:par>
                          <p:cTn id="28" fill="hold">
                            <p:stCondLst>
                              <p:cond delay="0"/>
                            </p:stCondLst>
                            <p:childTnLst>
                              <p:par>
                                <p:cTn id="29" presetID="15" presetClass="entr" presetSubtype="0" fill="hold" grpId="0" nodeType="clickEffect">
                                  <p:stCondLst>
                                    <p:cond delay="0"/>
                                  </p:stCondLst>
                                  <p:childTnLst>
                                    <p:set>
                                      <p:cBhvr>
                                        <p:cTn id="30" dur="1" fill="hold">
                                          <p:stCondLst>
                                            <p:cond delay="0"/>
                                          </p:stCondLst>
                                        </p:cTn>
                                        <p:tgtEl>
                                          <p:spTgt spid="189443">
                                            <p:txEl>
                                              <p:pRg st="2" end="2"/>
                                            </p:txEl>
                                          </p:spTgt>
                                        </p:tgtEl>
                                        <p:attrNameLst>
                                          <p:attrName>style.visibility</p:attrName>
                                        </p:attrNameLst>
                                      </p:cBhvr>
                                      <p:to>
                                        <p:strVal val="visible"/>
                                      </p:to>
                                    </p:set>
                                    <p:anim calcmode="lin" valueType="num">
                                      <p:cBhvr>
                                        <p:cTn id="31" dur="1000" fill="hold"/>
                                        <p:tgtEl>
                                          <p:spTgt spid="189443">
                                            <p:txEl>
                                              <p:pRg st="2" end="2"/>
                                            </p:txEl>
                                          </p:spTgt>
                                        </p:tgtEl>
                                        <p:attrNameLst>
                                          <p:attrName>ppt_w</p:attrName>
                                        </p:attrNameLst>
                                      </p:cBhvr>
                                      <p:tavLst>
                                        <p:tav tm="0">
                                          <p:val>
                                            <p:fltVal val="0"/>
                                          </p:val>
                                        </p:tav>
                                        <p:tav tm="100000">
                                          <p:val>
                                            <p:strVal val="#ppt_w"/>
                                          </p:val>
                                        </p:tav>
                                      </p:tavLst>
                                    </p:anim>
                                    <p:anim calcmode="lin" valueType="num">
                                      <p:cBhvr>
                                        <p:cTn id="32" dur="1000" fill="hold"/>
                                        <p:tgtEl>
                                          <p:spTgt spid="189443">
                                            <p:txEl>
                                              <p:pRg st="2" end="2"/>
                                            </p:txEl>
                                          </p:spTgt>
                                        </p:tgtEl>
                                        <p:attrNameLst>
                                          <p:attrName>ppt_h</p:attrName>
                                        </p:attrNameLst>
                                      </p:cBhvr>
                                      <p:tavLst>
                                        <p:tav tm="0">
                                          <p:val>
                                            <p:fltVal val="0"/>
                                          </p:val>
                                        </p:tav>
                                        <p:tav tm="100000">
                                          <p:val>
                                            <p:strVal val="#ppt_h"/>
                                          </p:val>
                                        </p:tav>
                                      </p:tavLst>
                                    </p:anim>
                                    <p:anim calcmode="lin" valueType="num">
                                      <p:cBhvr>
                                        <p:cTn id="33" dur="1000" fill="hold"/>
                                        <p:tgtEl>
                                          <p:spTgt spid="189443">
                                            <p:txEl>
                                              <p:pRg st="2" end="2"/>
                                            </p:txEl>
                                          </p:spTgt>
                                        </p:tgtEl>
                                        <p:attrNameLst>
                                          <p:attrName>ppt_x</p:attrName>
                                        </p:attrNameLst>
                                      </p:cBhvr>
                                      <p:tavLst>
                                        <p:tav tm="0" fmla="#ppt_x+(cos(-2*pi*(1-$))*-#ppt_x-sin(-2*pi*(1-$))*(1-#ppt_y))*(1-$)">
                                          <p:val>
                                            <p:fltVal val="0"/>
                                          </p:val>
                                        </p:tav>
                                        <p:tav tm="100000">
                                          <p:val>
                                            <p:fltVal val="1"/>
                                          </p:val>
                                        </p:tav>
                                      </p:tavLst>
                                    </p:anim>
                                    <p:anim calcmode="lin" valueType="num">
                                      <p:cBhvr>
                                        <p:cTn id="34" dur="1000" fill="hold"/>
                                        <p:tgtEl>
                                          <p:spTgt spid="189443">
                                            <p:txEl>
                                              <p:pRg st="2" end="2"/>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5" fill="hold">
                      <p:stCondLst>
                        <p:cond delay="indefinite"/>
                      </p:stCondLst>
                      <p:childTnLst>
                        <p:par>
                          <p:cTn id="36" fill="hold">
                            <p:stCondLst>
                              <p:cond delay="0"/>
                            </p:stCondLst>
                            <p:childTnLst>
                              <p:par>
                                <p:cTn id="37" presetID="15" presetClass="entr" presetSubtype="0" fill="hold" grpId="0" nodeType="clickEffect">
                                  <p:stCondLst>
                                    <p:cond delay="0"/>
                                  </p:stCondLst>
                                  <p:childTnLst>
                                    <p:set>
                                      <p:cBhvr>
                                        <p:cTn id="38" dur="1" fill="hold">
                                          <p:stCondLst>
                                            <p:cond delay="0"/>
                                          </p:stCondLst>
                                        </p:cTn>
                                        <p:tgtEl>
                                          <p:spTgt spid="189443">
                                            <p:txEl>
                                              <p:pRg st="3" end="3"/>
                                            </p:txEl>
                                          </p:spTgt>
                                        </p:tgtEl>
                                        <p:attrNameLst>
                                          <p:attrName>style.visibility</p:attrName>
                                        </p:attrNameLst>
                                      </p:cBhvr>
                                      <p:to>
                                        <p:strVal val="visible"/>
                                      </p:to>
                                    </p:set>
                                    <p:anim calcmode="lin" valueType="num">
                                      <p:cBhvr>
                                        <p:cTn id="39" dur="1000" fill="hold"/>
                                        <p:tgtEl>
                                          <p:spTgt spid="189443">
                                            <p:txEl>
                                              <p:pRg st="3" end="3"/>
                                            </p:txEl>
                                          </p:spTgt>
                                        </p:tgtEl>
                                        <p:attrNameLst>
                                          <p:attrName>ppt_w</p:attrName>
                                        </p:attrNameLst>
                                      </p:cBhvr>
                                      <p:tavLst>
                                        <p:tav tm="0">
                                          <p:val>
                                            <p:fltVal val="0"/>
                                          </p:val>
                                        </p:tav>
                                        <p:tav tm="100000">
                                          <p:val>
                                            <p:strVal val="#ppt_w"/>
                                          </p:val>
                                        </p:tav>
                                      </p:tavLst>
                                    </p:anim>
                                    <p:anim calcmode="lin" valueType="num">
                                      <p:cBhvr>
                                        <p:cTn id="40" dur="1000" fill="hold"/>
                                        <p:tgtEl>
                                          <p:spTgt spid="189443">
                                            <p:txEl>
                                              <p:pRg st="3" end="3"/>
                                            </p:txEl>
                                          </p:spTgt>
                                        </p:tgtEl>
                                        <p:attrNameLst>
                                          <p:attrName>ppt_h</p:attrName>
                                        </p:attrNameLst>
                                      </p:cBhvr>
                                      <p:tavLst>
                                        <p:tav tm="0">
                                          <p:val>
                                            <p:fltVal val="0"/>
                                          </p:val>
                                        </p:tav>
                                        <p:tav tm="100000">
                                          <p:val>
                                            <p:strVal val="#ppt_h"/>
                                          </p:val>
                                        </p:tav>
                                      </p:tavLst>
                                    </p:anim>
                                    <p:anim calcmode="lin" valueType="num">
                                      <p:cBhvr>
                                        <p:cTn id="41" dur="1000" fill="hold"/>
                                        <p:tgtEl>
                                          <p:spTgt spid="189443">
                                            <p:txEl>
                                              <p:pRg st="3" end="3"/>
                                            </p:txEl>
                                          </p:spTgt>
                                        </p:tgtEl>
                                        <p:attrNameLst>
                                          <p:attrName>ppt_x</p:attrName>
                                        </p:attrNameLst>
                                      </p:cBhvr>
                                      <p:tavLst>
                                        <p:tav tm="0" fmla="#ppt_x+(cos(-2*pi*(1-$))*-#ppt_x-sin(-2*pi*(1-$))*(1-#ppt_y))*(1-$)">
                                          <p:val>
                                            <p:fltVal val="0"/>
                                          </p:val>
                                        </p:tav>
                                        <p:tav tm="100000">
                                          <p:val>
                                            <p:fltVal val="1"/>
                                          </p:val>
                                        </p:tav>
                                      </p:tavLst>
                                    </p:anim>
                                    <p:anim calcmode="lin" valueType="num">
                                      <p:cBhvr>
                                        <p:cTn id="42" dur="1000" fill="hold"/>
                                        <p:tgtEl>
                                          <p:spTgt spid="189443">
                                            <p:txEl>
                                              <p:pRg st="3" end="3"/>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3" fill="hold">
                      <p:stCondLst>
                        <p:cond delay="indefinite"/>
                      </p:stCondLst>
                      <p:childTnLst>
                        <p:par>
                          <p:cTn id="44" fill="hold">
                            <p:stCondLst>
                              <p:cond delay="0"/>
                            </p:stCondLst>
                            <p:childTnLst>
                              <p:par>
                                <p:cTn id="45" presetID="15" presetClass="entr" presetSubtype="0" fill="hold" grpId="0" nodeType="clickEffect">
                                  <p:stCondLst>
                                    <p:cond delay="0"/>
                                  </p:stCondLst>
                                  <p:childTnLst>
                                    <p:set>
                                      <p:cBhvr>
                                        <p:cTn id="46" dur="1" fill="hold">
                                          <p:stCondLst>
                                            <p:cond delay="0"/>
                                          </p:stCondLst>
                                        </p:cTn>
                                        <p:tgtEl>
                                          <p:spTgt spid="189443">
                                            <p:txEl>
                                              <p:pRg st="4" end="4"/>
                                            </p:txEl>
                                          </p:spTgt>
                                        </p:tgtEl>
                                        <p:attrNameLst>
                                          <p:attrName>style.visibility</p:attrName>
                                        </p:attrNameLst>
                                      </p:cBhvr>
                                      <p:to>
                                        <p:strVal val="visible"/>
                                      </p:to>
                                    </p:set>
                                    <p:anim calcmode="lin" valueType="num">
                                      <p:cBhvr>
                                        <p:cTn id="47" dur="1000" fill="hold"/>
                                        <p:tgtEl>
                                          <p:spTgt spid="189443">
                                            <p:txEl>
                                              <p:pRg st="4" end="4"/>
                                            </p:txEl>
                                          </p:spTgt>
                                        </p:tgtEl>
                                        <p:attrNameLst>
                                          <p:attrName>ppt_w</p:attrName>
                                        </p:attrNameLst>
                                      </p:cBhvr>
                                      <p:tavLst>
                                        <p:tav tm="0">
                                          <p:val>
                                            <p:fltVal val="0"/>
                                          </p:val>
                                        </p:tav>
                                        <p:tav tm="100000">
                                          <p:val>
                                            <p:strVal val="#ppt_w"/>
                                          </p:val>
                                        </p:tav>
                                      </p:tavLst>
                                    </p:anim>
                                    <p:anim calcmode="lin" valueType="num">
                                      <p:cBhvr>
                                        <p:cTn id="48" dur="1000" fill="hold"/>
                                        <p:tgtEl>
                                          <p:spTgt spid="189443">
                                            <p:txEl>
                                              <p:pRg st="4" end="4"/>
                                            </p:txEl>
                                          </p:spTgt>
                                        </p:tgtEl>
                                        <p:attrNameLst>
                                          <p:attrName>ppt_h</p:attrName>
                                        </p:attrNameLst>
                                      </p:cBhvr>
                                      <p:tavLst>
                                        <p:tav tm="0">
                                          <p:val>
                                            <p:fltVal val="0"/>
                                          </p:val>
                                        </p:tav>
                                        <p:tav tm="100000">
                                          <p:val>
                                            <p:strVal val="#ppt_h"/>
                                          </p:val>
                                        </p:tav>
                                      </p:tavLst>
                                    </p:anim>
                                    <p:anim calcmode="lin" valueType="num">
                                      <p:cBhvr>
                                        <p:cTn id="49" dur="1000" fill="hold"/>
                                        <p:tgtEl>
                                          <p:spTgt spid="189443">
                                            <p:txEl>
                                              <p:pRg st="4" end="4"/>
                                            </p:txEl>
                                          </p:spTgt>
                                        </p:tgtEl>
                                        <p:attrNameLst>
                                          <p:attrName>ppt_x</p:attrName>
                                        </p:attrNameLst>
                                      </p:cBhvr>
                                      <p:tavLst>
                                        <p:tav tm="0" fmla="#ppt_x+(cos(-2*pi*(1-$))*-#ppt_x-sin(-2*pi*(1-$))*(1-#ppt_y))*(1-$)">
                                          <p:val>
                                            <p:fltVal val="0"/>
                                          </p:val>
                                        </p:tav>
                                        <p:tav tm="100000">
                                          <p:val>
                                            <p:fltVal val="1"/>
                                          </p:val>
                                        </p:tav>
                                      </p:tavLst>
                                    </p:anim>
                                    <p:anim calcmode="lin" valueType="num">
                                      <p:cBhvr>
                                        <p:cTn id="50" dur="1000" fill="hold"/>
                                        <p:tgtEl>
                                          <p:spTgt spid="189443">
                                            <p:txEl>
                                              <p:pRg st="4" end="4"/>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2" grpId="0"/>
      <p:bldP spid="18944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latin typeface="Constantia" pitchFamily="18" charset="0"/>
              </a:rPr>
              <a:t>(Cont.)</a:t>
            </a:r>
            <a:endParaRPr lang="en-US" dirty="0">
              <a:latin typeface="Constantia" pitchFamily="18" charset="0"/>
            </a:endParaRPr>
          </a:p>
        </p:txBody>
      </p:sp>
      <p:sp>
        <p:nvSpPr>
          <p:cNvPr id="3" name="Content Placeholder 2"/>
          <p:cNvSpPr>
            <a:spLocks noGrp="1"/>
          </p:cNvSpPr>
          <p:nvPr>
            <p:ph idx="1"/>
          </p:nvPr>
        </p:nvSpPr>
        <p:spPr/>
        <p:txBody>
          <a:bodyPr>
            <a:normAutofit fontScale="92500" lnSpcReduction="10000"/>
          </a:bodyPr>
          <a:lstStyle/>
          <a:p>
            <a:pPr>
              <a:lnSpc>
                <a:spcPct val="90000"/>
              </a:lnSpc>
            </a:pPr>
            <a:r>
              <a:rPr lang="en-US" sz="3200" dirty="0" smtClean="0">
                <a:latin typeface="Constantia" pitchFamily="18" charset="0"/>
              </a:rPr>
              <a:t>A monopolist faces a downward sloping demand curve.</a:t>
            </a:r>
          </a:p>
          <a:p>
            <a:pPr lvl="1">
              <a:lnSpc>
                <a:spcPct val="90000"/>
              </a:lnSpc>
            </a:pPr>
            <a:r>
              <a:rPr lang="en-US" sz="2800" dirty="0" smtClean="0">
                <a:latin typeface="Constantia" pitchFamily="18" charset="0"/>
              </a:rPr>
              <a:t>This implies that if the firm wants to sell more, it should reduce price; if it wishes a higher price, it should restrict output.</a:t>
            </a:r>
          </a:p>
          <a:p>
            <a:pPr lvl="1">
              <a:lnSpc>
                <a:spcPct val="90000"/>
              </a:lnSpc>
            </a:pPr>
            <a:r>
              <a:rPr lang="en-US" sz="2800" dirty="0" smtClean="0">
                <a:latin typeface="Constantia" pitchFamily="18" charset="0"/>
              </a:rPr>
              <a:t>In contrast, a perfectly competitive firm, since it has no control over price, faces a horizontal demand curve.</a:t>
            </a:r>
          </a:p>
          <a:p>
            <a:pPr marL="288925" indent="-288925">
              <a:lnSpc>
                <a:spcPct val="90000"/>
              </a:lnSpc>
            </a:pPr>
            <a:r>
              <a:rPr lang="en-US" sz="3200" dirty="0" smtClean="0">
                <a:latin typeface="Constantia" pitchFamily="18" charset="0"/>
              </a:rPr>
              <a:t>Being a monopolist does not ensure instant profit. It is not true that the firm can impose any price it wants; maximum price is dictated by market demand. </a:t>
            </a:r>
          </a:p>
          <a:p>
            <a:pPr lvl="1">
              <a:lnSpc>
                <a:spcPct val="90000"/>
              </a:lnSpc>
            </a:pPr>
            <a:endParaRPr lang="en-US" dirty="0" smtClean="0">
              <a:latin typeface="Constantia" pitchFamily="18" charset="0"/>
            </a:endParaRPr>
          </a:p>
          <a:p>
            <a:endParaRPr lang="en-US" dirty="0">
              <a:latin typeface="Constantia" pitchFamily="18" charset="0"/>
            </a:endParaRPr>
          </a:p>
        </p:txBody>
      </p:sp>
      <p:sp>
        <p:nvSpPr>
          <p:cNvPr id="4" name="Slide Number Placeholder 3"/>
          <p:cNvSpPr>
            <a:spLocks noGrp="1"/>
          </p:cNvSpPr>
          <p:nvPr>
            <p:ph type="sldNum" sz="quarter" idx="12"/>
          </p:nvPr>
        </p:nvSpPr>
        <p:spPr/>
        <p:txBody>
          <a:bodyPr/>
          <a:lstStyle/>
          <a:p>
            <a:fld id="{1326322B-EC35-40B7-B7D1-C606930D066F}" type="slidenum">
              <a:rPr lang="en-US" smtClean="0"/>
              <a:pPr/>
              <a:t>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3">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3">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 calcmode="lin" valueType="num">
                                      <p:cBhvr>
                                        <p:cTn id="15"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3">
                                            <p:txEl>
                                              <p:pRg st="1" end="1"/>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p:cTn id="23"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4"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5" dur="1000" fill="hold"/>
                                        <p:tgtEl>
                                          <p:spTgt spid="3">
                                            <p:txEl>
                                              <p:pRg st="2" end="2"/>
                                            </p:txEl>
                                          </p:spTgt>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3">
                                            <p:txEl>
                                              <p:pRg st="2" end="2"/>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p:stCondLst>
                        <p:cond delay="indefinite"/>
                      </p:stCondLst>
                      <p:childTnLst>
                        <p:par>
                          <p:cTn id="28" fill="hold">
                            <p:stCondLst>
                              <p:cond delay="0"/>
                            </p:stCondLst>
                            <p:childTnLst>
                              <p:par>
                                <p:cTn id="29" presetID="15" presetClass="entr" presetSubtype="0"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p:cTn id="31" dur="1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32" dur="1000" fill="hold"/>
                                        <p:tgtEl>
                                          <p:spTgt spid="3">
                                            <p:txEl>
                                              <p:pRg st="3" end="3"/>
                                            </p:txEl>
                                          </p:spTgt>
                                        </p:tgtEl>
                                        <p:attrNameLst>
                                          <p:attrName>ppt_h</p:attrName>
                                        </p:attrNameLst>
                                      </p:cBhvr>
                                      <p:tavLst>
                                        <p:tav tm="0">
                                          <p:val>
                                            <p:fltVal val="0"/>
                                          </p:val>
                                        </p:tav>
                                        <p:tav tm="100000">
                                          <p:val>
                                            <p:strVal val="#ppt_h"/>
                                          </p:val>
                                        </p:tav>
                                      </p:tavLst>
                                    </p:anim>
                                    <p:anim calcmode="lin" valueType="num">
                                      <p:cBhvr>
                                        <p:cTn id="33" dur="1000" fill="hold"/>
                                        <p:tgtEl>
                                          <p:spTgt spid="3">
                                            <p:txEl>
                                              <p:pRg st="3" end="3"/>
                                            </p:txEl>
                                          </p:spTgt>
                                        </p:tgtEl>
                                        <p:attrNameLst>
                                          <p:attrName>ppt_x</p:attrName>
                                        </p:attrNameLst>
                                      </p:cBhvr>
                                      <p:tavLst>
                                        <p:tav tm="0" fmla="#ppt_x+(cos(-2*pi*(1-$))*-#ppt_x-sin(-2*pi*(1-$))*(1-#ppt_y))*(1-$)">
                                          <p:val>
                                            <p:fltVal val="0"/>
                                          </p:val>
                                        </p:tav>
                                        <p:tav tm="100000">
                                          <p:val>
                                            <p:fltVal val="1"/>
                                          </p:val>
                                        </p:tav>
                                      </p:tavLst>
                                    </p:anim>
                                    <p:anim calcmode="lin" valueType="num">
                                      <p:cBhvr>
                                        <p:cTn id="34" dur="1000" fill="hold"/>
                                        <p:tgtEl>
                                          <p:spTgt spid="3">
                                            <p:txEl>
                                              <p:pRg st="3" end="3"/>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u="sng" dirty="0" smtClean="0">
                <a:latin typeface="Constantia" pitchFamily="18" charset="0"/>
              </a:rPr>
              <a:t>Characteristics of Monopoly:</a:t>
            </a:r>
            <a:endParaRPr lang="en-US" u="sng" dirty="0">
              <a:latin typeface="Constantia" pitchFamily="18" charset="0"/>
            </a:endParaRPr>
          </a:p>
        </p:txBody>
      </p:sp>
      <p:sp>
        <p:nvSpPr>
          <p:cNvPr id="3" name="Content Placeholder 2"/>
          <p:cNvSpPr>
            <a:spLocks noGrp="1"/>
          </p:cNvSpPr>
          <p:nvPr>
            <p:ph idx="1"/>
          </p:nvPr>
        </p:nvSpPr>
        <p:spPr/>
        <p:txBody>
          <a:bodyPr>
            <a:normAutofit/>
          </a:bodyPr>
          <a:lstStyle/>
          <a:p>
            <a:pPr defTabSz="914400">
              <a:lnSpc>
                <a:spcPct val="80000"/>
              </a:lnSpc>
            </a:pPr>
            <a:r>
              <a:rPr lang="en-AU" sz="2800" dirty="0" smtClean="0">
                <a:latin typeface="Constantia" pitchFamily="18" charset="0"/>
              </a:rPr>
              <a:t>One firm in industry.</a:t>
            </a:r>
          </a:p>
          <a:p>
            <a:pPr defTabSz="914400">
              <a:lnSpc>
                <a:spcPct val="80000"/>
              </a:lnSpc>
            </a:pPr>
            <a:r>
              <a:rPr lang="en-AU" sz="2800" dirty="0" smtClean="0">
                <a:latin typeface="Constantia" pitchFamily="18" charset="0"/>
              </a:rPr>
              <a:t>Faces a downward sloping market demand curve.</a:t>
            </a:r>
          </a:p>
          <a:p>
            <a:pPr defTabSz="914400">
              <a:lnSpc>
                <a:spcPct val="80000"/>
              </a:lnSpc>
            </a:pPr>
            <a:r>
              <a:rPr lang="en-AU" sz="2800" dirty="0" smtClean="0">
                <a:latin typeface="Constantia" pitchFamily="18" charset="0"/>
              </a:rPr>
              <a:t>No close substitutes.</a:t>
            </a:r>
          </a:p>
          <a:p>
            <a:pPr defTabSz="914400">
              <a:lnSpc>
                <a:spcPct val="80000"/>
              </a:lnSpc>
            </a:pPr>
            <a:r>
              <a:rPr lang="en-AU" sz="2800" dirty="0" smtClean="0">
                <a:latin typeface="Constantia" pitchFamily="18" charset="0"/>
              </a:rPr>
              <a:t>Price-maker.</a:t>
            </a:r>
          </a:p>
          <a:p>
            <a:pPr defTabSz="914400">
              <a:lnSpc>
                <a:spcPct val="80000"/>
              </a:lnSpc>
            </a:pPr>
            <a:r>
              <a:rPr lang="en-US" sz="2800" dirty="0" smtClean="0">
                <a:latin typeface="Constantia" pitchFamily="18" charset="0"/>
              </a:rPr>
              <a:t>Blockaded entry and/or exit.</a:t>
            </a:r>
          </a:p>
          <a:p>
            <a:pPr defTabSz="914400">
              <a:lnSpc>
                <a:spcPct val="80000"/>
              </a:lnSpc>
            </a:pPr>
            <a:r>
              <a:rPr lang="en-US" sz="2800" dirty="0" smtClean="0">
                <a:latin typeface="Constantia" pitchFamily="18" charset="0"/>
              </a:rPr>
              <a:t>Imperfect dissemination of information.</a:t>
            </a:r>
          </a:p>
          <a:p>
            <a:pPr defTabSz="914400">
              <a:lnSpc>
                <a:spcPct val="80000"/>
              </a:lnSpc>
            </a:pPr>
            <a:r>
              <a:rPr lang="en-US" sz="2800" dirty="0" smtClean="0">
                <a:latin typeface="Constantia" pitchFamily="18" charset="0"/>
              </a:rPr>
              <a:t>Opportunity for abnormal profits in long-run equilibrium.</a:t>
            </a:r>
          </a:p>
          <a:p>
            <a:endParaRPr lang="en-US" dirty="0">
              <a:latin typeface="Constantia" pitchFamily="18" charset="0"/>
            </a:endParaRPr>
          </a:p>
        </p:txBody>
      </p:sp>
      <p:sp>
        <p:nvSpPr>
          <p:cNvPr id="4" name="Slide Number Placeholder 3"/>
          <p:cNvSpPr>
            <a:spLocks noGrp="1"/>
          </p:cNvSpPr>
          <p:nvPr>
            <p:ph type="sldNum" sz="quarter" idx="12"/>
          </p:nvPr>
        </p:nvSpPr>
        <p:spPr/>
        <p:txBody>
          <a:bodyPr/>
          <a:lstStyle/>
          <a:p>
            <a:fld id="{1326322B-EC35-40B7-B7D1-C606930D066F}" type="slidenum">
              <a:rPr lang="en-US" smtClean="0"/>
              <a:pPr/>
              <a:t>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p:cTn id="15"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3">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 calcmode="lin" valueType="num">
                                      <p:cBhvr>
                                        <p:cTn id="23"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4"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5" dur="1000" fill="hold"/>
                                        <p:tgtEl>
                                          <p:spTgt spid="3">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3">
                                            <p:txEl>
                                              <p:pRg st="1" end="1"/>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p:stCondLst>
                        <p:cond delay="indefinite"/>
                      </p:stCondLst>
                      <p:childTnLst>
                        <p:par>
                          <p:cTn id="28" fill="hold">
                            <p:stCondLst>
                              <p:cond delay="0"/>
                            </p:stCondLst>
                            <p:childTnLst>
                              <p:par>
                                <p:cTn id="29" presetID="15" presetClass="entr" presetSubtype="0" fill="hold" grpId="0"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 calcmode="lin" valueType="num">
                                      <p:cBhvr>
                                        <p:cTn id="31"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32"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33" dur="1000" fill="hold"/>
                                        <p:tgtEl>
                                          <p:spTgt spid="3">
                                            <p:txEl>
                                              <p:pRg st="2" end="2"/>
                                            </p:txEl>
                                          </p:spTgt>
                                        </p:tgtEl>
                                        <p:attrNameLst>
                                          <p:attrName>ppt_x</p:attrName>
                                        </p:attrNameLst>
                                      </p:cBhvr>
                                      <p:tavLst>
                                        <p:tav tm="0" fmla="#ppt_x+(cos(-2*pi*(1-$))*-#ppt_x-sin(-2*pi*(1-$))*(1-#ppt_y))*(1-$)">
                                          <p:val>
                                            <p:fltVal val="0"/>
                                          </p:val>
                                        </p:tav>
                                        <p:tav tm="100000">
                                          <p:val>
                                            <p:fltVal val="1"/>
                                          </p:val>
                                        </p:tav>
                                      </p:tavLst>
                                    </p:anim>
                                    <p:anim calcmode="lin" valueType="num">
                                      <p:cBhvr>
                                        <p:cTn id="34" dur="1000" fill="hold"/>
                                        <p:tgtEl>
                                          <p:spTgt spid="3">
                                            <p:txEl>
                                              <p:pRg st="2" end="2"/>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5" fill="hold">
                      <p:stCondLst>
                        <p:cond delay="indefinite"/>
                      </p:stCondLst>
                      <p:childTnLst>
                        <p:par>
                          <p:cTn id="36" fill="hold">
                            <p:stCondLst>
                              <p:cond delay="0"/>
                            </p:stCondLst>
                            <p:childTnLst>
                              <p:par>
                                <p:cTn id="37" presetID="15" presetClass="entr" presetSubtype="0" fill="hold" grpId="0" nodeType="clickEffect">
                                  <p:stCondLst>
                                    <p:cond delay="0"/>
                                  </p:stCondLst>
                                  <p:childTnLst>
                                    <p:set>
                                      <p:cBhvr>
                                        <p:cTn id="38" dur="1" fill="hold">
                                          <p:stCondLst>
                                            <p:cond delay="0"/>
                                          </p:stCondLst>
                                        </p:cTn>
                                        <p:tgtEl>
                                          <p:spTgt spid="3">
                                            <p:txEl>
                                              <p:pRg st="3" end="3"/>
                                            </p:txEl>
                                          </p:spTgt>
                                        </p:tgtEl>
                                        <p:attrNameLst>
                                          <p:attrName>style.visibility</p:attrName>
                                        </p:attrNameLst>
                                      </p:cBhvr>
                                      <p:to>
                                        <p:strVal val="visible"/>
                                      </p:to>
                                    </p:set>
                                    <p:anim calcmode="lin" valueType="num">
                                      <p:cBhvr>
                                        <p:cTn id="39" dur="1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40" dur="1000" fill="hold"/>
                                        <p:tgtEl>
                                          <p:spTgt spid="3">
                                            <p:txEl>
                                              <p:pRg st="3" end="3"/>
                                            </p:txEl>
                                          </p:spTgt>
                                        </p:tgtEl>
                                        <p:attrNameLst>
                                          <p:attrName>ppt_h</p:attrName>
                                        </p:attrNameLst>
                                      </p:cBhvr>
                                      <p:tavLst>
                                        <p:tav tm="0">
                                          <p:val>
                                            <p:fltVal val="0"/>
                                          </p:val>
                                        </p:tav>
                                        <p:tav tm="100000">
                                          <p:val>
                                            <p:strVal val="#ppt_h"/>
                                          </p:val>
                                        </p:tav>
                                      </p:tavLst>
                                    </p:anim>
                                    <p:anim calcmode="lin" valueType="num">
                                      <p:cBhvr>
                                        <p:cTn id="41" dur="1000" fill="hold"/>
                                        <p:tgtEl>
                                          <p:spTgt spid="3">
                                            <p:txEl>
                                              <p:pRg st="3" end="3"/>
                                            </p:txEl>
                                          </p:spTgt>
                                        </p:tgtEl>
                                        <p:attrNameLst>
                                          <p:attrName>ppt_x</p:attrName>
                                        </p:attrNameLst>
                                      </p:cBhvr>
                                      <p:tavLst>
                                        <p:tav tm="0" fmla="#ppt_x+(cos(-2*pi*(1-$))*-#ppt_x-sin(-2*pi*(1-$))*(1-#ppt_y))*(1-$)">
                                          <p:val>
                                            <p:fltVal val="0"/>
                                          </p:val>
                                        </p:tav>
                                        <p:tav tm="100000">
                                          <p:val>
                                            <p:fltVal val="1"/>
                                          </p:val>
                                        </p:tav>
                                      </p:tavLst>
                                    </p:anim>
                                    <p:anim calcmode="lin" valueType="num">
                                      <p:cBhvr>
                                        <p:cTn id="42" dur="1000" fill="hold"/>
                                        <p:tgtEl>
                                          <p:spTgt spid="3">
                                            <p:txEl>
                                              <p:pRg st="3" end="3"/>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3" fill="hold">
                      <p:stCondLst>
                        <p:cond delay="indefinite"/>
                      </p:stCondLst>
                      <p:childTnLst>
                        <p:par>
                          <p:cTn id="44" fill="hold">
                            <p:stCondLst>
                              <p:cond delay="0"/>
                            </p:stCondLst>
                            <p:childTnLst>
                              <p:par>
                                <p:cTn id="45" presetID="15" presetClass="entr" presetSubtype="0" fill="hold" grpId="0" nodeType="clickEffect">
                                  <p:stCondLst>
                                    <p:cond delay="0"/>
                                  </p:stCondLst>
                                  <p:childTnLst>
                                    <p:set>
                                      <p:cBhvr>
                                        <p:cTn id="46" dur="1" fill="hold">
                                          <p:stCondLst>
                                            <p:cond delay="0"/>
                                          </p:stCondLst>
                                        </p:cTn>
                                        <p:tgtEl>
                                          <p:spTgt spid="3">
                                            <p:txEl>
                                              <p:pRg st="4" end="4"/>
                                            </p:txEl>
                                          </p:spTgt>
                                        </p:tgtEl>
                                        <p:attrNameLst>
                                          <p:attrName>style.visibility</p:attrName>
                                        </p:attrNameLst>
                                      </p:cBhvr>
                                      <p:to>
                                        <p:strVal val="visible"/>
                                      </p:to>
                                    </p:set>
                                    <p:anim calcmode="lin" valueType="num">
                                      <p:cBhvr>
                                        <p:cTn id="47" dur="1000" fill="hold"/>
                                        <p:tgtEl>
                                          <p:spTgt spid="3">
                                            <p:txEl>
                                              <p:pRg st="4" end="4"/>
                                            </p:txEl>
                                          </p:spTgt>
                                        </p:tgtEl>
                                        <p:attrNameLst>
                                          <p:attrName>ppt_w</p:attrName>
                                        </p:attrNameLst>
                                      </p:cBhvr>
                                      <p:tavLst>
                                        <p:tav tm="0">
                                          <p:val>
                                            <p:fltVal val="0"/>
                                          </p:val>
                                        </p:tav>
                                        <p:tav tm="100000">
                                          <p:val>
                                            <p:strVal val="#ppt_w"/>
                                          </p:val>
                                        </p:tav>
                                      </p:tavLst>
                                    </p:anim>
                                    <p:anim calcmode="lin" valueType="num">
                                      <p:cBhvr>
                                        <p:cTn id="48" dur="1000" fill="hold"/>
                                        <p:tgtEl>
                                          <p:spTgt spid="3">
                                            <p:txEl>
                                              <p:pRg st="4" end="4"/>
                                            </p:txEl>
                                          </p:spTgt>
                                        </p:tgtEl>
                                        <p:attrNameLst>
                                          <p:attrName>ppt_h</p:attrName>
                                        </p:attrNameLst>
                                      </p:cBhvr>
                                      <p:tavLst>
                                        <p:tav tm="0">
                                          <p:val>
                                            <p:fltVal val="0"/>
                                          </p:val>
                                        </p:tav>
                                        <p:tav tm="100000">
                                          <p:val>
                                            <p:strVal val="#ppt_h"/>
                                          </p:val>
                                        </p:tav>
                                      </p:tavLst>
                                    </p:anim>
                                    <p:anim calcmode="lin" valueType="num">
                                      <p:cBhvr>
                                        <p:cTn id="49" dur="1000" fill="hold"/>
                                        <p:tgtEl>
                                          <p:spTgt spid="3">
                                            <p:txEl>
                                              <p:pRg st="4" end="4"/>
                                            </p:txEl>
                                          </p:spTgt>
                                        </p:tgtEl>
                                        <p:attrNameLst>
                                          <p:attrName>ppt_x</p:attrName>
                                        </p:attrNameLst>
                                      </p:cBhvr>
                                      <p:tavLst>
                                        <p:tav tm="0" fmla="#ppt_x+(cos(-2*pi*(1-$))*-#ppt_x-sin(-2*pi*(1-$))*(1-#ppt_y))*(1-$)">
                                          <p:val>
                                            <p:fltVal val="0"/>
                                          </p:val>
                                        </p:tav>
                                        <p:tav tm="100000">
                                          <p:val>
                                            <p:fltVal val="1"/>
                                          </p:val>
                                        </p:tav>
                                      </p:tavLst>
                                    </p:anim>
                                    <p:anim calcmode="lin" valueType="num">
                                      <p:cBhvr>
                                        <p:cTn id="50" dur="1000" fill="hold"/>
                                        <p:tgtEl>
                                          <p:spTgt spid="3">
                                            <p:txEl>
                                              <p:pRg st="4" end="4"/>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1" fill="hold">
                      <p:stCondLst>
                        <p:cond delay="indefinite"/>
                      </p:stCondLst>
                      <p:childTnLst>
                        <p:par>
                          <p:cTn id="52" fill="hold">
                            <p:stCondLst>
                              <p:cond delay="0"/>
                            </p:stCondLst>
                            <p:childTnLst>
                              <p:par>
                                <p:cTn id="53" presetID="15" presetClass="entr" presetSubtype="0" fill="hold" grpId="0" nodeType="clickEffect">
                                  <p:stCondLst>
                                    <p:cond delay="0"/>
                                  </p:stCondLst>
                                  <p:childTnLst>
                                    <p:set>
                                      <p:cBhvr>
                                        <p:cTn id="54" dur="1" fill="hold">
                                          <p:stCondLst>
                                            <p:cond delay="0"/>
                                          </p:stCondLst>
                                        </p:cTn>
                                        <p:tgtEl>
                                          <p:spTgt spid="3">
                                            <p:txEl>
                                              <p:pRg st="5" end="5"/>
                                            </p:txEl>
                                          </p:spTgt>
                                        </p:tgtEl>
                                        <p:attrNameLst>
                                          <p:attrName>style.visibility</p:attrName>
                                        </p:attrNameLst>
                                      </p:cBhvr>
                                      <p:to>
                                        <p:strVal val="visible"/>
                                      </p:to>
                                    </p:set>
                                    <p:anim calcmode="lin" valueType="num">
                                      <p:cBhvr>
                                        <p:cTn id="55" dur="1000" fill="hold"/>
                                        <p:tgtEl>
                                          <p:spTgt spid="3">
                                            <p:txEl>
                                              <p:pRg st="5" end="5"/>
                                            </p:txEl>
                                          </p:spTgt>
                                        </p:tgtEl>
                                        <p:attrNameLst>
                                          <p:attrName>ppt_w</p:attrName>
                                        </p:attrNameLst>
                                      </p:cBhvr>
                                      <p:tavLst>
                                        <p:tav tm="0">
                                          <p:val>
                                            <p:fltVal val="0"/>
                                          </p:val>
                                        </p:tav>
                                        <p:tav tm="100000">
                                          <p:val>
                                            <p:strVal val="#ppt_w"/>
                                          </p:val>
                                        </p:tav>
                                      </p:tavLst>
                                    </p:anim>
                                    <p:anim calcmode="lin" valueType="num">
                                      <p:cBhvr>
                                        <p:cTn id="56" dur="1000" fill="hold"/>
                                        <p:tgtEl>
                                          <p:spTgt spid="3">
                                            <p:txEl>
                                              <p:pRg st="5" end="5"/>
                                            </p:txEl>
                                          </p:spTgt>
                                        </p:tgtEl>
                                        <p:attrNameLst>
                                          <p:attrName>ppt_h</p:attrName>
                                        </p:attrNameLst>
                                      </p:cBhvr>
                                      <p:tavLst>
                                        <p:tav tm="0">
                                          <p:val>
                                            <p:fltVal val="0"/>
                                          </p:val>
                                        </p:tav>
                                        <p:tav tm="100000">
                                          <p:val>
                                            <p:strVal val="#ppt_h"/>
                                          </p:val>
                                        </p:tav>
                                      </p:tavLst>
                                    </p:anim>
                                    <p:anim calcmode="lin" valueType="num">
                                      <p:cBhvr>
                                        <p:cTn id="57" dur="1000" fill="hold"/>
                                        <p:tgtEl>
                                          <p:spTgt spid="3">
                                            <p:txEl>
                                              <p:pRg st="5" end="5"/>
                                            </p:txEl>
                                          </p:spTgt>
                                        </p:tgtEl>
                                        <p:attrNameLst>
                                          <p:attrName>ppt_x</p:attrName>
                                        </p:attrNameLst>
                                      </p:cBhvr>
                                      <p:tavLst>
                                        <p:tav tm="0" fmla="#ppt_x+(cos(-2*pi*(1-$))*-#ppt_x-sin(-2*pi*(1-$))*(1-#ppt_y))*(1-$)">
                                          <p:val>
                                            <p:fltVal val="0"/>
                                          </p:val>
                                        </p:tav>
                                        <p:tav tm="100000">
                                          <p:val>
                                            <p:fltVal val="1"/>
                                          </p:val>
                                        </p:tav>
                                      </p:tavLst>
                                    </p:anim>
                                    <p:anim calcmode="lin" valueType="num">
                                      <p:cBhvr>
                                        <p:cTn id="58" dur="1000" fill="hold"/>
                                        <p:tgtEl>
                                          <p:spTgt spid="3">
                                            <p:txEl>
                                              <p:pRg st="5" end="5"/>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9" fill="hold">
                      <p:stCondLst>
                        <p:cond delay="indefinite"/>
                      </p:stCondLst>
                      <p:childTnLst>
                        <p:par>
                          <p:cTn id="60" fill="hold">
                            <p:stCondLst>
                              <p:cond delay="0"/>
                            </p:stCondLst>
                            <p:childTnLst>
                              <p:par>
                                <p:cTn id="61" presetID="15" presetClass="entr" presetSubtype="0" fill="hold" grpId="0" nodeType="clickEffect">
                                  <p:stCondLst>
                                    <p:cond delay="0"/>
                                  </p:stCondLst>
                                  <p:childTnLst>
                                    <p:set>
                                      <p:cBhvr>
                                        <p:cTn id="62" dur="1" fill="hold">
                                          <p:stCondLst>
                                            <p:cond delay="0"/>
                                          </p:stCondLst>
                                        </p:cTn>
                                        <p:tgtEl>
                                          <p:spTgt spid="3">
                                            <p:txEl>
                                              <p:pRg st="6" end="6"/>
                                            </p:txEl>
                                          </p:spTgt>
                                        </p:tgtEl>
                                        <p:attrNameLst>
                                          <p:attrName>style.visibility</p:attrName>
                                        </p:attrNameLst>
                                      </p:cBhvr>
                                      <p:to>
                                        <p:strVal val="visible"/>
                                      </p:to>
                                    </p:set>
                                    <p:anim calcmode="lin" valueType="num">
                                      <p:cBhvr>
                                        <p:cTn id="63" dur="1000" fill="hold"/>
                                        <p:tgtEl>
                                          <p:spTgt spid="3">
                                            <p:txEl>
                                              <p:pRg st="6" end="6"/>
                                            </p:txEl>
                                          </p:spTgt>
                                        </p:tgtEl>
                                        <p:attrNameLst>
                                          <p:attrName>ppt_w</p:attrName>
                                        </p:attrNameLst>
                                      </p:cBhvr>
                                      <p:tavLst>
                                        <p:tav tm="0">
                                          <p:val>
                                            <p:fltVal val="0"/>
                                          </p:val>
                                        </p:tav>
                                        <p:tav tm="100000">
                                          <p:val>
                                            <p:strVal val="#ppt_w"/>
                                          </p:val>
                                        </p:tav>
                                      </p:tavLst>
                                    </p:anim>
                                    <p:anim calcmode="lin" valueType="num">
                                      <p:cBhvr>
                                        <p:cTn id="64" dur="1000" fill="hold"/>
                                        <p:tgtEl>
                                          <p:spTgt spid="3">
                                            <p:txEl>
                                              <p:pRg st="6" end="6"/>
                                            </p:txEl>
                                          </p:spTgt>
                                        </p:tgtEl>
                                        <p:attrNameLst>
                                          <p:attrName>ppt_h</p:attrName>
                                        </p:attrNameLst>
                                      </p:cBhvr>
                                      <p:tavLst>
                                        <p:tav tm="0">
                                          <p:val>
                                            <p:fltVal val="0"/>
                                          </p:val>
                                        </p:tav>
                                        <p:tav tm="100000">
                                          <p:val>
                                            <p:strVal val="#ppt_h"/>
                                          </p:val>
                                        </p:tav>
                                      </p:tavLst>
                                    </p:anim>
                                    <p:anim calcmode="lin" valueType="num">
                                      <p:cBhvr>
                                        <p:cTn id="65" dur="1000" fill="hold"/>
                                        <p:tgtEl>
                                          <p:spTgt spid="3">
                                            <p:txEl>
                                              <p:pRg st="6" end="6"/>
                                            </p:txEl>
                                          </p:spTgt>
                                        </p:tgtEl>
                                        <p:attrNameLst>
                                          <p:attrName>ppt_x</p:attrName>
                                        </p:attrNameLst>
                                      </p:cBhvr>
                                      <p:tavLst>
                                        <p:tav tm="0" fmla="#ppt_x+(cos(-2*pi*(1-$))*-#ppt_x-sin(-2*pi*(1-$))*(1-#ppt_y))*(1-$)">
                                          <p:val>
                                            <p:fltVal val="0"/>
                                          </p:val>
                                        </p:tav>
                                        <p:tav tm="100000">
                                          <p:val>
                                            <p:fltVal val="1"/>
                                          </p:val>
                                        </p:tav>
                                      </p:tavLst>
                                    </p:anim>
                                    <p:anim calcmode="lin" valueType="num">
                                      <p:cBhvr>
                                        <p:cTn id="66" dur="1000" fill="hold"/>
                                        <p:tgtEl>
                                          <p:spTgt spid="3">
                                            <p:txEl>
                                              <p:pRg st="6" end="6"/>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p:txBody>
          <a:bodyPr/>
          <a:lstStyle/>
          <a:p>
            <a:pPr algn="l"/>
            <a:r>
              <a:rPr lang="en-US" u="sng" dirty="0">
                <a:latin typeface="Constantia" pitchFamily="18" charset="0"/>
              </a:rPr>
              <a:t>Causes of </a:t>
            </a:r>
            <a:r>
              <a:rPr lang="en-US" u="sng" dirty="0" smtClean="0">
                <a:latin typeface="Constantia" pitchFamily="18" charset="0"/>
              </a:rPr>
              <a:t>Monopoly:</a:t>
            </a:r>
            <a:endParaRPr lang="en-US" u="sng" dirty="0">
              <a:latin typeface="Constantia" pitchFamily="18" charset="0"/>
            </a:endParaRPr>
          </a:p>
        </p:txBody>
      </p:sp>
      <p:sp>
        <p:nvSpPr>
          <p:cNvPr id="190467" name="Rectangle 3"/>
          <p:cNvSpPr>
            <a:spLocks noGrp="1" noChangeArrowheads="1"/>
          </p:cNvSpPr>
          <p:nvPr>
            <p:ph idx="1"/>
          </p:nvPr>
        </p:nvSpPr>
        <p:spPr/>
        <p:txBody>
          <a:bodyPr>
            <a:normAutofit/>
          </a:bodyPr>
          <a:lstStyle/>
          <a:p>
            <a:r>
              <a:rPr lang="en-US" sz="3200" b="1" dirty="0"/>
              <a:t>Barriers to </a:t>
            </a:r>
            <a:r>
              <a:rPr lang="en-US" sz="3200" b="1" dirty="0" smtClean="0"/>
              <a:t>entry</a:t>
            </a:r>
            <a:r>
              <a:rPr lang="en-US" sz="3200" dirty="0" smtClean="0"/>
              <a:t>: Factors </a:t>
            </a:r>
            <a:r>
              <a:rPr lang="en-US" sz="3200" dirty="0"/>
              <a:t>that prevent new firms from entering a market are the source of </a:t>
            </a:r>
            <a:r>
              <a:rPr lang="en-US" sz="3200" b="1" i="1" dirty="0"/>
              <a:t>all</a:t>
            </a:r>
            <a:r>
              <a:rPr lang="en-US" sz="3200" dirty="0"/>
              <a:t> monopoly power.</a:t>
            </a:r>
          </a:p>
          <a:p>
            <a:r>
              <a:rPr lang="en-US" sz="3200" dirty="0"/>
              <a:t>There are two general types of barriers to </a:t>
            </a:r>
            <a:r>
              <a:rPr lang="en-US" sz="3200" dirty="0" smtClean="0"/>
              <a:t>entry:</a:t>
            </a:r>
            <a:endParaRPr lang="en-US" sz="3200" dirty="0"/>
          </a:p>
          <a:p>
            <a:pPr lvl="1"/>
            <a:r>
              <a:rPr lang="en-US" sz="3200" dirty="0"/>
              <a:t>Technical barriers</a:t>
            </a:r>
          </a:p>
          <a:p>
            <a:pPr lvl="1"/>
            <a:r>
              <a:rPr lang="en-US" sz="3200" dirty="0"/>
              <a:t>Legal barriers</a:t>
            </a:r>
          </a:p>
        </p:txBody>
      </p:sp>
      <p:sp>
        <p:nvSpPr>
          <p:cNvPr id="6" name="Slide Number Placeholder 5"/>
          <p:cNvSpPr>
            <a:spLocks noGrp="1"/>
          </p:cNvSpPr>
          <p:nvPr>
            <p:ph type="sldNum" sz="quarter" idx="12"/>
          </p:nvPr>
        </p:nvSpPr>
        <p:spPr/>
        <p:txBody>
          <a:bodyPr/>
          <a:lstStyle/>
          <a:p>
            <a:fld id="{6B2F708B-AD47-4274-BB29-1E33B981F696}" type="slidenum">
              <a:rPr lang="en-US"/>
              <a:pPr/>
              <a:t>10</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190466"/>
                                        </p:tgtEl>
                                        <p:attrNameLst>
                                          <p:attrName>style.visibility</p:attrName>
                                        </p:attrNameLst>
                                      </p:cBhvr>
                                      <p:to>
                                        <p:strVal val="visible"/>
                                      </p:to>
                                    </p:set>
                                    <p:anim calcmode="lin" valueType="num">
                                      <p:cBhvr>
                                        <p:cTn id="7" dur="1000" fill="hold"/>
                                        <p:tgtEl>
                                          <p:spTgt spid="190466"/>
                                        </p:tgtEl>
                                        <p:attrNameLst>
                                          <p:attrName>ppt_w</p:attrName>
                                        </p:attrNameLst>
                                      </p:cBhvr>
                                      <p:tavLst>
                                        <p:tav tm="0">
                                          <p:val>
                                            <p:fltVal val="0"/>
                                          </p:val>
                                        </p:tav>
                                        <p:tav tm="100000">
                                          <p:val>
                                            <p:strVal val="#ppt_w"/>
                                          </p:val>
                                        </p:tav>
                                      </p:tavLst>
                                    </p:anim>
                                    <p:anim calcmode="lin" valueType="num">
                                      <p:cBhvr>
                                        <p:cTn id="8" dur="1000" fill="hold"/>
                                        <p:tgtEl>
                                          <p:spTgt spid="190466"/>
                                        </p:tgtEl>
                                        <p:attrNameLst>
                                          <p:attrName>ppt_h</p:attrName>
                                        </p:attrNameLst>
                                      </p:cBhvr>
                                      <p:tavLst>
                                        <p:tav tm="0">
                                          <p:val>
                                            <p:fltVal val="0"/>
                                          </p:val>
                                        </p:tav>
                                        <p:tav tm="100000">
                                          <p:val>
                                            <p:strVal val="#ppt_h"/>
                                          </p:val>
                                        </p:tav>
                                      </p:tavLst>
                                    </p:anim>
                                    <p:anim calcmode="lin" valueType="num">
                                      <p:cBhvr>
                                        <p:cTn id="9" dur="1000" fill="hold"/>
                                        <p:tgtEl>
                                          <p:spTgt spid="190466"/>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9046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nodeType="clickEffect">
                                  <p:stCondLst>
                                    <p:cond delay="0"/>
                                  </p:stCondLst>
                                  <p:childTnLst>
                                    <p:set>
                                      <p:cBhvr>
                                        <p:cTn id="14" dur="1" fill="hold">
                                          <p:stCondLst>
                                            <p:cond delay="0"/>
                                          </p:stCondLst>
                                        </p:cTn>
                                        <p:tgtEl>
                                          <p:spTgt spid="190467">
                                            <p:txEl>
                                              <p:pRg st="0" end="0"/>
                                            </p:txEl>
                                          </p:spTgt>
                                        </p:tgtEl>
                                        <p:attrNameLst>
                                          <p:attrName>style.visibility</p:attrName>
                                        </p:attrNameLst>
                                      </p:cBhvr>
                                      <p:to>
                                        <p:strVal val="visible"/>
                                      </p:to>
                                    </p:set>
                                    <p:anim calcmode="lin" valueType="num">
                                      <p:cBhvr>
                                        <p:cTn id="15" dur="1000" fill="hold"/>
                                        <p:tgtEl>
                                          <p:spTgt spid="190467">
                                            <p:txEl>
                                              <p:pRg st="0" end="0"/>
                                            </p:txEl>
                                          </p:spTgt>
                                        </p:tgtEl>
                                        <p:attrNameLst>
                                          <p:attrName>ppt_w</p:attrName>
                                        </p:attrNameLst>
                                      </p:cBhvr>
                                      <p:tavLst>
                                        <p:tav tm="0">
                                          <p:val>
                                            <p:fltVal val="0"/>
                                          </p:val>
                                        </p:tav>
                                        <p:tav tm="100000">
                                          <p:val>
                                            <p:strVal val="#ppt_w"/>
                                          </p:val>
                                        </p:tav>
                                      </p:tavLst>
                                    </p:anim>
                                    <p:anim calcmode="lin" valueType="num">
                                      <p:cBhvr>
                                        <p:cTn id="16" dur="1000" fill="hold"/>
                                        <p:tgtEl>
                                          <p:spTgt spid="190467">
                                            <p:txEl>
                                              <p:pRg st="0" end="0"/>
                                            </p:txEl>
                                          </p:spTgt>
                                        </p:tgtEl>
                                        <p:attrNameLst>
                                          <p:attrName>ppt_h</p:attrName>
                                        </p:attrNameLst>
                                      </p:cBhvr>
                                      <p:tavLst>
                                        <p:tav tm="0">
                                          <p:val>
                                            <p:fltVal val="0"/>
                                          </p:val>
                                        </p:tav>
                                        <p:tav tm="100000">
                                          <p:val>
                                            <p:strVal val="#ppt_h"/>
                                          </p:val>
                                        </p:tav>
                                      </p:tavLst>
                                    </p:anim>
                                    <p:anim calcmode="lin" valueType="num">
                                      <p:cBhvr>
                                        <p:cTn id="17" dur="1000" fill="hold"/>
                                        <p:tgtEl>
                                          <p:spTgt spid="190467">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190467">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nodeType="clickEffect">
                                  <p:stCondLst>
                                    <p:cond delay="0"/>
                                  </p:stCondLst>
                                  <p:childTnLst>
                                    <p:set>
                                      <p:cBhvr>
                                        <p:cTn id="22" dur="1" fill="hold">
                                          <p:stCondLst>
                                            <p:cond delay="0"/>
                                          </p:stCondLst>
                                        </p:cTn>
                                        <p:tgtEl>
                                          <p:spTgt spid="190467">
                                            <p:txEl>
                                              <p:pRg st="1" end="1"/>
                                            </p:txEl>
                                          </p:spTgt>
                                        </p:tgtEl>
                                        <p:attrNameLst>
                                          <p:attrName>style.visibility</p:attrName>
                                        </p:attrNameLst>
                                      </p:cBhvr>
                                      <p:to>
                                        <p:strVal val="visible"/>
                                      </p:to>
                                    </p:set>
                                    <p:anim calcmode="lin" valueType="num">
                                      <p:cBhvr>
                                        <p:cTn id="23" dur="1000" fill="hold"/>
                                        <p:tgtEl>
                                          <p:spTgt spid="190467">
                                            <p:txEl>
                                              <p:pRg st="1" end="1"/>
                                            </p:txEl>
                                          </p:spTgt>
                                        </p:tgtEl>
                                        <p:attrNameLst>
                                          <p:attrName>ppt_w</p:attrName>
                                        </p:attrNameLst>
                                      </p:cBhvr>
                                      <p:tavLst>
                                        <p:tav tm="0">
                                          <p:val>
                                            <p:fltVal val="0"/>
                                          </p:val>
                                        </p:tav>
                                        <p:tav tm="100000">
                                          <p:val>
                                            <p:strVal val="#ppt_w"/>
                                          </p:val>
                                        </p:tav>
                                      </p:tavLst>
                                    </p:anim>
                                    <p:anim calcmode="lin" valueType="num">
                                      <p:cBhvr>
                                        <p:cTn id="24" dur="1000" fill="hold"/>
                                        <p:tgtEl>
                                          <p:spTgt spid="190467">
                                            <p:txEl>
                                              <p:pRg st="1" end="1"/>
                                            </p:txEl>
                                          </p:spTgt>
                                        </p:tgtEl>
                                        <p:attrNameLst>
                                          <p:attrName>ppt_h</p:attrName>
                                        </p:attrNameLst>
                                      </p:cBhvr>
                                      <p:tavLst>
                                        <p:tav tm="0">
                                          <p:val>
                                            <p:fltVal val="0"/>
                                          </p:val>
                                        </p:tav>
                                        <p:tav tm="100000">
                                          <p:val>
                                            <p:strVal val="#ppt_h"/>
                                          </p:val>
                                        </p:tav>
                                      </p:tavLst>
                                    </p:anim>
                                    <p:anim calcmode="lin" valueType="num">
                                      <p:cBhvr>
                                        <p:cTn id="25" dur="1000" fill="hold"/>
                                        <p:tgtEl>
                                          <p:spTgt spid="190467">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190467">
                                            <p:txEl>
                                              <p:pRg st="1" end="1"/>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p:stCondLst>
                        <p:cond delay="indefinite"/>
                      </p:stCondLst>
                      <p:childTnLst>
                        <p:par>
                          <p:cTn id="28" fill="hold">
                            <p:stCondLst>
                              <p:cond delay="0"/>
                            </p:stCondLst>
                            <p:childTnLst>
                              <p:par>
                                <p:cTn id="29" presetID="15" presetClass="entr" presetSubtype="0" fill="hold" nodeType="clickEffect">
                                  <p:stCondLst>
                                    <p:cond delay="0"/>
                                  </p:stCondLst>
                                  <p:childTnLst>
                                    <p:set>
                                      <p:cBhvr>
                                        <p:cTn id="30" dur="1" fill="hold">
                                          <p:stCondLst>
                                            <p:cond delay="0"/>
                                          </p:stCondLst>
                                        </p:cTn>
                                        <p:tgtEl>
                                          <p:spTgt spid="190467">
                                            <p:txEl>
                                              <p:pRg st="2" end="2"/>
                                            </p:txEl>
                                          </p:spTgt>
                                        </p:tgtEl>
                                        <p:attrNameLst>
                                          <p:attrName>style.visibility</p:attrName>
                                        </p:attrNameLst>
                                      </p:cBhvr>
                                      <p:to>
                                        <p:strVal val="visible"/>
                                      </p:to>
                                    </p:set>
                                    <p:anim calcmode="lin" valueType="num">
                                      <p:cBhvr>
                                        <p:cTn id="31" dur="1000" fill="hold"/>
                                        <p:tgtEl>
                                          <p:spTgt spid="190467">
                                            <p:txEl>
                                              <p:pRg st="2" end="2"/>
                                            </p:txEl>
                                          </p:spTgt>
                                        </p:tgtEl>
                                        <p:attrNameLst>
                                          <p:attrName>ppt_w</p:attrName>
                                        </p:attrNameLst>
                                      </p:cBhvr>
                                      <p:tavLst>
                                        <p:tav tm="0">
                                          <p:val>
                                            <p:fltVal val="0"/>
                                          </p:val>
                                        </p:tav>
                                        <p:tav tm="100000">
                                          <p:val>
                                            <p:strVal val="#ppt_w"/>
                                          </p:val>
                                        </p:tav>
                                      </p:tavLst>
                                    </p:anim>
                                    <p:anim calcmode="lin" valueType="num">
                                      <p:cBhvr>
                                        <p:cTn id="32" dur="1000" fill="hold"/>
                                        <p:tgtEl>
                                          <p:spTgt spid="190467">
                                            <p:txEl>
                                              <p:pRg st="2" end="2"/>
                                            </p:txEl>
                                          </p:spTgt>
                                        </p:tgtEl>
                                        <p:attrNameLst>
                                          <p:attrName>ppt_h</p:attrName>
                                        </p:attrNameLst>
                                      </p:cBhvr>
                                      <p:tavLst>
                                        <p:tav tm="0">
                                          <p:val>
                                            <p:fltVal val="0"/>
                                          </p:val>
                                        </p:tav>
                                        <p:tav tm="100000">
                                          <p:val>
                                            <p:strVal val="#ppt_h"/>
                                          </p:val>
                                        </p:tav>
                                      </p:tavLst>
                                    </p:anim>
                                    <p:anim calcmode="lin" valueType="num">
                                      <p:cBhvr>
                                        <p:cTn id="33" dur="1000" fill="hold"/>
                                        <p:tgtEl>
                                          <p:spTgt spid="190467">
                                            <p:txEl>
                                              <p:pRg st="2" end="2"/>
                                            </p:txEl>
                                          </p:spTgt>
                                        </p:tgtEl>
                                        <p:attrNameLst>
                                          <p:attrName>ppt_x</p:attrName>
                                        </p:attrNameLst>
                                      </p:cBhvr>
                                      <p:tavLst>
                                        <p:tav tm="0" fmla="#ppt_x+(cos(-2*pi*(1-$))*-#ppt_x-sin(-2*pi*(1-$))*(1-#ppt_y))*(1-$)">
                                          <p:val>
                                            <p:fltVal val="0"/>
                                          </p:val>
                                        </p:tav>
                                        <p:tav tm="100000">
                                          <p:val>
                                            <p:fltVal val="1"/>
                                          </p:val>
                                        </p:tav>
                                      </p:tavLst>
                                    </p:anim>
                                    <p:anim calcmode="lin" valueType="num">
                                      <p:cBhvr>
                                        <p:cTn id="34" dur="1000" fill="hold"/>
                                        <p:tgtEl>
                                          <p:spTgt spid="190467">
                                            <p:txEl>
                                              <p:pRg st="2" end="2"/>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5" fill="hold">
                      <p:stCondLst>
                        <p:cond delay="indefinite"/>
                      </p:stCondLst>
                      <p:childTnLst>
                        <p:par>
                          <p:cTn id="36" fill="hold">
                            <p:stCondLst>
                              <p:cond delay="0"/>
                            </p:stCondLst>
                            <p:childTnLst>
                              <p:par>
                                <p:cTn id="37" presetID="15" presetClass="entr" presetSubtype="0" fill="hold" nodeType="clickEffect">
                                  <p:stCondLst>
                                    <p:cond delay="0"/>
                                  </p:stCondLst>
                                  <p:childTnLst>
                                    <p:set>
                                      <p:cBhvr>
                                        <p:cTn id="38" dur="1" fill="hold">
                                          <p:stCondLst>
                                            <p:cond delay="0"/>
                                          </p:stCondLst>
                                        </p:cTn>
                                        <p:tgtEl>
                                          <p:spTgt spid="190467">
                                            <p:txEl>
                                              <p:pRg st="3" end="3"/>
                                            </p:txEl>
                                          </p:spTgt>
                                        </p:tgtEl>
                                        <p:attrNameLst>
                                          <p:attrName>style.visibility</p:attrName>
                                        </p:attrNameLst>
                                      </p:cBhvr>
                                      <p:to>
                                        <p:strVal val="visible"/>
                                      </p:to>
                                    </p:set>
                                    <p:anim calcmode="lin" valueType="num">
                                      <p:cBhvr>
                                        <p:cTn id="39" dur="1000" fill="hold"/>
                                        <p:tgtEl>
                                          <p:spTgt spid="190467">
                                            <p:txEl>
                                              <p:pRg st="3" end="3"/>
                                            </p:txEl>
                                          </p:spTgt>
                                        </p:tgtEl>
                                        <p:attrNameLst>
                                          <p:attrName>ppt_w</p:attrName>
                                        </p:attrNameLst>
                                      </p:cBhvr>
                                      <p:tavLst>
                                        <p:tav tm="0">
                                          <p:val>
                                            <p:fltVal val="0"/>
                                          </p:val>
                                        </p:tav>
                                        <p:tav tm="100000">
                                          <p:val>
                                            <p:strVal val="#ppt_w"/>
                                          </p:val>
                                        </p:tav>
                                      </p:tavLst>
                                    </p:anim>
                                    <p:anim calcmode="lin" valueType="num">
                                      <p:cBhvr>
                                        <p:cTn id="40" dur="1000" fill="hold"/>
                                        <p:tgtEl>
                                          <p:spTgt spid="190467">
                                            <p:txEl>
                                              <p:pRg st="3" end="3"/>
                                            </p:txEl>
                                          </p:spTgt>
                                        </p:tgtEl>
                                        <p:attrNameLst>
                                          <p:attrName>ppt_h</p:attrName>
                                        </p:attrNameLst>
                                      </p:cBhvr>
                                      <p:tavLst>
                                        <p:tav tm="0">
                                          <p:val>
                                            <p:fltVal val="0"/>
                                          </p:val>
                                        </p:tav>
                                        <p:tav tm="100000">
                                          <p:val>
                                            <p:strVal val="#ppt_h"/>
                                          </p:val>
                                        </p:tav>
                                      </p:tavLst>
                                    </p:anim>
                                    <p:anim calcmode="lin" valueType="num">
                                      <p:cBhvr>
                                        <p:cTn id="41" dur="1000" fill="hold"/>
                                        <p:tgtEl>
                                          <p:spTgt spid="190467">
                                            <p:txEl>
                                              <p:pRg st="3" end="3"/>
                                            </p:txEl>
                                          </p:spTgt>
                                        </p:tgtEl>
                                        <p:attrNameLst>
                                          <p:attrName>ppt_x</p:attrName>
                                        </p:attrNameLst>
                                      </p:cBhvr>
                                      <p:tavLst>
                                        <p:tav tm="0" fmla="#ppt_x+(cos(-2*pi*(1-$))*-#ppt_x-sin(-2*pi*(1-$))*(1-#ppt_y))*(1-$)">
                                          <p:val>
                                            <p:fltVal val="0"/>
                                          </p:val>
                                        </p:tav>
                                        <p:tav tm="100000">
                                          <p:val>
                                            <p:fltVal val="1"/>
                                          </p:val>
                                        </p:tav>
                                      </p:tavLst>
                                    </p:anim>
                                    <p:anim calcmode="lin" valueType="num">
                                      <p:cBhvr>
                                        <p:cTn id="42" dur="1000" fill="hold"/>
                                        <p:tgtEl>
                                          <p:spTgt spid="190467">
                                            <p:txEl>
                                              <p:pRg st="3" end="3"/>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4"/>
          <p:cNvSpPr>
            <a:spLocks noGrp="1" noChangeArrowheads="1"/>
          </p:cNvSpPr>
          <p:nvPr>
            <p:ph type="title"/>
          </p:nvPr>
        </p:nvSpPr>
        <p:spPr>
          <a:xfrm>
            <a:off x="457200" y="457200"/>
            <a:ext cx="8229600" cy="1143000"/>
          </a:xfrm>
        </p:spPr>
        <p:txBody>
          <a:bodyPr>
            <a:normAutofit fontScale="90000"/>
          </a:bodyPr>
          <a:lstStyle/>
          <a:p>
            <a:pPr algn="l"/>
            <a:r>
              <a:rPr lang="en-US" sz="5400" u="sng" dirty="0" smtClean="0">
                <a:latin typeface="Constantia" pitchFamily="18" charset="0"/>
              </a:rPr>
              <a:t>Monopolistic Competition:</a:t>
            </a:r>
            <a:endParaRPr lang="en-US" sz="5400" u="sng" dirty="0">
              <a:latin typeface="Constantia" pitchFamily="18" charset="0"/>
            </a:endParaRPr>
          </a:p>
        </p:txBody>
      </p:sp>
      <p:sp>
        <p:nvSpPr>
          <p:cNvPr id="2053" name="Rectangle 5"/>
          <p:cNvSpPr>
            <a:spLocks noGrp="1" noChangeArrowheads="1"/>
          </p:cNvSpPr>
          <p:nvPr>
            <p:ph idx="1"/>
          </p:nvPr>
        </p:nvSpPr>
        <p:spPr>
          <a:xfrm>
            <a:off x="457200" y="1676400"/>
            <a:ext cx="8229600" cy="4389120"/>
          </a:xfrm>
        </p:spPr>
        <p:txBody>
          <a:bodyPr>
            <a:noAutofit/>
          </a:bodyPr>
          <a:lstStyle/>
          <a:p>
            <a:r>
              <a:rPr lang="en-US" sz="2800" dirty="0">
                <a:latin typeface="Constantia" pitchFamily="18" charset="0"/>
              </a:rPr>
              <a:t>On one extreme </a:t>
            </a:r>
            <a:r>
              <a:rPr lang="en-US" sz="2800" dirty="0" smtClean="0">
                <a:latin typeface="Constantia" pitchFamily="18" charset="0"/>
              </a:rPr>
              <a:t>there is </a:t>
            </a:r>
            <a:r>
              <a:rPr lang="en-US" sz="2800" dirty="0">
                <a:latin typeface="Constantia" pitchFamily="18" charset="0"/>
              </a:rPr>
              <a:t>the </a:t>
            </a:r>
            <a:r>
              <a:rPr lang="en-US" sz="2800" dirty="0" smtClean="0">
                <a:latin typeface="Constantia" pitchFamily="18" charset="0"/>
              </a:rPr>
              <a:t>perfect </a:t>
            </a:r>
            <a:r>
              <a:rPr lang="en-US" sz="2800" dirty="0">
                <a:latin typeface="Constantia" pitchFamily="18" charset="0"/>
              </a:rPr>
              <a:t>c</a:t>
            </a:r>
            <a:r>
              <a:rPr lang="en-US" sz="2800" dirty="0" smtClean="0">
                <a:latin typeface="Constantia" pitchFamily="18" charset="0"/>
              </a:rPr>
              <a:t>ompetition model while on</a:t>
            </a:r>
            <a:r>
              <a:rPr lang="en-US" sz="2800" dirty="0">
                <a:latin typeface="Constantia" pitchFamily="18" charset="0"/>
              </a:rPr>
              <a:t> </a:t>
            </a:r>
            <a:r>
              <a:rPr lang="en-US" sz="2800" dirty="0" smtClean="0">
                <a:latin typeface="Constantia" pitchFamily="18" charset="0"/>
              </a:rPr>
              <a:t>the </a:t>
            </a:r>
            <a:r>
              <a:rPr lang="en-US" sz="2800" dirty="0">
                <a:latin typeface="Constantia" pitchFamily="18" charset="0"/>
              </a:rPr>
              <a:t>other </a:t>
            </a:r>
            <a:r>
              <a:rPr lang="en-US" sz="2800" dirty="0" smtClean="0">
                <a:latin typeface="Constantia" pitchFamily="18" charset="0"/>
              </a:rPr>
              <a:t>there is </a:t>
            </a:r>
            <a:r>
              <a:rPr lang="en-US" sz="2800" dirty="0">
                <a:latin typeface="Constantia" pitchFamily="18" charset="0"/>
              </a:rPr>
              <a:t>the </a:t>
            </a:r>
            <a:r>
              <a:rPr lang="en-US" sz="2800" dirty="0" smtClean="0">
                <a:latin typeface="Constantia" pitchFamily="18" charset="0"/>
              </a:rPr>
              <a:t>monopoly model.</a:t>
            </a:r>
          </a:p>
          <a:p>
            <a:r>
              <a:rPr lang="en-US" sz="2800" dirty="0" smtClean="0">
                <a:latin typeface="Constantia" pitchFamily="18" charset="0"/>
              </a:rPr>
              <a:t>Monopolistic </a:t>
            </a:r>
            <a:r>
              <a:rPr lang="en-US" sz="2800" dirty="0">
                <a:latin typeface="Constantia" pitchFamily="18" charset="0"/>
              </a:rPr>
              <a:t>c</a:t>
            </a:r>
            <a:r>
              <a:rPr lang="en-US" sz="2800" dirty="0" smtClean="0">
                <a:latin typeface="Constantia" pitchFamily="18" charset="0"/>
              </a:rPr>
              <a:t>ompetition lies </a:t>
            </a:r>
            <a:r>
              <a:rPr lang="en-US" sz="2800" dirty="0">
                <a:latin typeface="Constantia" pitchFamily="18" charset="0"/>
              </a:rPr>
              <a:t>between these two </a:t>
            </a:r>
            <a:r>
              <a:rPr lang="en-US" sz="2800" dirty="0" smtClean="0">
                <a:latin typeface="Constantia" pitchFamily="18" charset="0"/>
              </a:rPr>
              <a:t>extremes.</a:t>
            </a:r>
          </a:p>
          <a:p>
            <a:r>
              <a:rPr lang="en-US" sz="2800" dirty="0" smtClean="0">
                <a:latin typeface="Constantia" pitchFamily="18" charset="0"/>
              </a:rPr>
              <a:t>A distinguishing characteristic of monopolistic competition is that there are “many” firms in the industry producing </a:t>
            </a:r>
            <a:r>
              <a:rPr lang="en-US" sz="2800" i="1" dirty="0" smtClean="0">
                <a:latin typeface="Constantia" pitchFamily="18" charset="0"/>
              </a:rPr>
              <a:t>similar</a:t>
            </a:r>
            <a:r>
              <a:rPr lang="en-US" sz="2800" dirty="0" smtClean="0">
                <a:latin typeface="Constantia" pitchFamily="18" charset="0"/>
              </a:rPr>
              <a:t> goods or services but each maintains some independent control over its own price.</a:t>
            </a:r>
          </a:p>
        </p:txBody>
      </p:sp>
      <p:sp>
        <p:nvSpPr>
          <p:cNvPr id="4" name="Slide Number Placeholder 3"/>
          <p:cNvSpPr>
            <a:spLocks noGrp="1"/>
          </p:cNvSpPr>
          <p:nvPr>
            <p:ph type="sldNum" sz="quarter" idx="12"/>
          </p:nvPr>
        </p:nvSpPr>
        <p:spPr/>
        <p:txBody>
          <a:bodyPr/>
          <a:lstStyle/>
          <a:p>
            <a:fld id="{777C09F0-9059-4089-99E3-25D541D86FAB}" type="slidenum">
              <a:rPr lang="en-US" smtClean="0"/>
              <a:pPr/>
              <a:t>11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2052"/>
                                        </p:tgtEl>
                                        <p:attrNameLst>
                                          <p:attrName>style.visibility</p:attrName>
                                        </p:attrNameLst>
                                      </p:cBhvr>
                                      <p:to>
                                        <p:strVal val="visible"/>
                                      </p:to>
                                    </p:set>
                                    <p:anim calcmode="lin" valueType="num">
                                      <p:cBhvr>
                                        <p:cTn id="7" dur="1000" fill="hold"/>
                                        <p:tgtEl>
                                          <p:spTgt spid="2052"/>
                                        </p:tgtEl>
                                        <p:attrNameLst>
                                          <p:attrName>ppt_w</p:attrName>
                                        </p:attrNameLst>
                                      </p:cBhvr>
                                      <p:tavLst>
                                        <p:tav tm="0">
                                          <p:val>
                                            <p:fltVal val="0"/>
                                          </p:val>
                                        </p:tav>
                                        <p:tav tm="100000">
                                          <p:val>
                                            <p:strVal val="#ppt_w"/>
                                          </p:val>
                                        </p:tav>
                                      </p:tavLst>
                                    </p:anim>
                                    <p:anim calcmode="lin" valueType="num">
                                      <p:cBhvr>
                                        <p:cTn id="8" dur="1000" fill="hold"/>
                                        <p:tgtEl>
                                          <p:spTgt spid="2052"/>
                                        </p:tgtEl>
                                        <p:attrNameLst>
                                          <p:attrName>ppt_h</p:attrName>
                                        </p:attrNameLst>
                                      </p:cBhvr>
                                      <p:tavLst>
                                        <p:tav tm="0">
                                          <p:val>
                                            <p:fltVal val="0"/>
                                          </p:val>
                                        </p:tav>
                                        <p:tav tm="100000">
                                          <p:val>
                                            <p:strVal val="#ppt_h"/>
                                          </p:val>
                                        </p:tav>
                                      </p:tavLst>
                                    </p:anim>
                                    <p:anim calcmode="lin" valueType="num">
                                      <p:cBhvr>
                                        <p:cTn id="9" dur="1000" fill="hold"/>
                                        <p:tgtEl>
                                          <p:spTgt spid="2052"/>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05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2053">
                                            <p:txEl>
                                              <p:pRg st="0" end="0"/>
                                            </p:txEl>
                                          </p:spTgt>
                                        </p:tgtEl>
                                        <p:attrNameLst>
                                          <p:attrName>style.visibility</p:attrName>
                                        </p:attrNameLst>
                                      </p:cBhvr>
                                      <p:to>
                                        <p:strVal val="visible"/>
                                      </p:to>
                                    </p:set>
                                    <p:anim calcmode="lin" valueType="num">
                                      <p:cBhvr>
                                        <p:cTn id="15" dur="1000" fill="hold"/>
                                        <p:tgtEl>
                                          <p:spTgt spid="2053">
                                            <p:txEl>
                                              <p:pRg st="0" end="0"/>
                                            </p:txEl>
                                          </p:spTgt>
                                        </p:tgtEl>
                                        <p:attrNameLst>
                                          <p:attrName>ppt_w</p:attrName>
                                        </p:attrNameLst>
                                      </p:cBhvr>
                                      <p:tavLst>
                                        <p:tav tm="0">
                                          <p:val>
                                            <p:fltVal val="0"/>
                                          </p:val>
                                        </p:tav>
                                        <p:tav tm="100000">
                                          <p:val>
                                            <p:strVal val="#ppt_w"/>
                                          </p:val>
                                        </p:tav>
                                      </p:tavLst>
                                    </p:anim>
                                    <p:anim calcmode="lin" valueType="num">
                                      <p:cBhvr>
                                        <p:cTn id="16" dur="1000" fill="hold"/>
                                        <p:tgtEl>
                                          <p:spTgt spid="2053">
                                            <p:txEl>
                                              <p:pRg st="0" end="0"/>
                                            </p:txEl>
                                          </p:spTgt>
                                        </p:tgtEl>
                                        <p:attrNameLst>
                                          <p:attrName>ppt_h</p:attrName>
                                        </p:attrNameLst>
                                      </p:cBhvr>
                                      <p:tavLst>
                                        <p:tav tm="0">
                                          <p:val>
                                            <p:fltVal val="0"/>
                                          </p:val>
                                        </p:tav>
                                        <p:tav tm="100000">
                                          <p:val>
                                            <p:strVal val="#ppt_h"/>
                                          </p:val>
                                        </p:tav>
                                      </p:tavLst>
                                    </p:anim>
                                    <p:anim calcmode="lin" valueType="num">
                                      <p:cBhvr>
                                        <p:cTn id="17" dur="1000" fill="hold"/>
                                        <p:tgtEl>
                                          <p:spTgt spid="2053">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2053">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2053">
                                            <p:txEl>
                                              <p:pRg st="1" end="1"/>
                                            </p:txEl>
                                          </p:spTgt>
                                        </p:tgtEl>
                                        <p:attrNameLst>
                                          <p:attrName>style.visibility</p:attrName>
                                        </p:attrNameLst>
                                      </p:cBhvr>
                                      <p:to>
                                        <p:strVal val="visible"/>
                                      </p:to>
                                    </p:set>
                                    <p:anim calcmode="lin" valueType="num">
                                      <p:cBhvr>
                                        <p:cTn id="23" dur="1000" fill="hold"/>
                                        <p:tgtEl>
                                          <p:spTgt spid="2053">
                                            <p:txEl>
                                              <p:pRg st="1" end="1"/>
                                            </p:txEl>
                                          </p:spTgt>
                                        </p:tgtEl>
                                        <p:attrNameLst>
                                          <p:attrName>ppt_w</p:attrName>
                                        </p:attrNameLst>
                                      </p:cBhvr>
                                      <p:tavLst>
                                        <p:tav tm="0">
                                          <p:val>
                                            <p:fltVal val="0"/>
                                          </p:val>
                                        </p:tav>
                                        <p:tav tm="100000">
                                          <p:val>
                                            <p:strVal val="#ppt_w"/>
                                          </p:val>
                                        </p:tav>
                                      </p:tavLst>
                                    </p:anim>
                                    <p:anim calcmode="lin" valueType="num">
                                      <p:cBhvr>
                                        <p:cTn id="24" dur="1000" fill="hold"/>
                                        <p:tgtEl>
                                          <p:spTgt spid="2053">
                                            <p:txEl>
                                              <p:pRg st="1" end="1"/>
                                            </p:txEl>
                                          </p:spTgt>
                                        </p:tgtEl>
                                        <p:attrNameLst>
                                          <p:attrName>ppt_h</p:attrName>
                                        </p:attrNameLst>
                                      </p:cBhvr>
                                      <p:tavLst>
                                        <p:tav tm="0">
                                          <p:val>
                                            <p:fltVal val="0"/>
                                          </p:val>
                                        </p:tav>
                                        <p:tav tm="100000">
                                          <p:val>
                                            <p:strVal val="#ppt_h"/>
                                          </p:val>
                                        </p:tav>
                                      </p:tavLst>
                                    </p:anim>
                                    <p:anim calcmode="lin" valueType="num">
                                      <p:cBhvr>
                                        <p:cTn id="25" dur="1000" fill="hold"/>
                                        <p:tgtEl>
                                          <p:spTgt spid="2053">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2053">
                                            <p:txEl>
                                              <p:pRg st="1" end="1"/>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p:stCondLst>
                        <p:cond delay="indefinite"/>
                      </p:stCondLst>
                      <p:childTnLst>
                        <p:par>
                          <p:cTn id="28" fill="hold">
                            <p:stCondLst>
                              <p:cond delay="0"/>
                            </p:stCondLst>
                            <p:childTnLst>
                              <p:par>
                                <p:cTn id="29" presetID="15" presetClass="entr" presetSubtype="0" fill="hold" grpId="0" nodeType="clickEffect">
                                  <p:stCondLst>
                                    <p:cond delay="0"/>
                                  </p:stCondLst>
                                  <p:childTnLst>
                                    <p:set>
                                      <p:cBhvr>
                                        <p:cTn id="30" dur="1" fill="hold">
                                          <p:stCondLst>
                                            <p:cond delay="0"/>
                                          </p:stCondLst>
                                        </p:cTn>
                                        <p:tgtEl>
                                          <p:spTgt spid="2053">
                                            <p:txEl>
                                              <p:pRg st="2" end="2"/>
                                            </p:txEl>
                                          </p:spTgt>
                                        </p:tgtEl>
                                        <p:attrNameLst>
                                          <p:attrName>style.visibility</p:attrName>
                                        </p:attrNameLst>
                                      </p:cBhvr>
                                      <p:to>
                                        <p:strVal val="visible"/>
                                      </p:to>
                                    </p:set>
                                    <p:anim calcmode="lin" valueType="num">
                                      <p:cBhvr>
                                        <p:cTn id="31" dur="1000" fill="hold"/>
                                        <p:tgtEl>
                                          <p:spTgt spid="2053">
                                            <p:txEl>
                                              <p:pRg st="2" end="2"/>
                                            </p:txEl>
                                          </p:spTgt>
                                        </p:tgtEl>
                                        <p:attrNameLst>
                                          <p:attrName>ppt_w</p:attrName>
                                        </p:attrNameLst>
                                      </p:cBhvr>
                                      <p:tavLst>
                                        <p:tav tm="0">
                                          <p:val>
                                            <p:fltVal val="0"/>
                                          </p:val>
                                        </p:tav>
                                        <p:tav tm="100000">
                                          <p:val>
                                            <p:strVal val="#ppt_w"/>
                                          </p:val>
                                        </p:tav>
                                      </p:tavLst>
                                    </p:anim>
                                    <p:anim calcmode="lin" valueType="num">
                                      <p:cBhvr>
                                        <p:cTn id="32" dur="1000" fill="hold"/>
                                        <p:tgtEl>
                                          <p:spTgt spid="2053">
                                            <p:txEl>
                                              <p:pRg st="2" end="2"/>
                                            </p:txEl>
                                          </p:spTgt>
                                        </p:tgtEl>
                                        <p:attrNameLst>
                                          <p:attrName>ppt_h</p:attrName>
                                        </p:attrNameLst>
                                      </p:cBhvr>
                                      <p:tavLst>
                                        <p:tav tm="0">
                                          <p:val>
                                            <p:fltVal val="0"/>
                                          </p:val>
                                        </p:tav>
                                        <p:tav tm="100000">
                                          <p:val>
                                            <p:strVal val="#ppt_h"/>
                                          </p:val>
                                        </p:tav>
                                      </p:tavLst>
                                    </p:anim>
                                    <p:anim calcmode="lin" valueType="num">
                                      <p:cBhvr>
                                        <p:cTn id="33" dur="1000" fill="hold"/>
                                        <p:tgtEl>
                                          <p:spTgt spid="2053">
                                            <p:txEl>
                                              <p:pRg st="2" end="2"/>
                                            </p:txEl>
                                          </p:spTgt>
                                        </p:tgtEl>
                                        <p:attrNameLst>
                                          <p:attrName>ppt_x</p:attrName>
                                        </p:attrNameLst>
                                      </p:cBhvr>
                                      <p:tavLst>
                                        <p:tav tm="0" fmla="#ppt_x+(cos(-2*pi*(1-$))*-#ppt_x-sin(-2*pi*(1-$))*(1-#ppt_y))*(1-$)">
                                          <p:val>
                                            <p:fltVal val="0"/>
                                          </p:val>
                                        </p:tav>
                                        <p:tav tm="100000">
                                          <p:val>
                                            <p:fltVal val="1"/>
                                          </p:val>
                                        </p:tav>
                                      </p:tavLst>
                                    </p:anim>
                                    <p:anim calcmode="lin" valueType="num">
                                      <p:cBhvr>
                                        <p:cTn id="34" dur="1000" fill="hold"/>
                                        <p:tgtEl>
                                          <p:spTgt spid="2053">
                                            <p:txEl>
                                              <p:pRg st="2" end="2"/>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2" grpId="0"/>
      <p:bldP spid="205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noAutofit/>
          </a:bodyPr>
          <a:lstStyle/>
          <a:p>
            <a:pPr algn="l"/>
            <a:r>
              <a:rPr lang="en-US" sz="4000" u="sng" dirty="0">
                <a:latin typeface="Constantia" pitchFamily="18" charset="0"/>
              </a:rPr>
              <a:t>Characteristics of Monopolistic </a:t>
            </a:r>
            <a:r>
              <a:rPr lang="en-US" sz="4000" u="sng" dirty="0" smtClean="0">
                <a:latin typeface="Constantia" pitchFamily="18" charset="0"/>
              </a:rPr>
              <a:t>Competition:</a:t>
            </a:r>
            <a:endParaRPr lang="en-US" sz="4000" u="sng" dirty="0">
              <a:latin typeface="Constantia" pitchFamily="18" charset="0"/>
            </a:endParaRPr>
          </a:p>
        </p:txBody>
      </p:sp>
      <p:sp>
        <p:nvSpPr>
          <p:cNvPr id="8195" name="Rectangle 3"/>
          <p:cNvSpPr>
            <a:spLocks noGrp="1" noChangeArrowheads="1"/>
          </p:cNvSpPr>
          <p:nvPr>
            <p:ph idx="1"/>
          </p:nvPr>
        </p:nvSpPr>
        <p:spPr/>
        <p:txBody>
          <a:bodyPr>
            <a:normAutofit fontScale="92500" lnSpcReduction="20000"/>
          </a:bodyPr>
          <a:lstStyle/>
          <a:p>
            <a:r>
              <a:rPr lang="en-US" sz="2800" dirty="0" smtClean="0">
                <a:latin typeface="Constantia" pitchFamily="18" charset="0"/>
              </a:rPr>
              <a:t>Low concentration ratio. This is defined as the proportion of total industry output produced by the largest firms (usually the 4 largest).</a:t>
            </a:r>
          </a:p>
          <a:p>
            <a:r>
              <a:rPr lang="en-US" sz="2800" dirty="0" smtClean="0">
                <a:latin typeface="Constantia" pitchFamily="18" charset="0"/>
              </a:rPr>
              <a:t>Power </a:t>
            </a:r>
            <a:r>
              <a:rPr lang="en-US" sz="2800" dirty="0">
                <a:latin typeface="Constantia" pitchFamily="18" charset="0"/>
              </a:rPr>
              <a:t>to set prices somewhat like a </a:t>
            </a:r>
            <a:r>
              <a:rPr lang="en-US" sz="2800" dirty="0" smtClean="0">
                <a:latin typeface="Constantia" pitchFamily="18" charset="0"/>
              </a:rPr>
              <a:t>monopoly.</a:t>
            </a:r>
            <a:endParaRPr lang="en-US" sz="2800" dirty="0">
              <a:latin typeface="Constantia" pitchFamily="18" charset="0"/>
            </a:endParaRPr>
          </a:p>
          <a:p>
            <a:r>
              <a:rPr lang="en-US" sz="2800" dirty="0" smtClean="0">
                <a:latin typeface="Constantia" pitchFamily="18" charset="0"/>
              </a:rPr>
              <a:t>Faces </a:t>
            </a:r>
            <a:r>
              <a:rPr lang="en-US" sz="2800" dirty="0">
                <a:latin typeface="Constantia" pitchFamily="18" charset="0"/>
              </a:rPr>
              <a:t>competition like perfect </a:t>
            </a:r>
            <a:r>
              <a:rPr lang="en-US" sz="2800" dirty="0" smtClean="0">
                <a:latin typeface="Constantia" pitchFamily="18" charset="0"/>
              </a:rPr>
              <a:t>competition.</a:t>
            </a:r>
            <a:endParaRPr lang="en-US" sz="2800" dirty="0">
              <a:latin typeface="Constantia" pitchFamily="18" charset="0"/>
            </a:endParaRPr>
          </a:p>
          <a:p>
            <a:r>
              <a:rPr lang="en-US" sz="2800" dirty="0" smtClean="0">
                <a:latin typeface="Constantia" pitchFamily="18" charset="0"/>
              </a:rPr>
              <a:t>Large </a:t>
            </a:r>
            <a:r>
              <a:rPr lang="en-US" sz="2800" dirty="0">
                <a:latin typeface="Constantia" pitchFamily="18" charset="0"/>
              </a:rPr>
              <a:t>number of </a:t>
            </a:r>
            <a:r>
              <a:rPr lang="en-US" sz="2800" dirty="0" smtClean="0">
                <a:latin typeface="Constantia" pitchFamily="18" charset="0"/>
              </a:rPr>
              <a:t>firms:</a:t>
            </a:r>
          </a:p>
          <a:p>
            <a:pPr lvl="1">
              <a:buSzPct val="110000"/>
              <a:buFont typeface="Wingdings" pitchFamily="2" charset="2"/>
              <a:buChar char="§"/>
            </a:pPr>
            <a:r>
              <a:rPr lang="en-US" sz="2800" dirty="0" smtClean="0">
                <a:latin typeface="Constantia" pitchFamily="18" charset="0"/>
              </a:rPr>
              <a:t>Each </a:t>
            </a:r>
            <a:r>
              <a:rPr lang="en-US" sz="2800" dirty="0">
                <a:latin typeface="Constantia" pitchFamily="18" charset="0"/>
              </a:rPr>
              <a:t>firm has </a:t>
            </a:r>
            <a:r>
              <a:rPr lang="en-US" sz="2800" dirty="0" smtClean="0">
                <a:latin typeface="Constantia" pitchFamily="18" charset="0"/>
              </a:rPr>
              <a:t>a relatively </a:t>
            </a:r>
            <a:r>
              <a:rPr lang="en-US" sz="2800" dirty="0">
                <a:latin typeface="Constantia" pitchFamily="18" charset="0"/>
              </a:rPr>
              <a:t>small market </a:t>
            </a:r>
            <a:r>
              <a:rPr lang="en-US" sz="2800" dirty="0" smtClean="0">
                <a:latin typeface="Constantia" pitchFamily="18" charset="0"/>
              </a:rPr>
              <a:t>share. </a:t>
            </a:r>
          </a:p>
          <a:p>
            <a:pPr lvl="1">
              <a:buSzPct val="110000"/>
              <a:buFont typeface="Wingdings" pitchFamily="2" charset="2"/>
              <a:buChar char="§"/>
            </a:pPr>
            <a:r>
              <a:rPr lang="en-US" sz="2800" dirty="0" smtClean="0">
                <a:latin typeface="Constantia" pitchFamily="18" charset="0"/>
              </a:rPr>
              <a:t>Each </a:t>
            </a:r>
            <a:r>
              <a:rPr lang="en-US" sz="2800" dirty="0">
                <a:latin typeface="Constantia" pitchFamily="18" charset="0"/>
              </a:rPr>
              <a:t>firm must be sensitive to average market price of its </a:t>
            </a:r>
            <a:r>
              <a:rPr lang="en-US" sz="2800" dirty="0" smtClean="0">
                <a:latin typeface="Constantia" pitchFamily="18" charset="0"/>
              </a:rPr>
              <a:t>product.</a:t>
            </a:r>
            <a:endParaRPr lang="en-US" sz="2800" dirty="0">
              <a:latin typeface="Constantia" pitchFamily="18" charset="0"/>
            </a:endParaRPr>
          </a:p>
          <a:p>
            <a:pPr lvl="1">
              <a:buSzPct val="110000"/>
              <a:buFont typeface="Wingdings" pitchFamily="2" charset="2"/>
              <a:buChar char="§"/>
            </a:pPr>
            <a:r>
              <a:rPr lang="en-US" sz="2800" dirty="0" smtClean="0">
                <a:latin typeface="Constantia" pitchFamily="18" charset="0"/>
              </a:rPr>
              <a:t>Collusion </a:t>
            </a:r>
            <a:r>
              <a:rPr lang="en-US" sz="2800" dirty="0">
                <a:latin typeface="Constantia" pitchFamily="18" charset="0"/>
              </a:rPr>
              <a:t>is not possible due to </a:t>
            </a:r>
            <a:r>
              <a:rPr lang="en-US" sz="2800" dirty="0" smtClean="0">
                <a:latin typeface="Constantia" pitchFamily="18" charset="0"/>
              </a:rPr>
              <a:t>the large </a:t>
            </a:r>
            <a:r>
              <a:rPr lang="en-US" sz="2800" dirty="0">
                <a:latin typeface="Constantia" pitchFamily="18" charset="0"/>
              </a:rPr>
              <a:t>number of </a:t>
            </a:r>
            <a:r>
              <a:rPr lang="en-US" sz="2800" dirty="0" smtClean="0">
                <a:latin typeface="Constantia" pitchFamily="18" charset="0"/>
              </a:rPr>
              <a:t>firms.</a:t>
            </a:r>
            <a:endParaRPr lang="en-US" sz="2800" dirty="0">
              <a:latin typeface="Constantia" pitchFamily="18" charset="0"/>
            </a:endParaRPr>
          </a:p>
          <a:p>
            <a:pPr>
              <a:buSzPct val="110000"/>
              <a:buFont typeface="Wingdings" pitchFamily="2" charset="2"/>
              <a:buNone/>
            </a:pPr>
            <a:r>
              <a:rPr lang="en-US" sz="2000" dirty="0">
                <a:latin typeface="Constantia" pitchFamily="18" charset="0"/>
              </a:rPr>
              <a:t>									</a:t>
            </a:r>
          </a:p>
        </p:txBody>
      </p:sp>
      <p:sp>
        <p:nvSpPr>
          <p:cNvPr id="4" name="Slide Number Placeholder 3"/>
          <p:cNvSpPr>
            <a:spLocks noGrp="1"/>
          </p:cNvSpPr>
          <p:nvPr>
            <p:ph type="sldNum" sz="quarter" idx="12"/>
          </p:nvPr>
        </p:nvSpPr>
        <p:spPr/>
        <p:txBody>
          <a:bodyPr/>
          <a:lstStyle/>
          <a:p>
            <a:fld id="{777C09F0-9059-4089-99E3-25D541D86FAB}" type="slidenum">
              <a:rPr lang="en-US" smtClean="0"/>
              <a:pPr/>
              <a:t>12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8194"/>
                                        </p:tgtEl>
                                        <p:attrNameLst>
                                          <p:attrName>style.visibility</p:attrName>
                                        </p:attrNameLst>
                                      </p:cBhvr>
                                      <p:to>
                                        <p:strVal val="visible"/>
                                      </p:to>
                                    </p:set>
                                    <p:anim calcmode="lin" valueType="num">
                                      <p:cBhvr>
                                        <p:cTn id="7" dur="1000" fill="hold"/>
                                        <p:tgtEl>
                                          <p:spTgt spid="8194"/>
                                        </p:tgtEl>
                                        <p:attrNameLst>
                                          <p:attrName>ppt_w</p:attrName>
                                        </p:attrNameLst>
                                      </p:cBhvr>
                                      <p:tavLst>
                                        <p:tav tm="0">
                                          <p:val>
                                            <p:fltVal val="0"/>
                                          </p:val>
                                        </p:tav>
                                        <p:tav tm="100000">
                                          <p:val>
                                            <p:strVal val="#ppt_w"/>
                                          </p:val>
                                        </p:tav>
                                      </p:tavLst>
                                    </p:anim>
                                    <p:anim calcmode="lin" valueType="num">
                                      <p:cBhvr>
                                        <p:cTn id="8" dur="1000" fill="hold"/>
                                        <p:tgtEl>
                                          <p:spTgt spid="8194"/>
                                        </p:tgtEl>
                                        <p:attrNameLst>
                                          <p:attrName>ppt_h</p:attrName>
                                        </p:attrNameLst>
                                      </p:cBhvr>
                                      <p:tavLst>
                                        <p:tav tm="0">
                                          <p:val>
                                            <p:fltVal val="0"/>
                                          </p:val>
                                        </p:tav>
                                        <p:tav tm="100000">
                                          <p:val>
                                            <p:strVal val="#ppt_h"/>
                                          </p:val>
                                        </p:tav>
                                      </p:tavLst>
                                    </p:anim>
                                    <p:anim calcmode="lin" valueType="num">
                                      <p:cBhvr>
                                        <p:cTn id="9" dur="1000" fill="hold"/>
                                        <p:tgtEl>
                                          <p:spTgt spid="8194"/>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819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nodeType="clickEffect">
                                  <p:stCondLst>
                                    <p:cond delay="0"/>
                                  </p:stCondLst>
                                  <p:childTnLst>
                                    <p:set>
                                      <p:cBhvr>
                                        <p:cTn id="14" dur="1" fill="hold">
                                          <p:stCondLst>
                                            <p:cond delay="0"/>
                                          </p:stCondLst>
                                        </p:cTn>
                                        <p:tgtEl>
                                          <p:spTgt spid="8195">
                                            <p:txEl>
                                              <p:pRg st="0" end="0"/>
                                            </p:txEl>
                                          </p:spTgt>
                                        </p:tgtEl>
                                        <p:attrNameLst>
                                          <p:attrName>style.visibility</p:attrName>
                                        </p:attrNameLst>
                                      </p:cBhvr>
                                      <p:to>
                                        <p:strVal val="visible"/>
                                      </p:to>
                                    </p:set>
                                    <p:anim calcmode="lin" valueType="num">
                                      <p:cBhvr>
                                        <p:cTn id="15" dur="1000" fill="hold"/>
                                        <p:tgtEl>
                                          <p:spTgt spid="8195">
                                            <p:txEl>
                                              <p:pRg st="0" end="0"/>
                                            </p:txEl>
                                          </p:spTgt>
                                        </p:tgtEl>
                                        <p:attrNameLst>
                                          <p:attrName>ppt_w</p:attrName>
                                        </p:attrNameLst>
                                      </p:cBhvr>
                                      <p:tavLst>
                                        <p:tav tm="0">
                                          <p:val>
                                            <p:fltVal val="0"/>
                                          </p:val>
                                        </p:tav>
                                        <p:tav tm="100000">
                                          <p:val>
                                            <p:strVal val="#ppt_w"/>
                                          </p:val>
                                        </p:tav>
                                      </p:tavLst>
                                    </p:anim>
                                    <p:anim calcmode="lin" valueType="num">
                                      <p:cBhvr>
                                        <p:cTn id="16" dur="1000" fill="hold"/>
                                        <p:tgtEl>
                                          <p:spTgt spid="8195">
                                            <p:txEl>
                                              <p:pRg st="0" end="0"/>
                                            </p:txEl>
                                          </p:spTgt>
                                        </p:tgtEl>
                                        <p:attrNameLst>
                                          <p:attrName>ppt_h</p:attrName>
                                        </p:attrNameLst>
                                      </p:cBhvr>
                                      <p:tavLst>
                                        <p:tav tm="0">
                                          <p:val>
                                            <p:fltVal val="0"/>
                                          </p:val>
                                        </p:tav>
                                        <p:tav tm="100000">
                                          <p:val>
                                            <p:strVal val="#ppt_h"/>
                                          </p:val>
                                        </p:tav>
                                      </p:tavLst>
                                    </p:anim>
                                    <p:anim calcmode="lin" valueType="num">
                                      <p:cBhvr>
                                        <p:cTn id="17" dur="1000" fill="hold"/>
                                        <p:tgtEl>
                                          <p:spTgt spid="8195">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8195">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nodeType="clickEffect">
                                  <p:stCondLst>
                                    <p:cond delay="0"/>
                                  </p:stCondLst>
                                  <p:childTnLst>
                                    <p:set>
                                      <p:cBhvr>
                                        <p:cTn id="22" dur="1" fill="hold">
                                          <p:stCondLst>
                                            <p:cond delay="0"/>
                                          </p:stCondLst>
                                        </p:cTn>
                                        <p:tgtEl>
                                          <p:spTgt spid="8195">
                                            <p:txEl>
                                              <p:pRg st="1" end="1"/>
                                            </p:txEl>
                                          </p:spTgt>
                                        </p:tgtEl>
                                        <p:attrNameLst>
                                          <p:attrName>style.visibility</p:attrName>
                                        </p:attrNameLst>
                                      </p:cBhvr>
                                      <p:to>
                                        <p:strVal val="visible"/>
                                      </p:to>
                                    </p:set>
                                    <p:anim calcmode="lin" valueType="num">
                                      <p:cBhvr>
                                        <p:cTn id="23" dur="1000" fill="hold"/>
                                        <p:tgtEl>
                                          <p:spTgt spid="8195">
                                            <p:txEl>
                                              <p:pRg st="1" end="1"/>
                                            </p:txEl>
                                          </p:spTgt>
                                        </p:tgtEl>
                                        <p:attrNameLst>
                                          <p:attrName>ppt_w</p:attrName>
                                        </p:attrNameLst>
                                      </p:cBhvr>
                                      <p:tavLst>
                                        <p:tav tm="0">
                                          <p:val>
                                            <p:fltVal val="0"/>
                                          </p:val>
                                        </p:tav>
                                        <p:tav tm="100000">
                                          <p:val>
                                            <p:strVal val="#ppt_w"/>
                                          </p:val>
                                        </p:tav>
                                      </p:tavLst>
                                    </p:anim>
                                    <p:anim calcmode="lin" valueType="num">
                                      <p:cBhvr>
                                        <p:cTn id="24" dur="1000" fill="hold"/>
                                        <p:tgtEl>
                                          <p:spTgt spid="8195">
                                            <p:txEl>
                                              <p:pRg st="1" end="1"/>
                                            </p:txEl>
                                          </p:spTgt>
                                        </p:tgtEl>
                                        <p:attrNameLst>
                                          <p:attrName>ppt_h</p:attrName>
                                        </p:attrNameLst>
                                      </p:cBhvr>
                                      <p:tavLst>
                                        <p:tav tm="0">
                                          <p:val>
                                            <p:fltVal val="0"/>
                                          </p:val>
                                        </p:tav>
                                        <p:tav tm="100000">
                                          <p:val>
                                            <p:strVal val="#ppt_h"/>
                                          </p:val>
                                        </p:tav>
                                      </p:tavLst>
                                    </p:anim>
                                    <p:anim calcmode="lin" valueType="num">
                                      <p:cBhvr>
                                        <p:cTn id="25" dur="1000" fill="hold"/>
                                        <p:tgtEl>
                                          <p:spTgt spid="8195">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8195">
                                            <p:txEl>
                                              <p:pRg st="1" end="1"/>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p:stCondLst>
                        <p:cond delay="indefinite"/>
                      </p:stCondLst>
                      <p:childTnLst>
                        <p:par>
                          <p:cTn id="28" fill="hold">
                            <p:stCondLst>
                              <p:cond delay="0"/>
                            </p:stCondLst>
                            <p:childTnLst>
                              <p:par>
                                <p:cTn id="29" presetID="15" presetClass="entr" presetSubtype="0" fill="hold" nodeType="clickEffect">
                                  <p:stCondLst>
                                    <p:cond delay="0"/>
                                  </p:stCondLst>
                                  <p:childTnLst>
                                    <p:set>
                                      <p:cBhvr>
                                        <p:cTn id="30" dur="1" fill="hold">
                                          <p:stCondLst>
                                            <p:cond delay="0"/>
                                          </p:stCondLst>
                                        </p:cTn>
                                        <p:tgtEl>
                                          <p:spTgt spid="8195">
                                            <p:txEl>
                                              <p:pRg st="2" end="2"/>
                                            </p:txEl>
                                          </p:spTgt>
                                        </p:tgtEl>
                                        <p:attrNameLst>
                                          <p:attrName>style.visibility</p:attrName>
                                        </p:attrNameLst>
                                      </p:cBhvr>
                                      <p:to>
                                        <p:strVal val="visible"/>
                                      </p:to>
                                    </p:set>
                                    <p:anim calcmode="lin" valueType="num">
                                      <p:cBhvr>
                                        <p:cTn id="31" dur="1000" fill="hold"/>
                                        <p:tgtEl>
                                          <p:spTgt spid="8195">
                                            <p:txEl>
                                              <p:pRg st="2" end="2"/>
                                            </p:txEl>
                                          </p:spTgt>
                                        </p:tgtEl>
                                        <p:attrNameLst>
                                          <p:attrName>ppt_w</p:attrName>
                                        </p:attrNameLst>
                                      </p:cBhvr>
                                      <p:tavLst>
                                        <p:tav tm="0">
                                          <p:val>
                                            <p:fltVal val="0"/>
                                          </p:val>
                                        </p:tav>
                                        <p:tav tm="100000">
                                          <p:val>
                                            <p:strVal val="#ppt_w"/>
                                          </p:val>
                                        </p:tav>
                                      </p:tavLst>
                                    </p:anim>
                                    <p:anim calcmode="lin" valueType="num">
                                      <p:cBhvr>
                                        <p:cTn id="32" dur="1000" fill="hold"/>
                                        <p:tgtEl>
                                          <p:spTgt spid="8195">
                                            <p:txEl>
                                              <p:pRg st="2" end="2"/>
                                            </p:txEl>
                                          </p:spTgt>
                                        </p:tgtEl>
                                        <p:attrNameLst>
                                          <p:attrName>ppt_h</p:attrName>
                                        </p:attrNameLst>
                                      </p:cBhvr>
                                      <p:tavLst>
                                        <p:tav tm="0">
                                          <p:val>
                                            <p:fltVal val="0"/>
                                          </p:val>
                                        </p:tav>
                                        <p:tav tm="100000">
                                          <p:val>
                                            <p:strVal val="#ppt_h"/>
                                          </p:val>
                                        </p:tav>
                                      </p:tavLst>
                                    </p:anim>
                                    <p:anim calcmode="lin" valueType="num">
                                      <p:cBhvr>
                                        <p:cTn id="33" dur="1000" fill="hold"/>
                                        <p:tgtEl>
                                          <p:spTgt spid="8195">
                                            <p:txEl>
                                              <p:pRg st="2" end="2"/>
                                            </p:txEl>
                                          </p:spTgt>
                                        </p:tgtEl>
                                        <p:attrNameLst>
                                          <p:attrName>ppt_x</p:attrName>
                                        </p:attrNameLst>
                                      </p:cBhvr>
                                      <p:tavLst>
                                        <p:tav tm="0" fmla="#ppt_x+(cos(-2*pi*(1-$))*-#ppt_x-sin(-2*pi*(1-$))*(1-#ppt_y))*(1-$)">
                                          <p:val>
                                            <p:fltVal val="0"/>
                                          </p:val>
                                        </p:tav>
                                        <p:tav tm="100000">
                                          <p:val>
                                            <p:fltVal val="1"/>
                                          </p:val>
                                        </p:tav>
                                      </p:tavLst>
                                    </p:anim>
                                    <p:anim calcmode="lin" valueType="num">
                                      <p:cBhvr>
                                        <p:cTn id="34" dur="1000" fill="hold"/>
                                        <p:tgtEl>
                                          <p:spTgt spid="8195">
                                            <p:txEl>
                                              <p:pRg st="2" end="2"/>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5" fill="hold">
                      <p:stCondLst>
                        <p:cond delay="indefinite"/>
                      </p:stCondLst>
                      <p:childTnLst>
                        <p:par>
                          <p:cTn id="36" fill="hold">
                            <p:stCondLst>
                              <p:cond delay="0"/>
                            </p:stCondLst>
                            <p:childTnLst>
                              <p:par>
                                <p:cTn id="37" presetID="15" presetClass="entr" presetSubtype="0" fill="hold" nodeType="clickEffect">
                                  <p:stCondLst>
                                    <p:cond delay="0"/>
                                  </p:stCondLst>
                                  <p:childTnLst>
                                    <p:set>
                                      <p:cBhvr>
                                        <p:cTn id="38" dur="1" fill="hold">
                                          <p:stCondLst>
                                            <p:cond delay="0"/>
                                          </p:stCondLst>
                                        </p:cTn>
                                        <p:tgtEl>
                                          <p:spTgt spid="8195">
                                            <p:txEl>
                                              <p:pRg st="3" end="3"/>
                                            </p:txEl>
                                          </p:spTgt>
                                        </p:tgtEl>
                                        <p:attrNameLst>
                                          <p:attrName>style.visibility</p:attrName>
                                        </p:attrNameLst>
                                      </p:cBhvr>
                                      <p:to>
                                        <p:strVal val="visible"/>
                                      </p:to>
                                    </p:set>
                                    <p:anim calcmode="lin" valueType="num">
                                      <p:cBhvr>
                                        <p:cTn id="39" dur="1000" fill="hold"/>
                                        <p:tgtEl>
                                          <p:spTgt spid="8195">
                                            <p:txEl>
                                              <p:pRg st="3" end="3"/>
                                            </p:txEl>
                                          </p:spTgt>
                                        </p:tgtEl>
                                        <p:attrNameLst>
                                          <p:attrName>ppt_w</p:attrName>
                                        </p:attrNameLst>
                                      </p:cBhvr>
                                      <p:tavLst>
                                        <p:tav tm="0">
                                          <p:val>
                                            <p:fltVal val="0"/>
                                          </p:val>
                                        </p:tav>
                                        <p:tav tm="100000">
                                          <p:val>
                                            <p:strVal val="#ppt_w"/>
                                          </p:val>
                                        </p:tav>
                                      </p:tavLst>
                                    </p:anim>
                                    <p:anim calcmode="lin" valueType="num">
                                      <p:cBhvr>
                                        <p:cTn id="40" dur="1000" fill="hold"/>
                                        <p:tgtEl>
                                          <p:spTgt spid="8195">
                                            <p:txEl>
                                              <p:pRg st="3" end="3"/>
                                            </p:txEl>
                                          </p:spTgt>
                                        </p:tgtEl>
                                        <p:attrNameLst>
                                          <p:attrName>ppt_h</p:attrName>
                                        </p:attrNameLst>
                                      </p:cBhvr>
                                      <p:tavLst>
                                        <p:tav tm="0">
                                          <p:val>
                                            <p:fltVal val="0"/>
                                          </p:val>
                                        </p:tav>
                                        <p:tav tm="100000">
                                          <p:val>
                                            <p:strVal val="#ppt_h"/>
                                          </p:val>
                                        </p:tav>
                                      </p:tavLst>
                                    </p:anim>
                                    <p:anim calcmode="lin" valueType="num">
                                      <p:cBhvr>
                                        <p:cTn id="41" dur="1000" fill="hold"/>
                                        <p:tgtEl>
                                          <p:spTgt spid="8195">
                                            <p:txEl>
                                              <p:pRg st="3" end="3"/>
                                            </p:txEl>
                                          </p:spTgt>
                                        </p:tgtEl>
                                        <p:attrNameLst>
                                          <p:attrName>ppt_x</p:attrName>
                                        </p:attrNameLst>
                                      </p:cBhvr>
                                      <p:tavLst>
                                        <p:tav tm="0" fmla="#ppt_x+(cos(-2*pi*(1-$))*-#ppt_x-sin(-2*pi*(1-$))*(1-#ppt_y))*(1-$)">
                                          <p:val>
                                            <p:fltVal val="0"/>
                                          </p:val>
                                        </p:tav>
                                        <p:tav tm="100000">
                                          <p:val>
                                            <p:fltVal val="1"/>
                                          </p:val>
                                        </p:tav>
                                      </p:tavLst>
                                    </p:anim>
                                    <p:anim calcmode="lin" valueType="num">
                                      <p:cBhvr>
                                        <p:cTn id="42" dur="1000" fill="hold"/>
                                        <p:tgtEl>
                                          <p:spTgt spid="8195">
                                            <p:txEl>
                                              <p:pRg st="3" end="3"/>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3" fill="hold">
                      <p:stCondLst>
                        <p:cond delay="indefinite"/>
                      </p:stCondLst>
                      <p:childTnLst>
                        <p:par>
                          <p:cTn id="44" fill="hold">
                            <p:stCondLst>
                              <p:cond delay="0"/>
                            </p:stCondLst>
                            <p:childTnLst>
                              <p:par>
                                <p:cTn id="45" presetID="15" presetClass="entr" presetSubtype="0" fill="hold" nodeType="clickEffect">
                                  <p:stCondLst>
                                    <p:cond delay="0"/>
                                  </p:stCondLst>
                                  <p:childTnLst>
                                    <p:set>
                                      <p:cBhvr>
                                        <p:cTn id="46" dur="1" fill="hold">
                                          <p:stCondLst>
                                            <p:cond delay="0"/>
                                          </p:stCondLst>
                                        </p:cTn>
                                        <p:tgtEl>
                                          <p:spTgt spid="8195">
                                            <p:txEl>
                                              <p:pRg st="4" end="4"/>
                                            </p:txEl>
                                          </p:spTgt>
                                        </p:tgtEl>
                                        <p:attrNameLst>
                                          <p:attrName>style.visibility</p:attrName>
                                        </p:attrNameLst>
                                      </p:cBhvr>
                                      <p:to>
                                        <p:strVal val="visible"/>
                                      </p:to>
                                    </p:set>
                                    <p:anim calcmode="lin" valueType="num">
                                      <p:cBhvr>
                                        <p:cTn id="47" dur="1000" fill="hold"/>
                                        <p:tgtEl>
                                          <p:spTgt spid="8195">
                                            <p:txEl>
                                              <p:pRg st="4" end="4"/>
                                            </p:txEl>
                                          </p:spTgt>
                                        </p:tgtEl>
                                        <p:attrNameLst>
                                          <p:attrName>ppt_w</p:attrName>
                                        </p:attrNameLst>
                                      </p:cBhvr>
                                      <p:tavLst>
                                        <p:tav tm="0">
                                          <p:val>
                                            <p:fltVal val="0"/>
                                          </p:val>
                                        </p:tav>
                                        <p:tav tm="100000">
                                          <p:val>
                                            <p:strVal val="#ppt_w"/>
                                          </p:val>
                                        </p:tav>
                                      </p:tavLst>
                                    </p:anim>
                                    <p:anim calcmode="lin" valueType="num">
                                      <p:cBhvr>
                                        <p:cTn id="48" dur="1000" fill="hold"/>
                                        <p:tgtEl>
                                          <p:spTgt spid="8195">
                                            <p:txEl>
                                              <p:pRg st="4" end="4"/>
                                            </p:txEl>
                                          </p:spTgt>
                                        </p:tgtEl>
                                        <p:attrNameLst>
                                          <p:attrName>ppt_h</p:attrName>
                                        </p:attrNameLst>
                                      </p:cBhvr>
                                      <p:tavLst>
                                        <p:tav tm="0">
                                          <p:val>
                                            <p:fltVal val="0"/>
                                          </p:val>
                                        </p:tav>
                                        <p:tav tm="100000">
                                          <p:val>
                                            <p:strVal val="#ppt_h"/>
                                          </p:val>
                                        </p:tav>
                                      </p:tavLst>
                                    </p:anim>
                                    <p:anim calcmode="lin" valueType="num">
                                      <p:cBhvr>
                                        <p:cTn id="49" dur="1000" fill="hold"/>
                                        <p:tgtEl>
                                          <p:spTgt spid="8195">
                                            <p:txEl>
                                              <p:pRg st="4" end="4"/>
                                            </p:txEl>
                                          </p:spTgt>
                                        </p:tgtEl>
                                        <p:attrNameLst>
                                          <p:attrName>ppt_x</p:attrName>
                                        </p:attrNameLst>
                                      </p:cBhvr>
                                      <p:tavLst>
                                        <p:tav tm="0" fmla="#ppt_x+(cos(-2*pi*(1-$))*-#ppt_x-sin(-2*pi*(1-$))*(1-#ppt_y))*(1-$)">
                                          <p:val>
                                            <p:fltVal val="0"/>
                                          </p:val>
                                        </p:tav>
                                        <p:tav tm="100000">
                                          <p:val>
                                            <p:fltVal val="1"/>
                                          </p:val>
                                        </p:tav>
                                      </p:tavLst>
                                    </p:anim>
                                    <p:anim calcmode="lin" valueType="num">
                                      <p:cBhvr>
                                        <p:cTn id="50" dur="1000" fill="hold"/>
                                        <p:tgtEl>
                                          <p:spTgt spid="8195">
                                            <p:txEl>
                                              <p:pRg st="4" end="4"/>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1" fill="hold">
                      <p:stCondLst>
                        <p:cond delay="indefinite"/>
                      </p:stCondLst>
                      <p:childTnLst>
                        <p:par>
                          <p:cTn id="52" fill="hold">
                            <p:stCondLst>
                              <p:cond delay="0"/>
                            </p:stCondLst>
                            <p:childTnLst>
                              <p:par>
                                <p:cTn id="53" presetID="15" presetClass="entr" presetSubtype="0" fill="hold" nodeType="clickEffect">
                                  <p:stCondLst>
                                    <p:cond delay="0"/>
                                  </p:stCondLst>
                                  <p:childTnLst>
                                    <p:set>
                                      <p:cBhvr>
                                        <p:cTn id="54" dur="1" fill="hold">
                                          <p:stCondLst>
                                            <p:cond delay="0"/>
                                          </p:stCondLst>
                                        </p:cTn>
                                        <p:tgtEl>
                                          <p:spTgt spid="8195">
                                            <p:txEl>
                                              <p:pRg st="5" end="5"/>
                                            </p:txEl>
                                          </p:spTgt>
                                        </p:tgtEl>
                                        <p:attrNameLst>
                                          <p:attrName>style.visibility</p:attrName>
                                        </p:attrNameLst>
                                      </p:cBhvr>
                                      <p:to>
                                        <p:strVal val="visible"/>
                                      </p:to>
                                    </p:set>
                                    <p:anim calcmode="lin" valueType="num">
                                      <p:cBhvr>
                                        <p:cTn id="55" dur="1000" fill="hold"/>
                                        <p:tgtEl>
                                          <p:spTgt spid="8195">
                                            <p:txEl>
                                              <p:pRg st="5" end="5"/>
                                            </p:txEl>
                                          </p:spTgt>
                                        </p:tgtEl>
                                        <p:attrNameLst>
                                          <p:attrName>ppt_w</p:attrName>
                                        </p:attrNameLst>
                                      </p:cBhvr>
                                      <p:tavLst>
                                        <p:tav tm="0">
                                          <p:val>
                                            <p:fltVal val="0"/>
                                          </p:val>
                                        </p:tav>
                                        <p:tav tm="100000">
                                          <p:val>
                                            <p:strVal val="#ppt_w"/>
                                          </p:val>
                                        </p:tav>
                                      </p:tavLst>
                                    </p:anim>
                                    <p:anim calcmode="lin" valueType="num">
                                      <p:cBhvr>
                                        <p:cTn id="56" dur="1000" fill="hold"/>
                                        <p:tgtEl>
                                          <p:spTgt spid="8195">
                                            <p:txEl>
                                              <p:pRg st="5" end="5"/>
                                            </p:txEl>
                                          </p:spTgt>
                                        </p:tgtEl>
                                        <p:attrNameLst>
                                          <p:attrName>ppt_h</p:attrName>
                                        </p:attrNameLst>
                                      </p:cBhvr>
                                      <p:tavLst>
                                        <p:tav tm="0">
                                          <p:val>
                                            <p:fltVal val="0"/>
                                          </p:val>
                                        </p:tav>
                                        <p:tav tm="100000">
                                          <p:val>
                                            <p:strVal val="#ppt_h"/>
                                          </p:val>
                                        </p:tav>
                                      </p:tavLst>
                                    </p:anim>
                                    <p:anim calcmode="lin" valueType="num">
                                      <p:cBhvr>
                                        <p:cTn id="57" dur="1000" fill="hold"/>
                                        <p:tgtEl>
                                          <p:spTgt spid="8195">
                                            <p:txEl>
                                              <p:pRg st="5" end="5"/>
                                            </p:txEl>
                                          </p:spTgt>
                                        </p:tgtEl>
                                        <p:attrNameLst>
                                          <p:attrName>ppt_x</p:attrName>
                                        </p:attrNameLst>
                                      </p:cBhvr>
                                      <p:tavLst>
                                        <p:tav tm="0" fmla="#ppt_x+(cos(-2*pi*(1-$))*-#ppt_x-sin(-2*pi*(1-$))*(1-#ppt_y))*(1-$)">
                                          <p:val>
                                            <p:fltVal val="0"/>
                                          </p:val>
                                        </p:tav>
                                        <p:tav tm="100000">
                                          <p:val>
                                            <p:fltVal val="1"/>
                                          </p:val>
                                        </p:tav>
                                      </p:tavLst>
                                    </p:anim>
                                    <p:anim calcmode="lin" valueType="num">
                                      <p:cBhvr>
                                        <p:cTn id="58" dur="1000" fill="hold"/>
                                        <p:tgtEl>
                                          <p:spTgt spid="8195">
                                            <p:txEl>
                                              <p:pRg st="5" end="5"/>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9" fill="hold">
                      <p:stCondLst>
                        <p:cond delay="indefinite"/>
                      </p:stCondLst>
                      <p:childTnLst>
                        <p:par>
                          <p:cTn id="60" fill="hold">
                            <p:stCondLst>
                              <p:cond delay="0"/>
                            </p:stCondLst>
                            <p:childTnLst>
                              <p:par>
                                <p:cTn id="61" presetID="15" presetClass="entr" presetSubtype="0" fill="hold" nodeType="clickEffect">
                                  <p:stCondLst>
                                    <p:cond delay="0"/>
                                  </p:stCondLst>
                                  <p:childTnLst>
                                    <p:set>
                                      <p:cBhvr>
                                        <p:cTn id="62" dur="1" fill="hold">
                                          <p:stCondLst>
                                            <p:cond delay="0"/>
                                          </p:stCondLst>
                                        </p:cTn>
                                        <p:tgtEl>
                                          <p:spTgt spid="8195">
                                            <p:txEl>
                                              <p:pRg st="6" end="6"/>
                                            </p:txEl>
                                          </p:spTgt>
                                        </p:tgtEl>
                                        <p:attrNameLst>
                                          <p:attrName>style.visibility</p:attrName>
                                        </p:attrNameLst>
                                      </p:cBhvr>
                                      <p:to>
                                        <p:strVal val="visible"/>
                                      </p:to>
                                    </p:set>
                                    <p:anim calcmode="lin" valueType="num">
                                      <p:cBhvr>
                                        <p:cTn id="63" dur="1000" fill="hold"/>
                                        <p:tgtEl>
                                          <p:spTgt spid="8195">
                                            <p:txEl>
                                              <p:pRg st="6" end="6"/>
                                            </p:txEl>
                                          </p:spTgt>
                                        </p:tgtEl>
                                        <p:attrNameLst>
                                          <p:attrName>ppt_w</p:attrName>
                                        </p:attrNameLst>
                                      </p:cBhvr>
                                      <p:tavLst>
                                        <p:tav tm="0">
                                          <p:val>
                                            <p:fltVal val="0"/>
                                          </p:val>
                                        </p:tav>
                                        <p:tav tm="100000">
                                          <p:val>
                                            <p:strVal val="#ppt_w"/>
                                          </p:val>
                                        </p:tav>
                                      </p:tavLst>
                                    </p:anim>
                                    <p:anim calcmode="lin" valueType="num">
                                      <p:cBhvr>
                                        <p:cTn id="64" dur="1000" fill="hold"/>
                                        <p:tgtEl>
                                          <p:spTgt spid="8195">
                                            <p:txEl>
                                              <p:pRg st="6" end="6"/>
                                            </p:txEl>
                                          </p:spTgt>
                                        </p:tgtEl>
                                        <p:attrNameLst>
                                          <p:attrName>ppt_h</p:attrName>
                                        </p:attrNameLst>
                                      </p:cBhvr>
                                      <p:tavLst>
                                        <p:tav tm="0">
                                          <p:val>
                                            <p:fltVal val="0"/>
                                          </p:val>
                                        </p:tav>
                                        <p:tav tm="100000">
                                          <p:val>
                                            <p:strVal val="#ppt_h"/>
                                          </p:val>
                                        </p:tav>
                                      </p:tavLst>
                                    </p:anim>
                                    <p:anim calcmode="lin" valueType="num">
                                      <p:cBhvr>
                                        <p:cTn id="65" dur="1000" fill="hold"/>
                                        <p:tgtEl>
                                          <p:spTgt spid="8195">
                                            <p:txEl>
                                              <p:pRg st="6" end="6"/>
                                            </p:txEl>
                                          </p:spTgt>
                                        </p:tgtEl>
                                        <p:attrNameLst>
                                          <p:attrName>ppt_x</p:attrName>
                                        </p:attrNameLst>
                                      </p:cBhvr>
                                      <p:tavLst>
                                        <p:tav tm="0" fmla="#ppt_x+(cos(-2*pi*(1-$))*-#ppt_x-sin(-2*pi*(1-$))*(1-#ppt_y))*(1-$)">
                                          <p:val>
                                            <p:fltVal val="0"/>
                                          </p:val>
                                        </p:tav>
                                        <p:tav tm="100000">
                                          <p:val>
                                            <p:fltVal val="1"/>
                                          </p:val>
                                        </p:tav>
                                      </p:tavLst>
                                    </p:anim>
                                    <p:anim calcmode="lin" valueType="num">
                                      <p:cBhvr>
                                        <p:cTn id="66" dur="1000" fill="hold"/>
                                        <p:tgtEl>
                                          <p:spTgt spid="8195">
                                            <p:txEl>
                                              <p:pRg st="6" end="6"/>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latin typeface="Constantia" pitchFamily="18" charset="0"/>
              </a:rPr>
              <a:t>(Cont.)</a:t>
            </a:r>
            <a:endParaRPr lang="en-US" dirty="0">
              <a:latin typeface="Constantia" pitchFamily="18" charset="0"/>
            </a:endParaRPr>
          </a:p>
        </p:txBody>
      </p:sp>
      <p:sp>
        <p:nvSpPr>
          <p:cNvPr id="3" name="Content Placeholder 2"/>
          <p:cNvSpPr>
            <a:spLocks noGrp="1"/>
          </p:cNvSpPr>
          <p:nvPr>
            <p:ph idx="1"/>
          </p:nvPr>
        </p:nvSpPr>
        <p:spPr/>
        <p:txBody>
          <a:bodyPr>
            <a:normAutofit/>
          </a:bodyPr>
          <a:lstStyle/>
          <a:p>
            <a:r>
              <a:rPr lang="en-US" sz="2800" dirty="0" smtClean="0">
                <a:latin typeface="Constantia" pitchFamily="18" charset="0"/>
              </a:rPr>
              <a:t>No barriers to entry or exit.</a:t>
            </a:r>
          </a:p>
          <a:p>
            <a:r>
              <a:rPr lang="en-US" sz="2800" dirty="0" smtClean="0">
                <a:latin typeface="Constantia" pitchFamily="18" charset="0"/>
              </a:rPr>
              <a:t>Independent production decisions – modest changes in the output or price of any single firm will have no big effects on the sales of other firms.</a:t>
            </a:r>
          </a:p>
          <a:p>
            <a:r>
              <a:rPr lang="en-US" sz="2800" b="1" i="1" dirty="0" smtClean="0">
                <a:latin typeface="Constantia" pitchFamily="18" charset="0"/>
              </a:rPr>
              <a:t>Product differentiation </a:t>
            </a:r>
            <a:r>
              <a:rPr lang="en-US" sz="2800" dirty="0" smtClean="0">
                <a:latin typeface="Constantia" pitchFamily="18" charset="0"/>
              </a:rPr>
              <a:t>– this is one of the most notable features of monopolistically competitive behavior. Each firm makes a product that is slightly different from the products of competing firms.</a:t>
            </a:r>
          </a:p>
        </p:txBody>
      </p:sp>
      <p:sp>
        <p:nvSpPr>
          <p:cNvPr id="4" name="Slide Number Placeholder 3"/>
          <p:cNvSpPr>
            <a:spLocks noGrp="1"/>
          </p:cNvSpPr>
          <p:nvPr>
            <p:ph type="sldNum" sz="quarter" idx="12"/>
          </p:nvPr>
        </p:nvSpPr>
        <p:spPr/>
        <p:txBody>
          <a:bodyPr/>
          <a:lstStyle/>
          <a:p>
            <a:fld id="{777C09F0-9059-4089-99E3-25D541D86FAB}" type="slidenum">
              <a:rPr lang="en-US" smtClean="0"/>
              <a:pPr/>
              <a:t>13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3">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3">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 calcmode="lin" valueType="num">
                                      <p:cBhvr>
                                        <p:cTn id="15"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3">
                                            <p:txEl>
                                              <p:pRg st="1" end="1"/>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p:cTn id="23"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4"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5" dur="1000" fill="hold"/>
                                        <p:tgtEl>
                                          <p:spTgt spid="3">
                                            <p:txEl>
                                              <p:pRg st="2" end="2"/>
                                            </p:txEl>
                                          </p:spTgt>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3">
                                            <p:txEl>
                                              <p:pRg st="2" end="2"/>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normAutofit/>
          </a:bodyPr>
          <a:lstStyle/>
          <a:p>
            <a:pPr algn="l"/>
            <a:r>
              <a:rPr lang="en-US" sz="4800" dirty="0" smtClean="0">
                <a:latin typeface="Constantia" pitchFamily="18" charset="0"/>
              </a:rPr>
              <a:t>(Cont.)</a:t>
            </a:r>
            <a:endParaRPr lang="en-US" sz="4800" dirty="0">
              <a:latin typeface="Constantia" pitchFamily="18" charset="0"/>
            </a:endParaRPr>
          </a:p>
        </p:txBody>
      </p:sp>
      <p:sp>
        <p:nvSpPr>
          <p:cNvPr id="9219" name="Rectangle 3"/>
          <p:cNvSpPr>
            <a:spLocks noGrp="1" noChangeArrowheads="1"/>
          </p:cNvSpPr>
          <p:nvPr>
            <p:ph idx="1"/>
          </p:nvPr>
        </p:nvSpPr>
        <p:spPr/>
        <p:txBody>
          <a:bodyPr>
            <a:normAutofit/>
          </a:bodyPr>
          <a:lstStyle/>
          <a:p>
            <a:r>
              <a:rPr lang="en-US" sz="2800" dirty="0" smtClean="0">
                <a:latin typeface="Constantia" pitchFamily="18" charset="0"/>
              </a:rPr>
              <a:t>Downward sloping demand curve (but flatter than the curve facing a monopolist because of the existence of substitutes). An </a:t>
            </a:r>
            <a:r>
              <a:rPr lang="en-US" sz="2800" dirty="0">
                <a:latin typeface="Constantia" pitchFamily="18" charset="0"/>
              </a:rPr>
              <a:t>attempt to increase price will normally </a:t>
            </a:r>
            <a:r>
              <a:rPr lang="en-US" sz="2800" dirty="0" smtClean="0">
                <a:latin typeface="Constantia" pitchFamily="18" charset="0"/>
              </a:rPr>
              <a:t>result </a:t>
            </a:r>
            <a:r>
              <a:rPr lang="en-US" sz="2800" dirty="0">
                <a:latin typeface="Constantia" pitchFamily="18" charset="0"/>
              </a:rPr>
              <a:t>in a lower </a:t>
            </a:r>
            <a:r>
              <a:rPr lang="en-US" sz="2800" dirty="0" smtClean="0">
                <a:latin typeface="Constantia" pitchFamily="18" charset="0"/>
              </a:rPr>
              <a:t> volume sold.</a:t>
            </a:r>
            <a:endParaRPr lang="en-US" sz="2800" dirty="0">
              <a:latin typeface="Constantia" pitchFamily="18" charset="0"/>
            </a:endParaRPr>
          </a:p>
          <a:p>
            <a:pPr marL="339725" lvl="1" indent="-339725"/>
            <a:r>
              <a:rPr lang="en-US" sz="2800" dirty="0" smtClean="0">
                <a:latin typeface="Constantia" pitchFamily="18" charset="0"/>
              </a:rPr>
              <a:t>Firms compete on the basis of quality (reliability, service provided to buyer , ease of access to product) and marketing (design, promotion, distribution, packaging).</a:t>
            </a:r>
            <a:endParaRPr lang="en-US" sz="2800" dirty="0">
              <a:latin typeface="Constantia" pitchFamily="18" charset="0"/>
            </a:endParaRPr>
          </a:p>
        </p:txBody>
      </p:sp>
      <p:sp>
        <p:nvSpPr>
          <p:cNvPr id="4" name="Slide Number Placeholder 3"/>
          <p:cNvSpPr>
            <a:spLocks noGrp="1"/>
          </p:cNvSpPr>
          <p:nvPr>
            <p:ph type="sldNum" sz="quarter" idx="12"/>
          </p:nvPr>
        </p:nvSpPr>
        <p:spPr/>
        <p:txBody>
          <a:bodyPr/>
          <a:lstStyle/>
          <a:p>
            <a:fld id="{777C09F0-9059-4089-99E3-25D541D86FAB}" type="slidenum">
              <a:rPr lang="en-US" smtClean="0"/>
              <a:pPr/>
              <a:t>14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 calcmode="lin" valueType="num">
                                      <p:cBhvr>
                                        <p:cTn id="7" dur="1000" fill="hold"/>
                                        <p:tgtEl>
                                          <p:spTgt spid="9219">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9219">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9219">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9219">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nodeType="clickEffect">
                                  <p:stCondLst>
                                    <p:cond delay="0"/>
                                  </p:stCondLst>
                                  <p:childTnLst>
                                    <p:set>
                                      <p:cBhvr>
                                        <p:cTn id="14" dur="1" fill="hold">
                                          <p:stCondLst>
                                            <p:cond delay="0"/>
                                          </p:stCondLst>
                                        </p:cTn>
                                        <p:tgtEl>
                                          <p:spTgt spid="9219">
                                            <p:txEl>
                                              <p:pRg st="1" end="1"/>
                                            </p:txEl>
                                          </p:spTgt>
                                        </p:tgtEl>
                                        <p:attrNameLst>
                                          <p:attrName>style.visibility</p:attrName>
                                        </p:attrNameLst>
                                      </p:cBhvr>
                                      <p:to>
                                        <p:strVal val="visible"/>
                                      </p:to>
                                    </p:set>
                                    <p:anim calcmode="lin" valueType="num">
                                      <p:cBhvr>
                                        <p:cTn id="15" dur="1000" fill="hold"/>
                                        <p:tgtEl>
                                          <p:spTgt spid="9219">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9219">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9219">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9219">
                                            <p:txEl>
                                              <p:pRg st="1" end="1"/>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normAutofit/>
          </a:bodyPr>
          <a:lstStyle/>
          <a:p>
            <a:pPr algn="l"/>
            <a:r>
              <a:rPr lang="en-US" sz="4800" u="sng" dirty="0">
                <a:latin typeface="+mn-lt"/>
              </a:rPr>
              <a:t>Product Differentiation</a:t>
            </a:r>
          </a:p>
        </p:txBody>
      </p:sp>
      <p:sp>
        <p:nvSpPr>
          <p:cNvPr id="15363" name="Rectangle 3"/>
          <p:cNvSpPr>
            <a:spLocks noGrp="1" noChangeArrowheads="1"/>
          </p:cNvSpPr>
          <p:nvPr>
            <p:ph idx="1"/>
          </p:nvPr>
        </p:nvSpPr>
        <p:spPr>
          <a:xfrm>
            <a:off x="304800" y="1935480"/>
            <a:ext cx="8382000" cy="4389120"/>
          </a:xfrm>
        </p:spPr>
        <p:txBody>
          <a:bodyPr>
            <a:normAutofit fontScale="92500" lnSpcReduction="10000"/>
          </a:bodyPr>
          <a:lstStyle/>
          <a:p>
            <a:pPr marL="339725" lvl="1" indent="-339725"/>
            <a:r>
              <a:rPr lang="en-US" sz="2800" dirty="0" smtClean="0">
                <a:latin typeface="Constantia" pitchFamily="18" charset="0"/>
              </a:rPr>
              <a:t>Products are close substitutes but not perfect substitutes.</a:t>
            </a:r>
            <a:endParaRPr lang="en-US" sz="2800" dirty="0">
              <a:latin typeface="Constantia" pitchFamily="18" charset="0"/>
            </a:endParaRPr>
          </a:p>
          <a:p>
            <a:r>
              <a:rPr lang="en-US" sz="2800" dirty="0">
                <a:latin typeface="Constantia" pitchFamily="18" charset="0"/>
              </a:rPr>
              <a:t>Product differentiation is </a:t>
            </a:r>
            <a:r>
              <a:rPr lang="en-US" sz="2800" i="1" dirty="0">
                <a:latin typeface="Constantia" pitchFamily="18" charset="0"/>
              </a:rPr>
              <a:t>crucial</a:t>
            </a:r>
            <a:r>
              <a:rPr lang="en-US" sz="2800" dirty="0">
                <a:latin typeface="Constantia" pitchFamily="18" charset="0"/>
              </a:rPr>
              <a:t> to monopolistic </a:t>
            </a:r>
            <a:r>
              <a:rPr lang="en-US" sz="2800" dirty="0" smtClean="0">
                <a:latin typeface="Constantia" pitchFamily="18" charset="0"/>
              </a:rPr>
              <a:t>competition.</a:t>
            </a:r>
            <a:endParaRPr lang="en-US" sz="2800" dirty="0">
              <a:latin typeface="Constantia" pitchFamily="18" charset="0"/>
            </a:endParaRPr>
          </a:p>
          <a:p>
            <a:pPr lvl="1"/>
            <a:r>
              <a:rPr lang="en-US" dirty="0">
                <a:latin typeface="Constantia" pitchFamily="18" charset="0"/>
              </a:rPr>
              <a:t>People value variety, even if it is not material (real</a:t>
            </a:r>
            <a:r>
              <a:rPr lang="en-US" dirty="0" smtClean="0">
                <a:latin typeface="Constantia" pitchFamily="18" charset="0"/>
              </a:rPr>
              <a:t>).</a:t>
            </a:r>
          </a:p>
          <a:p>
            <a:pPr lvl="1"/>
            <a:r>
              <a:rPr lang="en-US" dirty="0" smtClean="0">
                <a:latin typeface="Constantia" pitchFamily="18" charset="0"/>
              </a:rPr>
              <a:t>Firms differentiate products to establish a </a:t>
            </a:r>
            <a:r>
              <a:rPr lang="en-US" u="sng" dirty="0" smtClean="0">
                <a:latin typeface="Constantia" pitchFamily="18" charset="0"/>
              </a:rPr>
              <a:t>brand  image.</a:t>
            </a:r>
            <a:r>
              <a:rPr lang="en-US" dirty="0" smtClean="0">
                <a:latin typeface="Constantia" pitchFamily="18" charset="0"/>
              </a:rPr>
              <a:t> Each firm has a distinct identity – a </a:t>
            </a:r>
            <a:r>
              <a:rPr lang="en-US" i="1" dirty="0" smtClean="0">
                <a:latin typeface="Constantia" pitchFamily="18" charset="0"/>
              </a:rPr>
              <a:t>brand image</a:t>
            </a:r>
            <a:r>
              <a:rPr lang="en-US" dirty="0" smtClean="0">
                <a:latin typeface="Constantia" pitchFamily="18" charset="0"/>
              </a:rPr>
              <a:t>. Consumers perceive its output to be somewhat different  than others in the industry. Brands tend to capture in a single name all the values a firm wants to impress upon the buyer.</a:t>
            </a:r>
          </a:p>
          <a:p>
            <a:endParaRPr lang="en-US" sz="2800" dirty="0">
              <a:latin typeface="Constantia" pitchFamily="18" charset="0"/>
            </a:endParaRPr>
          </a:p>
        </p:txBody>
      </p:sp>
      <p:sp>
        <p:nvSpPr>
          <p:cNvPr id="4" name="Slide Number Placeholder 3"/>
          <p:cNvSpPr>
            <a:spLocks noGrp="1"/>
          </p:cNvSpPr>
          <p:nvPr>
            <p:ph type="sldNum" sz="quarter" idx="12"/>
          </p:nvPr>
        </p:nvSpPr>
        <p:spPr/>
        <p:txBody>
          <a:bodyPr/>
          <a:lstStyle/>
          <a:p>
            <a:fld id="{777C09F0-9059-4089-99E3-25D541D86FAB}" type="slidenum">
              <a:rPr lang="en-US" smtClean="0"/>
              <a:pPr/>
              <a:t>15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15362"/>
                                        </p:tgtEl>
                                        <p:attrNameLst>
                                          <p:attrName>style.visibility</p:attrName>
                                        </p:attrNameLst>
                                      </p:cBhvr>
                                      <p:to>
                                        <p:strVal val="visible"/>
                                      </p:to>
                                    </p:set>
                                    <p:anim calcmode="lin" valueType="num">
                                      <p:cBhvr>
                                        <p:cTn id="7" dur="1000" fill="hold"/>
                                        <p:tgtEl>
                                          <p:spTgt spid="15362"/>
                                        </p:tgtEl>
                                        <p:attrNameLst>
                                          <p:attrName>ppt_w</p:attrName>
                                        </p:attrNameLst>
                                      </p:cBhvr>
                                      <p:tavLst>
                                        <p:tav tm="0">
                                          <p:val>
                                            <p:fltVal val="0"/>
                                          </p:val>
                                        </p:tav>
                                        <p:tav tm="100000">
                                          <p:val>
                                            <p:strVal val="#ppt_w"/>
                                          </p:val>
                                        </p:tav>
                                      </p:tavLst>
                                    </p:anim>
                                    <p:anim calcmode="lin" valueType="num">
                                      <p:cBhvr>
                                        <p:cTn id="8" dur="1000" fill="hold"/>
                                        <p:tgtEl>
                                          <p:spTgt spid="15362"/>
                                        </p:tgtEl>
                                        <p:attrNameLst>
                                          <p:attrName>ppt_h</p:attrName>
                                        </p:attrNameLst>
                                      </p:cBhvr>
                                      <p:tavLst>
                                        <p:tav tm="0">
                                          <p:val>
                                            <p:fltVal val="0"/>
                                          </p:val>
                                        </p:tav>
                                        <p:tav tm="100000">
                                          <p:val>
                                            <p:strVal val="#ppt_h"/>
                                          </p:val>
                                        </p:tav>
                                      </p:tavLst>
                                    </p:anim>
                                    <p:anim calcmode="lin" valueType="num">
                                      <p:cBhvr>
                                        <p:cTn id="9" dur="1000" fill="hold"/>
                                        <p:tgtEl>
                                          <p:spTgt spid="15362"/>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536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15363">
                                            <p:txEl>
                                              <p:pRg st="0" end="0"/>
                                            </p:txEl>
                                          </p:spTgt>
                                        </p:tgtEl>
                                        <p:attrNameLst>
                                          <p:attrName>style.visibility</p:attrName>
                                        </p:attrNameLst>
                                      </p:cBhvr>
                                      <p:to>
                                        <p:strVal val="visible"/>
                                      </p:to>
                                    </p:set>
                                    <p:anim calcmode="lin" valueType="num">
                                      <p:cBhvr>
                                        <p:cTn id="15" dur="1000" fill="hold"/>
                                        <p:tgtEl>
                                          <p:spTgt spid="15363">
                                            <p:txEl>
                                              <p:pRg st="0" end="0"/>
                                            </p:txEl>
                                          </p:spTgt>
                                        </p:tgtEl>
                                        <p:attrNameLst>
                                          <p:attrName>ppt_w</p:attrName>
                                        </p:attrNameLst>
                                      </p:cBhvr>
                                      <p:tavLst>
                                        <p:tav tm="0">
                                          <p:val>
                                            <p:fltVal val="0"/>
                                          </p:val>
                                        </p:tav>
                                        <p:tav tm="100000">
                                          <p:val>
                                            <p:strVal val="#ppt_w"/>
                                          </p:val>
                                        </p:tav>
                                      </p:tavLst>
                                    </p:anim>
                                    <p:anim calcmode="lin" valueType="num">
                                      <p:cBhvr>
                                        <p:cTn id="16" dur="1000" fill="hold"/>
                                        <p:tgtEl>
                                          <p:spTgt spid="15363">
                                            <p:txEl>
                                              <p:pRg st="0" end="0"/>
                                            </p:txEl>
                                          </p:spTgt>
                                        </p:tgtEl>
                                        <p:attrNameLst>
                                          <p:attrName>ppt_h</p:attrName>
                                        </p:attrNameLst>
                                      </p:cBhvr>
                                      <p:tavLst>
                                        <p:tav tm="0">
                                          <p:val>
                                            <p:fltVal val="0"/>
                                          </p:val>
                                        </p:tav>
                                        <p:tav tm="100000">
                                          <p:val>
                                            <p:strVal val="#ppt_h"/>
                                          </p:val>
                                        </p:tav>
                                      </p:tavLst>
                                    </p:anim>
                                    <p:anim calcmode="lin" valueType="num">
                                      <p:cBhvr>
                                        <p:cTn id="17" dur="1000" fill="hold"/>
                                        <p:tgtEl>
                                          <p:spTgt spid="15363">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15363">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15363">
                                            <p:txEl>
                                              <p:pRg st="1" end="1"/>
                                            </p:txEl>
                                          </p:spTgt>
                                        </p:tgtEl>
                                        <p:attrNameLst>
                                          <p:attrName>style.visibility</p:attrName>
                                        </p:attrNameLst>
                                      </p:cBhvr>
                                      <p:to>
                                        <p:strVal val="visible"/>
                                      </p:to>
                                    </p:set>
                                    <p:anim calcmode="lin" valueType="num">
                                      <p:cBhvr>
                                        <p:cTn id="23" dur="1000" fill="hold"/>
                                        <p:tgtEl>
                                          <p:spTgt spid="15363">
                                            <p:txEl>
                                              <p:pRg st="1" end="1"/>
                                            </p:txEl>
                                          </p:spTgt>
                                        </p:tgtEl>
                                        <p:attrNameLst>
                                          <p:attrName>ppt_w</p:attrName>
                                        </p:attrNameLst>
                                      </p:cBhvr>
                                      <p:tavLst>
                                        <p:tav tm="0">
                                          <p:val>
                                            <p:fltVal val="0"/>
                                          </p:val>
                                        </p:tav>
                                        <p:tav tm="100000">
                                          <p:val>
                                            <p:strVal val="#ppt_w"/>
                                          </p:val>
                                        </p:tav>
                                      </p:tavLst>
                                    </p:anim>
                                    <p:anim calcmode="lin" valueType="num">
                                      <p:cBhvr>
                                        <p:cTn id="24" dur="1000" fill="hold"/>
                                        <p:tgtEl>
                                          <p:spTgt spid="15363">
                                            <p:txEl>
                                              <p:pRg st="1" end="1"/>
                                            </p:txEl>
                                          </p:spTgt>
                                        </p:tgtEl>
                                        <p:attrNameLst>
                                          <p:attrName>ppt_h</p:attrName>
                                        </p:attrNameLst>
                                      </p:cBhvr>
                                      <p:tavLst>
                                        <p:tav tm="0">
                                          <p:val>
                                            <p:fltVal val="0"/>
                                          </p:val>
                                        </p:tav>
                                        <p:tav tm="100000">
                                          <p:val>
                                            <p:strVal val="#ppt_h"/>
                                          </p:val>
                                        </p:tav>
                                      </p:tavLst>
                                    </p:anim>
                                    <p:anim calcmode="lin" valueType="num">
                                      <p:cBhvr>
                                        <p:cTn id="25" dur="1000" fill="hold"/>
                                        <p:tgtEl>
                                          <p:spTgt spid="15363">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15363">
                                            <p:txEl>
                                              <p:pRg st="1" end="1"/>
                                            </p:txEl>
                                          </p:spTgt>
                                        </p:tgtEl>
                                        <p:attrNameLst>
                                          <p:attrName>ppt_y</p:attrName>
                                        </p:attrNameLst>
                                      </p:cBhvr>
                                      <p:tavLst>
                                        <p:tav tm="0" fmla="#ppt_y+(sin(-2*pi*(1-$))*-#ppt_x+cos(-2*pi*(1-$))*(1-#ppt_y))*(1-$)">
                                          <p:val>
                                            <p:fltVal val="0"/>
                                          </p:val>
                                        </p:tav>
                                        <p:tav tm="100000">
                                          <p:val>
                                            <p:fltVal val="1"/>
                                          </p:val>
                                        </p:tav>
                                      </p:tavLst>
                                    </p:anim>
                                  </p:childTnLst>
                                </p:cTn>
                              </p:par>
                              <p:par>
                                <p:cTn id="27" presetID="15" presetClass="entr" presetSubtype="0" fill="hold" grpId="0" nodeType="withEffect">
                                  <p:stCondLst>
                                    <p:cond delay="0"/>
                                  </p:stCondLst>
                                  <p:childTnLst>
                                    <p:set>
                                      <p:cBhvr>
                                        <p:cTn id="28" dur="1" fill="hold">
                                          <p:stCondLst>
                                            <p:cond delay="0"/>
                                          </p:stCondLst>
                                        </p:cTn>
                                        <p:tgtEl>
                                          <p:spTgt spid="15363">
                                            <p:txEl>
                                              <p:pRg st="2" end="2"/>
                                            </p:txEl>
                                          </p:spTgt>
                                        </p:tgtEl>
                                        <p:attrNameLst>
                                          <p:attrName>style.visibility</p:attrName>
                                        </p:attrNameLst>
                                      </p:cBhvr>
                                      <p:to>
                                        <p:strVal val="visible"/>
                                      </p:to>
                                    </p:set>
                                    <p:anim calcmode="lin" valueType="num">
                                      <p:cBhvr>
                                        <p:cTn id="29" dur="1000" fill="hold"/>
                                        <p:tgtEl>
                                          <p:spTgt spid="15363">
                                            <p:txEl>
                                              <p:pRg st="2" end="2"/>
                                            </p:txEl>
                                          </p:spTgt>
                                        </p:tgtEl>
                                        <p:attrNameLst>
                                          <p:attrName>ppt_w</p:attrName>
                                        </p:attrNameLst>
                                      </p:cBhvr>
                                      <p:tavLst>
                                        <p:tav tm="0">
                                          <p:val>
                                            <p:fltVal val="0"/>
                                          </p:val>
                                        </p:tav>
                                        <p:tav tm="100000">
                                          <p:val>
                                            <p:strVal val="#ppt_w"/>
                                          </p:val>
                                        </p:tav>
                                      </p:tavLst>
                                    </p:anim>
                                    <p:anim calcmode="lin" valueType="num">
                                      <p:cBhvr>
                                        <p:cTn id="30" dur="1000" fill="hold"/>
                                        <p:tgtEl>
                                          <p:spTgt spid="15363">
                                            <p:txEl>
                                              <p:pRg st="2" end="2"/>
                                            </p:txEl>
                                          </p:spTgt>
                                        </p:tgtEl>
                                        <p:attrNameLst>
                                          <p:attrName>ppt_h</p:attrName>
                                        </p:attrNameLst>
                                      </p:cBhvr>
                                      <p:tavLst>
                                        <p:tav tm="0">
                                          <p:val>
                                            <p:fltVal val="0"/>
                                          </p:val>
                                        </p:tav>
                                        <p:tav tm="100000">
                                          <p:val>
                                            <p:strVal val="#ppt_h"/>
                                          </p:val>
                                        </p:tav>
                                      </p:tavLst>
                                    </p:anim>
                                    <p:anim calcmode="lin" valueType="num">
                                      <p:cBhvr>
                                        <p:cTn id="31" dur="1000" fill="hold"/>
                                        <p:tgtEl>
                                          <p:spTgt spid="15363">
                                            <p:txEl>
                                              <p:pRg st="2" end="2"/>
                                            </p:txEl>
                                          </p:spTgt>
                                        </p:tgtEl>
                                        <p:attrNameLst>
                                          <p:attrName>ppt_x</p:attrName>
                                        </p:attrNameLst>
                                      </p:cBhvr>
                                      <p:tavLst>
                                        <p:tav tm="0" fmla="#ppt_x+(cos(-2*pi*(1-$))*-#ppt_x-sin(-2*pi*(1-$))*(1-#ppt_y))*(1-$)">
                                          <p:val>
                                            <p:fltVal val="0"/>
                                          </p:val>
                                        </p:tav>
                                        <p:tav tm="100000">
                                          <p:val>
                                            <p:fltVal val="1"/>
                                          </p:val>
                                        </p:tav>
                                      </p:tavLst>
                                    </p:anim>
                                    <p:anim calcmode="lin" valueType="num">
                                      <p:cBhvr>
                                        <p:cTn id="32" dur="1000" fill="hold"/>
                                        <p:tgtEl>
                                          <p:spTgt spid="15363">
                                            <p:txEl>
                                              <p:pRg st="2" end="2"/>
                                            </p:txEl>
                                          </p:spTgt>
                                        </p:tgtEl>
                                        <p:attrNameLst>
                                          <p:attrName>ppt_y</p:attrName>
                                        </p:attrNameLst>
                                      </p:cBhvr>
                                      <p:tavLst>
                                        <p:tav tm="0" fmla="#ppt_y+(sin(-2*pi*(1-$))*-#ppt_x+cos(-2*pi*(1-$))*(1-#ppt_y))*(1-$)">
                                          <p:val>
                                            <p:fltVal val="0"/>
                                          </p:val>
                                        </p:tav>
                                        <p:tav tm="100000">
                                          <p:val>
                                            <p:fltVal val="1"/>
                                          </p:val>
                                        </p:tav>
                                      </p:tavLst>
                                    </p:anim>
                                  </p:childTnLst>
                                </p:cTn>
                              </p:par>
                              <p:par>
                                <p:cTn id="33" presetID="15" presetClass="entr" presetSubtype="0" fill="hold" grpId="0" nodeType="withEffect">
                                  <p:stCondLst>
                                    <p:cond delay="0"/>
                                  </p:stCondLst>
                                  <p:childTnLst>
                                    <p:set>
                                      <p:cBhvr>
                                        <p:cTn id="34" dur="1" fill="hold">
                                          <p:stCondLst>
                                            <p:cond delay="0"/>
                                          </p:stCondLst>
                                        </p:cTn>
                                        <p:tgtEl>
                                          <p:spTgt spid="15363">
                                            <p:txEl>
                                              <p:pRg st="3" end="3"/>
                                            </p:txEl>
                                          </p:spTgt>
                                        </p:tgtEl>
                                        <p:attrNameLst>
                                          <p:attrName>style.visibility</p:attrName>
                                        </p:attrNameLst>
                                      </p:cBhvr>
                                      <p:to>
                                        <p:strVal val="visible"/>
                                      </p:to>
                                    </p:set>
                                    <p:anim calcmode="lin" valueType="num">
                                      <p:cBhvr>
                                        <p:cTn id="35" dur="1000" fill="hold"/>
                                        <p:tgtEl>
                                          <p:spTgt spid="15363">
                                            <p:txEl>
                                              <p:pRg st="3" end="3"/>
                                            </p:txEl>
                                          </p:spTgt>
                                        </p:tgtEl>
                                        <p:attrNameLst>
                                          <p:attrName>ppt_w</p:attrName>
                                        </p:attrNameLst>
                                      </p:cBhvr>
                                      <p:tavLst>
                                        <p:tav tm="0">
                                          <p:val>
                                            <p:fltVal val="0"/>
                                          </p:val>
                                        </p:tav>
                                        <p:tav tm="100000">
                                          <p:val>
                                            <p:strVal val="#ppt_w"/>
                                          </p:val>
                                        </p:tav>
                                      </p:tavLst>
                                    </p:anim>
                                    <p:anim calcmode="lin" valueType="num">
                                      <p:cBhvr>
                                        <p:cTn id="36" dur="1000" fill="hold"/>
                                        <p:tgtEl>
                                          <p:spTgt spid="15363">
                                            <p:txEl>
                                              <p:pRg st="3" end="3"/>
                                            </p:txEl>
                                          </p:spTgt>
                                        </p:tgtEl>
                                        <p:attrNameLst>
                                          <p:attrName>ppt_h</p:attrName>
                                        </p:attrNameLst>
                                      </p:cBhvr>
                                      <p:tavLst>
                                        <p:tav tm="0">
                                          <p:val>
                                            <p:fltVal val="0"/>
                                          </p:val>
                                        </p:tav>
                                        <p:tav tm="100000">
                                          <p:val>
                                            <p:strVal val="#ppt_h"/>
                                          </p:val>
                                        </p:tav>
                                      </p:tavLst>
                                    </p:anim>
                                    <p:anim calcmode="lin" valueType="num">
                                      <p:cBhvr>
                                        <p:cTn id="37" dur="1000" fill="hold"/>
                                        <p:tgtEl>
                                          <p:spTgt spid="15363">
                                            <p:txEl>
                                              <p:pRg st="3" end="3"/>
                                            </p:txEl>
                                          </p:spTgt>
                                        </p:tgtEl>
                                        <p:attrNameLst>
                                          <p:attrName>ppt_x</p:attrName>
                                        </p:attrNameLst>
                                      </p:cBhvr>
                                      <p:tavLst>
                                        <p:tav tm="0" fmla="#ppt_x+(cos(-2*pi*(1-$))*-#ppt_x-sin(-2*pi*(1-$))*(1-#ppt_y))*(1-$)">
                                          <p:val>
                                            <p:fltVal val="0"/>
                                          </p:val>
                                        </p:tav>
                                        <p:tav tm="100000">
                                          <p:val>
                                            <p:fltVal val="1"/>
                                          </p:val>
                                        </p:tav>
                                      </p:tavLst>
                                    </p:anim>
                                    <p:anim calcmode="lin" valueType="num">
                                      <p:cBhvr>
                                        <p:cTn id="38" dur="1000" fill="hold"/>
                                        <p:tgtEl>
                                          <p:spTgt spid="15363">
                                            <p:txEl>
                                              <p:pRg st="3" end="3"/>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P spid="1536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latin typeface="Constantia" pitchFamily="18" charset="0"/>
              </a:rPr>
              <a:t>(Cont.)</a:t>
            </a:r>
            <a:endParaRPr lang="en-US" dirty="0">
              <a:latin typeface="Constantia" pitchFamily="18" charset="0"/>
            </a:endParaRPr>
          </a:p>
        </p:txBody>
      </p:sp>
      <p:sp>
        <p:nvSpPr>
          <p:cNvPr id="3" name="Content Placeholder 2"/>
          <p:cNvSpPr>
            <a:spLocks noGrp="1"/>
          </p:cNvSpPr>
          <p:nvPr>
            <p:ph idx="1"/>
          </p:nvPr>
        </p:nvSpPr>
        <p:spPr/>
        <p:txBody>
          <a:bodyPr/>
          <a:lstStyle/>
          <a:p>
            <a:pPr marL="548640" lvl="2" indent="-274320">
              <a:buClr>
                <a:schemeClr val="accent3"/>
              </a:buClr>
              <a:buSzPct val="95000"/>
            </a:pPr>
            <a:r>
              <a:rPr lang="en-US" sz="2500" u="sng" dirty="0" smtClean="0">
                <a:latin typeface="Constantia" pitchFamily="18" charset="0"/>
              </a:rPr>
              <a:t>Brand loyalty:</a:t>
            </a:r>
            <a:r>
              <a:rPr lang="en-US" sz="2500" dirty="0" smtClean="0">
                <a:latin typeface="Constantia" pitchFamily="18" charset="0"/>
              </a:rPr>
              <a:t> By differentiating their products, monopolistic competitors establish brand loyalty. </a:t>
            </a:r>
          </a:p>
          <a:p>
            <a:pPr marL="548640" lvl="2" indent="-274320">
              <a:buClr>
                <a:schemeClr val="accent3"/>
              </a:buClr>
              <a:buSzPct val="95000"/>
            </a:pPr>
            <a:r>
              <a:rPr lang="en-US" sz="2400" dirty="0" smtClean="0">
                <a:latin typeface="Constantia" pitchFamily="18" charset="0"/>
              </a:rPr>
              <a:t>Brand loyalty gives producers greater control over the price of their products. </a:t>
            </a:r>
          </a:p>
          <a:p>
            <a:pPr marL="548640" lvl="2" indent="-274320">
              <a:buClr>
                <a:schemeClr val="accent3"/>
              </a:buClr>
              <a:buSzPct val="95000"/>
            </a:pPr>
            <a:r>
              <a:rPr lang="en-US" sz="2400" dirty="0" smtClean="0">
                <a:latin typeface="Constantia" pitchFamily="18" charset="0"/>
              </a:rPr>
              <a:t>Each firm has a monopoly only on its brand image. </a:t>
            </a:r>
          </a:p>
          <a:p>
            <a:pPr marL="548640" lvl="2" indent="-274320">
              <a:buClr>
                <a:schemeClr val="accent3"/>
              </a:buClr>
              <a:buSzPct val="95000"/>
            </a:pPr>
            <a:r>
              <a:rPr lang="en-US" sz="2400" dirty="0" smtClean="0">
                <a:latin typeface="Constantia" pitchFamily="18" charset="0"/>
              </a:rPr>
              <a:t>Brand loyalty makes the demand curve facing the firm less price-elastic.</a:t>
            </a:r>
          </a:p>
          <a:p>
            <a:pPr marL="548640" lvl="2" indent="-274320">
              <a:buClr>
                <a:schemeClr val="accent3"/>
              </a:buClr>
              <a:buSzPct val="95000"/>
            </a:pPr>
            <a:r>
              <a:rPr lang="en-US" sz="2400" dirty="0" smtClean="0">
                <a:latin typeface="Constantia" pitchFamily="18" charset="0"/>
              </a:rPr>
              <a:t> A symptom of brand loyalty is the price differences between computers which are essentially the same.</a:t>
            </a:r>
          </a:p>
          <a:p>
            <a:endParaRPr lang="en-US" dirty="0">
              <a:latin typeface="Constantia" pitchFamily="18" charset="0"/>
            </a:endParaRPr>
          </a:p>
        </p:txBody>
      </p:sp>
      <p:sp>
        <p:nvSpPr>
          <p:cNvPr id="4" name="Slide Number Placeholder 3"/>
          <p:cNvSpPr>
            <a:spLocks noGrp="1"/>
          </p:cNvSpPr>
          <p:nvPr>
            <p:ph type="sldNum" sz="quarter" idx="12"/>
          </p:nvPr>
        </p:nvSpPr>
        <p:spPr/>
        <p:txBody>
          <a:bodyPr/>
          <a:lstStyle/>
          <a:p>
            <a:fld id="{777C09F0-9059-4089-99E3-25D541D86FAB}" type="slidenum">
              <a:rPr lang="en-US" smtClean="0"/>
              <a:pPr/>
              <a:t>16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3">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3">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 calcmode="lin" valueType="num">
                                      <p:cBhvr>
                                        <p:cTn id="15"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3">
                                            <p:txEl>
                                              <p:pRg st="1" end="1"/>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p:cTn id="23"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4"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5" dur="1000" fill="hold"/>
                                        <p:tgtEl>
                                          <p:spTgt spid="3">
                                            <p:txEl>
                                              <p:pRg st="2" end="2"/>
                                            </p:txEl>
                                          </p:spTgt>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3">
                                            <p:txEl>
                                              <p:pRg st="2" end="2"/>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p:stCondLst>
                        <p:cond delay="indefinite"/>
                      </p:stCondLst>
                      <p:childTnLst>
                        <p:par>
                          <p:cTn id="28" fill="hold">
                            <p:stCondLst>
                              <p:cond delay="0"/>
                            </p:stCondLst>
                            <p:childTnLst>
                              <p:par>
                                <p:cTn id="29" presetID="15" presetClass="entr" presetSubtype="0"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p:cTn id="31" dur="1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32" dur="1000" fill="hold"/>
                                        <p:tgtEl>
                                          <p:spTgt spid="3">
                                            <p:txEl>
                                              <p:pRg st="3" end="3"/>
                                            </p:txEl>
                                          </p:spTgt>
                                        </p:tgtEl>
                                        <p:attrNameLst>
                                          <p:attrName>ppt_h</p:attrName>
                                        </p:attrNameLst>
                                      </p:cBhvr>
                                      <p:tavLst>
                                        <p:tav tm="0">
                                          <p:val>
                                            <p:fltVal val="0"/>
                                          </p:val>
                                        </p:tav>
                                        <p:tav tm="100000">
                                          <p:val>
                                            <p:strVal val="#ppt_h"/>
                                          </p:val>
                                        </p:tav>
                                      </p:tavLst>
                                    </p:anim>
                                    <p:anim calcmode="lin" valueType="num">
                                      <p:cBhvr>
                                        <p:cTn id="33" dur="1000" fill="hold"/>
                                        <p:tgtEl>
                                          <p:spTgt spid="3">
                                            <p:txEl>
                                              <p:pRg st="3" end="3"/>
                                            </p:txEl>
                                          </p:spTgt>
                                        </p:tgtEl>
                                        <p:attrNameLst>
                                          <p:attrName>ppt_x</p:attrName>
                                        </p:attrNameLst>
                                      </p:cBhvr>
                                      <p:tavLst>
                                        <p:tav tm="0" fmla="#ppt_x+(cos(-2*pi*(1-$))*-#ppt_x-sin(-2*pi*(1-$))*(1-#ppt_y))*(1-$)">
                                          <p:val>
                                            <p:fltVal val="0"/>
                                          </p:val>
                                        </p:tav>
                                        <p:tav tm="100000">
                                          <p:val>
                                            <p:fltVal val="1"/>
                                          </p:val>
                                        </p:tav>
                                      </p:tavLst>
                                    </p:anim>
                                    <p:anim calcmode="lin" valueType="num">
                                      <p:cBhvr>
                                        <p:cTn id="34" dur="1000" fill="hold"/>
                                        <p:tgtEl>
                                          <p:spTgt spid="3">
                                            <p:txEl>
                                              <p:pRg st="3" end="3"/>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5" fill="hold">
                      <p:stCondLst>
                        <p:cond delay="indefinite"/>
                      </p:stCondLst>
                      <p:childTnLst>
                        <p:par>
                          <p:cTn id="36" fill="hold">
                            <p:stCondLst>
                              <p:cond delay="0"/>
                            </p:stCondLst>
                            <p:childTnLst>
                              <p:par>
                                <p:cTn id="37" presetID="15" presetClass="entr" presetSubtype="0" fill="hold" nodeType="click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anim calcmode="lin" valueType="num">
                                      <p:cBhvr>
                                        <p:cTn id="39" dur="1000" fill="hold"/>
                                        <p:tgtEl>
                                          <p:spTgt spid="3">
                                            <p:txEl>
                                              <p:pRg st="4" end="4"/>
                                            </p:txEl>
                                          </p:spTgt>
                                        </p:tgtEl>
                                        <p:attrNameLst>
                                          <p:attrName>ppt_w</p:attrName>
                                        </p:attrNameLst>
                                      </p:cBhvr>
                                      <p:tavLst>
                                        <p:tav tm="0">
                                          <p:val>
                                            <p:fltVal val="0"/>
                                          </p:val>
                                        </p:tav>
                                        <p:tav tm="100000">
                                          <p:val>
                                            <p:strVal val="#ppt_w"/>
                                          </p:val>
                                        </p:tav>
                                      </p:tavLst>
                                    </p:anim>
                                    <p:anim calcmode="lin" valueType="num">
                                      <p:cBhvr>
                                        <p:cTn id="40" dur="1000" fill="hold"/>
                                        <p:tgtEl>
                                          <p:spTgt spid="3">
                                            <p:txEl>
                                              <p:pRg st="4" end="4"/>
                                            </p:txEl>
                                          </p:spTgt>
                                        </p:tgtEl>
                                        <p:attrNameLst>
                                          <p:attrName>ppt_h</p:attrName>
                                        </p:attrNameLst>
                                      </p:cBhvr>
                                      <p:tavLst>
                                        <p:tav tm="0">
                                          <p:val>
                                            <p:fltVal val="0"/>
                                          </p:val>
                                        </p:tav>
                                        <p:tav tm="100000">
                                          <p:val>
                                            <p:strVal val="#ppt_h"/>
                                          </p:val>
                                        </p:tav>
                                      </p:tavLst>
                                    </p:anim>
                                    <p:anim calcmode="lin" valueType="num">
                                      <p:cBhvr>
                                        <p:cTn id="41" dur="1000" fill="hold"/>
                                        <p:tgtEl>
                                          <p:spTgt spid="3">
                                            <p:txEl>
                                              <p:pRg st="4" end="4"/>
                                            </p:txEl>
                                          </p:spTgt>
                                        </p:tgtEl>
                                        <p:attrNameLst>
                                          <p:attrName>ppt_x</p:attrName>
                                        </p:attrNameLst>
                                      </p:cBhvr>
                                      <p:tavLst>
                                        <p:tav tm="0" fmla="#ppt_x+(cos(-2*pi*(1-$))*-#ppt_x-sin(-2*pi*(1-$))*(1-#ppt_y))*(1-$)">
                                          <p:val>
                                            <p:fltVal val="0"/>
                                          </p:val>
                                        </p:tav>
                                        <p:tav tm="100000">
                                          <p:val>
                                            <p:fltVal val="1"/>
                                          </p:val>
                                        </p:tav>
                                      </p:tavLst>
                                    </p:anim>
                                    <p:anim calcmode="lin" valueType="num">
                                      <p:cBhvr>
                                        <p:cTn id="42" dur="1000" fill="hold"/>
                                        <p:tgtEl>
                                          <p:spTgt spid="3">
                                            <p:txEl>
                                              <p:pRg st="4" end="4"/>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latin typeface="Constantia" pitchFamily="18" charset="0"/>
              </a:rPr>
              <a:t>(Cont.)</a:t>
            </a:r>
            <a:endParaRPr lang="en-US" dirty="0">
              <a:latin typeface="Constantia" pitchFamily="18" charset="0"/>
            </a:endParaRPr>
          </a:p>
        </p:txBody>
      </p:sp>
      <p:sp>
        <p:nvSpPr>
          <p:cNvPr id="3" name="Content Placeholder 2"/>
          <p:cNvSpPr>
            <a:spLocks noGrp="1"/>
          </p:cNvSpPr>
          <p:nvPr>
            <p:ph idx="1"/>
          </p:nvPr>
        </p:nvSpPr>
        <p:spPr>
          <a:xfrm>
            <a:off x="457200" y="1295400"/>
            <a:ext cx="8458200" cy="4541520"/>
          </a:xfrm>
        </p:spPr>
        <p:txBody>
          <a:bodyPr>
            <a:noAutofit/>
          </a:bodyPr>
          <a:lstStyle/>
          <a:p>
            <a:pPr>
              <a:buNone/>
            </a:pPr>
            <a:r>
              <a:rPr lang="en-US" sz="2200" u="sng" dirty="0" smtClean="0">
                <a:latin typeface="Constantia" pitchFamily="18" charset="0"/>
              </a:rPr>
              <a:t>Basis for Product Differentiation:</a:t>
            </a:r>
          </a:p>
          <a:p>
            <a:r>
              <a:rPr lang="en-US" sz="2200" dirty="0" smtClean="0">
                <a:latin typeface="Constantia" pitchFamily="18" charset="0"/>
              </a:rPr>
              <a:t>Physical differences (size, shape, ...etc.)</a:t>
            </a:r>
          </a:p>
          <a:p>
            <a:r>
              <a:rPr lang="en-US" sz="2200" dirty="0" smtClean="0">
                <a:latin typeface="Constantia" pitchFamily="18" charset="0"/>
              </a:rPr>
              <a:t>Convenience/location.</a:t>
            </a:r>
          </a:p>
          <a:p>
            <a:r>
              <a:rPr lang="en-US" sz="2200" dirty="0" smtClean="0">
                <a:latin typeface="Constantia" pitchFamily="18" charset="0"/>
              </a:rPr>
              <a:t>Service and support.</a:t>
            </a:r>
          </a:p>
          <a:p>
            <a:r>
              <a:rPr lang="en-US" sz="2200" dirty="0" smtClean="0">
                <a:latin typeface="Constantia" pitchFamily="18" charset="0"/>
              </a:rPr>
              <a:t>Durability.</a:t>
            </a:r>
          </a:p>
          <a:p>
            <a:r>
              <a:rPr lang="en-US" sz="2200" dirty="0" smtClean="0">
                <a:latin typeface="Constantia" pitchFamily="18" charset="0"/>
              </a:rPr>
              <a:t>Performance quality (low, average, high, superior).</a:t>
            </a:r>
          </a:p>
          <a:p>
            <a:r>
              <a:rPr lang="en-US" sz="2200" dirty="0" smtClean="0">
                <a:latin typeface="Constantia" pitchFamily="18" charset="0"/>
              </a:rPr>
              <a:t>Reputation.</a:t>
            </a:r>
          </a:p>
          <a:p>
            <a:r>
              <a:rPr lang="en-US" sz="2200" dirty="0" smtClean="0">
                <a:latin typeface="Constantia" pitchFamily="18" charset="0"/>
              </a:rPr>
              <a:t>Appeal to vanity (egotism/self-importance).</a:t>
            </a:r>
          </a:p>
          <a:p>
            <a:r>
              <a:rPr lang="en-US" sz="2200" dirty="0" smtClean="0">
                <a:latin typeface="Constantia" pitchFamily="18" charset="0"/>
              </a:rPr>
              <a:t>Unconscious fears and desires (allergies, weight, falling hair ....).</a:t>
            </a:r>
          </a:p>
          <a:p>
            <a:r>
              <a:rPr lang="en-US" sz="2200" dirty="0" smtClean="0">
                <a:latin typeface="Constantia" pitchFamily="18" charset="0"/>
              </a:rPr>
              <a:t>Snob appeal.</a:t>
            </a:r>
          </a:p>
          <a:p>
            <a:r>
              <a:rPr lang="en-US" sz="2200" dirty="0" smtClean="0">
                <a:latin typeface="Constantia" pitchFamily="18" charset="0"/>
              </a:rPr>
              <a:t>Customized products.</a:t>
            </a:r>
          </a:p>
          <a:p>
            <a:r>
              <a:rPr lang="en-US" sz="2200" dirty="0" smtClean="0">
                <a:latin typeface="Constantia" pitchFamily="18" charset="0"/>
              </a:rPr>
              <a:t>Distribution channels.</a:t>
            </a:r>
          </a:p>
          <a:p>
            <a:r>
              <a:rPr lang="en-US" sz="2200" dirty="0" smtClean="0">
                <a:latin typeface="Constantia" pitchFamily="18" charset="0"/>
              </a:rPr>
              <a:t>Reparability (ease of fixing).</a:t>
            </a:r>
            <a:endParaRPr lang="en-US" sz="2200" dirty="0">
              <a:latin typeface="Constantia" pitchFamily="18" charset="0"/>
            </a:endParaRPr>
          </a:p>
        </p:txBody>
      </p:sp>
      <p:sp>
        <p:nvSpPr>
          <p:cNvPr id="4" name="Slide Number Placeholder 3"/>
          <p:cNvSpPr>
            <a:spLocks noGrp="1"/>
          </p:cNvSpPr>
          <p:nvPr>
            <p:ph type="sldNum" sz="quarter" idx="12"/>
          </p:nvPr>
        </p:nvSpPr>
        <p:spPr/>
        <p:txBody>
          <a:bodyPr/>
          <a:lstStyle/>
          <a:p>
            <a:fld id="{777C09F0-9059-4089-99E3-25D541D86FAB}" type="slidenum">
              <a:rPr lang="en-US" smtClean="0"/>
              <a:pPr/>
              <a:t>17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3">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3">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 calcmode="lin" valueType="num">
                                      <p:cBhvr>
                                        <p:cTn id="15"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3">
                                            <p:txEl>
                                              <p:pRg st="1" end="1"/>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p:cTn id="23"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4"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5" dur="1000" fill="hold"/>
                                        <p:tgtEl>
                                          <p:spTgt spid="3">
                                            <p:txEl>
                                              <p:pRg st="2" end="2"/>
                                            </p:txEl>
                                          </p:spTgt>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3">
                                            <p:txEl>
                                              <p:pRg st="2" end="2"/>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p:stCondLst>
                        <p:cond delay="indefinite"/>
                      </p:stCondLst>
                      <p:childTnLst>
                        <p:par>
                          <p:cTn id="28" fill="hold">
                            <p:stCondLst>
                              <p:cond delay="0"/>
                            </p:stCondLst>
                            <p:childTnLst>
                              <p:par>
                                <p:cTn id="29" presetID="15" presetClass="entr" presetSubtype="0"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p:cTn id="31" dur="1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32" dur="1000" fill="hold"/>
                                        <p:tgtEl>
                                          <p:spTgt spid="3">
                                            <p:txEl>
                                              <p:pRg st="3" end="3"/>
                                            </p:txEl>
                                          </p:spTgt>
                                        </p:tgtEl>
                                        <p:attrNameLst>
                                          <p:attrName>ppt_h</p:attrName>
                                        </p:attrNameLst>
                                      </p:cBhvr>
                                      <p:tavLst>
                                        <p:tav tm="0">
                                          <p:val>
                                            <p:fltVal val="0"/>
                                          </p:val>
                                        </p:tav>
                                        <p:tav tm="100000">
                                          <p:val>
                                            <p:strVal val="#ppt_h"/>
                                          </p:val>
                                        </p:tav>
                                      </p:tavLst>
                                    </p:anim>
                                    <p:anim calcmode="lin" valueType="num">
                                      <p:cBhvr>
                                        <p:cTn id="33" dur="1000" fill="hold"/>
                                        <p:tgtEl>
                                          <p:spTgt spid="3">
                                            <p:txEl>
                                              <p:pRg st="3" end="3"/>
                                            </p:txEl>
                                          </p:spTgt>
                                        </p:tgtEl>
                                        <p:attrNameLst>
                                          <p:attrName>ppt_x</p:attrName>
                                        </p:attrNameLst>
                                      </p:cBhvr>
                                      <p:tavLst>
                                        <p:tav tm="0" fmla="#ppt_x+(cos(-2*pi*(1-$))*-#ppt_x-sin(-2*pi*(1-$))*(1-#ppt_y))*(1-$)">
                                          <p:val>
                                            <p:fltVal val="0"/>
                                          </p:val>
                                        </p:tav>
                                        <p:tav tm="100000">
                                          <p:val>
                                            <p:fltVal val="1"/>
                                          </p:val>
                                        </p:tav>
                                      </p:tavLst>
                                    </p:anim>
                                    <p:anim calcmode="lin" valueType="num">
                                      <p:cBhvr>
                                        <p:cTn id="34" dur="1000" fill="hold"/>
                                        <p:tgtEl>
                                          <p:spTgt spid="3">
                                            <p:txEl>
                                              <p:pRg st="3" end="3"/>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5" fill="hold">
                      <p:stCondLst>
                        <p:cond delay="indefinite"/>
                      </p:stCondLst>
                      <p:childTnLst>
                        <p:par>
                          <p:cTn id="36" fill="hold">
                            <p:stCondLst>
                              <p:cond delay="0"/>
                            </p:stCondLst>
                            <p:childTnLst>
                              <p:par>
                                <p:cTn id="37" presetID="15" presetClass="entr" presetSubtype="0" fill="hold" grpId="0" nodeType="click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anim calcmode="lin" valueType="num">
                                      <p:cBhvr>
                                        <p:cTn id="39" dur="1000" fill="hold"/>
                                        <p:tgtEl>
                                          <p:spTgt spid="3">
                                            <p:txEl>
                                              <p:pRg st="4" end="4"/>
                                            </p:txEl>
                                          </p:spTgt>
                                        </p:tgtEl>
                                        <p:attrNameLst>
                                          <p:attrName>ppt_w</p:attrName>
                                        </p:attrNameLst>
                                      </p:cBhvr>
                                      <p:tavLst>
                                        <p:tav tm="0">
                                          <p:val>
                                            <p:fltVal val="0"/>
                                          </p:val>
                                        </p:tav>
                                        <p:tav tm="100000">
                                          <p:val>
                                            <p:strVal val="#ppt_w"/>
                                          </p:val>
                                        </p:tav>
                                      </p:tavLst>
                                    </p:anim>
                                    <p:anim calcmode="lin" valueType="num">
                                      <p:cBhvr>
                                        <p:cTn id="40" dur="1000" fill="hold"/>
                                        <p:tgtEl>
                                          <p:spTgt spid="3">
                                            <p:txEl>
                                              <p:pRg st="4" end="4"/>
                                            </p:txEl>
                                          </p:spTgt>
                                        </p:tgtEl>
                                        <p:attrNameLst>
                                          <p:attrName>ppt_h</p:attrName>
                                        </p:attrNameLst>
                                      </p:cBhvr>
                                      <p:tavLst>
                                        <p:tav tm="0">
                                          <p:val>
                                            <p:fltVal val="0"/>
                                          </p:val>
                                        </p:tav>
                                        <p:tav tm="100000">
                                          <p:val>
                                            <p:strVal val="#ppt_h"/>
                                          </p:val>
                                        </p:tav>
                                      </p:tavLst>
                                    </p:anim>
                                    <p:anim calcmode="lin" valueType="num">
                                      <p:cBhvr>
                                        <p:cTn id="41" dur="1000" fill="hold"/>
                                        <p:tgtEl>
                                          <p:spTgt spid="3">
                                            <p:txEl>
                                              <p:pRg st="4" end="4"/>
                                            </p:txEl>
                                          </p:spTgt>
                                        </p:tgtEl>
                                        <p:attrNameLst>
                                          <p:attrName>ppt_x</p:attrName>
                                        </p:attrNameLst>
                                      </p:cBhvr>
                                      <p:tavLst>
                                        <p:tav tm="0" fmla="#ppt_x+(cos(-2*pi*(1-$))*-#ppt_x-sin(-2*pi*(1-$))*(1-#ppt_y))*(1-$)">
                                          <p:val>
                                            <p:fltVal val="0"/>
                                          </p:val>
                                        </p:tav>
                                        <p:tav tm="100000">
                                          <p:val>
                                            <p:fltVal val="1"/>
                                          </p:val>
                                        </p:tav>
                                      </p:tavLst>
                                    </p:anim>
                                    <p:anim calcmode="lin" valueType="num">
                                      <p:cBhvr>
                                        <p:cTn id="42" dur="1000" fill="hold"/>
                                        <p:tgtEl>
                                          <p:spTgt spid="3">
                                            <p:txEl>
                                              <p:pRg st="4" end="4"/>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3" fill="hold">
                      <p:stCondLst>
                        <p:cond delay="indefinite"/>
                      </p:stCondLst>
                      <p:childTnLst>
                        <p:par>
                          <p:cTn id="44" fill="hold">
                            <p:stCondLst>
                              <p:cond delay="0"/>
                            </p:stCondLst>
                            <p:childTnLst>
                              <p:par>
                                <p:cTn id="45" presetID="15" presetClass="entr" presetSubtype="0" fill="hold" grpId="0" nodeType="clickEffect">
                                  <p:stCondLst>
                                    <p:cond delay="0"/>
                                  </p:stCondLst>
                                  <p:childTnLst>
                                    <p:set>
                                      <p:cBhvr>
                                        <p:cTn id="46" dur="1" fill="hold">
                                          <p:stCondLst>
                                            <p:cond delay="0"/>
                                          </p:stCondLst>
                                        </p:cTn>
                                        <p:tgtEl>
                                          <p:spTgt spid="3">
                                            <p:txEl>
                                              <p:pRg st="5" end="5"/>
                                            </p:txEl>
                                          </p:spTgt>
                                        </p:tgtEl>
                                        <p:attrNameLst>
                                          <p:attrName>style.visibility</p:attrName>
                                        </p:attrNameLst>
                                      </p:cBhvr>
                                      <p:to>
                                        <p:strVal val="visible"/>
                                      </p:to>
                                    </p:set>
                                    <p:anim calcmode="lin" valueType="num">
                                      <p:cBhvr>
                                        <p:cTn id="47" dur="1000" fill="hold"/>
                                        <p:tgtEl>
                                          <p:spTgt spid="3">
                                            <p:txEl>
                                              <p:pRg st="5" end="5"/>
                                            </p:txEl>
                                          </p:spTgt>
                                        </p:tgtEl>
                                        <p:attrNameLst>
                                          <p:attrName>ppt_w</p:attrName>
                                        </p:attrNameLst>
                                      </p:cBhvr>
                                      <p:tavLst>
                                        <p:tav tm="0">
                                          <p:val>
                                            <p:fltVal val="0"/>
                                          </p:val>
                                        </p:tav>
                                        <p:tav tm="100000">
                                          <p:val>
                                            <p:strVal val="#ppt_w"/>
                                          </p:val>
                                        </p:tav>
                                      </p:tavLst>
                                    </p:anim>
                                    <p:anim calcmode="lin" valueType="num">
                                      <p:cBhvr>
                                        <p:cTn id="48" dur="1000" fill="hold"/>
                                        <p:tgtEl>
                                          <p:spTgt spid="3">
                                            <p:txEl>
                                              <p:pRg st="5" end="5"/>
                                            </p:txEl>
                                          </p:spTgt>
                                        </p:tgtEl>
                                        <p:attrNameLst>
                                          <p:attrName>ppt_h</p:attrName>
                                        </p:attrNameLst>
                                      </p:cBhvr>
                                      <p:tavLst>
                                        <p:tav tm="0">
                                          <p:val>
                                            <p:fltVal val="0"/>
                                          </p:val>
                                        </p:tav>
                                        <p:tav tm="100000">
                                          <p:val>
                                            <p:strVal val="#ppt_h"/>
                                          </p:val>
                                        </p:tav>
                                      </p:tavLst>
                                    </p:anim>
                                    <p:anim calcmode="lin" valueType="num">
                                      <p:cBhvr>
                                        <p:cTn id="49" dur="1000" fill="hold"/>
                                        <p:tgtEl>
                                          <p:spTgt spid="3">
                                            <p:txEl>
                                              <p:pRg st="5" end="5"/>
                                            </p:txEl>
                                          </p:spTgt>
                                        </p:tgtEl>
                                        <p:attrNameLst>
                                          <p:attrName>ppt_x</p:attrName>
                                        </p:attrNameLst>
                                      </p:cBhvr>
                                      <p:tavLst>
                                        <p:tav tm="0" fmla="#ppt_x+(cos(-2*pi*(1-$))*-#ppt_x-sin(-2*pi*(1-$))*(1-#ppt_y))*(1-$)">
                                          <p:val>
                                            <p:fltVal val="0"/>
                                          </p:val>
                                        </p:tav>
                                        <p:tav tm="100000">
                                          <p:val>
                                            <p:fltVal val="1"/>
                                          </p:val>
                                        </p:tav>
                                      </p:tavLst>
                                    </p:anim>
                                    <p:anim calcmode="lin" valueType="num">
                                      <p:cBhvr>
                                        <p:cTn id="50" dur="1000" fill="hold"/>
                                        <p:tgtEl>
                                          <p:spTgt spid="3">
                                            <p:txEl>
                                              <p:pRg st="5" end="5"/>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1" fill="hold">
                      <p:stCondLst>
                        <p:cond delay="indefinite"/>
                      </p:stCondLst>
                      <p:childTnLst>
                        <p:par>
                          <p:cTn id="52" fill="hold">
                            <p:stCondLst>
                              <p:cond delay="0"/>
                            </p:stCondLst>
                            <p:childTnLst>
                              <p:par>
                                <p:cTn id="53" presetID="15" presetClass="entr" presetSubtype="0" fill="hold" grpId="0" nodeType="clickEffect">
                                  <p:stCondLst>
                                    <p:cond delay="0"/>
                                  </p:stCondLst>
                                  <p:childTnLst>
                                    <p:set>
                                      <p:cBhvr>
                                        <p:cTn id="54" dur="1" fill="hold">
                                          <p:stCondLst>
                                            <p:cond delay="0"/>
                                          </p:stCondLst>
                                        </p:cTn>
                                        <p:tgtEl>
                                          <p:spTgt spid="3">
                                            <p:txEl>
                                              <p:pRg st="6" end="6"/>
                                            </p:txEl>
                                          </p:spTgt>
                                        </p:tgtEl>
                                        <p:attrNameLst>
                                          <p:attrName>style.visibility</p:attrName>
                                        </p:attrNameLst>
                                      </p:cBhvr>
                                      <p:to>
                                        <p:strVal val="visible"/>
                                      </p:to>
                                    </p:set>
                                    <p:anim calcmode="lin" valueType="num">
                                      <p:cBhvr>
                                        <p:cTn id="55" dur="1000" fill="hold"/>
                                        <p:tgtEl>
                                          <p:spTgt spid="3">
                                            <p:txEl>
                                              <p:pRg st="6" end="6"/>
                                            </p:txEl>
                                          </p:spTgt>
                                        </p:tgtEl>
                                        <p:attrNameLst>
                                          <p:attrName>ppt_w</p:attrName>
                                        </p:attrNameLst>
                                      </p:cBhvr>
                                      <p:tavLst>
                                        <p:tav tm="0">
                                          <p:val>
                                            <p:fltVal val="0"/>
                                          </p:val>
                                        </p:tav>
                                        <p:tav tm="100000">
                                          <p:val>
                                            <p:strVal val="#ppt_w"/>
                                          </p:val>
                                        </p:tav>
                                      </p:tavLst>
                                    </p:anim>
                                    <p:anim calcmode="lin" valueType="num">
                                      <p:cBhvr>
                                        <p:cTn id="56" dur="1000" fill="hold"/>
                                        <p:tgtEl>
                                          <p:spTgt spid="3">
                                            <p:txEl>
                                              <p:pRg st="6" end="6"/>
                                            </p:txEl>
                                          </p:spTgt>
                                        </p:tgtEl>
                                        <p:attrNameLst>
                                          <p:attrName>ppt_h</p:attrName>
                                        </p:attrNameLst>
                                      </p:cBhvr>
                                      <p:tavLst>
                                        <p:tav tm="0">
                                          <p:val>
                                            <p:fltVal val="0"/>
                                          </p:val>
                                        </p:tav>
                                        <p:tav tm="100000">
                                          <p:val>
                                            <p:strVal val="#ppt_h"/>
                                          </p:val>
                                        </p:tav>
                                      </p:tavLst>
                                    </p:anim>
                                    <p:anim calcmode="lin" valueType="num">
                                      <p:cBhvr>
                                        <p:cTn id="57" dur="1000" fill="hold"/>
                                        <p:tgtEl>
                                          <p:spTgt spid="3">
                                            <p:txEl>
                                              <p:pRg st="6" end="6"/>
                                            </p:txEl>
                                          </p:spTgt>
                                        </p:tgtEl>
                                        <p:attrNameLst>
                                          <p:attrName>ppt_x</p:attrName>
                                        </p:attrNameLst>
                                      </p:cBhvr>
                                      <p:tavLst>
                                        <p:tav tm="0" fmla="#ppt_x+(cos(-2*pi*(1-$))*-#ppt_x-sin(-2*pi*(1-$))*(1-#ppt_y))*(1-$)">
                                          <p:val>
                                            <p:fltVal val="0"/>
                                          </p:val>
                                        </p:tav>
                                        <p:tav tm="100000">
                                          <p:val>
                                            <p:fltVal val="1"/>
                                          </p:val>
                                        </p:tav>
                                      </p:tavLst>
                                    </p:anim>
                                    <p:anim calcmode="lin" valueType="num">
                                      <p:cBhvr>
                                        <p:cTn id="58" dur="1000" fill="hold"/>
                                        <p:tgtEl>
                                          <p:spTgt spid="3">
                                            <p:txEl>
                                              <p:pRg st="6" end="6"/>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9" fill="hold">
                      <p:stCondLst>
                        <p:cond delay="indefinite"/>
                      </p:stCondLst>
                      <p:childTnLst>
                        <p:par>
                          <p:cTn id="60" fill="hold">
                            <p:stCondLst>
                              <p:cond delay="0"/>
                            </p:stCondLst>
                            <p:childTnLst>
                              <p:par>
                                <p:cTn id="61" presetID="15" presetClass="entr" presetSubtype="0" fill="hold" grpId="0" nodeType="clickEffect">
                                  <p:stCondLst>
                                    <p:cond delay="0"/>
                                  </p:stCondLst>
                                  <p:childTnLst>
                                    <p:set>
                                      <p:cBhvr>
                                        <p:cTn id="62" dur="1" fill="hold">
                                          <p:stCondLst>
                                            <p:cond delay="0"/>
                                          </p:stCondLst>
                                        </p:cTn>
                                        <p:tgtEl>
                                          <p:spTgt spid="3">
                                            <p:txEl>
                                              <p:pRg st="7" end="7"/>
                                            </p:txEl>
                                          </p:spTgt>
                                        </p:tgtEl>
                                        <p:attrNameLst>
                                          <p:attrName>style.visibility</p:attrName>
                                        </p:attrNameLst>
                                      </p:cBhvr>
                                      <p:to>
                                        <p:strVal val="visible"/>
                                      </p:to>
                                    </p:set>
                                    <p:anim calcmode="lin" valueType="num">
                                      <p:cBhvr>
                                        <p:cTn id="63" dur="1000" fill="hold"/>
                                        <p:tgtEl>
                                          <p:spTgt spid="3">
                                            <p:txEl>
                                              <p:pRg st="7" end="7"/>
                                            </p:txEl>
                                          </p:spTgt>
                                        </p:tgtEl>
                                        <p:attrNameLst>
                                          <p:attrName>ppt_w</p:attrName>
                                        </p:attrNameLst>
                                      </p:cBhvr>
                                      <p:tavLst>
                                        <p:tav tm="0">
                                          <p:val>
                                            <p:fltVal val="0"/>
                                          </p:val>
                                        </p:tav>
                                        <p:tav tm="100000">
                                          <p:val>
                                            <p:strVal val="#ppt_w"/>
                                          </p:val>
                                        </p:tav>
                                      </p:tavLst>
                                    </p:anim>
                                    <p:anim calcmode="lin" valueType="num">
                                      <p:cBhvr>
                                        <p:cTn id="64" dur="1000" fill="hold"/>
                                        <p:tgtEl>
                                          <p:spTgt spid="3">
                                            <p:txEl>
                                              <p:pRg st="7" end="7"/>
                                            </p:txEl>
                                          </p:spTgt>
                                        </p:tgtEl>
                                        <p:attrNameLst>
                                          <p:attrName>ppt_h</p:attrName>
                                        </p:attrNameLst>
                                      </p:cBhvr>
                                      <p:tavLst>
                                        <p:tav tm="0">
                                          <p:val>
                                            <p:fltVal val="0"/>
                                          </p:val>
                                        </p:tav>
                                        <p:tav tm="100000">
                                          <p:val>
                                            <p:strVal val="#ppt_h"/>
                                          </p:val>
                                        </p:tav>
                                      </p:tavLst>
                                    </p:anim>
                                    <p:anim calcmode="lin" valueType="num">
                                      <p:cBhvr>
                                        <p:cTn id="65" dur="1000" fill="hold"/>
                                        <p:tgtEl>
                                          <p:spTgt spid="3">
                                            <p:txEl>
                                              <p:pRg st="7" end="7"/>
                                            </p:txEl>
                                          </p:spTgt>
                                        </p:tgtEl>
                                        <p:attrNameLst>
                                          <p:attrName>ppt_x</p:attrName>
                                        </p:attrNameLst>
                                      </p:cBhvr>
                                      <p:tavLst>
                                        <p:tav tm="0" fmla="#ppt_x+(cos(-2*pi*(1-$))*-#ppt_x-sin(-2*pi*(1-$))*(1-#ppt_y))*(1-$)">
                                          <p:val>
                                            <p:fltVal val="0"/>
                                          </p:val>
                                        </p:tav>
                                        <p:tav tm="100000">
                                          <p:val>
                                            <p:fltVal val="1"/>
                                          </p:val>
                                        </p:tav>
                                      </p:tavLst>
                                    </p:anim>
                                    <p:anim calcmode="lin" valueType="num">
                                      <p:cBhvr>
                                        <p:cTn id="66" dur="1000" fill="hold"/>
                                        <p:tgtEl>
                                          <p:spTgt spid="3">
                                            <p:txEl>
                                              <p:pRg st="7" end="7"/>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67" fill="hold">
                      <p:stCondLst>
                        <p:cond delay="indefinite"/>
                      </p:stCondLst>
                      <p:childTnLst>
                        <p:par>
                          <p:cTn id="68" fill="hold">
                            <p:stCondLst>
                              <p:cond delay="0"/>
                            </p:stCondLst>
                            <p:childTnLst>
                              <p:par>
                                <p:cTn id="69" presetID="15" presetClass="entr" presetSubtype="0" fill="hold" grpId="0" nodeType="clickEffect">
                                  <p:stCondLst>
                                    <p:cond delay="0"/>
                                  </p:stCondLst>
                                  <p:childTnLst>
                                    <p:set>
                                      <p:cBhvr>
                                        <p:cTn id="70" dur="1" fill="hold">
                                          <p:stCondLst>
                                            <p:cond delay="0"/>
                                          </p:stCondLst>
                                        </p:cTn>
                                        <p:tgtEl>
                                          <p:spTgt spid="3">
                                            <p:txEl>
                                              <p:pRg st="8" end="8"/>
                                            </p:txEl>
                                          </p:spTgt>
                                        </p:tgtEl>
                                        <p:attrNameLst>
                                          <p:attrName>style.visibility</p:attrName>
                                        </p:attrNameLst>
                                      </p:cBhvr>
                                      <p:to>
                                        <p:strVal val="visible"/>
                                      </p:to>
                                    </p:set>
                                    <p:anim calcmode="lin" valueType="num">
                                      <p:cBhvr>
                                        <p:cTn id="71" dur="1000" fill="hold"/>
                                        <p:tgtEl>
                                          <p:spTgt spid="3">
                                            <p:txEl>
                                              <p:pRg st="8" end="8"/>
                                            </p:txEl>
                                          </p:spTgt>
                                        </p:tgtEl>
                                        <p:attrNameLst>
                                          <p:attrName>ppt_w</p:attrName>
                                        </p:attrNameLst>
                                      </p:cBhvr>
                                      <p:tavLst>
                                        <p:tav tm="0">
                                          <p:val>
                                            <p:fltVal val="0"/>
                                          </p:val>
                                        </p:tav>
                                        <p:tav tm="100000">
                                          <p:val>
                                            <p:strVal val="#ppt_w"/>
                                          </p:val>
                                        </p:tav>
                                      </p:tavLst>
                                    </p:anim>
                                    <p:anim calcmode="lin" valueType="num">
                                      <p:cBhvr>
                                        <p:cTn id="72" dur="1000" fill="hold"/>
                                        <p:tgtEl>
                                          <p:spTgt spid="3">
                                            <p:txEl>
                                              <p:pRg st="8" end="8"/>
                                            </p:txEl>
                                          </p:spTgt>
                                        </p:tgtEl>
                                        <p:attrNameLst>
                                          <p:attrName>ppt_h</p:attrName>
                                        </p:attrNameLst>
                                      </p:cBhvr>
                                      <p:tavLst>
                                        <p:tav tm="0">
                                          <p:val>
                                            <p:fltVal val="0"/>
                                          </p:val>
                                        </p:tav>
                                        <p:tav tm="100000">
                                          <p:val>
                                            <p:strVal val="#ppt_h"/>
                                          </p:val>
                                        </p:tav>
                                      </p:tavLst>
                                    </p:anim>
                                    <p:anim calcmode="lin" valueType="num">
                                      <p:cBhvr>
                                        <p:cTn id="73" dur="1000" fill="hold"/>
                                        <p:tgtEl>
                                          <p:spTgt spid="3">
                                            <p:txEl>
                                              <p:pRg st="8" end="8"/>
                                            </p:txEl>
                                          </p:spTgt>
                                        </p:tgtEl>
                                        <p:attrNameLst>
                                          <p:attrName>ppt_x</p:attrName>
                                        </p:attrNameLst>
                                      </p:cBhvr>
                                      <p:tavLst>
                                        <p:tav tm="0" fmla="#ppt_x+(cos(-2*pi*(1-$))*-#ppt_x-sin(-2*pi*(1-$))*(1-#ppt_y))*(1-$)">
                                          <p:val>
                                            <p:fltVal val="0"/>
                                          </p:val>
                                        </p:tav>
                                        <p:tav tm="100000">
                                          <p:val>
                                            <p:fltVal val="1"/>
                                          </p:val>
                                        </p:tav>
                                      </p:tavLst>
                                    </p:anim>
                                    <p:anim calcmode="lin" valueType="num">
                                      <p:cBhvr>
                                        <p:cTn id="74" dur="1000" fill="hold"/>
                                        <p:tgtEl>
                                          <p:spTgt spid="3">
                                            <p:txEl>
                                              <p:pRg st="8" end="8"/>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75" fill="hold">
                      <p:stCondLst>
                        <p:cond delay="indefinite"/>
                      </p:stCondLst>
                      <p:childTnLst>
                        <p:par>
                          <p:cTn id="76" fill="hold">
                            <p:stCondLst>
                              <p:cond delay="0"/>
                            </p:stCondLst>
                            <p:childTnLst>
                              <p:par>
                                <p:cTn id="77" presetID="15" presetClass="entr" presetSubtype="0" fill="hold" grpId="0" nodeType="clickEffect">
                                  <p:stCondLst>
                                    <p:cond delay="0"/>
                                  </p:stCondLst>
                                  <p:childTnLst>
                                    <p:set>
                                      <p:cBhvr>
                                        <p:cTn id="78" dur="1" fill="hold">
                                          <p:stCondLst>
                                            <p:cond delay="0"/>
                                          </p:stCondLst>
                                        </p:cTn>
                                        <p:tgtEl>
                                          <p:spTgt spid="3">
                                            <p:txEl>
                                              <p:pRg st="9" end="9"/>
                                            </p:txEl>
                                          </p:spTgt>
                                        </p:tgtEl>
                                        <p:attrNameLst>
                                          <p:attrName>style.visibility</p:attrName>
                                        </p:attrNameLst>
                                      </p:cBhvr>
                                      <p:to>
                                        <p:strVal val="visible"/>
                                      </p:to>
                                    </p:set>
                                    <p:anim calcmode="lin" valueType="num">
                                      <p:cBhvr>
                                        <p:cTn id="79" dur="1000" fill="hold"/>
                                        <p:tgtEl>
                                          <p:spTgt spid="3">
                                            <p:txEl>
                                              <p:pRg st="9" end="9"/>
                                            </p:txEl>
                                          </p:spTgt>
                                        </p:tgtEl>
                                        <p:attrNameLst>
                                          <p:attrName>ppt_w</p:attrName>
                                        </p:attrNameLst>
                                      </p:cBhvr>
                                      <p:tavLst>
                                        <p:tav tm="0">
                                          <p:val>
                                            <p:fltVal val="0"/>
                                          </p:val>
                                        </p:tav>
                                        <p:tav tm="100000">
                                          <p:val>
                                            <p:strVal val="#ppt_w"/>
                                          </p:val>
                                        </p:tav>
                                      </p:tavLst>
                                    </p:anim>
                                    <p:anim calcmode="lin" valueType="num">
                                      <p:cBhvr>
                                        <p:cTn id="80" dur="1000" fill="hold"/>
                                        <p:tgtEl>
                                          <p:spTgt spid="3">
                                            <p:txEl>
                                              <p:pRg st="9" end="9"/>
                                            </p:txEl>
                                          </p:spTgt>
                                        </p:tgtEl>
                                        <p:attrNameLst>
                                          <p:attrName>ppt_h</p:attrName>
                                        </p:attrNameLst>
                                      </p:cBhvr>
                                      <p:tavLst>
                                        <p:tav tm="0">
                                          <p:val>
                                            <p:fltVal val="0"/>
                                          </p:val>
                                        </p:tav>
                                        <p:tav tm="100000">
                                          <p:val>
                                            <p:strVal val="#ppt_h"/>
                                          </p:val>
                                        </p:tav>
                                      </p:tavLst>
                                    </p:anim>
                                    <p:anim calcmode="lin" valueType="num">
                                      <p:cBhvr>
                                        <p:cTn id="81" dur="1000" fill="hold"/>
                                        <p:tgtEl>
                                          <p:spTgt spid="3">
                                            <p:txEl>
                                              <p:pRg st="9" end="9"/>
                                            </p:txEl>
                                          </p:spTgt>
                                        </p:tgtEl>
                                        <p:attrNameLst>
                                          <p:attrName>ppt_x</p:attrName>
                                        </p:attrNameLst>
                                      </p:cBhvr>
                                      <p:tavLst>
                                        <p:tav tm="0" fmla="#ppt_x+(cos(-2*pi*(1-$))*-#ppt_x-sin(-2*pi*(1-$))*(1-#ppt_y))*(1-$)">
                                          <p:val>
                                            <p:fltVal val="0"/>
                                          </p:val>
                                        </p:tav>
                                        <p:tav tm="100000">
                                          <p:val>
                                            <p:fltVal val="1"/>
                                          </p:val>
                                        </p:tav>
                                      </p:tavLst>
                                    </p:anim>
                                    <p:anim calcmode="lin" valueType="num">
                                      <p:cBhvr>
                                        <p:cTn id="82" dur="1000" fill="hold"/>
                                        <p:tgtEl>
                                          <p:spTgt spid="3">
                                            <p:txEl>
                                              <p:pRg st="9" end="9"/>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83" fill="hold">
                      <p:stCondLst>
                        <p:cond delay="indefinite"/>
                      </p:stCondLst>
                      <p:childTnLst>
                        <p:par>
                          <p:cTn id="84" fill="hold">
                            <p:stCondLst>
                              <p:cond delay="0"/>
                            </p:stCondLst>
                            <p:childTnLst>
                              <p:par>
                                <p:cTn id="85" presetID="15" presetClass="entr" presetSubtype="0" fill="hold" grpId="0" nodeType="clickEffect">
                                  <p:stCondLst>
                                    <p:cond delay="0"/>
                                  </p:stCondLst>
                                  <p:childTnLst>
                                    <p:set>
                                      <p:cBhvr>
                                        <p:cTn id="86" dur="1" fill="hold">
                                          <p:stCondLst>
                                            <p:cond delay="0"/>
                                          </p:stCondLst>
                                        </p:cTn>
                                        <p:tgtEl>
                                          <p:spTgt spid="3">
                                            <p:txEl>
                                              <p:pRg st="10" end="10"/>
                                            </p:txEl>
                                          </p:spTgt>
                                        </p:tgtEl>
                                        <p:attrNameLst>
                                          <p:attrName>style.visibility</p:attrName>
                                        </p:attrNameLst>
                                      </p:cBhvr>
                                      <p:to>
                                        <p:strVal val="visible"/>
                                      </p:to>
                                    </p:set>
                                    <p:anim calcmode="lin" valueType="num">
                                      <p:cBhvr>
                                        <p:cTn id="87" dur="1000" fill="hold"/>
                                        <p:tgtEl>
                                          <p:spTgt spid="3">
                                            <p:txEl>
                                              <p:pRg st="10" end="10"/>
                                            </p:txEl>
                                          </p:spTgt>
                                        </p:tgtEl>
                                        <p:attrNameLst>
                                          <p:attrName>ppt_w</p:attrName>
                                        </p:attrNameLst>
                                      </p:cBhvr>
                                      <p:tavLst>
                                        <p:tav tm="0">
                                          <p:val>
                                            <p:fltVal val="0"/>
                                          </p:val>
                                        </p:tav>
                                        <p:tav tm="100000">
                                          <p:val>
                                            <p:strVal val="#ppt_w"/>
                                          </p:val>
                                        </p:tav>
                                      </p:tavLst>
                                    </p:anim>
                                    <p:anim calcmode="lin" valueType="num">
                                      <p:cBhvr>
                                        <p:cTn id="88" dur="1000" fill="hold"/>
                                        <p:tgtEl>
                                          <p:spTgt spid="3">
                                            <p:txEl>
                                              <p:pRg st="10" end="10"/>
                                            </p:txEl>
                                          </p:spTgt>
                                        </p:tgtEl>
                                        <p:attrNameLst>
                                          <p:attrName>ppt_h</p:attrName>
                                        </p:attrNameLst>
                                      </p:cBhvr>
                                      <p:tavLst>
                                        <p:tav tm="0">
                                          <p:val>
                                            <p:fltVal val="0"/>
                                          </p:val>
                                        </p:tav>
                                        <p:tav tm="100000">
                                          <p:val>
                                            <p:strVal val="#ppt_h"/>
                                          </p:val>
                                        </p:tav>
                                      </p:tavLst>
                                    </p:anim>
                                    <p:anim calcmode="lin" valueType="num">
                                      <p:cBhvr>
                                        <p:cTn id="89" dur="1000" fill="hold"/>
                                        <p:tgtEl>
                                          <p:spTgt spid="3">
                                            <p:txEl>
                                              <p:pRg st="10" end="10"/>
                                            </p:txEl>
                                          </p:spTgt>
                                        </p:tgtEl>
                                        <p:attrNameLst>
                                          <p:attrName>ppt_x</p:attrName>
                                        </p:attrNameLst>
                                      </p:cBhvr>
                                      <p:tavLst>
                                        <p:tav tm="0" fmla="#ppt_x+(cos(-2*pi*(1-$))*-#ppt_x-sin(-2*pi*(1-$))*(1-#ppt_y))*(1-$)">
                                          <p:val>
                                            <p:fltVal val="0"/>
                                          </p:val>
                                        </p:tav>
                                        <p:tav tm="100000">
                                          <p:val>
                                            <p:fltVal val="1"/>
                                          </p:val>
                                        </p:tav>
                                      </p:tavLst>
                                    </p:anim>
                                    <p:anim calcmode="lin" valueType="num">
                                      <p:cBhvr>
                                        <p:cTn id="90" dur="1000" fill="hold"/>
                                        <p:tgtEl>
                                          <p:spTgt spid="3">
                                            <p:txEl>
                                              <p:pRg st="10" end="1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91" fill="hold">
                      <p:stCondLst>
                        <p:cond delay="indefinite"/>
                      </p:stCondLst>
                      <p:childTnLst>
                        <p:par>
                          <p:cTn id="92" fill="hold">
                            <p:stCondLst>
                              <p:cond delay="0"/>
                            </p:stCondLst>
                            <p:childTnLst>
                              <p:par>
                                <p:cTn id="93" presetID="15" presetClass="entr" presetSubtype="0" fill="hold" grpId="0" nodeType="clickEffect">
                                  <p:stCondLst>
                                    <p:cond delay="0"/>
                                  </p:stCondLst>
                                  <p:childTnLst>
                                    <p:set>
                                      <p:cBhvr>
                                        <p:cTn id="94" dur="1" fill="hold">
                                          <p:stCondLst>
                                            <p:cond delay="0"/>
                                          </p:stCondLst>
                                        </p:cTn>
                                        <p:tgtEl>
                                          <p:spTgt spid="3">
                                            <p:txEl>
                                              <p:pRg st="11" end="11"/>
                                            </p:txEl>
                                          </p:spTgt>
                                        </p:tgtEl>
                                        <p:attrNameLst>
                                          <p:attrName>style.visibility</p:attrName>
                                        </p:attrNameLst>
                                      </p:cBhvr>
                                      <p:to>
                                        <p:strVal val="visible"/>
                                      </p:to>
                                    </p:set>
                                    <p:anim calcmode="lin" valueType="num">
                                      <p:cBhvr>
                                        <p:cTn id="95" dur="1000" fill="hold"/>
                                        <p:tgtEl>
                                          <p:spTgt spid="3">
                                            <p:txEl>
                                              <p:pRg st="11" end="11"/>
                                            </p:txEl>
                                          </p:spTgt>
                                        </p:tgtEl>
                                        <p:attrNameLst>
                                          <p:attrName>ppt_w</p:attrName>
                                        </p:attrNameLst>
                                      </p:cBhvr>
                                      <p:tavLst>
                                        <p:tav tm="0">
                                          <p:val>
                                            <p:fltVal val="0"/>
                                          </p:val>
                                        </p:tav>
                                        <p:tav tm="100000">
                                          <p:val>
                                            <p:strVal val="#ppt_w"/>
                                          </p:val>
                                        </p:tav>
                                      </p:tavLst>
                                    </p:anim>
                                    <p:anim calcmode="lin" valueType="num">
                                      <p:cBhvr>
                                        <p:cTn id="96" dur="1000" fill="hold"/>
                                        <p:tgtEl>
                                          <p:spTgt spid="3">
                                            <p:txEl>
                                              <p:pRg st="11" end="11"/>
                                            </p:txEl>
                                          </p:spTgt>
                                        </p:tgtEl>
                                        <p:attrNameLst>
                                          <p:attrName>ppt_h</p:attrName>
                                        </p:attrNameLst>
                                      </p:cBhvr>
                                      <p:tavLst>
                                        <p:tav tm="0">
                                          <p:val>
                                            <p:fltVal val="0"/>
                                          </p:val>
                                        </p:tav>
                                        <p:tav tm="100000">
                                          <p:val>
                                            <p:strVal val="#ppt_h"/>
                                          </p:val>
                                        </p:tav>
                                      </p:tavLst>
                                    </p:anim>
                                    <p:anim calcmode="lin" valueType="num">
                                      <p:cBhvr>
                                        <p:cTn id="97" dur="1000" fill="hold"/>
                                        <p:tgtEl>
                                          <p:spTgt spid="3">
                                            <p:txEl>
                                              <p:pRg st="11" end="11"/>
                                            </p:txEl>
                                          </p:spTgt>
                                        </p:tgtEl>
                                        <p:attrNameLst>
                                          <p:attrName>ppt_x</p:attrName>
                                        </p:attrNameLst>
                                      </p:cBhvr>
                                      <p:tavLst>
                                        <p:tav tm="0" fmla="#ppt_x+(cos(-2*pi*(1-$))*-#ppt_x-sin(-2*pi*(1-$))*(1-#ppt_y))*(1-$)">
                                          <p:val>
                                            <p:fltVal val="0"/>
                                          </p:val>
                                        </p:tav>
                                        <p:tav tm="100000">
                                          <p:val>
                                            <p:fltVal val="1"/>
                                          </p:val>
                                        </p:tav>
                                      </p:tavLst>
                                    </p:anim>
                                    <p:anim calcmode="lin" valueType="num">
                                      <p:cBhvr>
                                        <p:cTn id="98" dur="1000" fill="hold"/>
                                        <p:tgtEl>
                                          <p:spTgt spid="3">
                                            <p:txEl>
                                              <p:pRg st="11" end="11"/>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99" fill="hold">
                      <p:stCondLst>
                        <p:cond delay="indefinite"/>
                      </p:stCondLst>
                      <p:childTnLst>
                        <p:par>
                          <p:cTn id="100" fill="hold">
                            <p:stCondLst>
                              <p:cond delay="0"/>
                            </p:stCondLst>
                            <p:childTnLst>
                              <p:par>
                                <p:cTn id="101" presetID="15" presetClass="entr" presetSubtype="0" fill="hold" grpId="0" nodeType="clickEffect">
                                  <p:stCondLst>
                                    <p:cond delay="0"/>
                                  </p:stCondLst>
                                  <p:childTnLst>
                                    <p:set>
                                      <p:cBhvr>
                                        <p:cTn id="102" dur="1" fill="hold">
                                          <p:stCondLst>
                                            <p:cond delay="0"/>
                                          </p:stCondLst>
                                        </p:cTn>
                                        <p:tgtEl>
                                          <p:spTgt spid="3">
                                            <p:txEl>
                                              <p:pRg st="12" end="12"/>
                                            </p:txEl>
                                          </p:spTgt>
                                        </p:tgtEl>
                                        <p:attrNameLst>
                                          <p:attrName>style.visibility</p:attrName>
                                        </p:attrNameLst>
                                      </p:cBhvr>
                                      <p:to>
                                        <p:strVal val="visible"/>
                                      </p:to>
                                    </p:set>
                                    <p:anim calcmode="lin" valueType="num">
                                      <p:cBhvr>
                                        <p:cTn id="103" dur="1000" fill="hold"/>
                                        <p:tgtEl>
                                          <p:spTgt spid="3">
                                            <p:txEl>
                                              <p:pRg st="12" end="12"/>
                                            </p:txEl>
                                          </p:spTgt>
                                        </p:tgtEl>
                                        <p:attrNameLst>
                                          <p:attrName>ppt_w</p:attrName>
                                        </p:attrNameLst>
                                      </p:cBhvr>
                                      <p:tavLst>
                                        <p:tav tm="0">
                                          <p:val>
                                            <p:fltVal val="0"/>
                                          </p:val>
                                        </p:tav>
                                        <p:tav tm="100000">
                                          <p:val>
                                            <p:strVal val="#ppt_w"/>
                                          </p:val>
                                        </p:tav>
                                      </p:tavLst>
                                    </p:anim>
                                    <p:anim calcmode="lin" valueType="num">
                                      <p:cBhvr>
                                        <p:cTn id="104" dur="1000" fill="hold"/>
                                        <p:tgtEl>
                                          <p:spTgt spid="3">
                                            <p:txEl>
                                              <p:pRg st="12" end="12"/>
                                            </p:txEl>
                                          </p:spTgt>
                                        </p:tgtEl>
                                        <p:attrNameLst>
                                          <p:attrName>ppt_h</p:attrName>
                                        </p:attrNameLst>
                                      </p:cBhvr>
                                      <p:tavLst>
                                        <p:tav tm="0">
                                          <p:val>
                                            <p:fltVal val="0"/>
                                          </p:val>
                                        </p:tav>
                                        <p:tav tm="100000">
                                          <p:val>
                                            <p:strVal val="#ppt_h"/>
                                          </p:val>
                                        </p:tav>
                                      </p:tavLst>
                                    </p:anim>
                                    <p:anim calcmode="lin" valueType="num">
                                      <p:cBhvr>
                                        <p:cTn id="105" dur="1000" fill="hold"/>
                                        <p:tgtEl>
                                          <p:spTgt spid="3">
                                            <p:txEl>
                                              <p:pRg st="12" end="12"/>
                                            </p:txEl>
                                          </p:spTgt>
                                        </p:tgtEl>
                                        <p:attrNameLst>
                                          <p:attrName>ppt_x</p:attrName>
                                        </p:attrNameLst>
                                      </p:cBhvr>
                                      <p:tavLst>
                                        <p:tav tm="0" fmla="#ppt_x+(cos(-2*pi*(1-$))*-#ppt_x-sin(-2*pi*(1-$))*(1-#ppt_y))*(1-$)">
                                          <p:val>
                                            <p:fltVal val="0"/>
                                          </p:val>
                                        </p:tav>
                                        <p:tav tm="100000">
                                          <p:val>
                                            <p:fltVal val="1"/>
                                          </p:val>
                                        </p:tav>
                                      </p:tavLst>
                                    </p:anim>
                                    <p:anim calcmode="lin" valueType="num">
                                      <p:cBhvr>
                                        <p:cTn id="106" dur="1000" fill="hold"/>
                                        <p:tgtEl>
                                          <p:spTgt spid="3">
                                            <p:txEl>
                                              <p:pRg st="12" end="12"/>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normAutofit/>
          </a:bodyPr>
          <a:lstStyle/>
          <a:p>
            <a:pPr algn="l"/>
            <a:r>
              <a:rPr lang="en-US" sz="3200" u="sng" dirty="0">
                <a:latin typeface="Constantia" pitchFamily="18" charset="0"/>
              </a:rPr>
              <a:t>Examples of </a:t>
            </a:r>
            <a:r>
              <a:rPr lang="en-US" sz="3200" u="sng" dirty="0" smtClean="0">
                <a:latin typeface="Constantia" pitchFamily="18" charset="0"/>
              </a:rPr>
              <a:t>Monopolistically Competitive Industries:</a:t>
            </a:r>
            <a:endParaRPr lang="en-US" sz="3200" u="sng" dirty="0">
              <a:latin typeface="Constantia" pitchFamily="18" charset="0"/>
            </a:endParaRPr>
          </a:p>
        </p:txBody>
      </p:sp>
      <p:sp>
        <p:nvSpPr>
          <p:cNvPr id="13315" name="Rectangle 3"/>
          <p:cNvSpPr>
            <a:spLocks noGrp="1" noChangeArrowheads="1"/>
          </p:cNvSpPr>
          <p:nvPr>
            <p:ph sz="half" idx="1"/>
          </p:nvPr>
        </p:nvSpPr>
        <p:spPr/>
        <p:txBody>
          <a:bodyPr>
            <a:normAutofit fontScale="70000" lnSpcReduction="20000"/>
          </a:bodyPr>
          <a:lstStyle/>
          <a:p>
            <a:pPr>
              <a:buFont typeface="Wingdings" pitchFamily="2" charset="2"/>
              <a:buNone/>
            </a:pPr>
            <a:r>
              <a:rPr lang="en-US" sz="2400" dirty="0">
                <a:latin typeface="Constantia" pitchFamily="18" charset="0"/>
              </a:rPr>
              <a:t>	</a:t>
            </a:r>
            <a:r>
              <a:rPr lang="en-US" sz="3800" dirty="0">
                <a:latin typeface="Constantia" pitchFamily="18" charset="0"/>
              </a:rPr>
              <a:t>Banks			</a:t>
            </a:r>
          </a:p>
          <a:p>
            <a:pPr>
              <a:buFont typeface="Wingdings" pitchFamily="2" charset="2"/>
              <a:buNone/>
            </a:pPr>
            <a:r>
              <a:rPr lang="en-US" sz="3800" dirty="0">
                <a:latin typeface="Constantia" pitchFamily="18" charset="0"/>
              </a:rPr>
              <a:t>	</a:t>
            </a:r>
            <a:r>
              <a:rPr lang="en-US" sz="3800" dirty="0" smtClean="0">
                <a:latin typeface="Constantia" pitchFamily="18" charset="0"/>
              </a:rPr>
              <a:t>Radio/TV </a:t>
            </a:r>
            <a:r>
              <a:rPr lang="en-US" sz="3800" dirty="0">
                <a:latin typeface="Constantia" pitchFamily="18" charset="0"/>
              </a:rPr>
              <a:t>s</a:t>
            </a:r>
            <a:r>
              <a:rPr lang="en-US" sz="3800" dirty="0" smtClean="0">
                <a:latin typeface="Constantia" pitchFamily="18" charset="0"/>
              </a:rPr>
              <a:t>tations</a:t>
            </a:r>
            <a:r>
              <a:rPr lang="en-US" sz="3800" dirty="0">
                <a:latin typeface="Constantia" pitchFamily="18" charset="0"/>
              </a:rPr>
              <a:t>	</a:t>
            </a:r>
          </a:p>
          <a:p>
            <a:pPr>
              <a:buFont typeface="Wingdings" pitchFamily="2" charset="2"/>
              <a:buNone/>
            </a:pPr>
            <a:r>
              <a:rPr lang="en-US" sz="3800" dirty="0">
                <a:latin typeface="Constantia" pitchFamily="18" charset="0"/>
              </a:rPr>
              <a:t>	</a:t>
            </a:r>
            <a:r>
              <a:rPr lang="en-US" sz="3800" dirty="0" smtClean="0">
                <a:latin typeface="Constantia" pitchFamily="18" charset="0"/>
              </a:rPr>
              <a:t>Clothing stores </a:t>
            </a:r>
            <a:r>
              <a:rPr lang="en-US" sz="3800" dirty="0">
                <a:latin typeface="Constantia" pitchFamily="18" charset="0"/>
              </a:rPr>
              <a:t>		</a:t>
            </a:r>
          </a:p>
          <a:p>
            <a:pPr>
              <a:buFont typeface="Wingdings" pitchFamily="2" charset="2"/>
              <a:buNone/>
            </a:pPr>
            <a:r>
              <a:rPr lang="en-US" sz="3800" dirty="0">
                <a:latin typeface="Constantia" pitchFamily="18" charset="0"/>
              </a:rPr>
              <a:t>	Computers		</a:t>
            </a:r>
          </a:p>
          <a:p>
            <a:pPr>
              <a:buFont typeface="Wingdings" pitchFamily="2" charset="2"/>
              <a:buNone/>
            </a:pPr>
            <a:r>
              <a:rPr lang="en-US" sz="3800" dirty="0">
                <a:latin typeface="Constantia" pitchFamily="18" charset="0"/>
              </a:rPr>
              <a:t>	</a:t>
            </a:r>
            <a:r>
              <a:rPr lang="en-US" sz="3800" dirty="0" smtClean="0">
                <a:latin typeface="Constantia" pitchFamily="18" charset="0"/>
              </a:rPr>
              <a:t>Furniture stores</a:t>
            </a:r>
            <a:r>
              <a:rPr lang="en-US" sz="3800" dirty="0">
                <a:latin typeface="Constantia" pitchFamily="18" charset="0"/>
              </a:rPr>
              <a:t>		</a:t>
            </a:r>
          </a:p>
          <a:p>
            <a:pPr>
              <a:buFont typeface="Wingdings" pitchFamily="2" charset="2"/>
              <a:buNone/>
            </a:pPr>
            <a:r>
              <a:rPr lang="en-US" sz="3800" dirty="0">
                <a:latin typeface="Constantia" pitchFamily="18" charset="0"/>
              </a:rPr>
              <a:t>	Canned </a:t>
            </a:r>
            <a:r>
              <a:rPr lang="en-US" sz="3800" dirty="0" smtClean="0">
                <a:latin typeface="Constantia" pitchFamily="18" charset="0"/>
              </a:rPr>
              <a:t>Foods</a:t>
            </a:r>
          </a:p>
          <a:p>
            <a:pPr>
              <a:buFont typeface="Wingdings" pitchFamily="2" charset="2"/>
              <a:buNone/>
            </a:pPr>
            <a:r>
              <a:rPr lang="en-US" sz="3800" dirty="0" smtClean="0">
                <a:latin typeface="Constantia" pitchFamily="18" charset="0"/>
              </a:rPr>
              <a:t>	Sporting goods</a:t>
            </a:r>
          </a:p>
          <a:p>
            <a:pPr>
              <a:buFont typeface="Wingdings" pitchFamily="2" charset="2"/>
              <a:buNone/>
            </a:pPr>
            <a:r>
              <a:rPr lang="en-US" sz="3800" dirty="0" smtClean="0">
                <a:latin typeface="Constantia" pitchFamily="18" charset="0"/>
              </a:rPr>
              <a:t>	</a:t>
            </a:r>
          </a:p>
          <a:p>
            <a:pPr>
              <a:buFont typeface="Wingdings" pitchFamily="2" charset="2"/>
              <a:buNone/>
            </a:pPr>
            <a:r>
              <a:rPr lang="en-US" sz="3800" dirty="0" smtClean="0">
                <a:latin typeface="Constantia" pitchFamily="18" charset="0"/>
              </a:rPr>
              <a:t>	</a:t>
            </a:r>
            <a:r>
              <a:rPr lang="en-US" sz="3800" dirty="0">
                <a:latin typeface="Constantia" pitchFamily="18" charset="0"/>
              </a:rPr>
              <a:t>					</a:t>
            </a:r>
            <a:r>
              <a:rPr lang="en-US" sz="2400" dirty="0">
                <a:latin typeface="Constantia" pitchFamily="18" charset="0"/>
              </a:rPr>
              <a:t>	</a:t>
            </a:r>
          </a:p>
        </p:txBody>
      </p:sp>
      <p:sp>
        <p:nvSpPr>
          <p:cNvPr id="5" name="Content Placeholder 4"/>
          <p:cNvSpPr>
            <a:spLocks noGrp="1"/>
          </p:cNvSpPr>
          <p:nvPr>
            <p:ph sz="half" idx="2"/>
          </p:nvPr>
        </p:nvSpPr>
        <p:spPr/>
        <p:txBody>
          <a:bodyPr>
            <a:normAutofit fontScale="70000" lnSpcReduction="20000"/>
          </a:bodyPr>
          <a:lstStyle/>
          <a:p>
            <a:pPr>
              <a:buFont typeface="Wingdings" pitchFamily="2" charset="2"/>
              <a:buNone/>
            </a:pPr>
            <a:r>
              <a:rPr lang="en-US" sz="3600" dirty="0" smtClean="0">
                <a:latin typeface="Constantia" pitchFamily="18" charset="0"/>
              </a:rPr>
              <a:t>Jewelry stores</a:t>
            </a:r>
          </a:p>
          <a:p>
            <a:pPr>
              <a:buFont typeface="Wingdings" pitchFamily="2" charset="2"/>
              <a:buNone/>
            </a:pPr>
            <a:r>
              <a:rPr lang="en-US" sz="3600" dirty="0" smtClean="0">
                <a:latin typeface="Constantia" pitchFamily="18" charset="0"/>
              </a:rPr>
              <a:t>Restaurants</a:t>
            </a:r>
          </a:p>
          <a:p>
            <a:pPr>
              <a:buFont typeface="Wingdings" pitchFamily="2" charset="2"/>
              <a:buNone/>
            </a:pPr>
            <a:r>
              <a:rPr lang="en-US" sz="3600" dirty="0" smtClean="0">
                <a:latin typeface="Constantia" pitchFamily="18" charset="0"/>
              </a:rPr>
              <a:t>Beauty/hair cut saloons</a:t>
            </a:r>
          </a:p>
          <a:p>
            <a:pPr>
              <a:buFont typeface="Wingdings" pitchFamily="2" charset="2"/>
              <a:buNone/>
            </a:pPr>
            <a:r>
              <a:rPr lang="en-US" sz="3600" dirty="0" smtClean="0">
                <a:latin typeface="Constantia" pitchFamily="18" charset="0"/>
              </a:rPr>
              <a:t>Private hospitals/schools</a:t>
            </a:r>
          </a:p>
          <a:p>
            <a:pPr>
              <a:buFont typeface="Wingdings" pitchFamily="2" charset="2"/>
              <a:buNone/>
            </a:pPr>
            <a:r>
              <a:rPr lang="en-US" sz="3600" dirty="0" smtClean="0">
                <a:latin typeface="Constantia" pitchFamily="18" charset="0"/>
              </a:rPr>
              <a:t>Hotels			</a:t>
            </a:r>
            <a:endParaRPr lang="en-US" sz="3600" dirty="0">
              <a:latin typeface="Constantia" pitchFamily="18" charset="0"/>
            </a:endParaRPr>
          </a:p>
        </p:txBody>
      </p:sp>
      <p:sp>
        <p:nvSpPr>
          <p:cNvPr id="4" name="Slide Number Placeholder 3"/>
          <p:cNvSpPr>
            <a:spLocks noGrp="1"/>
          </p:cNvSpPr>
          <p:nvPr>
            <p:ph type="sldNum" sz="quarter" idx="12"/>
          </p:nvPr>
        </p:nvSpPr>
        <p:spPr/>
        <p:txBody>
          <a:bodyPr/>
          <a:lstStyle/>
          <a:p>
            <a:fld id="{777C09F0-9059-4089-99E3-25D541D86FAB}" type="slidenum">
              <a:rPr lang="en-US" smtClean="0"/>
              <a:pPr/>
              <a:t>18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13314"/>
                                        </p:tgtEl>
                                        <p:attrNameLst>
                                          <p:attrName>style.visibility</p:attrName>
                                        </p:attrNameLst>
                                      </p:cBhvr>
                                      <p:to>
                                        <p:strVal val="visible"/>
                                      </p:to>
                                    </p:set>
                                    <p:anim calcmode="lin" valueType="num">
                                      <p:cBhvr>
                                        <p:cTn id="7" dur="1000" fill="hold"/>
                                        <p:tgtEl>
                                          <p:spTgt spid="13314"/>
                                        </p:tgtEl>
                                        <p:attrNameLst>
                                          <p:attrName>ppt_w</p:attrName>
                                        </p:attrNameLst>
                                      </p:cBhvr>
                                      <p:tavLst>
                                        <p:tav tm="0">
                                          <p:val>
                                            <p:fltVal val="0"/>
                                          </p:val>
                                        </p:tav>
                                        <p:tav tm="100000">
                                          <p:val>
                                            <p:strVal val="#ppt_w"/>
                                          </p:val>
                                        </p:tav>
                                      </p:tavLst>
                                    </p:anim>
                                    <p:anim calcmode="lin" valueType="num">
                                      <p:cBhvr>
                                        <p:cTn id="8" dur="1000" fill="hold"/>
                                        <p:tgtEl>
                                          <p:spTgt spid="13314"/>
                                        </p:tgtEl>
                                        <p:attrNameLst>
                                          <p:attrName>ppt_h</p:attrName>
                                        </p:attrNameLst>
                                      </p:cBhvr>
                                      <p:tavLst>
                                        <p:tav tm="0">
                                          <p:val>
                                            <p:fltVal val="0"/>
                                          </p:val>
                                        </p:tav>
                                        <p:tav tm="100000">
                                          <p:val>
                                            <p:strVal val="#ppt_h"/>
                                          </p:val>
                                        </p:tav>
                                      </p:tavLst>
                                    </p:anim>
                                    <p:anim calcmode="lin" valueType="num">
                                      <p:cBhvr>
                                        <p:cTn id="9" dur="1000" fill="hold"/>
                                        <p:tgtEl>
                                          <p:spTgt spid="13314"/>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331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13315">
                                            <p:txEl>
                                              <p:pRg st="0" end="0"/>
                                            </p:txEl>
                                          </p:spTgt>
                                        </p:tgtEl>
                                        <p:attrNameLst>
                                          <p:attrName>style.visibility</p:attrName>
                                        </p:attrNameLst>
                                      </p:cBhvr>
                                      <p:to>
                                        <p:strVal val="visible"/>
                                      </p:to>
                                    </p:set>
                                    <p:anim calcmode="lin" valueType="num">
                                      <p:cBhvr>
                                        <p:cTn id="15" dur="1000" fill="hold"/>
                                        <p:tgtEl>
                                          <p:spTgt spid="13315">
                                            <p:txEl>
                                              <p:pRg st="0" end="0"/>
                                            </p:txEl>
                                          </p:spTgt>
                                        </p:tgtEl>
                                        <p:attrNameLst>
                                          <p:attrName>ppt_w</p:attrName>
                                        </p:attrNameLst>
                                      </p:cBhvr>
                                      <p:tavLst>
                                        <p:tav tm="0">
                                          <p:val>
                                            <p:fltVal val="0"/>
                                          </p:val>
                                        </p:tav>
                                        <p:tav tm="100000">
                                          <p:val>
                                            <p:strVal val="#ppt_w"/>
                                          </p:val>
                                        </p:tav>
                                      </p:tavLst>
                                    </p:anim>
                                    <p:anim calcmode="lin" valueType="num">
                                      <p:cBhvr>
                                        <p:cTn id="16" dur="1000" fill="hold"/>
                                        <p:tgtEl>
                                          <p:spTgt spid="13315">
                                            <p:txEl>
                                              <p:pRg st="0" end="0"/>
                                            </p:txEl>
                                          </p:spTgt>
                                        </p:tgtEl>
                                        <p:attrNameLst>
                                          <p:attrName>ppt_h</p:attrName>
                                        </p:attrNameLst>
                                      </p:cBhvr>
                                      <p:tavLst>
                                        <p:tav tm="0">
                                          <p:val>
                                            <p:fltVal val="0"/>
                                          </p:val>
                                        </p:tav>
                                        <p:tav tm="100000">
                                          <p:val>
                                            <p:strVal val="#ppt_h"/>
                                          </p:val>
                                        </p:tav>
                                      </p:tavLst>
                                    </p:anim>
                                    <p:anim calcmode="lin" valueType="num">
                                      <p:cBhvr>
                                        <p:cTn id="17" dur="1000" fill="hold"/>
                                        <p:tgtEl>
                                          <p:spTgt spid="13315">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13315">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13315">
                                            <p:txEl>
                                              <p:pRg st="1" end="1"/>
                                            </p:txEl>
                                          </p:spTgt>
                                        </p:tgtEl>
                                        <p:attrNameLst>
                                          <p:attrName>style.visibility</p:attrName>
                                        </p:attrNameLst>
                                      </p:cBhvr>
                                      <p:to>
                                        <p:strVal val="visible"/>
                                      </p:to>
                                    </p:set>
                                    <p:anim calcmode="lin" valueType="num">
                                      <p:cBhvr>
                                        <p:cTn id="23" dur="1000" fill="hold"/>
                                        <p:tgtEl>
                                          <p:spTgt spid="13315">
                                            <p:txEl>
                                              <p:pRg st="1" end="1"/>
                                            </p:txEl>
                                          </p:spTgt>
                                        </p:tgtEl>
                                        <p:attrNameLst>
                                          <p:attrName>ppt_w</p:attrName>
                                        </p:attrNameLst>
                                      </p:cBhvr>
                                      <p:tavLst>
                                        <p:tav tm="0">
                                          <p:val>
                                            <p:fltVal val="0"/>
                                          </p:val>
                                        </p:tav>
                                        <p:tav tm="100000">
                                          <p:val>
                                            <p:strVal val="#ppt_w"/>
                                          </p:val>
                                        </p:tav>
                                      </p:tavLst>
                                    </p:anim>
                                    <p:anim calcmode="lin" valueType="num">
                                      <p:cBhvr>
                                        <p:cTn id="24" dur="1000" fill="hold"/>
                                        <p:tgtEl>
                                          <p:spTgt spid="13315">
                                            <p:txEl>
                                              <p:pRg st="1" end="1"/>
                                            </p:txEl>
                                          </p:spTgt>
                                        </p:tgtEl>
                                        <p:attrNameLst>
                                          <p:attrName>ppt_h</p:attrName>
                                        </p:attrNameLst>
                                      </p:cBhvr>
                                      <p:tavLst>
                                        <p:tav tm="0">
                                          <p:val>
                                            <p:fltVal val="0"/>
                                          </p:val>
                                        </p:tav>
                                        <p:tav tm="100000">
                                          <p:val>
                                            <p:strVal val="#ppt_h"/>
                                          </p:val>
                                        </p:tav>
                                      </p:tavLst>
                                    </p:anim>
                                    <p:anim calcmode="lin" valueType="num">
                                      <p:cBhvr>
                                        <p:cTn id="25" dur="1000" fill="hold"/>
                                        <p:tgtEl>
                                          <p:spTgt spid="13315">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13315">
                                            <p:txEl>
                                              <p:pRg st="1" end="1"/>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p:stCondLst>
                        <p:cond delay="indefinite"/>
                      </p:stCondLst>
                      <p:childTnLst>
                        <p:par>
                          <p:cTn id="28" fill="hold">
                            <p:stCondLst>
                              <p:cond delay="0"/>
                            </p:stCondLst>
                            <p:childTnLst>
                              <p:par>
                                <p:cTn id="29" presetID="15" presetClass="entr" presetSubtype="0" fill="hold" grpId="0" nodeType="clickEffect">
                                  <p:stCondLst>
                                    <p:cond delay="0"/>
                                  </p:stCondLst>
                                  <p:childTnLst>
                                    <p:set>
                                      <p:cBhvr>
                                        <p:cTn id="30" dur="1" fill="hold">
                                          <p:stCondLst>
                                            <p:cond delay="0"/>
                                          </p:stCondLst>
                                        </p:cTn>
                                        <p:tgtEl>
                                          <p:spTgt spid="13315">
                                            <p:txEl>
                                              <p:pRg st="2" end="2"/>
                                            </p:txEl>
                                          </p:spTgt>
                                        </p:tgtEl>
                                        <p:attrNameLst>
                                          <p:attrName>style.visibility</p:attrName>
                                        </p:attrNameLst>
                                      </p:cBhvr>
                                      <p:to>
                                        <p:strVal val="visible"/>
                                      </p:to>
                                    </p:set>
                                    <p:anim calcmode="lin" valueType="num">
                                      <p:cBhvr>
                                        <p:cTn id="31" dur="1000" fill="hold"/>
                                        <p:tgtEl>
                                          <p:spTgt spid="13315">
                                            <p:txEl>
                                              <p:pRg st="2" end="2"/>
                                            </p:txEl>
                                          </p:spTgt>
                                        </p:tgtEl>
                                        <p:attrNameLst>
                                          <p:attrName>ppt_w</p:attrName>
                                        </p:attrNameLst>
                                      </p:cBhvr>
                                      <p:tavLst>
                                        <p:tav tm="0">
                                          <p:val>
                                            <p:fltVal val="0"/>
                                          </p:val>
                                        </p:tav>
                                        <p:tav tm="100000">
                                          <p:val>
                                            <p:strVal val="#ppt_w"/>
                                          </p:val>
                                        </p:tav>
                                      </p:tavLst>
                                    </p:anim>
                                    <p:anim calcmode="lin" valueType="num">
                                      <p:cBhvr>
                                        <p:cTn id="32" dur="1000" fill="hold"/>
                                        <p:tgtEl>
                                          <p:spTgt spid="13315">
                                            <p:txEl>
                                              <p:pRg st="2" end="2"/>
                                            </p:txEl>
                                          </p:spTgt>
                                        </p:tgtEl>
                                        <p:attrNameLst>
                                          <p:attrName>ppt_h</p:attrName>
                                        </p:attrNameLst>
                                      </p:cBhvr>
                                      <p:tavLst>
                                        <p:tav tm="0">
                                          <p:val>
                                            <p:fltVal val="0"/>
                                          </p:val>
                                        </p:tav>
                                        <p:tav tm="100000">
                                          <p:val>
                                            <p:strVal val="#ppt_h"/>
                                          </p:val>
                                        </p:tav>
                                      </p:tavLst>
                                    </p:anim>
                                    <p:anim calcmode="lin" valueType="num">
                                      <p:cBhvr>
                                        <p:cTn id="33" dur="1000" fill="hold"/>
                                        <p:tgtEl>
                                          <p:spTgt spid="13315">
                                            <p:txEl>
                                              <p:pRg st="2" end="2"/>
                                            </p:txEl>
                                          </p:spTgt>
                                        </p:tgtEl>
                                        <p:attrNameLst>
                                          <p:attrName>ppt_x</p:attrName>
                                        </p:attrNameLst>
                                      </p:cBhvr>
                                      <p:tavLst>
                                        <p:tav tm="0" fmla="#ppt_x+(cos(-2*pi*(1-$))*-#ppt_x-sin(-2*pi*(1-$))*(1-#ppt_y))*(1-$)">
                                          <p:val>
                                            <p:fltVal val="0"/>
                                          </p:val>
                                        </p:tav>
                                        <p:tav tm="100000">
                                          <p:val>
                                            <p:fltVal val="1"/>
                                          </p:val>
                                        </p:tav>
                                      </p:tavLst>
                                    </p:anim>
                                    <p:anim calcmode="lin" valueType="num">
                                      <p:cBhvr>
                                        <p:cTn id="34" dur="1000" fill="hold"/>
                                        <p:tgtEl>
                                          <p:spTgt spid="13315">
                                            <p:txEl>
                                              <p:pRg st="2" end="2"/>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5" fill="hold">
                      <p:stCondLst>
                        <p:cond delay="indefinite"/>
                      </p:stCondLst>
                      <p:childTnLst>
                        <p:par>
                          <p:cTn id="36" fill="hold">
                            <p:stCondLst>
                              <p:cond delay="0"/>
                            </p:stCondLst>
                            <p:childTnLst>
                              <p:par>
                                <p:cTn id="37" presetID="15" presetClass="entr" presetSubtype="0" fill="hold" grpId="0" nodeType="clickEffect">
                                  <p:stCondLst>
                                    <p:cond delay="0"/>
                                  </p:stCondLst>
                                  <p:childTnLst>
                                    <p:set>
                                      <p:cBhvr>
                                        <p:cTn id="38" dur="1" fill="hold">
                                          <p:stCondLst>
                                            <p:cond delay="0"/>
                                          </p:stCondLst>
                                        </p:cTn>
                                        <p:tgtEl>
                                          <p:spTgt spid="13315">
                                            <p:txEl>
                                              <p:pRg st="3" end="3"/>
                                            </p:txEl>
                                          </p:spTgt>
                                        </p:tgtEl>
                                        <p:attrNameLst>
                                          <p:attrName>style.visibility</p:attrName>
                                        </p:attrNameLst>
                                      </p:cBhvr>
                                      <p:to>
                                        <p:strVal val="visible"/>
                                      </p:to>
                                    </p:set>
                                    <p:anim calcmode="lin" valueType="num">
                                      <p:cBhvr>
                                        <p:cTn id="39" dur="1000" fill="hold"/>
                                        <p:tgtEl>
                                          <p:spTgt spid="13315">
                                            <p:txEl>
                                              <p:pRg st="3" end="3"/>
                                            </p:txEl>
                                          </p:spTgt>
                                        </p:tgtEl>
                                        <p:attrNameLst>
                                          <p:attrName>ppt_w</p:attrName>
                                        </p:attrNameLst>
                                      </p:cBhvr>
                                      <p:tavLst>
                                        <p:tav tm="0">
                                          <p:val>
                                            <p:fltVal val="0"/>
                                          </p:val>
                                        </p:tav>
                                        <p:tav tm="100000">
                                          <p:val>
                                            <p:strVal val="#ppt_w"/>
                                          </p:val>
                                        </p:tav>
                                      </p:tavLst>
                                    </p:anim>
                                    <p:anim calcmode="lin" valueType="num">
                                      <p:cBhvr>
                                        <p:cTn id="40" dur="1000" fill="hold"/>
                                        <p:tgtEl>
                                          <p:spTgt spid="13315">
                                            <p:txEl>
                                              <p:pRg st="3" end="3"/>
                                            </p:txEl>
                                          </p:spTgt>
                                        </p:tgtEl>
                                        <p:attrNameLst>
                                          <p:attrName>ppt_h</p:attrName>
                                        </p:attrNameLst>
                                      </p:cBhvr>
                                      <p:tavLst>
                                        <p:tav tm="0">
                                          <p:val>
                                            <p:fltVal val="0"/>
                                          </p:val>
                                        </p:tav>
                                        <p:tav tm="100000">
                                          <p:val>
                                            <p:strVal val="#ppt_h"/>
                                          </p:val>
                                        </p:tav>
                                      </p:tavLst>
                                    </p:anim>
                                    <p:anim calcmode="lin" valueType="num">
                                      <p:cBhvr>
                                        <p:cTn id="41" dur="1000" fill="hold"/>
                                        <p:tgtEl>
                                          <p:spTgt spid="13315">
                                            <p:txEl>
                                              <p:pRg st="3" end="3"/>
                                            </p:txEl>
                                          </p:spTgt>
                                        </p:tgtEl>
                                        <p:attrNameLst>
                                          <p:attrName>ppt_x</p:attrName>
                                        </p:attrNameLst>
                                      </p:cBhvr>
                                      <p:tavLst>
                                        <p:tav tm="0" fmla="#ppt_x+(cos(-2*pi*(1-$))*-#ppt_x-sin(-2*pi*(1-$))*(1-#ppt_y))*(1-$)">
                                          <p:val>
                                            <p:fltVal val="0"/>
                                          </p:val>
                                        </p:tav>
                                        <p:tav tm="100000">
                                          <p:val>
                                            <p:fltVal val="1"/>
                                          </p:val>
                                        </p:tav>
                                      </p:tavLst>
                                    </p:anim>
                                    <p:anim calcmode="lin" valueType="num">
                                      <p:cBhvr>
                                        <p:cTn id="42" dur="1000" fill="hold"/>
                                        <p:tgtEl>
                                          <p:spTgt spid="13315">
                                            <p:txEl>
                                              <p:pRg st="3" end="3"/>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3" fill="hold">
                      <p:stCondLst>
                        <p:cond delay="indefinite"/>
                      </p:stCondLst>
                      <p:childTnLst>
                        <p:par>
                          <p:cTn id="44" fill="hold">
                            <p:stCondLst>
                              <p:cond delay="0"/>
                            </p:stCondLst>
                            <p:childTnLst>
                              <p:par>
                                <p:cTn id="45" presetID="15" presetClass="entr" presetSubtype="0" fill="hold" grpId="0" nodeType="clickEffect">
                                  <p:stCondLst>
                                    <p:cond delay="0"/>
                                  </p:stCondLst>
                                  <p:childTnLst>
                                    <p:set>
                                      <p:cBhvr>
                                        <p:cTn id="46" dur="1" fill="hold">
                                          <p:stCondLst>
                                            <p:cond delay="0"/>
                                          </p:stCondLst>
                                        </p:cTn>
                                        <p:tgtEl>
                                          <p:spTgt spid="13315">
                                            <p:txEl>
                                              <p:pRg st="4" end="4"/>
                                            </p:txEl>
                                          </p:spTgt>
                                        </p:tgtEl>
                                        <p:attrNameLst>
                                          <p:attrName>style.visibility</p:attrName>
                                        </p:attrNameLst>
                                      </p:cBhvr>
                                      <p:to>
                                        <p:strVal val="visible"/>
                                      </p:to>
                                    </p:set>
                                    <p:anim calcmode="lin" valueType="num">
                                      <p:cBhvr>
                                        <p:cTn id="47" dur="1000" fill="hold"/>
                                        <p:tgtEl>
                                          <p:spTgt spid="13315">
                                            <p:txEl>
                                              <p:pRg st="4" end="4"/>
                                            </p:txEl>
                                          </p:spTgt>
                                        </p:tgtEl>
                                        <p:attrNameLst>
                                          <p:attrName>ppt_w</p:attrName>
                                        </p:attrNameLst>
                                      </p:cBhvr>
                                      <p:tavLst>
                                        <p:tav tm="0">
                                          <p:val>
                                            <p:fltVal val="0"/>
                                          </p:val>
                                        </p:tav>
                                        <p:tav tm="100000">
                                          <p:val>
                                            <p:strVal val="#ppt_w"/>
                                          </p:val>
                                        </p:tav>
                                      </p:tavLst>
                                    </p:anim>
                                    <p:anim calcmode="lin" valueType="num">
                                      <p:cBhvr>
                                        <p:cTn id="48" dur="1000" fill="hold"/>
                                        <p:tgtEl>
                                          <p:spTgt spid="13315">
                                            <p:txEl>
                                              <p:pRg st="4" end="4"/>
                                            </p:txEl>
                                          </p:spTgt>
                                        </p:tgtEl>
                                        <p:attrNameLst>
                                          <p:attrName>ppt_h</p:attrName>
                                        </p:attrNameLst>
                                      </p:cBhvr>
                                      <p:tavLst>
                                        <p:tav tm="0">
                                          <p:val>
                                            <p:fltVal val="0"/>
                                          </p:val>
                                        </p:tav>
                                        <p:tav tm="100000">
                                          <p:val>
                                            <p:strVal val="#ppt_h"/>
                                          </p:val>
                                        </p:tav>
                                      </p:tavLst>
                                    </p:anim>
                                    <p:anim calcmode="lin" valueType="num">
                                      <p:cBhvr>
                                        <p:cTn id="49" dur="1000" fill="hold"/>
                                        <p:tgtEl>
                                          <p:spTgt spid="13315">
                                            <p:txEl>
                                              <p:pRg st="4" end="4"/>
                                            </p:txEl>
                                          </p:spTgt>
                                        </p:tgtEl>
                                        <p:attrNameLst>
                                          <p:attrName>ppt_x</p:attrName>
                                        </p:attrNameLst>
                                      </p:cBhvr>
                                      <p:tavLst>
                                        <p:tav tm="0" fmla="#ppt_x+(cos(-2*pi*(1-$))*-#ppt_x-sin(-2*pi*(1-$))*(1-#ppt_y))*(1-$)">
                                          <p:val>
                                            <p:fltVal val="0"/>
                                          </p:val>
                                        </p:tav>
                                        <p:tav tm="100000">
                                          <p:val>
                                            <p:fltVal val="1"/>
                                          </p:val>
                                        </p:tav>
                                      </p:tavLst>
                                    </p:anim>
                                    <p:anim calcmode="lin" valueType="num">
                                      <p:cBhvr>
                                        <p:cTn id="50" dur="1000" fill="hold"/>
                                        <p:tgtEl>
                                          <p:spTgt spid="13315">
                                            <p:txEl>
                                              <p:pRg st="4" end="4"/>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1" fill="hold">
                      <p:stCondLst>
                        <p:cond delay="indefinite"/>
                      </p:stCondLst>
                      <p:childTnLst>
                        <p:par>
                          <p:cTn id="52" fill="hold">
                            <p:stCondLst>
                              <p:cond delay="0"/>
                            </p:stCondLst>
                            <p:childTnLst>
                              <p:par>
                                <p:cTn id="53" presetID="15" presetClass="entr" presetSubtype="0" fill="hold" grpId="0" nodeType="clickEffect">
                                  <p:stCondLst>
                                    <p:cond delay="0"/>
                                  </p:stCondLst>
                                  <p:childTnLst>
                                    <p:set>
                                      <p:cBhvr>
                                        <p:cTn id="54" dur="1" fill="hold">
                                          <p:stCondLst>
                                            <p:cond delay="0"/>
                                          </p:stCondLst>
                                        </p:cTn>
                                        <p:tgtEl>
                                          <p:spTgt spid="13315">
                                            <p:txEl>
                                              <p:pRg st="5" end="5"/>
                                            </p:txEl>
                                          </p:spTgt>
                                        </p:tgtEl>
                                        <p:attrNameLst>
                                          <p:attrName>style.visibility</p:attrName>
                                        </p:attrNameLst>
                                      </p:cBhvr>
                                      <p:to>
                                        <p:strVal val="visible"/>
                                      </p:to>
                                    </p:set>
                                    <p:anim calcmode="lin" valueType="num">
                                      <p:cBhvr>
                                        <p:cTn id="55" dur="1000" fill="hold"/>
                                        <p:tgtEl>
                                          <p:spTgt spid="13315">
                                            <p:txEl>
                                              <p:pRg st="5" end="5"/>
                                            </p:txEl>
                                          </p:spTgt>
                                        </p:tgtEl>
                                        <p:attrNameLst>
                                          <p:attrName>ppt_w</p:attrName>
                                        </p:attrNameLst>
                                      </p:cBhvr>
                                      <p:tavLst>
                                        <p:tav tm="0">
                                          <p:val>
                                            <p:fltVal val="0"/>
                                          </p:val>
                                        </p:tav>
                                        <p:tav tm="100000">
                                          <p:val>
                                            <p:strVal val="#ppt_w"/>
                                          </p:val>
                                        </p:tav>
                                      </p:tavLst>
                                    </p:anim>
                                    <p:anim calcmode="lin" valueType="num">
                                      <p:cBhvr>
                                        <p:cTn id="56" dur="1000" fill="hold"/>
                                        <p:tgtEl>
                                          <p:spTgt spid="13315">
                                            <p:txEl>
                                              <p:pRg st="5" end="5"/>
                                            </p:txEl>
                                          </p:spTgt>
                                        </p:tgtEl>
                                        <p:attrNameLst>
                                          <p:attrName>ppt_h</p:attrName>
                                        </p:attrNameLst>
                                      </p:cBhvr>
                                      <p:tavLst>
                                        <p:tav tm="0">
                                          <p:val>
                                            <p:fltVal val="0"/>
                                          </p:val>
                                        </p:tav>
                                        <p:tav tm="100000">
                                          <p:val>
                                            <p:strVal val="#ppt_h"/>
                                          </p:val>
                                        </p:tav>
                                      </p:tavLst>
                                    </p:anim>
                                    <p:anim calcmode="lin" valueType="num">
                                      <p:cBhvr>
                                        <p:cTn id="57" dur="1000" fill="hold"/>
                                        <p:tgtEl>
                                          <p:spTgt spid="13315">
                                            <p:txEl>
                                              <p:pRg st="5" end="5"/>
                                            </p:txEl>
                                          </p:spTgt>
                                        </p:tgtEl>
                                        <p:attrNameLst>
                                          <p:attrName>ppt_x</p:attrName>
                                        </p:attrNameLst>
                                      </p:cBhvr>
                                      <p:tavLst>
                                        <p:tav tm="0" fmla="#ppt_x+(cos(-2*pi*(1-$))*-#ppt_x-sin(-2*pi*(1-$))*(1-#ppt_y))*(1-$)">
                                          <p:val>
                                            <p:fltVal val="0"/>
                                          </p:val>
                                        </p:tav>
                                        <p:tav tm="100000">
                                          <p:val>
                                            <p:fltVal val="1"/>
                                          </p:val>
                                        </p:tav>
                                      </p:tavLst>
                                    </p:anim>
                                    <p:anim calcmode="lin" valueType="num">
                                      <p:cBhvr>
                                        <p:cTn id="58" dur="1000" fill="hold"/>
                                        <p:tgtEl>
                                          <p:spTgt spid="13315">
                                            <p:txEl>
                                              <p:pRg st="5" end="5"/>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9" fill="hold">
                      <p:stCondLst>
                        <p:cond delay="indefinite"/>
                      </p:stCondLst>
                      <p:childTnLst>
                        <p:par>
                          <p:cTn id="60" fill="hold">
                            <p:stCondLst>
                              <p:cond delay="0"/>
                            </p:stCondLst>
                            <p:childTnLst>
                              <p:par>
                                <p:cTn id="61" presetID="15" presetClass="entr" presetSubtype="0" fill="hold" grpId="0" nodeType="clickEffect">
                                  <p:stCondLst>
                                    <p:cond delay="0"/>
                                  </p:stCondLst>
                                  <p:childTnLst>
                                    <p:set>
                                      <p:cBhvr>
                                        <p:cTn id="62" dur="1" fill="hold">
                                          <p:stCondLst>
                                            <p:cond delay="0"/>
                                          </p:stCondLst>
                                        </p:cTn>
                                        <p:tgtEl>
                                          <p:spTgt spid="13315">
                                            <p:txEl>
                                              <p:pRg st="6" end="6"/>
                                            </p:txEl>
                                          </p:spTgt>
                                        </p:tgtEl>
                                        <p:attrNameLst>
                                          <p:attrName>style.visibility</p:attrName>
                                        </p:attrNameLst>
                                      </p:cBhvr>
                                      <p:to>
                                        <p:strVal val="visible"/>
                                      </p:to>
                                    </p:set>
                                    <p:anim calcmode="lin" valueType="num">
                                      <p:cBhvr>
                                        <p:cTn id="63" dur="1000" fill="hold"/>
                                        <p:tgtEl>
                                          <p:spTgt spid="13315">
                                            <p:txEl>
                                              <p:pRg st="6" end="6"/>
                                            </p:txEl>
                                          </p:spTgt>
                                        </p:tgtEl>
                                        <p:attrNameLst>
                                          <p:attrName>ppt_w</p:attrName>
                                        </p:attrNameLst>
                                      </p:cBhvr>
                                      <p:tavLst>
                                        <p:tav tm="0">
                                          <p:val>
                                            <p:fltVal val="0"/>
                                          </p:val>
                                        </p:tav>
                                        <p:tav tm="100000">
                                          <p:val>
                                            <p:strVal val="#ppt_w"/>
                                          </p:val>
                                        </p:tav>
                                      </p:tavLst>
                                    </p:anim>
                                    <p:anim calcmode="lin" valueType="num">
                                      <p:cBhvr>
                                        <p:cTn id="64" dur="1000" fill="hold"/>
                                        <p:tgtEl>
                                          <p:spTgt spid="13315">
                                            <p:txEl>
                                              <p:pRg st="6" end="6"/>
                                            </p:txEl>
                                          </p:spTgt>
                                        </p:tgtEl>
                                        <p:attrNameLst>
                                          <p:attrName>ppt_h</p:attrName>
                                        </p:attrNameLst>
                                      </p:cBhvr>
                                      <p:tavLst>
                                        <p:tav tm="0">
                                          <p:val>
                                            <p:fltVal val="0"/>
                                          </p:val>
                                        </p:tav>
                                        <p:tav tm="100000">
                                          <p:val>
                                            <p:strVal val="#ppt_h"/>
                                          </p:val>
                                        </p:tav>
                                      </p:tavLst>
                                    </p:anim>
                                    <p:anim calcmode="lin" valueType="num">
                                      <p:cBhvr>
                                        <p:cTn id="65" dur="1000" fill="hold"/>
                                        <p:tgtEl>
                                          <p:spTgt spid="13315">
                                            <p:txEl>
                                              <p:pRg st="6" end="6"/>
                                            </p:txEl>
                                          </p:spTgt>
                                        </p:tgtEl>
                                        <p:attrNameLst>
                                          <p:attrName>ppt_x</p:attrName>
                                        </p:attrNameLst>
                                      </p:cBhvr>
                                      <p:tavLst>
                                        <p:tav tm="0" fmla="#ppt_x+(cos(-2*pi*(1-$))*-#ppt_x-sin(-2*pi*(1-$))*(1-#ppt_y))*(1-$)">
                                          <p:val>
                                            <p:fltVal val="0"/>
                                          </p:val>
                                        </p:tav>
                                        <p:tav tm="100000">
                                          <p:val>
                                            <p:fltVal val="1"/>
                                          </p:val>
                                        </p:tav>
                                      </p:tavLst>
                                    </p:anim>
                                    <p:anim calcmode="lin" valueType="num">
                                      <p:cBhvr>
                                        <p:cTn id="66" dur="1000" fill="hold"/>
                                        <p:tgtEl>
                                          <p:spTgt spid="13315">
                                            <p:txEl>
                                              <p:pRg st="6" end="6"/>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67" fill="hold">
                      <p:stCondLst>
                        <p:cond delay="indefinite"/>
                      </p:stCondLst>
                      <p:childTnLst>
                        <p:par>
                          <p:cTn id="68" fill="hold">
                            <p:stCondLst>
                              <p:cond delay="0"/>
                            </p:stCondLst>
                            <p:childTnLst>
                              <p:par>
                                <p:cTn id="69" presetID="15" presetClass="entr" presetSubtype="0" fill="hold" grpId="0" nodeType="clickEffect">
                                  <p:stCondLst>
                                    <p:cond delay="0"/>
                                  </p:stCondLst>
                                  <p:childTnLst>
                                    <p:set>
                                      <p:cBhvr>
                                        <p:cTn id="70" dur="1" fill="hold">
                                          <p:stCondLst>
                                            <p:cond delay="0"/>
                                          </p:stCondLst>
                                        </p:cTn>
                                        <p:tgtEl>
                                          <p:spTgt spid="5">
                                            <p:txEl>
                                              <p:pRg st="0" end="0"/>
                                            </p:txEl>
                                          </p:spTgt>
                                        </p:tgtEl>
                                        <p:attrNameLst>
                                          <p:attrName>style.visibility</p:attrName>
                                        </p:attrNameLst>
                                      </p:cBhvr>
                                      <p:to>
                                        <p:strVal val="visible"/>
                                      </p:to>
                                    </p:set>
                                    <p:anim calcmode="lin" valueType="num">
                                      <p:cBhvr>
                                        <p:cTn id="71" dur="1000" fill="hold"/>
                                        <p:tgtEl>
                                          <p:spTgt spid="5">
                                            <p:txEl>
                                              <p:pRg st="0" end="0"/>
                                            </p:txEl>
                                          </p:spTgt>
                                        </p:tgtEl>
                                        <p:attrNameLst>
                                          <p:attrName>ppt_w</p:attrName>
                                        </p:attrNameLst>
                                      </p:cBhvr>
                                      <p:tavLst>
                                        <p:tav tm="0">
                                          <p:val>
                                            <p:fltVal val="0"/>
                                          </p:val>
                                        </p:tav>
                                        <p:tav tm="100000">
                                          <p:val>
                                            <p:strVal val="#ppt_w"/>
                                          </p:val>
                                        </p:tav>
                                      </p:tavLst>
                                    </p:anim>
                                    <p:anim calcmode="lin" valueType="num">
                                      <p:cBhvr>
                                        <p:cTn id="72" dur="1000" fill="hold"/>
                                        <p:tgtEl>
                                          <p:spTgt spid="5">
                                            <p:txEl>
                                              <p:pRg st="0" end="0"/>
                                            </p:txEl>
                                          </p:spTgt>
                                        </p:tgtEl>
                                        <p:attrNameLst>
                                          <p:attrName>ppt_h</p:attrName>
                                        </p:attrNameLst>
                                      </p:cBhvr>
                                      <p:tavLst>
                                        <p:tav tm="0">
                                          <p:val>
                                            <p:fltVal val="0"/>
                                          </p:val>
                                        </p:tav>
                                        <p:tav tm="100000">
                                          <p:val>
                                            <p:strVal val="#ppt_h"/>
                                          </p:val>
                                        </p:tav>
                                      </p:tavLst>
                                    </p:anim>
                                    <p:anim calcmode="lin" valueType="num">
                                      <p:cBhvr>
                                        <p:cTn id="73" dur="1000" fill="hold"/>
                                        <p:tgtEl>
                                          <p:spTgt spid="5">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74" dur="1000" fill="hold"/>
                                        <p:tgtEl>
                                          <p:spTgt spid="5">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75" fill="hold">
                      <p:stCondLst>
                        <p:cond delay="indefinite"/>
                      </p:stCondLst>
                      <p:childTnLst>
                        <p:par>
                          <p:cTn id="76" fill="hold">
                            <p:stCondLst>
                              <p:cond delay="0"/>
                            </p:stCondLst>
                            <p:childTnLst>
                              <p:par>
                                <p:cTn id="77" presetID="15" presetClass="entr" presetSubtype="0" fill="hold" grpId="0" nodeType="clickEffect">
                                  <p:stCondLst>
                                    <p:cond delay="0"/>
                                  </p:stCondLst>
                                  <p:childTnLst>
                                    <p:set>
                                      <p:cBhvr>
                                        <p:cTn id="78" dur="1" fill="hold">
                                          <p:stCondLst>
                                            <p:cond delay="0"/>
                                          </p:stCondLst>
                                        </p:cTn>
                                        <p:tgtEl>
                                          <p:spTgt spid="5">
                                            <p:txEl>
                                              <p:pRg st="1" end="1"/>
                                            </p:txEl>
                                          </p:spTgt>
                                        </p:tgtEl>
                                        <p:attrNameLst>
                                          <p:attrName>style.visibility</p:attrName>
                                        </p:attrNameLst>
                                      </p:cBhvr>
                                      <p:to>
                                        <p:strVal val="visible"/>
                                      </p:to>
                                    </p:set>
                                    <p:anim calcmode="lin" valueType="num">
                                      <p:cBhvr>
                                        <p:cTn id="79" dur="1000" fill="hold"/>
                                        <p:tgtEl>
                                          <p:spTgt spid="5">
                                            <p:txEl>
                                              <p:pRg st="1" end="1"/>
                                            </p:txEl>
                                          </p:spTgt>
                                        </p:tgtEl>
                                        <p:attrNameLst>
                                          <p:attrName>ppt_w</p:attrName>
                                        </p:attrNameLst>
                                      </p:cBhvr>
                                      <p:tavLst>
                                        <p:tav tm="0">
                                          <p:val>
                                            <p:fltVal val="0"/>
                                          </p:val>
                                        </p:tav>
                                        <p:tav tm="100000">
                                          <p:val>
                                            <p:strVal val="#ppt_w"/>
                                          </p:val>
                                        </p:tav>
                                      </p:tavLst>
                                    </p:anim>
                                    <p:anim calcmode="lin" valueType="num">
                                      <p:cBhvr>
                                        <p:cTn id="80" dur="1000" fill="hold"/>
                                        <p:tgtEl>
                                          <p:spTgt spid="5">
                                            <p:txEl>
                                              <p:pRg st="1" end="1"/>
                                            </p:txEl>
                                          </p:spTgt>
                                        </p:tgtEl>
                                        <p:attrNameLst>
                                          <p:attrName>ppt_h</p:attrName>
                                        </p:attrNameLst>
                                      </p:cBhvr>
                                      <p:tavLst>
                                        <p:tav tm="0">
                                          <p:val>
                                            <p:fltVal val="0"/>
                                          </p:val>
                                        </p:tav>
                                        <p:tav tm="100000">
                                          <p:val>
                                            <p:strVal val="#ppt_h"/>
                                          </p:val>
                                        </p:tav>
                                      </p:tavLst>
                                    </p:anim>
                                    <p:anim calcmode="lin" valueType="num">
                                      <p:cBhvr>
                                        <p:cTn id="81" dur="1000" fill="hold"/>
                                        <p:tgtEl>
                                          <p:spTgt spid="5">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82" dur="1000" fill="hold"/>
                                        <p:tgtEl>
                                          <p:spTgt spid="5">
                                            <p:txEl>
                                              <p:pRg st="1" end="1"/>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83" fill="hold">
                      <p:stCondLst>
                        <p:cond delay="indefinite"/>
                      </p:stCondLst>
                      <p:childTnLst>
                        <p:par>
                          <p:cTn id="84" fill="hold">
                            <p:stCondLst>
                              <p:cond delay="0"/>
                            </p:stCondLst>
                            <p:childTnLst>
                              <p:par>
                                <p:cTn id="85" presetID="15" presetClass="entr" presetSubtype="0" fill="hold" grpId="0" nodeType="clickEffect">
                                  <p:stCondLst>
                                    <p:cond delay="0"/>
                                  </p:stCondLst>
                                  <p:childTnLst>
                                    <p:set>
                                      <p:cBhvr>
                                        <p:cTn id="86" dur="1" fill="hold">
                                          <p:stCondLst>
                                            <p:cond delay="0"/>
                                          </p:stCondLst>
                                        </p:cTn>
                                        <p:tgtEl>
                                          <p:spTgt spid="5">
                                            <p:txEl>
                                              <p:pRg st="2" end="2"/>
                                            </p:txEl>
                                          </p:spTgt>
                                        </p:tgtEl>
                                        <p:attrNameLst>
                                          <p:attrName>style.visibility</p:attrName>
                                        </p:attrNameLst>
                                      </p:cBhvr>
                                      <p:to>
                                        <p:strVal val="visible"/>
                                      </p:to>
                                    </p:set>
                                    <p:anim calcmode="lin" valueType="num">
                                      <p:cBhvr>
                                        <p:cTn id="87" dur="1000" fill="hold"/>
                                        <p:tgtEl>
                                          <p:spTgt spid="5">
                                            <p:txEl>
                                              <p:pRg st="2" end="2"/>
                                            </p:txEl>
                                          </p:spTgt>
                                        </p:tgtEl>
                                        <p:attrNameLst>
                                          <p:attrName>ppt_w</p:attrName>
                                        </p:attrNameLst>
                                      </p:cBhvr>
                                      <p:tavLst>
                                        <p:tav tm="0">
                                          <p:val>
                                            <p:fltVal val="0"/>
                                          </p:val>
                                        </p:tav>
                                        <p:tav tm="100000">
                                          <p:val>
                                            <p:strVal val="#ppt_w"/>
                                          </p:val>
                                        </p:tav>
                                      </p:tavLst>
                                    </p:anim>
                                    <p:anim calcmode="lin" valueType="num">
                                      <p:cBhvr>
                                        <p:cTn id="88" dur="1000" fill="hold"/>
                                        <p:tgtEl>
                                          <p:spTgt spid="5">
                                            <p:txEl>
                                              <p:pRg st="2" end="2"/>
                                            </p:txEl>
                                          </p:spTgt>
                                        </p:tgtEl>
                                        <p:attrNameLst>
                                          <p:attrName>ppt_h</p:attrName>
                                        </p:attrNameLst>
                                      </p:cBhvr>
                                      <p:tavLst>
                                        <p:tav tm="0">
                                          <p:val>
                                            <p:fltVal val="0"/>
                                          </p:val>
                                        </p:tav>
                                        <p:tav tm="100000">
                                          <p:val>
                                            <p:strVal val="#ppt_h"/>
                                          </p:val>
                                        </p:tav>
                                      </p:tavLst>
                                    </p:anim>
                                    <p:anim calcmode="lin" valueType="num">
                                      <p:cBhvr>
                                        <p:cTn id="89" dur="1000" fill="hold"/>
                                        <p:tgtEl>
                                          <p:spTgt spid="5">
                                            <p:txEl>
                                              <p:pRg st="2" end="2"/>
                                            </p:txEl>
                                          </p:spTgt>
                                        </p:tgtEl>
                                        <p:attrNameLst>
                                          <p:attrName>ppt_x</p:attrName>
                                        </p:attrNameLst>
                                      </p:cBhvr>
                                      <p:tavLst>
                                        <p:tav tm="0" fmla="#ppt_x+(cos(-2*pi*(1-$))*-#ppt_x-sin(-2*pi*(1-$))*(1-#ppt_y))*(1-$)">
                                          <p:val>
                                            <p:fltVal val="0"/>
                                          </p:val>
                                        </p:tav>
                                        <p:tav tm="100000">
                                          <p:val>
                                            <p:fltVal val="1"/>
                                          </p:val>
                                        </p:tav>
                                      </p:tavLst>
                                    </p:anim>
                                    <p:anim calcmode="lin" valueType="num">
                                      <p:cBhvr>
                                        <p:cTn id="90" dur="1000" fill="hold"/>
                                        <p:tgtEl>
                                          <p:spTgt spid="5">
                                            <p:txEl>
                                              <p:pRg st="2" end="2"/>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91" fill="hold">
                      <p:stCondLst>
                        <p:cond delay="indefinite"/>
                      </p:stCondLst>
                      <p:childTnLst>
                        <p:par>
                          <p:cTn id="92" fill="hold">
                            <p:stCondLst>
                              <p:cond delay="0"/>
                            </p:stCondLst>
                            <p:childTnLst>
                              <p:par>
                                <p:cTn id="93" presetID="15" presetClass="entr" presetSubtype="0" fill="hold" grpId="0" nodeType="clickEffect">
                                  <p:stCondLst>
                                    <p:cond delay="0"/>
                                  </p:stCondLst>
                                  <p:childTnLst>
                                    <p:set>
                                      <p:cBhvr>
                                        <p:cTn id="94" dur="1" fill="hold">
                                          <p:stCondLst>
                                            <p:cond delay="0"/>
                                          </p:stCondLst>
                                        </p:cTn>
                                        <p:tgtEl>
                                          <p:spTgt spid="5">
                                            <p:txEl>
                                              <p:pRg st="3" end="3"/>
                                            </p:txEl>
                                          </p:spTgt>
                                        </p:tgtEl>
                                        <p:attrNameLst>
                                          <p:attrName>style.visibility</p:attrName>
                                        </p:attrNameLst>
                                      </p:cBhvr>
                                      <p:to>
                                        <p:strVal val="visible"/>
                                      </p:to>
                                    </p:set>
                                    <p:anim calcmode="lin" valueType="num">
                                      <p:cBhvr>
                                        <p:cTn id="95" dur="1000" fill="hold"/>
                                        <p:tgtEl>
                                          <p:spTgt spid="5">
                                            <p:txEl>
                                              <p:pRg st="3" end="3"/>
                                            </p:txEl>
                                          </p:spTgt>
                                        </p:tgtEl>
                                        <p:attrNameLst>
                                          <p:attrName>ppt_w</p:attrName>
                                        </p:attrNameLst>
                                      </p:cBhvr>
                                      <p:tavLst>
                                        <p:tav tm="0">
                                          <p:val>
                                            <p:fltVal val="0"/>
                                          </p:val>
                                        </p:tav>
                                        <p:tav tm="100000">
                                          <p:val>
                                            <p:strVal val="#ppt_w"/>
                                          </p:val>
                                        </p:tav>
                                      </p:tavLst>
                                    </p:anim>
                                    <p:anim calcmode="lin" valueType="num">
                                      <p:cBhvr>
                                        <p:cTn id="96" dur="1000" fill="hold"/>
                                        <p:tgtEl>
                                          <p:spTgt spid="5">
                                            <p:txEl>
                                              <p:pRg st="3" end="3"/>
                                            </p:txEl>
                                          </p:spTgt>
                                        </p:tgtEl>
                                        <p:attrNameLst>
                                          <p:attrName>ppt_h</p:attrName>
                                        </p:attrNameLst>
                                      </p:cBhvr>
                                      <p:tavLst>
                                        <p:tav tm="0">
                                          <p:val>
                                            <p:fltVal val="0"/>
                                          </p:val>
                                        </p:tav>
                                        <p:tav tm="100000">
                                          <p:val>
                                            <p:strVal val="#ppt_h"/>
                                          </p:val>
                                        </p:tav>
                                      </p:tavLst>
                                    </p:anim>
                                    <p:anim calcmode="lin" valueType="num">
                                      <p:cBhvr>
                                        <p:cTn id="97" dur="1000" fill="hold"/>
                                        <p:tgtEl>
                                          <p:spTgt spid="5">
                                            <p:txEl>
                                              <p:pRg st="3" end="3"/>
                                            </p:txEl>
                                          </p:spTgt>
                                        </p:tgtEl>
                                        <p:attrNameLst>
                                          <p:attrName>ppt_x</p:attrName>
                                        </p:attrNameLst>
                                      </p:cBhvr>
                                      <p:tavLst>
                                        <p:tav tm="0" fmla="#ppt_x+(cos(-2*pi*(1-$))*-#ppt_x-sin(-2*pi*(1-$))*(1-#ppt_y))*(1-$)">
                                          <p:val>
                                            <p:fltVal val="0"/>
                                          </p:val>
                                        </p:tav>
                                        <p:tav tm="100000">
                                          <p:val>
                                            <p:fltVal val="1"/>
                                          </p:val>
                                        </p:tav>
                                      </p:tavLst>
                                    </p:anim>
                                    <p:anim calcmode="lin" valueType="num">
                                      <p:cBhvr>
                                        <p:cTn id="98" dur="1000" fill="hold"/>
                                        <p:tgtEl>
                                          <p:spTgt spid="5">
                                            <p:txEl>
                                              <p:pRg st="3" end="3"/>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99" fill="hold">
                      <p:stCondLst>
                        <p:cond delay="indefinite"/>
                      </p:stCondLst>
                      <p:childTnLst>
                        <p:par>
                          <p:cTn id="100" fill="hold">
                            <p:stCondLst>
                              <p:cond delay="0"/>
                            </p:stCondLst>
                            <p:childTnLst>
                              <p:par>
                                <p:cTn id="101" presetID="15" presetClass="entr" presetSubtype="0" fill="hold" grpId="0" nodeType="clickEffect">
                                  <p:stCondLst>
                                    <p:cond delay="0"/>
                                  </p:stCondLst>
                                  <p:childTnLst>
                                    <p:set>
                                      <p:cBhvr>
                                        <p:cTn id="102" dur="1" fill="hold">
                                          <p:stCondLst>
                                            <p:cond delay="0"/>
                                          </p:stCondLst>
                                        </p:cTn>
                                        <p:tgtEl>
                                          <p:spTgt spid="5">
                                            <p:txEl>
                                              <p:pRg st="4" end="4"/>
                                            </p:txEl>
                                          </p:spTgt>
                                        </p:tgtEl>
                                        <p:attrNameLst>
                                          <p:attrName>style.visibility</p:attrName>
                                        </p:attrNameLst>
                                      </p:cBhvr>
                                      <p:to>
                                        <p:strVal val="visible"/>
                                      </p:to>
                                    </p:set>
                                    <p:anim calcmode="lin" valueType="num">
                                      <p:cBhvr>
                                        <p:cTn id="103" dur="1000" fill="hold"/>
                                        <p:tgtEl>
                                          <p:spTgt spid="5">
                                            <p:txEl>
                                              <p:pRg st="4" end="4"/>
                                            </p:txEl>
                                          </p:spTgt>
                                        </p:tgtEl>
                                        <p:attrNameLst>
                                          <p:attrName>ppt_w</p:attrName>
                                        </p:attrNameLst>
                                      </p:cBhvr>
                                      <p:tavLst>
                                        <p:tav tm="0">
                                          <p:val>
                                            <p:fltVal val="0"/>
                                          </p:val>
                                        </p:tav>
                                        <p:tav tm="100000">
                                          <p:val>
                                            <p:strVal val="#ppt_w"/>
                                          </p:val>
                                        </p:tav>
                                      </p:tavLst>
                                    </p:anim>
                                    <p:anim calcmode="lin" valueType="num">
                                      <p:cBhvr>
                                        <p:cTn id="104" dur="1000" fill="hold"/>
                                        <p:tgtEl>
                                          <p:spTgt spid="5">
                                            <p:txEl>
                                              <p:pRg st="4" end="4"/>
                                            </p:txEl>
                                          </p:spTgt>
                                        </p:tgtEl>
                                        <p:attrNameLst>
                                          <p:attrName>ppt_h</p:attrName>
                                        </p:attrNameLst>
                                      </p:cBhvr>
                                      <p:tavLst>
                                        <p:tav tm="0">
                                          <p:val>
                                            <p:fltVal val="0"/>
                                          </p:val>
                                        </p:tav>
                                        <p:tav tm="100000">
                                          <p:val>
                                            <p:strVal val="#ppt_h"/>
                                          </p:val>
                                        </p:tav>
                                      </p:tavLst>
                                    </p:anim>
                                    <p:anim calcmode="lin" valueType="num">
                                      <p:cBhvr>
                                        <p:cTn id="105" dur="1000" fill="hold"/>
                                        <p:tgtEl>
                                          <p:spTgt spid="5">
                                            <p:txEl>
                                              <p:pRg st="4" end="4"/>
                                            </p:txEl>
                                          </p:spTgt>
                                        </p:tgtEl>
                                        <p:attrNameLst>
                                          <p:attrName>ppt_x</p:attrName>
                                        </p:attrNameLst>
                                      </p:cBhvr>
                                      <p:tavLst>
                                        <p:tav tm="0" fmla="#ppt_x+(cos(-2*pi*(1-$))*-#ppt_x-sin(-2*pi*(1-$))*(1-#ppt_y))*(1-$)">
                                          <p:val>
                                            <p:fltVal val="0"/>
                                          </p:val>
                                        </p:tav>
                                        <p:tav tm="100000">
                                          <p:val>
                                            <p:fltVal val="1"/>
                                          </p:val>
                                        </p:tav>
                                      </p:tavLst>
                                    </p:anim>
                                    <p:anim calcmode="lin" valueType="num">
                                      <p:cBhvr>
                                        <p:cTn id="106" dur="1000" fill="hold"/>
                                        <p:tgtEl>
                                          <p:spTgt spid="5">
                                            <p:txEl>
                                              <p:pRg st="4" end="4"/>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p:bldP spid="13315" grpId="0" build="p"/>
      <p:bldP spid="5"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p:cNvSpPr>
            <a:spLocks noGrp="1" noChangeArrowheads="1"/>
          </p:cNvSpPr>
          <p:nvPr>
            <p:ph type="title"/>
          </p:nvPr>
        </p:nvSpPr>
        <p:spPr>
          <a:xfrm>
            <a:off x="457200" y="44624"/>
            <a:ext cx="8229600" cy="1143000"/>
          </a:xfrm>
        </p:spPr>
        <p:txBody>
          <a:bodyPr/>
          <a:lstStyle/>
          <a:p>
            <a:pPr algn="l"/>
            <a:r>
              <a:rPr lang="en-US" u="sng" dirty="0" smtClean="0">
                <a:latin typeface="Constantia" pitchFamily="18" charset="0"/>
              </a:rPr>
              <a:t>Oligopoly:</a:t>
            </a:r>
            <a:endParaRPr lang="en-US" u="sng" dirty="0">
              <a:latin typeface="Constantia" pitchFamily="18" charset="0"/>
            </a:endParaRPr>
          </a:p>
        </p:txBody>
      </p:sp>
      <p:sp>
        <p:nvSpPr>
          <p:cNvPr id="207875" name="Rectangle 3"/>
          <p:cNvSpPr>
            <a:spLocks noGrp="1" noChangeArrowheads="1"/>
          </p:cNvSpPr>
          <p:nvPr>
            <p:ph idx="1"/>
          </p:nvPr>
        </p:nvSpPr>
        <p:spPr>
          <a:xfrm>
            <a:off x="-252536" y="1376772"/>
            <a:ext cx="9396536" cy="4389120"/>
          </a:xfrm>
        </p:spPr>
        <p:txBody>
          <a:bodyPr>
            <a:noAutofit/>
          </a:bodyPr>
          <a:lstStyle/>
          <a:p>
            <a:pPr lvl="1"/>
            <a:r>
              <a:rPr lang="en-US" sz="3000" b="1" dirty="0">
                <a:solidFill>
                  <a:srgbClr val="FF0000"/>
                </a:solidFill>
                <a:latin typeface="Constantia" pitchFamily="18" charset="0"/>
              </a:rPr>
              <a:t>Oligopoly</a:t>
            </a:r>
            <a:r>
              <a:rPr lang="en-US" sz="3000" dirty="0">
                <a:latin typeface="Constantia" pitchFamily="18" charset="0"/>
              </a:rPr>
              <a:t> is a market in which a small number of firms compete.</a:t>
            </a:r>
          </a:p>
          <a:p>
            <a:pPr lvl="1"/>
            <a:r>
              <a:rPr lang="en-US" sz="3000" dirty="0">
                <a:latin typeface="Constantia" pitchFamily="18" charset="0"/>
              </a:rPr>
              <a:t>In oligopoly, the quantity sold by one firm depends on the firm’s own price and the prices and quantities sold by the other firms.</a:t>
            </a:r>
          </a:p>
          <a:p>
            <a:pPr lvl="1"/>
            <a:r>
              <a:rPr lang="en-US" sz="3000" dirty="0">
                <a:latin typeface="Constantia" pitchFamily="18" charset="0"/>
              </a:rPr>
              <a:t>The response of other firms to a firm’s price and output </a:t>
            </a:r>
            <a:r>
              <a:rPr lang="en-US" sz="3000" dirty="0" smtClean="0">
                <a:latin typeface="Constantia" pitchFamily="18" charset="0"/>
              </a:rPr>
              <a:t>influences </a:t>
            </a:r>
            <a:r>
              <a:rPr lang="en-US" sz="3000" dirty="0">
                <a:latin typeface="Constantia" pitchFamily="18" charset="0"/>
              </a:rPr>
              <a:t>the firm’s profit-maximizing decision</a:t>
            </a:r>
            <a:r>
              <a:rPr lang="en-US" sz="3000" dirty="0" smtClean="0">
                <a:latin typeface="Constantia" pitchFamily="18" charset="0"/>
              </a:rPr>
              <a:t>.</a:t>
            </a:r>
          </a:p>
          <a:p>
            <a:pPr lvl="1">
              <a:buNone/>
            </a:pPr>
            <a:r>
              <a:rPr lang="en-US" b="1" u="sng" dirty="0" smtClean="0">
                <a:effectLst/>
                <a:latin typeface="Constantia" pitchFamily="18" charset="0"/>
              </a:rPr>
              <a:t>Readings:</a:t>
            </a:r>
            <a:r>
              <a:rPr lang="en-US" b="1" dirty="0" smtClean="0">
                <a:effectLst/>
                <a:latin typeface="Constantia" pitchFamily="18" charset="0"/>
              </a:rPr>
              <a:t> Samuelson &amp; </a:t>
            </a:r>
            <a:r>
              <a:rPr lang="en-US" b="1" dirty="0" err="1" smtClean="0">
                <a:effectLst/>
                <a:latin typeface="Constantia" pitchFamily="18" charset="0"/>
              </a:rPr>
              <a:t>Nordhaus</a:t>
            </a:r>
            <a:r>
              <a:rPr lang="en-US" b="1" dirty="0" smtClean="0">
                <a:effectLst/>
                <a:latin typeface="Constantia" pitchFamily="18" charset="0"/>
              </a:rPr>
              <a:t>, Ch. 8 - Sections  		  A &amp; B;  Ch. </a:t>
            </a:r>
            <a:r>
              <a:rPr lang="en-US" b="1" smtClean="0">
                <a:effectLst/>
                <a:latin typeface="Constantia" pitchFamily="18" charset="0"/>
              </a:rPr>
              <a:t>9 – Section A</a:t>
            </a:r>
            <a:endParaRPr lang="en-US" b="1" u="sng" dirty="0" smtClean="0">
              <a:effectLst/>
              <a:latin typeface="Constantia" pitchFamily="18" charset="0"/>
            </a:endParaRPr>
          </a:p>
          <a:p>
            <a:pPr lvl="1">
              <a:buNone/>
            </a:pPr>
            <a:endParaRPr lang="en-US" sz="3000" dirty="0" smtClean="0">
              <a:latin typeface="Constantia" pitchFamily="18" charset="0"/>
            </a:endParaRPr>
          </a:p>
        </p:txBody>
      </p:sp>
      <p:sp>
        <p:nvSpPr>
          <p:cNvPr id="4" name="Slide Number Placeholder 3"/>
          <p:cNvSpPr>
            <a:spLocks noGrp="1"/>
          </p:cNvSpPr>
          <p:nvPr>
            <p:ph type="sldNum" sz="quarter" idx="12"/>
          </p:nvPr>
        </p:nvSpPr>
        <p:spPr/>
        <p:txBody>
          <a:bodyPr/>
          <a:lstStyle/>
          <a:p>
            <a:fld id="{D593C574-AB81-41E3-BF78-5923CC4987D7}" type="slidenum">
              <a:rPr lang="en-US" smtClean="0"/>
              <a:pPr/>
              <a:t>19</a:t>
            </a:fld>
            <a:endParaRPr lang="en-US"/>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Theme4">
  <a:themeElements>
    <a:clrScheme name="Stream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Stream">
      <a:majorFont>
        <a:latin typeface="Garamond"/>
        <a:ea typeface=""/>
        <a:cs typeface="Arial"/>
      </a:majorFont>
      <a:minorFont>
        <a:latin typeface="Garamond"/>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tream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clrMap bg1="dk2" tx1="lt1" bg2="dk1" tx2="lt2" accent1="accent1" accent2="accent2" accent3="accent3" accent4="accent4" accent5="accent5" accent6="accent6" hlink="hlink" folHlink="folHlink"/>
    </a:extraClrScheme>
    <a:extraClrScheme>
      <a:clrScheme name="Stream 2">
        <a:dk1>
          <a:srgbClr val="3E3E5C"/>
        </a:dk1>
        <a:lt1>
          <a:srgbClr val="FFFFFF"/>
        </a:lt1>
        <a:dk2>
          <a:srgbClr val="666699"/>
        </a:dk2>
        <a:lt2>
          <a:srgbClr val="DFDFE9"/>
        </a:lt2>
        <a:accent1>
          <a:srgbClr val="CC66FF"/>
        </a:accent1>
        <a:accent2>
          <a:srgbClr val="679ACD"/>
        </a:accent2>
        <a:accent3>
          <a:srgbClr val="B8B8CA"/>
        </a:accent3>
        <a:accent4>
          <a:srgbClr val="DADADA"/>
        </a:accent4>
        <a:accent5>
          <a:srgbClr val="E2B8FF"/>
        </a:accent5>
        <a:accent6>
          <a:srgbClr val="5D8BBA"/>
        </a:accent6>
        <a:hlink>
          <a:srgbClr val="CCECFF"/>
        </a:hlink>
        <a:folHlink>
          <a:srgbClr val="CCCCFF"/>
        </a:folHlink>
      </a:clrScheme>
      <a:clrMap bg1="dk2" tx1="lt1" bg2="dk1" tx2="lt2" accent1="accent1" accent2="accent2" accent3="accent3" accent4="accent4" accent5="accent5" accent6="accent6" hlink="hlink" folHlink="folHlink"/>
    </a:extraClrScheme>
    <a:extraClrScheme>
      <a:clrScheme name="Stream 3">
        <a:dk1>
          <a:srgbClr val="2A5400"/>
        </a:dk1>
        <a:lt1>
          <a:srgbClr val="FFFFFF"/>
        </a:lt1>
        <a:dk2>
          <a:srgbClr val="4A9400"/>
        </a:dk2>
        <a:lt2>
          <a:srgbClr val="BAE8BA"/>
        </a:lt2>
        <a:accent1>
          <a:srgbClr val="33CC33"/>
        </a:accent1>
        <a:accent2>
          <a:srgbClr val="99CC00"/>
        </a:accent2>
        <a:accent3>
          <a:srgbClr val="B1C8AA"/>
        </a:accent3>
        <a:accent4>
          <a:srgbClr val="DADADA"/>
        </a:accent4>
        <a:accent5>
          <a:srgbClr val="ADE2AD"/>
        </a:accent5>
        <a:accent6>
          <a:srgbClr val="8AB900"/>
        </a:accent6>
        <a:hlink>
          <a:srgbClr val="99FF33"/>
        </a:hlink>
        <a:folHlink>
          <a:srgbClr val="FFFF99"/>
        </a:folHlink>
      </a:clrScheme>
      <a:clrMap bg1="dk2" tx1="lt1" bg2="dk1" tx2="lt2" accent1="accent1" accent2="accent2" accent3="accent3" accent4="accent4" accent5="accent5" accent6="accent6" hlink="hlink" folHlink="folHlink"/>
    </a:extraClrScheme>
    <a:extraClrScheme>
      <a:clrScheme name="Stream 4">
        <a:dk1>
          <a:srgbClr val="000000"/>
        </a:dk1>
        <a:lt1>
          <a:srgbClr val="FFFFFF"/>
        </a:lt1>
        <a:dk2>
          <a:srgbClr val="51596D"/>
        </a:dk2>
        <a:lt2>
          <a:srgbClr val="DDDDDD"/>
        </a:lt2>
        <a:accent1>
          <a:srgbClr val="787E8A"/>
        </a:accent1>
        <a:accent2>
          <a:srgbClr val="339966"/>
        </a:accent2>
        <a:accent3>
          <a:srgbClr val="B3B5BA"/>
        </a:accent3>
        <a:accent4>
          <a:srgbClr val="DADADA"/>
        </a:accent4>
        <a:accent5>
          <a:srgbClr val="BEC0C4"/>
        </a:accent5>
        <a:accent6>
          <a:srgbClr val="2D8A5C"/>
        </a:accent6>
        <a:hlink>
          <a:srgbClr val="00FFFF"/>
        </a:hlink>
        <a:folHlink>
          <a:srgbClr val="74B6D0"/>
        </a:folHlink>
      </a:clrScheme>
      <a:clrMap bg1="dk2" tx1="lt1" bg2="dk1" tx2="lt2" accent1="accent1" accent2="accent2" accent3="accent3" accent4="accent4" accent5="accent5" accent6="accent6" hlink="hlink" folHlink="folHlink"/>
    </a:extraClrScheme>
    <a:extraClrScheme>
      <a:clrScheme name="Stream 5">
        <a:dk1>
          <a:srgbClr val="5C1F00"/>
        </a:dk1>
        <a:lt1>
          <a:srgbClr val="FFFFFF"/>
        </a:lt1>
        <a:dk2>
          <a:srgbClr val="8C0000"/>
        </a:dk2>
        <a:lt2>
          <a:srgbClr val="DFD293"/>
        </a:lt2>
        <a:accent1>
          <a:srgbClr val="FF6845"/>
        </a:accent1>
        <a:accent2>
          <a:srgbClr val="BE7960"/>
        </a:accent2>
        <a:accent3>
          <a:srgbClr val="C5AAAA"/>
        </a:accent3>
        <a:accent4>
          <a:srgbClr val="DADADA"/>
        </a:accent4>
        <a:accent5>
          <a:srgbClr val="FFB9B0"/>
        </a:accent5>
        <a:accent6>
          <a:srgbClr val="AC6D56"/>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Stream 6">
        <a:dk1>
          <a:srgbClr val="5E4444"/>
        </a:dk1>
        <a:lt1>
          <a:srgbClr val="F7F3F3"/>
        </a:lt1>
        <a:dk2>
          <a:srgbClr val="8A6362"/>
        </a:dk2>
        <a:lt2>
          <a:srgbClr val="D8C1BA"/>
        </a:lt2>
        <a:accent1>
          <a:srgbClr val="CC6600"/>
        </a:accent1>
        <a:accent2>
          <a:srgbClr val="C16059"/>
        </a:accent2>
        <a:accent3>
          <a:srgbClr val="C4B7B7"/>
        </a:accent3>
        <a:accent4>
          <a:srgbClr val="D3D0D0"/>
        </a:accent4>
        <a:accent5>
          <a:srgbClr val="E2B8AA"/>
        </a:accent5>
        <a:accent6>
          <a:srgbClr val="AF5650"/>
        </a:accent6>
        <a:hlink>
          <a:srgbClr val="FFCC00"/>
        </a:hlink>
        <a:folHlink>
          <a:srgbClr val="CBB557"/>
        </a:folHlink>
      </a:clrScheme>
      <a:clrMap bg1="dk2" tx1="lt1" bg2="dk1" tx2="lt2" accent1="accent1" accent2="accent2" accent3="accent3" accent4="accent4" accent5="accent5" accent6="accent6" hlink="hlink" folHlink="folHlink"/>
    </a:extraClrScheme>
    <a:extraClrScheme>
      <a:clrScheme name="Stream 7">
        <a:dk1>
          <a:srgbClr val="7F6737"/>
        </a:dk1>
        <a:lt1>
          <a:srgbClr val="FFFFFF"/>
        </a:lt1>
        <a:dk2>
          <a:srgbClr val="BFA673"/>
        </a:dk2>
        <a:lt2>
          <a:srgbClr val="E6E3AA"/>
        </a:lt2>
        <a:accent1>
          <a:srgbClr val="FFCC00"/>
        </a:accent1>
        <a:accent2>
          <a:srgbClr val="808000"/>
        </a:accent2>
        <a:accent3>
          <a:srgbClr val="DCD0BC"/>
        </a:accent3>
        <a:accent4>
          <a:srgbClr val="DADADA"/>
        </a:accent4>
        <a:accent5>
          <a:srgbClr val="FFE2AA"/>
        </a:accent5>
        <a:accent6>
          <a:srgbClr val="737300"/>
        </a:accent6>
        <a:hlink>
          <a:srgbClr val="784700"/>
        </a:hlink>
        <a:folHlink>
          <a:srgbClr val="9A7200"/>
        </a:folHlink>
      </a:clrScheme>
      <a:clrMap bg1="dk2" tx1="lt1" bg2="dk1" tx2="lt2" accent1="accent1" accent2="accent2" accent3="accent3" accent4="accent4" accent5="accent5" accent6="accent6" hlink="hlink" folHlink="folHlink"/>
    </a:extraClrScheme>
    <a:extraClrScheme>
      <a:clrScheme name="Stream 8">
        <a:dk1>
          <a:srgbClr val="4B2500"/>
        </a:dk1>
        <a:lt1>
          <a:srgbClr val="F9F0D3"/>
        </a:lt1>
        <a:dk2>
          <a:srgbClr val="A69564"/>
        </a:dk2>
        <a:lt2>
          <a:srgbClr val="EFDEAF"/>
        </a:lt2>
        <a:accent1>
          <a:srgbClr val="FFFFE3"/>
        </a:accent1>
        <a:accent2>
          <a:srgbClr val="BFBFA7"/>
        </a:accent2>
        <a:accent3>
          <a:srgbClr val="FBF6E6"/>
        </a:accent3>
        <a:accent4>
          <a:srgbClr val="3F1E00"/>
        </a:accent4>
        <a:accent5>
          <a:srgbClr val="FFFFEF"/>
        </a:accent5>
        <a:accent6>
          <a:srgbClr val="ADAD97"/>
        </a:accent6>
        <a:hlink>
          <a:srgbClr val="7B6D47"/>
        </a:hlink>
        <a:folHlink>
          <a:srgbClr val="A99D2F"/>
        </a:folHlink>
      </a:clrScheme>
      <a:clrMap bg1="lt1" tx1="dk1" bg2="lt2" tx2="dk2" accent1="accent1" accent2="accent2" accent3="accent3" accent4="accent4" accent5="accent5" accent6="accent6" hlink="hlink" folHlink="folHlink"/>
    </a:extraClrScheme>
    <a:extraClrScheme>
      <a:clrScheme name="Stream 9">
        <a:dk1>
          <a:srgbClr val="000000"/>
        </a:dk1>
        <a:lt1>
          <a:srgbClr val="FFFFFF"/>
        </a:lt1>
        <a:dk2>
          <a:srgbClr val="000000"/>
        </a:dk2>
        <a:lt2>
          <a:srgbClr val="808080"/>
        </a:lt2>
        <a:accent1>
          <a:srgbClr val="CCECFF"/>
        </a:accent1>
        <a:accent2>
          <a:srgbClr val="333399"/>
        </a:accent2>
        <a:accent3>
          <a:srgbClr val="FFFFFF"/>
        </a:accent3>
        <a:accent4>
          <a:srgbClr val="000000"/>
        </a:accent4>
        <a:accent5>
          <a:srgbClr val="E2F4FF"/>
        </a:accent5>
        <a:accent6>
          <a:srgbClr val="2D2D8A"/>
        </a:accent6>
        <a:hlink>
          <a:srgbClr val="6600FF"/>
        </a:hlink>
        <a:folHlink>
          <a:srgbClr val="00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Theme4</Template>
  <TotalTime>207</TotalTime>
  <Words>1303</Words>
  <Application>Microsoft Office PowerPoint</Application>
  <PresentationFormat>On-screen Show (4:3)</PresentationFormat>
  <Paragraphs>174</Paragraphs>
  <Slides>19</Slides>
  <Notes>7</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Theme4</vt:lpstr>
      <vt:lpstr>Market Structure</vt:lpstr>
      <vt:lpstr>General Types of Markets:</vt:lpstr>
      <vt:lpstr>Characteristics of a Perfectly Competitive Market: </vt:lpstr>
      <vt:lpstr>The Demand Curve Faced by a Perfectly Competitive Firm: </vt:lpstr>
      <vt:lpstr>Slide 5</vt:lpstr>
      <vt:lpstr>Slide 6</vt:lpstr>
      <vt:lpstr>Monopoly:</vt:lpstr>
      <vt:lpstr>(Cont.)</vt:lpstr>
      <vt:lpstr>Characteristics of Monopoly:</vt:lpstr>
      <vt:lpstr>Causes of Monopoly:</vt:lpstr>
      <vt:lpstr>Monopolistic Competition:</vt:lpstr>
      <vt:lpstr>Characteristics of Monopolistic Competition:</vt:lpstr>
      <vt:lpstr>(Cont.)</vt:lpstr>
      <vt:lpstr>(Cont.)</vt:lpstr>
      <vt:lpstr>Product Differentiation</vt:lpstr>
      <vt:lpstr>(Cont.)</vt:lpstr>
      <vt:lpstr>(Cont.)</vt:lpstr>
      <vt:lpstr>Examples of Monopolistically Competitive Industries:</vt:lpstr>
      <vt:lpstr>Oligopoly:</vt:lpstr>
    </vt:vector>
  </TitlesOfParts>
  <Company>HP</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 Structure</dc:title>
  <dc:creator>ProBook</dc:creator>
  <cp:lastModifiedBy>ProBook</cp:lastModifiedBy>
  <cp:revision>6</cp:revision>
  <dcterms:created xsi:type="dcterms:W3CDTF">2015-10-14T08:04:20Z</dcterms:created>
  <dcterms:modified xsi:type="dcterms:W3CDTF">2016-06-11T10:27:18Z</dcterms:modified>
</cp:coreProperties>
</file>