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6" r:id="rId1"/>
  </p:sldMasterIdLst>
  <p:notesMasterIdLst>
    <p:notesMasterId r:id="rId45"/>
  </p:notesMasterIdLst>
  <p:sldIdLst>
    <p:sldId id="256" r:id="rId2"/>
    <p:sldId id="257" r:id="rId3"/>
    <p:sldId id="317" r:id="rId4"/>
    <p:sldId id="258" r:id="rId5"/>
    <p:sldId id="259" r:id="rId6"/>
    <p:sldId id="260" r:id="rId7"/>
    <p:sldId id="262" r:id="rId8"/>
    <p:sldId id="263" r:id="rId9"/>
    <p:sldId id="298" r:id="rId10"/>
    <p:sldId id="265" r:id="rId11"/>
    <p:sldId id="266" r:id="rId12"/>
    <p:sldId id="306" r:id="rId13"/>
    <p:sldId id="307" r:id="rId14"/>
    <p:sldId id="308" r:id="rId15"/>
    <p:sldId id="309" r:id="rId16"/>
    <p:sldId id="310" r:id="rId17"/>
    <p:sldId id="267" r:id="rId18"/>
    <p:sldId id="268" r:id="rId19"/>
    <p:sldId id="270" r:id="rId20"/>
    <p:sldId id="269" r:id="rId21"/>
    <p:sldId id="272" r:id="rId22"/>
    <p:sldId id="273" r:id="rId23"/>
    <p:sldId id="276" r:id="rId24"/>
    <p:sldId id="277" r:id="rId25"/>
    <p:sldId id="278" r:id="rId26"/>
    <p:sldId id="279" r:id="rId27"/>
    <p:sldId id="292" r:id="rId28"/>
    <p:sldId id="293" r:id="rId29"/>
    <p:sldId id="294" r:id="rId30"/>
    <p:sldId id="295" r:id="rId31"/>
    <p:sldId id="296" r:id="rId32"/>
    <p:sldId id="297" r:id="rId33"/>
    <p:sldId id="311" r:id="rId34"/>
    <p:sldId id="312" r:id="rId35"/>
    <p:sldId id="313" r:id="rId36"/>
    <p:sldId id="314" r:id="rId37"/>
    <p:sldId id="302" r:id="rId38"/>
    <p:sldId id="299" r:id="rId39"/>
    <p:sldId id="303" r:id="rId40"/>
    <p:sldId id="300" r:id="rId41"/>
    <p:sldId id="304" r:id="rId42"/>
    <p:sldId id="315" r:id="rId43"/>
    <p:sldId id="316" r:id="rId44"/>
  </p:sldIdLst>
  <p:sldSz cx="9144000" cy="6858000" type="screen4x3"/>
  <p:notesSz cx="6858000" cy="9144000"/>
  <p:defaultTextStyle>
    <a:defPPr>
      <a:defRPr lang="en-US"/>
    </a:defPPr>
    <a:lvl1pPr algn="ctr" rtl="0" fontAlgn="base">
      <a:spcBef>
        <a:spcPct val="0"/>
      </a:spcBef>
      <a:spcAft>
        <a:spcPct val="0"/>
      </a:spcAft>
      <a:defRPr sz="1600" kern="1200">
        <a:solidFill>
          <a:schemeClr val="tx1"/>
        </a:solidFill>
        <a:latin typeface="Arial" charset="0"/>
        <a:ea typeface="+mn-ea"/>
        <a:cs typeface="Arial" charset="0"/>
      </a:defRPr>
    </a:lvl1pPr>
    <a:lvl2pPr marL="457200" algn="ctr" rtl="0" fontAlgn="base">
      <a:spcBef>
        <a:spcPct val="0"/>
      </a:spcBef>
      <a:spcAft>
        <a:spcPct val="0"/>
      </a:spcAft>
      <a:defRPr sz="1600" kern="1200">
        <a:solidFill>
          <a:schemeClr val="tx1"/>
        </a:solidFill>
        <a:latin typeface="Arial" charset="0"/>
        <a:ea typeface="+mn-ea"/>
        <a:cs typeface="Arial" charset="0"/>
      </a:defRPr>
    </a:lvl2pPr>
    <a:lvl3pPr marL="914400" algn="ctr" rtl="0" fontAlgn="base">
      <a:spcBef>
        <a:spcPct val="0"/>
      </a:spcBef>
      <a:spcAft>
        <a:spcPct val="0"/>
      </a:spcAft>
      <a:defRPr sz="1600" kern="1200">
        <a:solidFill>
          <a:schemeClr val="tx1"/>
        </a:solidFill>
        <a:latin typeface="Arial" charset="0"/>
        <a:ea typeface="+mn-ea"/>
        <a:cs typeface="Arial" charset="0"/>
      </a:defRPr>
    </a:lvl3pPr>
    <a:lvl4pPr marL="1371600" algn="ctr" rtl="0" fontAlgn="base">
      <a:spcBef>
        <a:spcPct val="0"/>
      </a:spcBef>
      <a:spcAft>
        <a:spcPct val="0"/>
      </a:spcAft>
      <a:defRPr sz="1600" kern="1200">
        <a:solidFill>
          <a:schemeClr val="tx1"/>
        </a:solidFill>
        <a:latin typeface="Arial" charset="0"/>
        <a:ea typeface="+mn-ea"/>
        <a:cs typeface="Arial" charset="0"/>
      </a:defRPr>
    </a:lvl4pPr>
    <a:lvl5pPr marL="1828800" algn="ctr" rtl="0" fontAlgn="base">
      <a:spcBef>
        <a:spcPct val="0"/>
      </a:spcBef>
      <a:spcAft>
        <a:spcPct val="0"/>
      </a:spcAft>
      <a:defRPr sz="1600" kern="1200">
        <a:solidFill>
          <a:schemeClr val="tx1"/>
        </a:solidFill>
        <a:latin typeface="Arial" charset="0"/>
        <a:ea typeface="+mn-ea"/>
        <a:cs typeface="Arial" charset="0"/>
      </a:defRPr>
    </a:lvl5pPr>
    <a:lvl6pPr marL="2286000" algn="l" defTabSz="914400" rtl="0" eaLnBrk="1" latinLnBrk="0" hangingPunct="1">
      <a:defRPr sz="1600" kern="1200">
        <a:solidFill>
          <a:schemeClr val="tx1"/>
        </a:solidFill>
        <a:latin typeface="Arial" charset="0"/>
        <a:ea typeface="+mn-ea"/>
        <a:cs typeface="Arial" charset="0"/>
      </a:defRPr>
    </a:lvl6pPr>
    <a:lvl7pPr marL="2743200" algn="l" defTabSz="914400" rtl="0" eaLnBrk="1" latinLnBrk="0" hangingPunct="1">
      <a:defRPr sz="1600" kern="1200">
        <a:solidFill>
          <a:schemeClr val="tx1"/>
        </a:solidFill>
        <a:latin typeface="Arial" charset="0"/>
        <a:ea typeface="+mn-ea"/>
        <a:cs typeface="Arial" charset="0"/>
      </a:defRPr>
    </a:lvl7pPr>
    <a:lvl8pPr marL="3200400" algn="l" defTabSz="914400" rtl="0" eaLnBrk="1" latinLnBrk="0" hangingPunct="1">
      <a:defRPr sz="1600" kern="1200">
        <a:solidFill>
          <a:schemeClr val="tx1"/>
        </a:solidFill>
        <a:latin typeface="Arial" charset="0"/>
        <a:ea typeface="+mn-ea"/>
        <a:cs typeface="Arial" charset="0"/>
      </a:defRPr>
    </a:lvl8pPr>
    <a:lvl9pPr marL="3657600" algn="l" defTabSz="914400" rtl="0" eaLnBrk="1" latinLnBrk="0" hangingPunct="1">
      <a:defRPr sz="16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348" y="5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endParaRPr lang="en-US"/>
          </a:p>
        </p:txBody>
      </p:sp>
      <p:sp>
        <p:nvSpPr>
          <p:cNvPr id="993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993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993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93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en-US"/>
          </a:p>
        </p:txBody>
      </p:sp>
      <p:sp>
        <p:nvSpPr>
          <p:cNvPr id="993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19608AA8-17B9-4046-9BB7-1BC8FD213E9D}"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E7AB73F-8077-499C-AF05-71C12EF2A842}" type="slidenum">
              <a:rPr lang="en-US"/>
              <a:pPr/>
              <a:t>1</a:t>
            </a:fld>
            <a:endParaRPr lang="en-US"/>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7E3E38-9E84-459B-B04A-9B78B7C5F9A6}" type="slidenum">
              <a:rPr lang="en-US"/>
              <a:pPr/>
              <a:t>2</a:t>
            </a:fld>
            <a:endParaRPr lang="en-US"/>
          </a:p>
        </p:txBody>
      </p:sp>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52D641-BE5D-48E5-8F43-2F2CD48B1709}" type="slidenum">
              <a:rPr lang="en-US"/>
              <a:pPr/>
              <a:t>4</a:t>
            </a:fld>
            <a:endParaRPr lang="en-US"/>
          </a:p>
        </p:txBody>
      </p:sp>
      <p:sp>
        <p:nvSpPr>
          <p:cNvPr id="102402"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9242E3-55B3-47D4-905F-BB445B5447BD}" type="slidenum">
              <a:rPr lang="en-US"/>
              <a:pPr/>
              <a:t>5</a:t>
            </a:fld>
            <a:endParaRPr lang="en-US"/>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F655AA-9B63-4F42-83C6-42DFAA6755C8}" type="slidenum">
              <a:rPr lang="en-US"/>
              <a:pPr/>
              <a:t>6</a:t>
            </a:fld>
            <a:endParaRPr lang="en-US"/>
          </a:p>
        </p:txBody>
      </p:sp>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4486C6-DFDD-4DCA-8707-20383CA5013E}" type="slidenum">
              <a:rPr lang="en-US"/>
              <a:pPr/>
              <a:t>7</a:t>
            </a:fld>
            <a:endParaRPr lang="en-US"/>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7A3D5F-A4B3-453F-A3AE-054C44C201FE}" type="slidenum">
              <a:rPr lang="en-US"/>
              <a:pPr/>
              <a:t>8</a:t>
            </a:fld>
            <a:endParaRPr lang="en-US"/>
          </a:p>
        </p:txBody>
      </p:sp>
      <p:sp>
        <p:nvSpPr>
          <p:cNvPr id="145410" name="Rectangle 2"/>
          <p:cNvSpPr>
            <a:spLocks noGrp="1" noRot="1" noChangeAspect="1" noChangeArrowheads="1" noTextEdit="1"/>
          </p:cNvSpPr>
          <p:nvPr>
            <p:ph type="sldImg"/>
          </p:nvPr>
        </p:nvSpPr>
        <p:spPr>
          <a:ln/>
        </p:spPr>
      </p:sp>
      <p:sp>
        <p:nvSpPr>
          <p:cNvPr id="145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5803FB-DC6E-4FB0-BD47-6859451E52A9}" type="slidenum">
              <a:rPr lang="en-US"/>
              <a:pPr/>
              <a:t>9</a:t>
            </a:fld>
            <a:endParaRPr lang="en-US"/>
          </a:p>
        </p:txBody>
      </p:sp>
      <p:sp>
        <p:nvSpPr>
          <p:cNvPr id="187394" name="Rectangle 2"/>
          <p:cNvSpPr>
            <a:spLocks noGrp="1" noRot="1" noChangeAspect="1" noChangeArrowheads="1" noTextEdit="1"/>
          </p:cNvSpPr>
          <p:nvPr>
            <p:ph type="sldImg"/>
          </p:nvPr>
        </p:nvSpPr>
        <p:spPr>
          <a:ln/>
        </p:spPr>
      </p:sp>
      <p:sp>
        <p:nvSpPr>
          <p:cNvPr id="187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B1FC2F-2394-4655-AD9B-DC2E651F5257}" type="slidenum">
              <a:rPr lang="en-US"/>
              <a:pPr/>
              <a:t>10</a:t>
            </a:fld>
            <a:endParaRPr lang="en-US"/>
          </a:p>
        </p:txBody>
      </p:sp>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919EE7-E079-4371-9BB4-573F4A656D99}" type="slidenum">
              <a:rPr lang="en-US"/>
              <a:pPr/>
              <a:t>11</a:t>
            </a:fld>
            <a:endParaRPr lang="en-US"/>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BC0678-415D-4A3C-B7D9-2F6DFF882CE0}" type="slidenum">
              <a:rPr lang="en-US"/>
              <a:pPr/>
              <a:t>12</a:t>
            </a:fld>
            <a:endParaRPr lang="en-US"/>
          </a:p>
        </p:txBody>
      </p:sp>
      <p:sp>
        <p:nvSpPr>
          <p:cNvPr id="153602" name="Rectangle 2"/>
          <p:cNvSpPr>
            <a:spLocks noGrp="1" noRot="1" noChangeAspect="1" noChangeArrowheads="1" noTextEdit="1"/>
          </p:cNvSpPr>
          <p:nvPr>
            <p:ph type="sldImg"/>
          </p:nvPr>
        </p:nvSpPr>
        <p:spPr>
          <a:ln/>
        </p:spPr>
      </p:sp>
      <p:sp>
        <p:nvSpPr>
          <p:cNvPr id="1536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18EF15-44EC-4112-8F2B-AF94C34597A4}" type="slidenum">
              <a:rPr lang="en-US"/>
              <a:pPr/>
              <a:t>13</a:t>
            </a:fld>
            <a:endParaRPr lang="en-US"/>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664E2E-2802-44B6-8433-01E36367954B}" type="slidenum">
              <a:rPr lang="en-US"/>
              <a:pPr/>
              <a:t>14</a:t>
            </a:fld>
            <a:endParaRPr lang="en-US"/>
          </a:p>
        </p:txBody>
      </p:sp>
      <p:sp>
        <p:nvSpPr>
          <p:cNvPr id="155650" name="Rectangle 2"/>
          <p:cNvSpPr>
            <a:spLocks noGrp="1" noRot="1" noChangeAspect="1" noChangeArrowheads="1" noTextEdit="1"/>
          </p:cNvSpPr>
          <p:nvPr>
            <p:ph type="sldImg"/>
          </p:nvPr>
        </p:nvSpPr>
        <p:spPr>
          <a:ln/>
        </p:spPr>
      </p:sp>
      <p:sp>
        <p:nvSpPr>
          <p:cNvPr id="1556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7908AE-153B-45F5-B7A9-0C81BDD75C5D}" type="slidenum">
              <a:rPr lang="en-US"/>
              <a:pPr/>
              <a:t>15</a:t>
            </a:fld>
            <a:endParaRPr lang="en-US"/>
          </a:p>
        </p:txBody>
      </p:sp>
      <p:sp>
        <p:nvSpPr>
          <p:cNvPr id="168962" name="Rectangle 2"/>
          <p:cNvSpPr>
            <a:spLocks noGrp="1" noRot="1" noChangeAspect="1" noChangeArrowheads="1" noTextEdit="1"/>
          </p:cNvSpPr>
          <p:nvPr>
            <p:ph type="sldImg"/>
          </p:nvPr>
        </p:nvSpPr>
        <p:spPr>
          <a:ln/>
        </p:spPr>
      </p:sp>
      <p:sp>
        <p:nvSpPr>
          <p:cNvPr id="1689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50F1DB-B5A9-4594-843A-66191A932F78}" type="slidenum">
              <a:rPr lang="en-US"/>
              <a:pPr/>
              <a:t>16</a:t>
            </a:fld>
            <a:endParaRPr lang="en-US"/>
          </a:p>
        </p:txBody>
      </p:sp>
      <p:sp>
        <p:nvSpPr>
          <p:cNvPr id="172034" name="Rectangle 2"/>
          <p:cNvSpPr>
            <a:spLocks noGrp="1" noRot="1" noChangeAspect="1" noChangeArrowheads="1" noTextEdit="1"/>
          </p:cNvSpPr>
          <p:nvPr>
            <p:ph type="sldImg"/>
          </p:nvPr>
        </p:nvSpPr>
        <p:spPr>
          <a:ln/>
        </p:spPr>
      </p:sp>
      <p:sp>
        <p:nvSpPr>
          <p:cNvPr id="1720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F07B51-3CEE-487A-BA3C-448A7252FE68}" type="slidenum">
              <a:rPr lang="en-US"/>
              <a:pPr/>
              <a:t>17</a:t>
            </a:fld>
            <a:endParaRPr lang="en-US"/>
          </a:p>
        </p:txBody>
      </p:sp>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FBE4EA-5B68-41B4-9191-2FCBEBF6B5E3}" type="slidenum">
              <a:rPr lang="en-US"/>
              <a:pPr/>
              <a:t>18</a:t>
            </a:fld>
            <a:endParaRPr lang="en-US"/>
          </a:p>
        </p:txBody>
      </p:sp>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0E0CCF-7852-4DD5-9AEC-33BB8928B859}" type="slidenum">
              <a:rPr lang="en-US"/>
              <a:pPr/>
              <a:t>19</a:t>
            </a:fld>
            <a:endParaRPr lang="en-US"/>
          </a:p>
        </p:txBody>
      </p:sp>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103BCF-A493-4608-8FDB-F3BF822D9E77}" type="slidenum">
              <a:rPr lang="en-US"/>
              <a:pPr/>
              <a:t>20</a:t>
            </a:fld>
            <a:endParaRPr lang="en-US"/>
          </a:p>
        </p:txBody>
      </p:sp>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EB45BA-64AC-4F24-8632-515A1EB8C693}" type="slidenum">
              <a:rPr lang="en-US"/>
              <a:pPr/>
              <a:t>21</a:t>
            </a:fld>
            <a:endParaRPr lang="en-US"/>
          </a:p>
        </p:txBody>
      </p:sp>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7F26A6-6E80-4EAB-A1DA-F452683392D9}" type="slidenum">
              <a:rPr lang="en-US"/>
              <a:pPr/>
              <a:t>22</a:t>
            </a:fld>
            <a:endParaRPr lang="en-US"/>
          </a:p>
        </p:txBody>
      </p:sp>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2C0ED0-21CC-4158-900C-0FA414696C94}" type="slidenum">
              <a:rPr lang="en-US"/>
              <a:pPr/>
              <a:t>23</a:t>
            </a:fld>
            <a:endParaRPr lang="en-US"/>
          </a:p>
        </p:txBody>
      </p:sp>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F40697-0902-4FF3-B963-F9588BA63BD7}" type="slidenum">
              <a:rPr lang="en-US"/>
              <a:pPr/>
              <a:t>24</a:t>
            </a:fld>
            <a:endParaRPr lang="en-US"/>
          </a:p>
        </p:txBody>
      </p:sp>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4D244C-B147-469D-A45C-59CCEC423A16}" type="slidenum">
              <a:rPr lang="en-US"/>
              <a:pPr/>
              <a:t>25</a:t>
            </a:fld>
            <a:endParaRPr lang="en-US"/>
          </a:p>
        </p:txBody>
      </p:sp>
      <p:sp>
        <p:nvSpPr>
          <p:cNvPr id="159746" name="Rectangle 2"/>
          <p:cNvSpPr>
            <a:spLocks noGrp="1" noRot="1" noChangeAspect="1" noChangeArrowheads="1" noTextEdit="1"/>
          </p:cNvSpPr>
          <p:nvPr>
            <p:ph type="sldImg"/>
          </p:nvPr>
        </p:nvSpPr>
        <p:spPr>
          <a:ln/>
        </p:spPr>
      </p:sp>
      <p:sp>
        <p:nvSpPr>
          <p:cNvPr id="159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DD61B4-8DE6-45F0-8053-6E964E7EB01F}" type="slidenum">
              <a:rPr lang="en-US"/>
              <a:pPr/>
              <a:t>26</a:t>
            </a:fld>
            <a:endParaRPr lang="en-US"/>
          </a:p>
        </p:txBody>
      </p:sp>
      <p:sp>
        <p:nvSpPr>
          <p:cNvPr id="160770" name="Rectangle 2"/>
          <p:cNvSpPr>
            <a:spLocks noGrp="1" noRot="1" noChangeAspect="1" noChangeArrowheads="1" noTextEdit="1"/>
          </p:cNvSpPr>
          <p:nvPr>
            <p:ph type="sldImg"/>
          </p:nvPr>
        </p:nvSpPr>
        <p:spPr>
          <a:ln/>
        </p:spPr>
      </p:sp>
      <p:sp>
        <p:nvSpPr>
          <p:cNvPr id="160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714524-53C8-407C-938E-D3D31C95FF12}" type="slidenum">
              <a:rPr lang="en-US"/>
              <a:pPr/>
              <a:t>27</a:t>
            </a:fld>
            <a:endParaRPr lang="en-US"/>
          </a:p>
        </p:txBody>
      </p:sp>
      <p:sp>
        <p:nvSpPr>
          <p:cNvPr id="180226" name="Rectangle 2"/>
          <p:cNvSpPr>
            <a:spLocks noGrp="1" noRot="1" noChangeAspect="1" noChangeArrowheads="1" noTextEdit="1"/>
          </p:cNvSpPr>
          <p:nvPr>
            <p:ph type="sldImg"/>
          </p:nvPr>
        </p:nvSpPr>
        <p:spPr>
          <a:ln/>
        </p:spPr>
      </p:sp>
      <p:sp>
        <p:nvSpPr>
          <p:cNvPr id="1802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F4F0C2-9CCB-4EA5-95E5-57BE55FD23DF}" type="slidenum">
              <a:rPr lang="en-US"/>
              <a:pPr/>
              <a:t>28</a:t>
            </a:fld>
            <a:endParaRPr lang="en-US"/>
          </a:p>
        </p:txBody>
      </p:sp>
      <p:sp>
        <p:nvSpPr>
          <p:cNvPr id="181250" name="Rectangle 2"/>
          <p:cNvSpPr>
            <a:spLocks noGrp="1" noRot="1" noChangeAspect="1" noChangeArrowheads="1" noTextEdit="1"/>
          </p:cNvSpPr>
          <p:nvPr>
            <p:ph type="sldImg"/>
          </p:nvPr>
        </p:nvSpPr>
        <p:spPr>
          <a:ln/>
        </p:spPr>
      </p:sp>
      <p:sp>
        <p:nvSpPr>
          <p:cNvPr id="1812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873D5E-BDD7-4F13-8A0A-B8CA2F865662}" type="slidenum">
              <a:rPr lang="en-US"/>
              <a:pPr/>
              <a:t>29</a:t>
            </a:fld>
            <a:endParaRPr lang="en-US"/>
          </a:p>
        </p:txBody>
      </p:sp>
      <p:sp>
        <p:nvSpPr>
          <p:cNvPr id="182274" name="Rectangle 2"/>
          <p:cNvSpPr>
            <a:spLocks noGrp="1" noRot="1" noChangeAspect="1" noChangeArrowheads="1" noTextEdit="1"/>
          </p:cNvSpPr>
          <p:nvPr>
            <p:ph type="sldImg"/>
          </p:nvPr>
        </p:nvSpPr>
        <p:spPr>
          <a:ln/>
        </p:spPr>
      </p:sp>
      <p:sp>
        <p:nvSpPr>
          <p:cNvPr id="1822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42FC89-AA03-4090-8108-D9B858036764}" type="slidenum">
              <a:rPr lang="en-US"/>
              <a:pPr/>
              <a:t>30</a:t>
            </a:fld>
            <a:endParaRPr lang="en-US"/>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6FB3F0-C907-4FF7-B4F2-DBA8286F0A15}" type="slidenum">
              <a:rPr lang="en-US"/>
              <a:pPr/>
              <a:t>31</a:t>
            </a:fld>
            <a:endParaRPr lang="en-US"/>
          </a:p>
        </p:txBody>
      </p:sp>
      <p:sp>
        <p:nvSpPr>
          <p:cNvPr id="184322" name="Rectangle 2"/>
          <p:cNvSpPr>
            <a:spLocks noGrp="1" noRot="1" noChangeAspect="1" noChangeArrowheads="1" noTextEdit="1"/>
          </p:cNvSpPr>
          <p:nvPr>
            <p:ph type="sldImg"/>
          </p:nvPr>
        </p:nvSpPr>
        <p:spPr>
          <a:ln/>
        </p:spPr>
      </p:sp>
      <p:sp>
        <p:nvSpPr>
          <p:cNvPr id="1843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59BBE8-4E18-4F5E-9685-34BF771A602C}" type="slidenum">
              <a:rPr lang="en-US"/>
              <a:pPr/>
              <a:t>32</a:t>
            </a:fld>
            <a:endParaRPr lang="en-US"/>
          </a:p>
        </p:txBody>
      </p:sp>
      <p:sp>
        <p:nvSpPr>
          <p:cNvPr id="185346" name="Rectangle 2"/>
          <p:cNvSpPr>
            <a:spLocks noGrp="1" noRot="1" noChangeAspect="1" noChangeArrowheads="1" noTextEdit="1"/>
          </p:cNvSpPr>
          <p:nvPr>
            <p:ph type="sldImg"/>
          </p:nvPr>
        </p:nvSpPr>
        <p:spPr>
          <a:ln/>
        </p:spPr>
      </p:sp>
      <p:sp>
        <p:nvSpPr>
          <p:cNvPr id="185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09DBE9-12EC-49A7-96CD-F1F618D14AA0}" type="slidenum">
              <a:rPr lang="en-US"/>
              <a:pPr/>
              <a:t>33</a:t>
            </a:fld>
            <a:endParaRPr lang="en-US"/>
          </a:p>
        </p:txBody>
      </p:sp>
      <p:sp>
        <p:nvSpPr>
          <p:cNvPr id="162818" name="Rectangle 2"/>
          <p:cNvSpPr>
            <a:spLocks noGrp="1" noRot="1" noChangeAspect="1" noChangeArrowheads="1" noTextEdit="1"/>
          </p:cNvSpPr>
          <p:nvPr>
            <p:ph type="sldImg"/>
          </p:nvPr>
        </p:nvSpPr>
        <p:spPr>
          <a:ln/>
        </p:spPr>
      </p:sp>
      <p:sp>
        <p:nvSpPr>
          <p:cNvPr id="162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6535E6-8F01-4367-9FC3-F503D94C08F4}" type="slidenum">
              <a:rPr lang="en-US"/>
              <a:pPr/>
              <a:t>34</a:t>
            </a:fld>
            <a:endParaRPr lang="en-US"/>
          </a:p>
        </p:txBody>
      </p:sp>
      <p:sp>
        <p:nvSpPr>
          <p:cNvPr id="163842" name="Rectangle 2"/>
          <p:cNvSpPr>
            <a:spLocks noGrp="1" noRot="1" noChangeAspect="1" noChangeArrowheads="1" noTextEdit="1"/>
          </p:cNvSpPr>
          <p:nvPr>
            <p:ph type="sldImg"/>
          </p:nvPr>
        </p:nvSpPr>
        <p:spPr>
          <a:ln/>
        </p:spPr>
      </p:sp>
      <p:sp>
        <p:nvSpPr>
          <p:cNvPr id="1638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DC9BAA-8AE9-407A-B0A2-DC7076BA8FD4}" type="slidenum">
              <a:rPr lang="en-US"/>
              <a:pPr/>
              <a:t>35</a:t>
            </a:fld>
            <a:endParaRPr lang="en-US"/>
          </a:p>
        </p:txBody>
      </p:sp>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12BCA1-BF94-4B55-A1F9-30AAB93185CD}" type="slidenum">
              <a:rPr lang="en-US"/>
              <a:pPr/>
              <a:t>36</a:t>
            </a:fld>
            <a:endParaRPr lang="en-US"/>
          </a:p>
        </p:txBody>
      </p:sp>
      <p:sp>
        <p:nvSpPr>
          <p:cNvPr id="165890" name="Rectangle 2"/>
          <p:cNvSpPr>
            <a:spLocks noGrp="1" noRot="1" noChangeAspect="1" noChangeArrowheads="1" noTextEdit="1"/>
          </p:cNvSpPr>
          <p:nvPr>
            <p:ph type="sldImg"/>
          </p:nvPr>
        </p:nvSpPr>
        <p:spPr>
          <a:ln/>
        </p:spPr>
      </p:sp>
      <p:sp>
        <p:nvSpPr>
          <p:cNvPr id="165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7E2E88-BB5B-4FFE-AEC3-DB278747839A}" type="slidenum">
              <a:rPr lang="en-US"/>
              <a:pPr/>
              <a:t>37</a:t>
            </a:fld>
            <a:endParaRPr lang="en-US"/>
          </a:p>
        </p:txBody>
      </p:sp>
      <p:sp>
        <p:nvSpPr>
          <p:cNvPr id="203778" name="Rectangle 2"/>
          <p:cNvSpPr>
            <a:spLocks noGrp="1" noRot="1" noChangeAspect="1" noChangeArrowheads="1" noTextEdit="1"/>
          </p:cNvSpPr>
          <p:nvPr>
            <p:ph type="sldImg"/>
          </p:nvPr>
        </p:nvSpPr>
        <p:spPr>
          <a:ln/>
        </p:spPr>
      </p:sp>
      <p:sp>
        <p:nvSpPr>
          <p:cNvPr id="203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F01C11-D356-47A9-8778-6DADEB32353D}" type="slidenum">
              <a:rPr lang="en-US"/>
              <a:pPr/>
              <a:t>38</a:t>
            </a:fld>
            <a:endParaRPr lang="en-US"/>
          </a:p>
        </p:txBody>
      </p:sp>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010178-2E11-4D77-AEE3-FED6CD5B385F}" type="slidenum">
              <a:rPr lang="en-US"/>
              <a:pPr/>
              <a:t>39</a:t>
            </a:fld>
            <a:endParaRPr lang="en-US"/>
          </a:p>
        </p:txBody>
      </p:sp>
      <p:sp>
        <p:nvSpPr>
          <p:cNvPr id="205826" name="Rectangle 2"/>
          <p:cNvSpPr>
            <a:spLocks noGrp="1" noRot="1" noChangeAspect="1" noChangeArrowheads="1" noTextEdit="1"/>
          </p:cNvSpPr>
          <p:nvPr>
            <p:ph type="sldImg"/>
          </p:nvPr>
        </p:nvSpPr>
        <p:spPr>
          <a:ln/>
        </p:spPr>
      </p:sp>
      <p:sp>
        <p:nvSpPr>
          <p:cNvPr id="205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3E98E0-4DED-4B3E-862D-8964F2A5BB7E}" type="slidenum">
              <a:rPr lang="en-US"/>
              <a:pPr/>
              <a:t>40</a:t>
            </a:fld>
            <a:endParaRPr lang="en-US"/>
          </a:p>
        </p:txBody>
      </p:sp>
      <p:sp>
        <p:nvSpPr>
          <p:cNvPr id="206850" name="Rectangle 2"/>
          <p:cNvSpPr>
            <a:spLocks noGrp="1" noRot="1" noChangeAspect="1" noChangeArrowheads="1" noTextEdit="1"/>
          </p:cNvSpPr>
          <p:nvPr>
            <p:ph type="sldImg"/>
          </p:nvPr>
        </p:nvSpPr>
        <p:spPr>
          <a:ln/>
        </p:spPr>
      </p:sp>
      <p:sp>
        <p:nvSpPr>
          <p:cNvPr id="206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70E0D3-5F26-4E12-A2A1-D4E3EC7A0DF8}" type="slidenum">
              <a:rPr lang="en-US"/>
              <a:pPr/>
              <a:t>41</a:t>
            </a:fld>
            <a:endParaRPr lang="en-US"/>
          </a:p>
        </p:txBody>
      </p:sp>
      <p:sp>
        <p:nvSpPr>
          <p:cNvPr id="207874" name="Rectangle 2"/>
          <p:cNvSpPr>
            <a:spLocks noGrp="1" noRot="1" noChangeAspect="1" noChangeArrowheads="1" noTextEdit="1"/>
          </p:cNvSpPr>
          <p:nvPr>
            <p:ph type="sldImg"/>
          </p:nvPr>
        </p:nvSpPr>
        <p:spPr>
          <a:ln/>
        </p:spPr>
      </p:sp>
      <p:sp>
        <p:nvSpPr>
          <p:cNvPr id="207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3E98E0-4DED-4B3E-862D-8964F2A5BB7E}" type="slidenum">
              <a:rPr lang="en-US"/>
              <a:pPr/>
              <a:t>42</a:t>
            </a:fld>
            <a:endParaRPr lang="en-US"/>
          </a:p>
        </p:txBody>
      </p:sp>
      <p:sp>
        <p:nvSpPr>
          <p:cNvPr id="206850" name="Rectangle 2"/>
          <p:cNvSpPr>
            <a:spLocks noGrp="1" noRot="1" noChangeAspect="1" noChangeArrowheads="1" noTextEdit="1"/>
          </p:cNvSpPr>
          <p:nvPr>
            <p:ph type="sldImg"/>
          </p:nvPr>
        </p:nvSpPr>
        <p:spPr>
          <a:ln/>
        </p:spPr>
      </p:sp>
      <p:sp>
        <p:nvSpPr>
          <p:cNvPr id="20685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9140825" cy="6850063"/>
            <a:chOff x="0" y="0"/>
            <a:chExt cx="5758" cy="4315"/>
          </a:xfrm>
        </p:grpSpPr>
        <p:grpSp>
          <p:nvGrpSpPr>
            <p:cNvPr id="3" name="Group 3"/>
            <p:cNvGrpSpPr>
              <a:grpSpLocks/>
            </p:cNvGrpSpPr>
            <p:nvPr userDrawn="1"/>
          </p:nvGrpSpPr>
          <p:grpSpPr bwMode="auto">
            <a:xfrm>
              <a:off x="1728" y="2230"/>
              <a:ext cx="4027" cy="2085"/>
              <a:chOff x="1728" y="2230"/>
              <a:chExt cx="4027" cy="2085"/>
            </a:xfrm>
          </p:grpSpPr>
          <p:sp>
            <p:nvSpPr>
              <p:cNvPr id="174084" name="Freeform 4"/>
              <p:cNvSpPr>
                <a:spLocks/>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headEnd/>
                <a:tailEnd/>
              </a:ln>
            </p:spPr>
            <p:txBody>
              <a:bodyPr/>
              <a:lstStyle/>
              <a:p>
                <a:endParaRPr lang="en-US"/>
              </a:p>
            </p:txBody>
          </p:sp>
          <p:sp>
            <p:nvSpPr>
              <p:cNvPr id="174085" name="Freeform 5"/>
              <p:cNvSpPr>
                <a:spLocks/>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headEnd/>
                <a:tailEnd/>
              </a:ln>
            </p:spPr>
            <p:txBody>
              <a:bodyPr/>
              <a:lstStyle/>
              <a:p>
                <a:endParaRPr lang="en-US"/>
              </a:p>
            </p:txBody>
          </p:sp>
          <p:sp>
            <p:nvSpPr>
              <p:cNvPr id="174086" name="Freeform 6"/>
              <p:cNvSpPr>
                <a:spLocks/>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headEnd/>
                <a:tailEnd/>
              </a:ln>
            </p:spPr>
            <p:txBody>
              <a:bodyPr/>
              <a:lstStyle/>
              <a:p>
                <a:endParaRPr lang="en-US"/>
              </a:p>
            </p:txBody>
          </p:sp>
          <p:sp>
            <p:nvSpPr>
              <p:cNvPr id="174087" name="Freeform 7"/>
              <p:cNvSpPr>
                <a:spLocks/>
              </p:cNvSpPr>
              <p:nvPr/>
            </p:nvSpPr>
            <p:spPr bwMode="hidden">
              <a:xfrm>
                <a:off x="2748" y="223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round/>
                <a:headEnd/>
                <a:tailEnd/>
              </a:ln>
            </p:spPr>
            <p:txBody>
              <a:bodyPr/>
              <a:lstStyle/>
              <a:p>
                <a:endParaRPr lang="en-US"/>
              </a:p>
            </p:txBody>
          </p:sp>
          <p:sp>
            <p:nvSpPr>
              <p:cNvPr id="174088" name="Freeform 8"/>
              <p:cNvSpPr>
                <a:spLocks/>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headEnd/>
                <a:tailEnd/>
              </a:ln>
            </p:spPr>
            <p:txBody>
              <a:bodyPr/>
              <a:lstStyle/>
              <a:p>
                <a:endParaRPr lang="en-US"/>
              </a:p>
            </p:txBody>
          </p:sp>
        </p:grpSp>
        <p:sp>
          <p:nvSpPr>
            <p:cNvPr id="174089" name="Freeform 9"/>
            <p:cNvSpPr>
              <a:spLocks/>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endParaRPr lang="en-US"/>
            </a:p>
          </p:txBody>
        </p:sp>
        <p:sp>
          <p:nvSpPr>
            <p:cNvPr id="174090" name="Freeform 10"/>
            <p:cNvSpPr>
              <a:spLocks/>
            </p:cNvSpPr>
            <p:nvPr/>
          </p:nvSpPr>
          <p:spPr bwMode="hidden">
            <a:xfrm>
              <a:off x="0" y="0"/>
              <a:ext cx="5758" cy="1776"/>
            </a:xfrm>
            <a:custGeom>
              <a:avLst/>
              <a:gdLst/>
              <a:ahLst/>
              <a:cxnLst>
                <a:cxn ang="0">
                  <a:pos x="0" y="0"/>
                </a:cxn>
                <a:cxn ang="0">
                  <a:pos x="0" y="1906"/>
                </a:cxn>
                <a:cxn ang="0">
                  <a:pos x="5740" y="1906"/>
                </a:cxn>
                <a:cxn ang="0">
                  <a:pos x="5740" y="0"/>
                </a:cxn>
                <a:cxn ang="0">
                  <a:pos x="0" y="0"/>
                </a:cxn>
                <a:cxn ang="0">
                  <a:pos x="0" y="0"/>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w="9525">
              <a:noFill/>
              <a:round/>
              <a:headEnd/>
              <a:tailEnd/>
            </a:ln>
          </p:spPr>
          <p:txBody>
            <a:bodyPr/>
            <a:lstStyle/>
            <a:p>
              <a:endParaRPr lang="en-US"/>
            </a:p>
          </p:txBody>
        </p:sp>
      </p:grpSp>
      <p:sp>
        <p:nvSpPr>
          <p:cNvPr id="174091" name="Rectangle 11"/>
          <p:cNvSpPr>
            <a:spLocks noGrp="1" noChangeArrowheads="1"/>
          </p:cNvSpPr>
          <p:nvPr>
            <p:ph type="ctrTitle" sz="quarter"/>
          </p:nvPr>
        </p:nvSpPr>
        <p:spPr>
          <a:xfrm>
            <a:off x="685800" y="1736725"/>
            <a:ext cx="7772400" cy="1920875"/>
          </a:xfrm>
        </p:spPr>
        <p:txBody>
          <a:bodyPr/>
          <a:lstStyle>
            <a:lvl1pPr>
              <a:defRPr/>
            </a:lvl1pPr>
          </a:lstStyle>
          <a:p>
            <a:r>
              <a:rPr lang="en-US" smtClean="0"/>
              <a:t>Click to edit Master title style</a:t>
            </a:r>
            <a:endParaRPr lang="en-US"/>
          </a:p>
        </p:txBody>
      </p:sp>
      <p:sp>
        <p:nvSpPr>
          <p:cNvPr id="174092" name="Rectangle 12"/>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smtClean="0"/>
              <a:t>Click to edit Master subtitle style</a:t>
            </a:r>
            <a:endParaRPr lang="en-US"/>
          </a:p>
        </p:txBody>
      </p:sp>
      <p:sp>
        <p:nvSpPr>
          <p:cNvPr id="174093" name="Rectangle 13"/>
          <p:cNvSpPr>
            <a:spLocks noGrp="1" noChangeArrowheads="1"/>
          </p:cNvSpPr>
          <p:nvPr>
            <p:ph type="dt" sz="quarter" idx="2"/>
          </p:nvPr>
        </p:nvSpPr>
        <p:spPr>
          <a:xfrm>
            <a:off x="457200" y="6248400"/>
            <a:ext cx="2133600" cy="476250"/>
          </a:xfrm>
        </p:spPr>
        <p:txBody>
          <a:bodyPr/>
          <a:lstStyle>
            <a:lvl1pPr>
              <a:defRPr/>
            </a:lvl1pPr>
          </a:lstStyle>
          <a:p>
            <a:endParaRPr lang="en-US"/>
          </a:p>
        </p:txBody>
      </p:sp>
      <p:sp>
        <p:nvSpPr>
          <p:cNvPr id="174094" name="Rectangle 14"/>
          <p:cNvSpPr>
            <a:spLocks noGrp="1" noChangeArrowheads="1"/>
          </p:cNvSpPr>
          <p:nvPr>
            <p:ph type="ftr" sz="quarter" idx="3"/>
          </p:nvPr>
        </p:nvSpPr>
        <p:spPr>
          <a:xfrm>
            <a:off x="3124200" y="6251575"/>
            <a:ext cx="2895600" cy="476250"/>
          </a:xfrm>
        </p:spPr>
        <p:txBody>
          <a:bodyPr/>
          <a:lstStyle>
            <a:lvl1pPr>
              <a:defRPr/>
            </a:lvl1pPr>
          </a:lstStyle>
          <a:p>
            <a:endParaRPr lang="en-US"/>
          </a:p>
        </p:txBody>
      </p:sp>
      <p:sp>
        <p:nvSpPr>
          <p:cNvPr id="174095" name="Rectangle 15"/>
          <p:cNvSpPr>
            <a:spLocks noGrp="1" noChangeArrowheads="1"/>
          </p:cNvSpPr>
          <p:nvPr>
            <p:ph type="sldNum" sz="quarter" idx="4"/>
          </p:nvPr>
        </p:nvSpPr>
        <p:spPr>
          <a:xfrm>
            <a:off x="6553200" y="6254750"/>
            <a:ext cx="2133600" cy="476250"/>
          </a:xfrm>
        </p:spPr>
        <p:txBody>
          <a:bodyPr/>
          <a:lstStyle>
            <a:lvl1pPr>
              <a:defRPr/>
            </a:lvl1pPr>
          </a:lstStyle>
          <a:p>
            <a:fld id="{AC330B97-3739-40DC-B00F-E6FA0B4D987D}"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6D63C845-4982-41E6-901A-A3EC09BDD7BE}" type="slidenum">
              <a:rPr lang="en-US" smtClean="0"/>
              <a:pPr/>
              <a:t>‹#›</a:t>
            </a:fld>
            <a:endParaRPr lang="en-US"/>
          </a:p>
        </p:txBody>
      </p:sp>
      <p:sp>
        <p:nvSpPr>
          <p:cNvPr id="6" name="Footer Placeholder 5"/>
          <p:cNvSpPr>
            <a:spLocks noGrp="1"/>
          </p:cNvSpPr>
          <p:nvPr>
            <p:ph type="ftr" sz="quarter" idx="12"/>
          </p:nvPr>
        </p:nvSpPr>
        <p:spPr/>
        <p:txBody>
          <a:bodyPr/>
          <a:lstStyle>
            <a:lvl1pPr>
              <a:defRPr/>
            </a:lvl1p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718B6E2A-E8FC-4361-9ECF-D60286D28E8C}" type="slidenum">
              <a:rPr lang="en-US" smtClean="0"/>
              <a:pPr/>
              <a:t>‹#›</a:t>
            </a:fld>
            <a:endParaRPr lang="en-US"/>
          </a:p>
        </p:txBody>
      </p:sp>
      <p:sp>
        <p:nvSpPr>
          <p:cNvPr id="6" name="Footer Placeholder 5"/>
          <p:cNvSpPr>
            <a:spLocks noGrp="1"/>
          </p:cNvSpPr>
          <p:nvPr>
            <p:ph type="ftr" sz="quarter" idx="12"/>
          </p:nvPr>
        </p:nvSpPr>
        <p:spPr/>
        <p:txBody>
          <a:bodyPr/>
          <a:lstStyle>
            <a:lvl1pPr>
              <a:defRPr/>
            </a:lvl1p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FD62A46F-8A95-46F2-9558-CB6957E46631}" type="slidenum">
              <a:rPr lang="en-US" smtClean="0"/>
              <a:pPr/>
              <a:t>‹#›</a:t>
            </a:fld>
            <a:endParaRPr lang="en-US"/>
          </a:p>
        </p:txBody>
      </p:sp>
      <p:sp>
        <p:nvSpPr>
          <p:cNvPr id="7" name="Footer Placeholder 6"/>
          <p:cNvSpPr>
            <a:spLocks noGrp="1"/>
          </p:cNvSpPr>
          <p:nvPr>
            <p:ph type="ftr" sz="quarter" idx="12"/>
          </p:nvPr>
        </p:nvSpPr>
        <p:spPr/>
        <p:txBody>
          <a:bodyPr/>
          <a:lstStyle>
            <a:lvl1pPr>
              <a:defRPr/>
            </a:lvl1p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Slide Number Placeholder 7"/>
          <p:cNvSpPr>
            <a:spLocks noGrp="1"/>
          </p:cNvSpPr>
          <p:nvPr>
            <p:ph type="sldNum" sz="quarter" idx="11"/>
          </p:nvPr>
        </p:nvSpPr>
        <p:spPr/>
        <p:txBody>
          <a:bodyPr/>
          <a:lstStyle>
            <a:lvl1pPr>
              <a:defRPr/>
            </a:lvl1pPr>
          </a:lstStyle>
          <a:p>
            <a:fld id="{F7175498-050A-47A7-AF72-83930D91C9EA}" type="slidenum">
              <a:rPr lang="en-US" smtClean="0"/>
              <a:pPr/>
              <a:t>‹#›</a:t>
            </a:fld>
            <a:endParaRPr lang="en-US"/>
          </a:p>
        </p:txBody>
      </p:sp>
      <p:sp>
        <p:nvSpPr>
          <p:cNvPr id="9" name="Footer Placeholder 8"/>
          <p:cNvSpPr>
            <a:spLocks noGrp="1"/>
          </p:cNvSpPr>
          <p:nvPr>
            <p:ph type="ftr" sz="quarter" idx="12"/>
          </p:nvPr>
        </p:nvSpPr>
        <p:spPr/>
        <p:txBody>
          <a:bodyPr/>
          <a:lstStyle>
            <a:lvl1pPr>
              <a:defRPr/>
            </a:lvl1p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Slide Number Placeholder 3"/>
          <p:cNvSpPr>
            <a:spLocks noGrp="1"/>
          </p:cNvSpPr>
          <p:nvPr>
            <p:ph type="sldNum" sz="quarter" idx="11"/>
          </p:nvPr>
        </p:nvSpPr>
        <p:spPr/>
        <p:txBody>
          <a:bodyPr/>
          <a:lstStyle>
            <a:lvl1pPr>
              <a:defRPr/>
            </a:lvl1pPr>
          </a:lstStyle>
          <a:p>
            <a:fld id="{5D8C0D95-B81A-45DB-B701-8AAA9905C101}" type="slidenum">
              <a:rPr lang="en-US" smtClean="0"/>
              <a:pPr/>
              <a:t>‹#›</a:t>
            </a:fld>
            <a:endParaRPr lang="en-US"/>
          </a:p>
        </p:txBody>
      </p:sp>
      <p:sp>
        <p:nvSpPr>
          <p:cNvPr id="5" name="Footer Placeholder 4"/>
          <p:cNvSpPr>
            <a:spLocks noGrp="1"/>
          </p:cNvSpPr>
          <p:nvPr>
            <p:ph type="ftr" sz="quarter" idx="12"/>
          </p:nvPr>
        </p:nvSpPr>
        <p:spPr/>
        <p:txBody>
          <a:bodyPr/>
          <a:lstStyle>
            <a:lvl1pPr>
              <a:defRPr/>
            </a:lvl1p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Slide Number Placeholder 2"/>
          <p:cNvSpPr>
            <a:spLocks noGrp="1"/>
          </p:cNvSpPr>
          <p:nvPr>
            <p:ph type="sldNum" sz="quarter" idx="11"/>
          </p:nvPr>
        </p:nvSpPr>
        <p:spPr/>
        <p:txBody>
          <a:bodyPr/>
          <a:lstStyle>
            <a:lvl1pPr>
              <a:defRPr/>
            </a:lvl1pPr>
          </a:lstStyle>
          <a:p>
            <a:fld id="{35E76269-8252-4175-B7A9-D8116B22FF1A}" type="slidenum">
              <a:rPr lang="en-US" smtClean="0"/>
              <a:pPr/>
              <a:t>‹#›</a:t>
            </a:fld>
            <a:endParaRPr lang="en-US"/>
          </a:p>
        </p:txBody>
      </p:sp>
      <p:sp>
        <p:nvSpPr>
          <p:cNvPr id="4" name="Footer Placeholder 3"/>
          <p:cNvSpPr>
            <a:spLocks noGrp="1"/>
          </p:cNvSpPr>
          <p:nvPr>
            <p:ph type="ftr" sz="quarter" idx="12"/>
          </p:nvPr>
        </p:nvSpPr>
        <p:spPr/>
        <p:txBody>
          <a:bodyPr/>
          <a:lstStyle>
            <a:lvl1pPr>
              <a:defRPr/>
            </a:lvl1p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7D703B95-E304-481C-8465-122099BA0A19}" type="slidenum">
              <a:rPr lang="en-US" smtClean="0"/>
              <a:pPr/>
              <a:t>‹#›</a:t>
            </a:fld>
            <a:endParaRPr lang="en-US"/>
          </a:p>
        </p:txBody>
      </p:sp>
      <p:sp>
        <p:nvSpPr>
          <p:cNvPr id="7" name="Footer Placeholder 6"/>
          <p:cNvSpPr>
            <a:spLocks noGrp="1"/>
          </p:cNvSpPr>
          <p:nvPr>
            <p:ph type="ftr" sz="quarter" idx="12"/>
          </p:nvPr>
        </p:nvSpPr>
        <p:spPr/>
        <p:txBody>
          <a:bodyPr/>
          <a:lstStyle>
            <a:lvl1pPr>
              <a:defRPr/>
            </a:lvl1p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8F3885CD-3F10-4219-978F-E42B148AFA2C}" type="slidenum">
              <a:rPr lang="en-US" smtClean="0"/>
              <a:pPr/>
              <a:t>‹#›</a:t>
            </a:fld>
            <a:endParaRPr lang="en-US"/>
          </a:p>
        </p:txBody>
      </p:sp>
      <p:sp>
        <p:nvSpPr>
          <p:cNvPr id="7" name="Footer Placeholder 6"/>
          <p:cNvSpPr>
            <a:spLocks noGrp="1"/>
          </p:cNvSpPr>
          <p:nvPr>
            <p:ph type="ftr" sz="quarter" idx="12"/>
          </p:nvPr>
        </p:nvSpPr>
        <p:spPr/>
        <p:txBody>
          <a:bodyPr/>
          <a:lstStyle>
            <a:lvl1pPr>
              <a:defRPr/>
            </a:lvl1p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FE8F8196-6D25-4EFE-A367-6F6F7A98AB83}" type="slidenum">
              <a:rPr lang="en-US" smtClean="0"/>
              <a:pPr/>
              <a:t>‹#›</a:t>
            </a:fld>
            <a:endParaRPr lang="en-US"/>
          </a:p>
        </p:txBody>
      </p:sp>
      <p:sp>
        <p:nvSpPr>
          <p:cNvPr id="6" name="Footer Placeholder 5"/>
          <p:cNvSpPr>
            <a:spLocks noGrp="1"/>
          </p:cNvSpPr>
          <p:nvPr>
            <p:ph type="ftr" sz="quarter" idx="12"/>
          </p:nvPr>
        </p:nvSpPr>
        <p:spPr/>
        <p:txBody>
          <a:bodyPr/>
          <a:lstStyle>
            <a:lvl1pPr>
              <a:defRPr/>
            </a:lvl1p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45D80F9E-2076-4626-B680-75F43933B7B9}" type="slidenum">
              <a:rPr lang="en-US" smtClean="0"/>
              <a:pPr/>
              <a:t>‹#›</a:t>
            </a:fld>
            <a:endParaRPr lang="en-US"/>
          </a:p>
        </p:txBody>
      </p:sp>
      <p:sp>
        <p:nvSpPr>
          <p:cNvPr id="6" name="Footer Placeholder 5"/>
          <p:cNvSpPr>
            <a:spLocks noGrp="1"/>
          </p:cNvSpPr>
          <p:nvPr>
            <p:ph type="ftr" sz="quarter" idx="12"/>
          </p:nvPr>
        </p:nvSpPr>
        <p:spPr/>
        <p:txBody>
          <a:bodyPr/>
          <a:lstStyle>
            <a:lvl1pPr>
              <a:defRPr/>
            </a:lvl1p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51575"/>
            <a:ext cx="2133600" cy="476250"/>
          </a:xfrm>
        </p:spPr>
        <p:txBody>
          <a:bodyPr/>
          <a:lstStyle>
            <a:lvl1pPr>
              <a:defRPr/>
            </a:lvl1pPr>
          </a:lstStyle>
          <a:p>
            <a:endParaRPr lang="en-US"/>
          </a:p>
        </p:txBody>
      </p:sp>
      <p:sp>
        <p:nvSpPr>
          <p:cNvPr id="6" name="Slide Number Placeholder 5"/>
          <p:cNvSpPr>
            <a:spLocks noGrp="1"/>
          </p:cNvSpPr>
          <p:nvPr>
            <p:ph type="sldNum" sz="quarter" idx="11"/>
          </p:nvPr>
        </p:nvSpPr>
        <p:spPr>
          <a:xfrm>
            <a:off x="6553200" y="6248400"/>
            <a:ext cx="2133600" cy="476250"/>
          </a:xfrm>
        </p:spPr>
        <p:txBody>
          <a:bodyPr/>
          <a:lstStyle>
            <a:lvl1pPr>
              <a:defRPr/>
            </a:lvl1pPr>
          </a:lstStyle>
          <a:p>
            <a:fld id="{4DE2B3AA-FDF0-4AD8-B790-6E6AEEB640D6}" type="slidenum">
              <a:rPr lang="en-US" smtClean="0"/>
              <a:pPr/>
              <a:t>‹#›</a:t>
            </a:fld>
            <a:endParaRPr lang="en-US"/>
          </a:p>
        </p:txBody>
      </p:sp>
      <p:sp>
        <p:nvSpPr>
          <p:cNvPr id="7" name="Footer Placeholder 6"/>
          <p:cNvSpPr>
            <a:spLocks noGrp="1"/>
          </p:cNvSpPr>
          <p:nvPr>
            <p:ph type="ftr" sz="quarter" idx="12"/>
          </p:nvPr>
        </p:nvSpPr>
        <p:spPr>
          <a:xfrm>
            <a:off x="3124200" y="6248400"/>
            <a:ext cx="2895600" cy="476250"/>
          </a:xfrm>
        </p:spPr>
        <p:txBody>
          <a:bodyPr/>
          <a:lstStyle>
            <a:lvl1pPr>
              <a:defRPr/>
            </a:lvl1p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r>
              <a:rPr lang="en-US" smtClean="0"/>
              <a:t>Click icon to add table</a:t>
            </a:r>
            <a:endParaRPr lang="en-US"/>
          </a:p>
        </p:txBody>
      </p:sp>
      <p:sp>
        <p:nvSpPr>
          <p:cNvPr id="4" name="Date Placeholder 3"/>
          <p:cNvSpPr>
            <a:spLocks noGrp="1"/>
          </p:cNvSpPr>
          <p:nvPr>
            <p:ph type="dt" sz="half" idx="10"/>
          </p:nvPr>
        </p:nvSpPr>
        <p:spPr>
          <a:xfrm>
            <a:off x="457200" y="6251575"/>
            <a:ext cx="2133600" cy="476250"/>
          </a:xfrm>
        </p:spPr>
        <p:txBody>
          <a:bodyPr/>
          <a:lstStyle>
            <a:lvl1pPr>
              <a:defRPr/>
            </a:lvl1pPr>
          </a:lstStyle>
          <a:p>
            <a:endParaRPr lang="en-US"/>
          </a:p>
        </p:txBody>
      </p:sp>
      <p:sp>
        <p:nvSpPr>
          <p:cNvPr id="5" name="Slide Number Placeholder 4"/>
          <p:cNvSpPr>
            <a:spLocks noGrp="1"/>
          </p:cNvSpPr>
          <p:nvPr>
            <p:ph type="sldNum" sz="quarter" idx="11"/>
          </p:nvPr>
        </p:nvSpPr>
        <p:spPr>
          <a:xfrm>
            <a:off x="6553200" y="6248400"/>
            <a:ext cx="2133600" cy="476250"/>
          </a:xfrm>
        </p:spPr>
        <p:txBody>
          <a:bodyPr/>
          <a:lstStyle>
            <a:lvl1pPr>
              <a:defRPr/>
            </a:lvl1pPr>
          </a:lstStyle>
          <a:p>
            <a:fld id="{4F0CC6FD-F329-4C89-BE2D-2A8E4FC45061}" type="slidenum">
              <a:rPr lang="en-US" smtClean="0"/>
              <a:pPr/>
              <a:t>‹#›</a:t>
            </a:fld>
            <a:endParaRPr lang="en-US"/>
          </a:p>
        </p:txBody>
      </p:sp>
      <p:sp>
        <p:nvSpPr>
          <p:cNvPr id="6" name="Footer Placeholder 5"/>
          <p:cNvSpPr>
            <a:spLocks noGrp="1"/>
          </p:cNvSpPr>
          <p:nvPr>
            <p:ph type="ftr" sz="quarter" idx="12"/>
          </p:nvPr>
        </p:nvSpPr>
        <p:spPr>
          <a:xfrm>
            <a:off x="3124200" y="6248400"/>
            <a:ext cx="2895600" cy="476250"/>
          </a:xfrm>
        </p:spPr>
        <p:txBody>
          <a:bodyPr/>
          <a:lstStyle>
            <a:lvl1pPr>
              <a:defRPr/>
            </a:lvl1p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dt" sz="half" idx="2"/>
          </p:nvPr>
        </p:nvSpPr>
        <p:spPr bwMode="auto">
          <a:xfrm>
            <a:off x="457200" y="625157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p>
        </p:txBody>
      </p:sp>
      <p:sp>
        <p:nvSpPr>
          <p:cNvPr id="173059" name="Rectangle 3"/>
          <p:cNvSpPr>
            <a:spLocks noGrp="1" noChangeArrowheads="1"/>
          </p:cNvSpPr>
          <p:nvPr>
            <p:ph type="sldNum" sz="quarter" idx="4"/>
          </p:nvPr>
        </p:nvSpPr>
        <p:spPr bwMode="auto">
          <a:xfrm>
            <a:off x="6553200" y="6248400"/>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4DE2B3AA-FDF0-4AD8-B790-6E6AEEB640D6}" type="slidenum">
              <a:rPr lang="en-US" smtClean="0"/>
              <a:pPr/>
              <a:t>‹#›</a:t>
            </a:fld>
            <a:endParaRPr lang="en-US"/>
          </a:p>
        </p:txBody>
      </p:sp>
      <p:grpSp>
        <p:nvGrpSpPr>
          <p:cNvPr id="2" name="Group 4"/>
          <p:cNvGrpSpPr>
            <a:grpSpLocks/>
          </p:cNvGrpSpPr>
          <p:nvPr/>
        </p:nvGrpSpPr>
        <p:grpSpPr bwMode="auto">
          <a:xfrm>
            <a:off x="0" y="0"/>
            <a:ext cx="9140825" cy="6850063"/>
            <a:chOff x="0" y="0"/>
            <a:chExt cx="5758" cy="4315"/>
          </a:xfrm>
        </p:grpSpPr>
        <p:grpSp>
          <p:nvGrpSpPr>
            <p:cNvPr id="3" name="Group 5"/>
            <p:cNvGrpSpPr>
              <a:grpSpLocks/>
            </p:cNvGrpSpPr>
            <p:nvPr userDrawn="1"/>
          </p:nvGrpSpPr>
          <p:grpSpPr bwMode="auto">
            <a:xfrm>
              <a:off x="1728" y="2230"/>
              <a:ext cx="4027" cy="2085"/>
              <a:chOff x="1728" y="2230"/>
              <a:chExt cx="4027" cy="2085"/>
            </a:xfrm>
          </p:grpSpPr>
          <p:sp>
            <p:nvSpPr>
              <p:cNvPr id="173062" name="Freeform 6"/>
              <p:cNvSpPr>
                <a:spLocks/>
              </p:cNvSpPr>
              <p:nvPr/>
            </p:nvSpPr>
            <p:spPr bwMode="hidden">
              <a:xfrm>
                <a:off x="1728" y="264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w="9525">
                <a:noFill/>
                <a:round/>
                <a:headEnd/>
                <a:tailEnd/>
              </a:ln>
            </p:spPr>
            <p:txBody>
              <a:bodyPr/>
              <a:lstStyle/>
              <a:p>
                <a:endParaRPr lang="en-US"/>
              </a:p>
            </p:txBody>
          </p:sp>
          <p:sp>
            <p:nvSpPr>
              <p:cNvPr id="173063" name="Freeform 7"/>
              <p:cNvSpPr>
                <a:spLocks/>
              </p:cNvSpPr>
              <p:nvPr/>
            </p:nvSpPr>
            <p:spPr bwMode="hidden">
              <a:xfrm>
                <a:off x="4170" y="267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w="9525">
                <a:noFill/>
                <a:round/>
                <a:headEnd/>
                <a:tailEnd/>
              </a:ln>
            </p:spPr>
            <p:txBody>
              <a:bodyPr/>
              <a:lstStyle/>
              <a:p>
                <a:endParaRPr lang="en-US"/>
              </a:p>
            </p:txBody>
          </p:sp>
          <p:sp>
            <p:nvSpPr>
              <p:cNvPr id="173064" name="Freeform 8"/>
              <p:cNvSpPr>
                <a:spLocks/>
              </p:cNvSpPr>
              <p:nvPr/>
            </p:nvSpPr>
            <p:spPr bwMode="hidden">
              <a:xfrm>
                <a:off x="2900" y="334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w="9525">
                <a:noFill/>
                <a:round/>
                <a:headEnd/>
                <a:tailEnd/>
              </a:ln>
            </p:spPr>
            <p:txBody>
              <a:bodyPr/>
              <a:lstStyle/>
              <a:p>
                <a:endParaRPr lang="en-US"/>
              </a:p>
            </p:txBody>
          </p:sp>
          <p:sp>
            <p:nvSpPr>
              <p:cNvPr id="173065" name="Freeform 9"/>
              <p:cNvSpPr>
                <a:spLocks/>
              </p:cNvSpPr>
              <p:nvPr/>
            </p:nvSpPr>
            <p:spPr bwMode="hidden">
              <a:xfrm>
                <a:off x="2748" y="223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round/>
                <a:headEnd/>
                <a:tailEnd/>
              </a:ln>
            </p:spPr>
            <p:txBody>
              <a:bodyPr/>
              <a:lstStyle/>
              <a:p>
                <a:endParaRPr lang="en-US"/>
              </a:p>
            </p:txBody>
          </p:sp>
          <p:sp>
            <p:nvSpPr>
              <p:cNvPr id="173066" name="Freeform 10"/>
              <p:cNvSpPr>
                <a:spLocks/>
              </p:cNvSpPr>
              <p:nvPr/>
            </p:nvSpPr>
            <p:spPr bwMode="hidden">
              <a:xfrm>
                <a:off x="4501" y="231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w="9525">
                <a:noFill/>
                <a:round/>
                <a:headEnd/>
                <a:tailEnd/>
              </a:ln>
            </p:spPr>
            <p:txBody>
              <a:bodyPr/>
              <a:lstStyle/>
              <a:p>
                <a:endParaRPr lang="en-US"/>
              </a:p>
            </p:txBody>
          </p:sp>
        </p:grpSp>
        <p:sp>
          <p:nvSpPr>
            <p:cNvPr id="173067" name="Freeform 11"/>
            <p:cNvSpPr>
              <a:spLocks/>
            </p:cNvSpPr>
            <p:nvPr/>
          </p:nvSpPr>
          <p:spPr bwMode="hidden">
            <a:xfrm>
              <a:off x="3322" y="1341"/>
              <a:ext cx="1825" cy="1537"/>
            </a:xfrm>
            <a:custGeom>
              <a:avLst/>
              <a:gdLst/>
              <a:ahLst/>
              <a:cxnLst>
                <a:cxn ang="0">
                  <a:pos x="982" y="1061"/>
                </a:cxn>
                <a:cxn ang="0">
                  <a:pos x="1357" y="1012"/>
                </a:cxn>
                <a:cxn ang="0">
                  <a:pos x="1666" y="957"/>
                </a:cxn>
                <a:cxn ang="0">
                  <a:pos x="1916" y="897"/>
                </a:cxn>
                <a:cxn ang="0">
                  <a:pos x="2100" y="832"/>
                </a:cxn>
                <a:cxn ang="0">
                  <a:pos x="2220" y="756"/>
                </a:cxn>
                <a:cxn ang="0">
                  <a:pos x="2285" y="669"/>
                </a:cxn>
                <a:cxn ang="0">
                  <a:pos x="2290" y="560"/>
                </a:cxn>
                <a:cxn ang="0">
                  <a:pos x="2241" y="457"/>
                </a:cxn>
                <a:cxn ang="0">
                  <a:pos x="2144" y="364"/>
                </a:cxn>
                <a:cxn ang="0">
                  <a:pos x="2008" y="277"/>
                </a:cxn>
                <a:cxn ang="0">
                  <a:pos x="1769" y="157"/>
                </a:cxn>
                <a:cxn ang="0">
                  <a:pos x="1612" y="92"/>
                </a:cxn>
                <a:cxn ang="0">
                  <a:pos x="1476" y="43"/>
                </a:cxn>
                <a:cxn ang="0">
                  <a:pos x="1384" y="10"/>
                </a:cxn>
                <a:cxn ang="0">
                  <a:pos x="1346" y="0"/>
                </a:cxn>
                <a:cxn ang="0">
                  <a:pos x="1655" y="119"/>
                </a:cxn>
                <a:cxn ang="0">
                  <a:pos x="1948" y="255"/>
                </a:cxn>
                <a:cxn ang="0">
                  <a:pos x="2068" y="326"/>
                </a:cxn>
                <a:cxn ang="0">
                  <a:pos x="2171" y="402"/>
                </a:cxn>
                <a:cxn ang="0">
                  <a:pos x="2236" y="478"/>
                </a:cxn>
                <a:cxn ang="0">
                  <a:pos x="2263" y="560"/>
                </a:cxn>
                <a:cxn ang="0">
                  <a:pos x="2241" y="636"/>
                </a:cxn>
                <a:cxn ang="0">
                  <a:pos x="2171" y="702"/>
                </a:cxn>
                <a:cxn ang="0">
                  <a:pos x="2062" y="756"/>
                </a:cxn>
                <a:cxn ang="0">
                  <a:pos x="1921" y="800"/>
                </a:cxn>
                <a:cxn ang="0">
                  <a:pos x="1748" y="843"/>
                </a:cxn>
                <a:cxn ang="0">
                  <a:pos x="1351" y="908"/>
                </a:cxn>
                <a:cxn ang="0">
                  <a:pos x="923" y="968"/>
                </a:cxn>
                <a:cxn ang="0">
                  <a:pos x="521" y="1028"/>
                </a:cxn>
                <a:cxn ang="0">
                  <a:pos x="353" y="1066"/>
                </a:cxn>
                <a:cxn ang="0">
                  <a:pos x="206" y="1104"/>
                </a:cxn>
                <a:cxn ang="0">
                  <a:pos x="92" y="1148"/>
                </a:cxn>
                <a:cxn ang="0">
                  <a:pos x="22" y="1202"/>
                </a:cxn>
                <a:cxn ang="0">
                  <a:pos x="0" y="1262"/>
                </a:cxn>
                <a:cxn ang="0">
                  <a:pos x="27" y="1327"/>
                </a:cxn>
                <a:cxn ang="0">
                  <a:pos x="98" y="1382"/>
                </a:cxn>
                <a:cxn ang="0">
                  <a:pos x="196" y="1425"/>
                </a:cxn>
                <a:cxn ang="0">
                  <a:pos x="326" y="1469"/>
                </a:cxn>
                <a:cxn ang="0">
                  <a:pos x="217" y="1414"/>
                </a:cxn>
                <a:cxn ang="0">
                  <a:pos x="147" y="1360"/>
                </a:cxn>
                <a:cxn ang="0">
                  <a:pos x="120" y="1306"/>
                </a:cxn>
                <a:cxn ang="0">
                  <a:pos x="141" y="1257"/>
                </a:cxn>
                <a:cxn ang="0">
                  <a:pos x="212" y="1208"/>
                </a:cxn>
                <a:cxn ang="0">
                  <a:pos x="342" y="1164"/>
                </a:cxn>
                <a:cxn ang="0">
                  <a:pos x="527" y="1121"/>
                </a:cxn>
                <a:cxn ang="0">
                  <a:pos x="771" y="1088"/>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w="9525">
              <a:noFill/>
              <a:round/>
              <a:headEnd/>
              <a:tailEnd/>
            </a:ln>
          </p:spPr>
          <p:txBody>
            <a:bodyPr/>
            <a:lstStyle/>
            <a:p>
              <a:endParaRPr lang="en-US"/>
            </a:p>
          </p:txBody>
        </p:sp>
        <p:sp>
          <p:nvSpPr>
            <p:cNvPr id="173068" name="Freeform 12"/>
            <p:cNvSpPr>
              <a:spLocks/>
            </p:cNvSpPr>
            <p:nvPr/>
          </p:nvSpPr>
          <p:spPr bwMode="hidden">
            <a:xfrm>
              <a:off x="0" y="0"/>
              <a:ext cx="5758" cy="1776"/>
            </a:xfrm>
            <a:custGeom>
              <a:avLst/>
              <a:gdLst/>
              <a:ahLst/>
              <a:cxnLst>
                <a:cxn ang="0">
                  <a:pos x="0" y="0"/>
                </a:cxn>
                <a:cxn ang="0">
                  <a:pos x="0" y="1906"/>
                </a:cxn>
                <a:cxn ang="0">
                  <a:pos x="5740" y="1906"/>
                </a:cxn>
                <a:cxn ang="0">
                  <a:pos x="5740" y="0"/>
                </a:cxn>
                <a:cxn ang="0">
                  <a:pos x="0" y="0"/>
                </a:cxn>
                <a:cxn ang="0">
                  <a:pos x="0" y="0"/>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w="9525">
              <a:noFill/>
              <a:round/>
              <a:headEnd/>
              <a:tailEnd/>
            </a:ln>
          </p:spPr>
          <p:txBody>
            <a:bodyPr/>
            <a:lstStyle/>
            <a:p>
              <a:endParaRPr lang="en-US"/>
            </a:p>
          </p:txBody>
        </p:sp>
      </p:grpSp>
      <p:sp>
        <p:nvSpPr>
          <p:cNvPr id="173069" name="Rectangle 13"/>
          <p:cNvSpPr>
            <a:spLocks noGrp="1" noRot="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73070" name="Rectangle 14"/>
          <p:cNvSpPr>
            <a:spLocks noGrp="1" noChangeArrowheads="1"/>
          </p:cNvSpPr>
          <p:nvPr>
            <p:ph type="ftr" sz="quarter" idx="3"/>
          </p:nvPr>
        </p:nvSpPr>
        <p:spPr bwMode="auto">
          <a:xfrm>
            <a:off x="3124200" y="6248400"/>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vl1pPr>
          </a:lstStyle>
          <a:p>
            <a:endParaRPr lang="en-US"/>
          </a:p>
        </p:txBody>
      </p:sp>
      <p:sp>
        <p:nvSpPr>
          <p:cNvPr id="173071" name="Rectangle 15"/>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dk2" tx1="lt1" bg2="dk1"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Lst>
  <p:timing>
    <p:tnLst>
      <p:par>
        <p:cTn id="1" dur="indefinite" restart="never" nodeType="tmRoot"/>
      </p:par>
    </p:tnLst>
  </p:timing>
  <p:hf hdr="0" ftr="0" dt="0"/>
  <p:txStyles>
    <p:titleStyle>
      <a:lvl1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pitchFamily="34" charset="0"/>
        </a:defRPr>
      </a:lvl2pPr>
      <a:lvl3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pitchFamily="34" charset="0"/>
        </a:defRPr>
      </a:lvl3pPr>
      <a:lvl4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pitchFamily="34" charset="0"/>
        </a:defRPr>
      </a:lvl4pPr>
      <a:lvl5pPr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pitchFamily="34" charset="0"/>
        </a:defRPr>
      </a:lvl5pPr>
      <a:lvl6pPr marL="457200"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pitchFamily="34" charset="0"/>
        </a:defRPr>
      </a:lvl6pPr>
      <a:lvl7pPr marL="914400"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pitchFamily="34" charset="0"/>
        </a:defRPr>
      </a:lvl7pPr>
      <a:lvl8pPr marL="1371600"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pitchFamily="34" charset="0"/>
        </a:defRPr>
      </a:lvl8pPr>
      <a:lvl9pPr marL="1828800" algn="ctr" rtl="0" eaLnBrk="1" fontAlgn="base" hangingPunct="1">
        <a:spcBef>
          <a:spcPct val="0"/>
        </a:spcBef>
        <a:spcAft>
          <a:spcPct val="0"/>
        </a:spcAft>
        <a:defRPr sz="4400" b="1">
          <a:solidFill>
            <a:schemeClr val="tx2"/>
          </a:solidFill>
          <a:effectLst>
            <a:outerShdw blurRad="38100" dist="38100" dir="2700000" algn="tl">
              <a:srgbClr val="000000"/>
            </a:outerShdw>
          </a:effectLst>
          <a:latin typeface="Garamond" pitchFamily="18" charset="0"/>
          <a:cs typeface="Arial" pitchFamily="34" charset="0"/>
        </a:defRPr>
      </a:lvl9pPr>
    </p:titleStyle>
    <p:bodyStyle>
      <a:lvl1pPr marL="342900" indent="-342900" algn="l" rtl="0" eaLnBrk="1" fontAlgn="base" hangingPunct="1">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1" fontAlgn="base" hangingPunct="1">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1" fontAlgn="base" hangingPunct="1">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1" fontAlgn="base" hangingPunct="1">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eaLnBrk="1" fontAlgn="base" hangingPunct="1">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Grp="1" noChangeArrowheads="1"/>
          </p:cNvSpPr>
          <p:nvPr>
            <p:ph type="ctrTitle" sz="quarter"/>
          </p:nvPr>
        </p:nvSpPr>
        <p:spPr>
          <a:xfrm>
            <a:off x="685800" y="1736725"/>
            <a:ext cx="7772400" cy="3140075"/>
          </a:xfrm>
        </p:spPr>
        <p:txBody>
          <a:bodyPr/>
          <a:lstStyle/>
          <a:p>
            <a:r>
              <a:rPr lang="en-US" sz="4800" b="0" u="sng" dirty="0" smtClean="0">
                <a:effectLst/>
                <a:latin typeface="Constantia" pitchFamily="18" charset="0"/>
              </a:rPr>
              <a:t>DEMAND</a:t>
            </a:r>
            <a:r>
              <a:rPr lang="en-US" sz="4800" b="0" u="sng" dirty="0">
                <a:effectLst/>
                <a:latin typeface="Constantia" pitchFamily="18" charset="0"/>
              </a:rPr>
              <a:t>, </a:t>
            </a:r>
            <a:r>
              <a:rPr lang="en-US" sz="4800" b="0" u="sng" dirty="0" smtClean="0">
                <a:effectLst/>
                <a:latin typeface="Constantia" pitchFamily="18" charset="0"/>
              </a:rPr>
              <a:t>SUPPLY</a:t>
            </a:r>
            <a:br>
              <a:rPr lang="en-US" sz="4800" b="0" u="sng" dirty="0" smtClean="0">
                <a:effectLst/>
                <a:latin typeface="Constantia" pitchFamily="18" charset="0"/>
              </a:rPr>
            </a:br>
            <a:r>
              <a:rPr lang="en-US" sz="4800" b="0" dirty="0" smtClean="0">
                <a:effectLst/>
                <a:latin typeface="Constantia" pitchFamily="18" charset="0"/>
              </a:rPr>
              <a:t>&amp;</a:t>
            </a:r>
            <a:r>
              <a:rPr lang="en-US" sz="4800" b="0" u="sng" dirty="0" smtClean="0">
                <a:effectLst/>
                <a:latin typeface="Constantia" pitchFamily="18" charset="0"/>
              </a:rPr>
              <a:t> </a:t>
            </a:r>
            <a:br>
              <a:rPr lang="en-US" sz="4800" b="0" u="sng" dirty="0" smtClean="0">
                <a:effectLst/>
                <a:latin typeface="Constantia" pitchFamily="18" charset="0"/>
              </a:rPr>
            </a:br>
            <a:r>
              <a:rPr lang="en-US" sz="4800" b="0" u="sng" dirty="0" smtClean="0">
                <a:effectLst/>
                <a:latin typeface="Constantia" pitchFamily="18" charset="0"/>
              </a:rPr>
              <a:t>MARKET </a:t>
            </a:r>
            <a:r>
              <a:rPr lang="en-US" sz="4800" b="0" u="sng" dirty="0">
                <a:effectLst/>
                <a:latin typeface="Constantia" pitchFamily="18" charset="0"/>
              </a:rPr>
              <a:t>EQUILIBRIUM</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algn="l"/>
            <a:r>
              <a:rPr lang="en-US" u="sng" dirty="0" smtClean="0"/>
              <a:t>Significance:</a:t>
            </a:r>
            <a:endParaRPr lang="en-US" u="sng" dirty="0"/>
          </a:p>
        </p:txBody>
      </p:sp>
      <p:sp>
        <p:nvSpPr>
          <p:cNvPr id="46083" name="Rectangle 3"/>
          <p:cNvSpPr>
            <a:spLocks noGrp="1" noChangeArrowheads="1"/>
          </p:cNvSpPr>
          <p:nvPr>
            <p:ph idx="1"/>
          </p:nvPr>
        </p:nvSpPr>
        <p:spPr>
          <a:xfrm>
            <a:off x="304800" y="1295400"/>
            <a:ext cx="8610600" cy="5257800"/>
          </a:xfrm>
        </p:spPr>
        <p:txBody>
          <a:bodyPr/>
          <a:lstStyle/>
          <a:p>
            <a:r>
              <a:rPr lang="en-US" sz="3600" dirty="0"/>
              <a:t>The tools of </a:t>
            </a:r>
            <a:r>
              <a:rPr lang="en-US" sz="3600" b="1" dirty="0">
                <a:solidFill>
                  <a:schemeClr val="hlink"/>
                </a:solidFill>
              </a:rPr>
              <a:t>demand</a:t>
            </a:r>
            <a:r>
              <a:rPr lang="en-US" sz="3600" dirty="0"/>
              <a:t> and </a:t>
            </a:r>
            <a:r>
              <a:rPr lang="en-US" sz="3600" b="1" dirty="0">
                <a:solidFill>
                  <a:schemeClr val="hlink"/>
                </a:solidFill>
              </a:rPr>
              <a:t>supply</a:t>
            </a:r>
            <a:r>
              <a:rPr lang="en-US" sz="3600" dirty="0"/>
              <a:t> can be applied to a range of important topics such as: </a:t>
            </a:r>
          </a:p>
          <a:p>
            <a:pPr lvl="1"/>
            <a:r>
              <a:rPr lang="en-US" sz="3600" dirty="0"/>
              <a:t>E</a:t>
            </a:r>
            <a:r>
              <a:rPr lang="en-US" sz="3600" dirty="0" smtClean="0"/>
              <a:t>valuating </a:t>
            </a:r>
            <a:r>
              <a:rPr lang="en-US" sz="3600" dirty="0"/>
              <a:t>how </a:t>
            </a:r>
            <a:r>
              <a:rPr lang="en-US" sz="3600" dirty="0">
                <a:solidFill>
                  <a:srgbClr val="FFFF00"/>
                </a:solidFill>
              </a:rPr>
              <a:t>global weather conditions </a:t>
            </a:r>
            <a:r>
              <a:rPr lang="en-US" sz="3600" dirty="0"/>
              <a:t>will affect agricultural production and market prices of agricultural commodities; </a:t>
            </a:r>
          </a:p>
          <a:p>
            <a:pPr lvl="1"/>
            <a:r>
              <a:rPr lang="en-US" sz="3600" dirty="0"/>
              <a:t>A</a:t>
            </a:r>
            <a:r>
              <a:rPr lang="en-US" sz="3600" dirty="0" smtClean="0"/>
              <a:t>ssessing </a:t>
            </a:r>
            <a:r>
              <a:rPr lang="en-US" sz="3600" dirty="0"/>
              <a:t>the impact of </a:t>
            </a:r>
            <a:r>
              <a:rPr lang="en-US" sz="3600" u="sng" dirty="0">
                <a:solidFill>
                  <a:srgbClr val="FFFF00"/>
                </a:solidFill>
              </a:rPr>
              <a:t>government rent </a:t>
            </a:r>
            <a:r>
              <a:rPr lang="en-US" sz="3600" dirty="0"/>
              <a:t>control on </a:t>
            </a:r>
            <a:r>
              <a:rPr lang="en-US" sz="3600" dirty="0" smtClean="0"/>
              <a:t>the </a:t>
            </a:r>
            <a:r>
              <a:rPr lang="en-US" sz="3600" dirty="0" smtClean="0">
                <a:solidFill>
                  <a:srgbClr val="FFFF00"/>
                </a:solidFill>
              </a:rPr>
              <a:t>housing market</a:t>
            </a:r>
            <a:r>
              <a:rPr lang="en-US" sz="3600" dirty="0" smtClean="0"/>
              <a:t>; </a:t>
            </a:r>
            <a:endParaRPr lang="en-US" sz="3600" dirty="0"/>
          </a:p>
        </p:txBody>
      </p:sp>
      <p:sp>
        <p:nvSpPr>
          <p:cNvPr id="5" name="Slide Number Placeholder 4"/>
          <p:cNvSpPr>
            <a:spLocks noGrp="1"/>
          </p:cNvSpPr>
          <p:nvPr>
            <p:ph type="sldNum" sz="quarter" idx="11"/>
          </p:nvPr>
        </p:nvSpPr>
        <p:spPr/>
        <p:txBody>
          <a:bodyPr/>
          <a:lstStyle/>
          <a:p>
            <a:fld id="{6D63C845-4982-41E6-901A-A3EC09BDD7BE}" type="slidenum">
              <a:rPr lang="en-US" smtClean="0"/>
              <a:pPr/>
              <a:t>2</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800" decel="100000"/>
                                        <p:tgtEl>
                                          <p:spTgt spid="46083">
                                            <p:txEl>
                                              <p:pRg st="0" end="0"/>
                                            </p:txEl>
                                          </p:spTgt>
                                        </p:tgtEl>
                                      </p:cBhvr>
                                    </p:animEffect>
                                    <p:anim calcmode="lin" valueType="num">
                                      <p:cBhvr>
                                        <p:cTn id="8" dur="800" decel="100000" fill="hold"/>
                                        <p:tgtEl>
                                          <p:spTgt spid="46083">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46083">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46083">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6083">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6083">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6083">
                                            <p:txEl>
                                              <p:pRg st="1" end="1"/>
                                            </p:txEl>
                                          </p:spTgt>
                                        </p:tgtEl>
                                        <p:attrNameLst>
                                          <p:attrName>style.visibility</p:attrName>
                                        </p:attrNameLst>
                                      </p:cBhvr>
                                      <p:to>
                                        <p:strVal val="visible"/>
                                      </p:to>
                                    </p:set>
                                    <p:animEffect transition="in" filter="fade">
                                      <p:cBhvr>
                                        <p:cTn id="17" dur="800" decel="100000"/>
                                        <p:tgtEl>
                                          <p:spTgt spid="46083">
                                            <p:txEl>
                                              <p:pRg st="1" end="1"/>
                                            </p:txEl>
                                          </p:spTgt>
                                        </p:tgtEl>
                                      </p:cBhvr>
                                    </p:animEffect>
                                    <p:anim calcmode="lin" valueType="num">
                                      <p:cBhvr>
                                        <p:cTn id="18" dur="800" decel="100000" fill="hold"/>
                                        <p:tgtEl>
                                          <p:spTgt spid="46083">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46083">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46083">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6083">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608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46083">
                                            <p:txEl>
                                              <p:pRg st="2" end="2"/>
                                            </p:txEl>
                                          </p:spTgt>
                                        </p:tgtEl>
                                        <p:attrNameLst>
                                          <p:attrName>style.visibility</p:attrName>
                                        </p:attrNameLst>
                                      </p:cBhvr>
                                      <p:to>
                                        <p:strVal val="visible"/>
                                      </p:to>
                                    </p:set>
                                    <p:animEffect transition="in" filter="fade">
                                      <p:cBhvr>
                                        <p:cTn id="27" dur="800" decel="100000"/>
                                        <p:tgtEl>
                                          <p:spTgt spid="46083">
                                            <p:txEl>
                                              <p:pRg st="2" end="2"/>
                                            </p:txEl>
                                          </p:spTgt>
                                        </p:tgtEl>
                                      </p:cBhvr>
                                    </p:animEffect>
                                    <p:anim calcmode="lin" valueType="num">
                                      <p:cBhvr>
                                        <p:cTn id="28" dur="800" decel="100000" fill="hold"/>
                                        <p:tgtEl>
                                          <p:spTgt spid="46083">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46083">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46083">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46083">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46083">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 </a:t>
            </a:r>
            <a:endParaRPr lang="en-US" dirty="0"/>
          </a:p>
        </p:txBody>
      </p:sp>
      <p:sp>
        <p:nvSpPr>
          <p:cNvPr id="3" name="Content Placeholder 2"/>
          <p:cNvSpPr>
            <a:spLocks noGrp="1"/>
          </p:cNvSpPr>
          <p:nvPr>
            <p:ph idx="1"/>
          </p:nvPr>
        </p:nvSpPr>
        <p:spPr>
          <a:xfrm>
            <a:off x="457200" y="1295400"/>
            <a:ext cx="8229600" cy="5257800"/>
          </a:xfrm>
        </p:spPr>
        <p:txBody>
          <a:bodyPr/>
          <a:lstStyle/>
          <a:p>
            <a:pPr lvl="1"/>
            <a:r>
              <a:rPr lang="en-US" sz="4000" dirty="0" smtClean="0"/>
              <a:t>Understanding </a:t>
            </a:r>
            <a:r>
              <a:rPr lang="en-US" sz="4000" dirty="0"/>
              <a:t>how </a:t>
            </a:r>
            <a:r>
              <a:rPr lang="en-US" sz="4000" dirty="0">
                <a:solidFill>
                  <a:srgbClr val="FFFF00"/>
                </a:solidFill>
              </a:rPr>
              <a:t>taxes, subsidies</a:t>
            </a:r>
            <a:r>
              <a:rPr lang="en-US" sz="4000" dirty="0"/>
              <a:t>, and other government policies affect both </a:t>
            </a:r>
            <a:r>
              <a:rPr lang="en-US" sz="4000" dirty="0">
                <a:solidFill>
                  <a:srgbClr val="FFFF00"/>
                </a:solidFill>
              </a:rPr>
              <a:t>consumers</a:t>
            </a:r>
            <a:r>
              <a:rPr lang="en-US" sz="4000" dirty="0"/>
              <a:t> and </a:t>
            </a:r>
            <a:r>
              <a:rPr lang="en-US" sz="4000" dirty="0">
                <a:solidFill>
                  <a:srgbClr val="FFFF00"/>
                </a:solidFill>
              </a:rPr>
              <a:t>producers</a:t>
            </a:r>
            <a:r>
              <a:rPr lang="en-US" sz="4000" dirty="0"/>
              <a:t>.</a:t>
            </a:r>
          </a:p>
          <a:p>
            <a:pPr marL="571500" lvl="1" indent="-571500">
              <a:buClr>
                <a:srgbClr val="FFC000"/>
              </a:buClr>
            </a:pPr>
            <a:r>
              <a:rPr lang="en-US" sz="4000" dirty="0">
                <a:solidFill>
                  <a:srgbClr val="FFFF00"/>
                </a:solidFill>
              </a:rPr>
              <a:t>Demand</a:t>
            </a:r>
            <a:r>
              <a:rPr lang="en-US" sz="4000" dirty="0"/>
              <a:t> and </a:t>
            </a:r>
            <a:r>
              <a:rPr lang="en-US" sz="4000" dirty="0">
                <a:solidFill>
                  <a:srgbClr val="FFFF00"/>
                </a:solidFill>
              </a:rPr>
              <a:t>supply</a:t>
            </a:r>
            <a:r>
              <a:rPr lang="en-US" sz="4000" dirty="0"/>
              <a:t> analysis deals with how </a:t>
            </a:r>
            <a:r>
              <a:rPr lang="en-US" sz="4000" dirty="0">
                <a:solidFill>
                  <a:srgbClr val="FFFF00"/>
                </a:solidFill>
              </a:rPr>
              <a:t>prices of products </a:t>
            </a:r>
            <a:r>
              <a:rPr lang="en-US" sz="4000" dirty="0"/>
              <a:t>and resources are </a:t>
            </a:r>
            <a:r>
              <a:rPr lang="en-US" sz="4000" dirty="0">
                <a:solidFill>
                  <a:srgbClr val="FFFF00"/>
                </a:solidFill>
              </a:rPr>
              <a:t>determined</a:t>
            </a:r>
            <a:r>
              <a:rPr lang="en-US" sz="4000" dirty="0"/>
              <a:t>.</a:t>
            </a:r>
          </a:p>
        </p:txBody>
      </p:sp>
      <p:sp>
        <p:nvSpPr>
          <p:cNvPr id="4" name="Slide Number Placeholder 3"/>
          <p:cNvSpPr>
            <a:spLocks noGrp="1"/>
          </p:cNvSpPr>
          <p:nvPr>
            <p:ph type="sldNum" sz="quarter" idx="11"/>
          </p:nvPr>
        </p:nvSpPr>
        <p:spPr/>
        <p:txBody>
          <a:bodyPr/>
          <a:lstStyle/>
          <a:p>
            <a:fld id="{6D63C845-4982-41E6-901A-A3EC09BDD7BE}" type="slidenum">
              <a:rPr lang="en-US" smtClean="0"/>
              <a:pPr/>
              <a:t>3</a:t>
            </a:fld>
            <a:endParaRPr lang="en-US"/>
          </a:p>
        </p:txBody>
      </p:sp>
    </p:spTree>
    <p:extLst>
      <p:ext uri="{BB962C8B-B14F-4D97-AF65-F5344CB8AC3E}">
        <p14:creationId xmlns:p14="http://schemas.microsoft.com/office/powerpoint/2010/main" val="177907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algn="l"/>
            <a:r>
              <a:rPr lang="en-US" u="sng" dirty="0"/>
              <a:t>The Concept of </a:t>
            </a:r>
            <a:r>
              <a:rPr lang="en-US" u="sng" dirty="0" smtClean="0"/>
              <a:t>DEMAND:</a:t>
            </a:r>
            <a:endParaRPr lang="en-US" u="sng" dirty="0"/>
          </a:p>
        </p:txBody>
      </p:sp>
      <p:sp>
        <p:nvSpPr>
          <p:cNvPr id="94211" name="Rectangle 3"/>
          <p:cNvSpPr>
            <a:spLocks noGrp="1" noChangeArrowheads="1"/>
          </p:cNvSpPr>
          <p:nvPr>
            <p:ph idx="1"/>
          </p:nvPr>
        </p:nvSpPr>
        <p:spPr>
          <a:xfrm>
            <a:off x="228600" y="1162050"/>
            <a:ext cx="8686800" cy="5562600"/>
          </a:xfrm>
        </p:spPr>
        <p:txBody>
          <a:bodyPr/>
          <a:lstStyle/>
          <a:p>
            <a:r>
              <a:rPr lang="en-US" b="1" dirty="0">
                <a:solidFill>
                  <a:srgbClr val="FFFF00"/>
                </a:solidFill>
              </a:rPr>
              <a:t>D</a:t>
            </a:r>
            <a:r>
              <a:rPr lang="en-US" altLang="ko-KR" b="1" dirty="0">
                <a:solidFill>
                  <a:srgbClr val="FFFF00"/>
                </a:solidFill>
                <a:ea typeface="굴림" charset="-127"/>
              </a:rPr>
              <a:t>emand</a:t>
            </a:r>
            <a:r>
              <a:rPr lang="en-US" altLang="ko-KR" b="1" dirty="0">
                <a:solidFill>
                  <a:schemeClr val="hlink"/>
                </a:solidFill>
                <a:ea typeface="굴림" charset="-127"/>
              </a:rPr>
              <a:t> - </a:t>
            </a:r>
            <a:r>
              <a:rPr lang="en-US" altLang="ko-KR" i="1" dirty="0">
                <a:ea typeface="굴림" charset="-127"/>
              </a:rPr>
              <a:t> </a:t>
            </a:r>
            <a:r>
              <a:rPr lang="en-US" altLang="ko-KR" dirty="0">
                <a:ea typeface="굴림" charset="-127"/>
              </a:rPr>
              <a:t>refers to the various quantities of a good or service that consumers are </a:t>
            </a:r>
            <a:r>
              <a:rPr lang="en-US" altLang="ko-KR" b="1" dirty="0">
                <a:solidFill>
                  <a:srgbClr val="FFFF00"/>
                </a:solidFill>
                <a:ea typeface="굴림" charset="-127"/>
              </a:rPr>
              <a:t>willing</a:t>
            </a:r>
            <a:r>
              <a:rPr lang="en-US" altLang="ko-KR" dirty="0">
                <a:ea typeface="굴림" charset="-127"/>
              </a:rPr>
              <a:t> </a:t>
            </a:r>
            <a:r>
              <a:rPr lang="en-US" altLang="ko-KR" dirty="0" smtClean="0">
                <a:ea typeface="굴림" charset="-127"/>
              </a:rPr>
              <a:t>and </a:t>
            </a:r>
            <a:r>
              <a:rPr lang="en-US" altLang="ko-KR" b="1" dirty="0" smtClean="0">
                <a:solidFill>
                  <a:srgbClr val="FFFF00"/>
                </a:solidFill>
                <a:ea typeface="굴림" charset="-127"/>
              </a:rPr>
              <a:t>able</a:t>
            </a:r>
            <a:r>
              <a:rPr lang="en-US" altLang="ko-KR" dirty="0" smtClean="0">
                <a:ea typeface="굴림" charset="-127"/>
              </a:rPr>
              <a:t> to </a:t>
            </a:r>
            <a:r>
              <a:rPr lang="en-US" altLang="ko-KR" dirty="0">
                <a:ea typeface="굴림" charset="-127"/>
              </a:rPr>
              <a:t>purchase at alternative prices, </a:t>
            </a:r>
            <a:r>
              <a:rPr lang="en-US" altLang="ko-KR" i="1" dirty="0">
                <a:ea typeface="굴림" charset="-127"/>
              </a:rPr>
              <a:t>ceteris </a:t>
            </a:r>
            <a:r>
              <a:rPr lang="en-US" altLang="ko-KR" i="1" dirty="0" smtClean="0">
                <a:ea typeface="굴림" charset="-127"/>
              </a:rPr>
              <a:t>paribus </a:t>
            </a:r>
            <a:r>
              <a:rPr lang="en-US" altLang="ko-KR" dirty="0" smtClean="0">
                <a:ea typeface="굴림" charset="-127"/>
              </a:rPr>
              <a:t>(other things remaining equal).</a:t>
            </a:r>
            <a:endParaRPr lang="en-US" altLang="ko-KR" dirty="0">
              <a:ea typeface="굴림" charset="-127"/>
            </a:endParaRPr>
          </a:p>
          <a:p>
            <a:pPr lvl="1"/>
            <a:r>
              <a:rPr lang="en-US" sz="3200" dirty="0" smtClean="0"/>
              <a:t>It conveys </a:t>
            </a:r>
            <a:r>
              <a:rPr lang="en-US" sz="3200" dirty="0"/>
              <a:t>both the elements of </a:t>
            </a:r>
            <a:r>
              <a:rPr lang="en-US" sz="3200" dirty="0">
                <a:solidFill>
                  <a:srgbClr val="FFFF00"/>
                </a:solidFill>
              </a:rPr>
              <a:t>desire</a:t>
            </a:r>
            <a:r>
              <a:rPr lang="en-US" sz="3200" dirty="0"/>
              <a:t> for the commodity and </a:t>
            </a:r>
            <a:r>
              <a:rPr lang="en-US" sz="3200" dirty="0">
                <a:solidFill>
                  <a:srgbClr val="FFFF00"/>
                </a:solidFill>
              </a:rPr>
              <a:t>capacity</a:t>
            </a:r>
            <a:r>
              <a:rPr lang="en-US" sz="3200" dirty="0"/>
              <a:t> to pay (must be willing and able).</a:t>
            </a:r>
          </a:p>
          <a:p>
            <a:pPr lvl="1"/>
            <a:r>
              <a:rPr lang="en-US" sz="3200" dirty="0" smtClean="0"/>
              <a:t>It emphasizes </a:t>
            </a:r>
            <a:r>
              <a:rPr lang="en-US" sz="3200" dirty="0"/>
              <a:t>the relationship between quantity bought and its price, although there may be other factors that determine how much a consumer wants to purchase</a:t>
            </a:r>
            <a:r>
              <a:rPr lang="en-US" sz="3200" dirty="0" smtClean="0"/>
              <a:t>.</a:t>
            </a:r>
          </a:p>
        </p:txBody>
      </p:sp>
      <p:sp>
        <p:nvSpPr>
          <p:cNvPr id="5" name="Slide Number Placeholder 4"/>
          <p:cNvSpPr>
            <a:spLocks noGrp="1"/>
          </p:cNvSpPr>
          <p:nvPr>
            <p:ph type="sldNum" sz="quarter" idx="11"/>
          </p:nvPr>
        </p:nvSpPr>
        <p:spPr/>
        <p:txBody>
          <a:bodyPr/>
          <a:lstStyle/>
          <a:p>
            <a:fld id="{6D63C845-4982-41E6-901A-A3EC09BDD7BE}" type="slidenum">
              <a:rPr lang="en-US" smtClean="0"/>
              <a:pPr/>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fade">
                                      <p:cBhvr>
                                        <p:cTn id="7" dur="800" decel="100000"/>
                                        <p:tgtEl>
                                          <p:spTgt spid="94211">
                                            <p:txEl>
                                              <p:pRg st="0" end="0"/>
                                            </p:txEl>
                                          </p:spTgt>
                                        </p:tgtEl>
                                      </p:cBhvr>
                                    </p:animEffect>
                                    <p:anim calcmode="lin" valueType="num">
                                      <p:cBhvr>
                                        <p:cTn id="8" dur="800" decel="100000" fill="hold"/>
                                        <p:tgtEl>
                                          <p:spTgt spid="94211">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94211">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94211">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94211">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9421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94211">
                                            <p:txEl>
                                              <p:pRg st="1" end="1"/>
                                            </p:txEl>
                                          </p:spTgt>
                                        </p:tgtEl>
                                        <p:attrNameLst>
                                          <p:attrName>style.visibility</p:attrName>
                                        </p:attrNameLst>
                                      </p:cBhvr>
                                      <p:to>
                                        <p:strVal val="visible"/>
                                      </p:to>
                                    </p:set>
                                    <p:animEffect transition="in" filter="fade">
                                      <p:cBhvr>
                                        <p:cTn id="17" dur="800" decel="100000"/>
                                        <p:tgtEl>
                                          <p:spTgt spid="94211">
                                            <p:txEl>
                                              <p:pRg st="1" end="1"/>
                                            </p:txEl>
                                          </p:spTgt>
                                        </p:tgtEl>
                                      </p:cBhvr>
                                    </p:animEffect>
                                    <p:anim calcmode="lin" valueType="num">
                                      <p:cBhvr>
                                        <p:cTn id="18" dur="800" decel="100000" fill="hold"/>
                                        <p:tgtEl>
                                          <p:spTgt spid="94211">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94211">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94211">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94211">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94211">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94211">
                                            <p:txEl>
                                              <p:pRg st="2" end="2"/>
                                            </p:txEl>
                                          </p:spTgt>
                                        </p:tgtEl>
                                        <p:attrNameLst>
                                          <p:attrName>style.visibility</p:attrName>
                                        </p:attrNameLst>
                                      </p:cBhvr>
                                      <p:to>
                                        <p:strVal val="visible"/>
                                      </p:to>
                                    </p:set>
                                    <p:animEffect transition="in" filter="fade">
                                      <p:cBhvr>
                                        <p:cTn id="27" dur="800" decel="100000"/>
                                        <p:tgtEl>
                                          <p:spTgt spid="94211">
                                            <p:txEl>
                                              <p:pRg st="2" end="2"/>
                                            </p:txEl>
                                          </p:spTgt>
                                        </p:tgtEl>
                                      </p:cBhvr>
                                    </p:animEffect>
                                    <p:anim calcmode="lin" valueType="num">
                                      <p:cBhvr>
                                        <p:cTn id="28" dur="800" decel="100000" fill="hold"/>
                                        <p:tgtEl>
                                          <p:spTgt spid="94211">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94211">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94211">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94211">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94211">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457200" y="304800"/>
            <a:ext cx="8229600" cy="1139825"/>
          </a:xfrm>
        </p:spPr>
        <p:txBody>
          <a:bodyPr/>
          <a:lstStyle/>
          <a:p>
            <a:pPr algn="l"/>
            <a:r>
              <a:rPr lang="en-US" u="sng" dirty="0"/>
              <a:t>The Law of </a:t>
            </a:r>
            <a:r>
              <a:rPr lang="en-US" u="sng" dirty="0" smtClean="0"/>
              <a:t>Demand:</a:t>
            </a:r>
            <a:endParaRPr lang="en-US" u="sng" dirty="0"/>
          </a:p>
        </p:txBody>
      </p:sp>
      <p:sp>
        <p:nvSpPr>
          <p:cNvPr id="95235" name="Rectangle 3"/>
          <p:cNvSpPr>
            <a:spLocks noGrp="1" noChangeArrowheads="1"/>
          </p:cNvSpPr>
          <p:nvPr>
            <p:ph idx="1"/>
          </p:nvPr>
        </p:nvSpPr>
        <p:spPr>
          <a:xfrm>
            <a:off x="457200" y="1295400"/>
            <a:ext cx="8229600" cy="4660900"/>
          </a:xfrm>
        </p:spPr>
        <p:txBody>
          <a:bodyPr/>
          <a:lstStyle/>
          <a:p>
            <a:r>
              <a:rPr lang="en-US" altLang="ko-KR" sz="3600" dirty="0">
                <a:ea typeface="굴림" charset="-127"/>
              </a:rPr>
              <a:t>Asserts that the </a:t>
            </a:r>
            <a:r>
              <a:rPr lang="en-US" altLang="ko-KR" sz="3600" dirty="0">
                <a:solidFill>
                  <a:srgbClr val="FFFF00"/>
                </a:solidFill>
                <a:ea typeface="굴림" charset="-127"/>
              </a:rPr>
              <a:t>quantity demanded </a:t>
            </a:r>
            <a:r>
              <a:rPr lang="en-US" altLang="ko-KR" sz="3600" dirty="0">
                <a:ea typeface="굴림" charset="-127"/>
              </a:rPr>
              <a:t>of a good or service is </a:t>
            </a:r>
            <a:r>
              <a:rPr lang="en-US" altLang="ko-KR" sz="3600" dirty="0">
                <a:solidFill>
                  <a:srgbClr val="FFFF00"/>
                </a:solidFill>
                <a:ea typeface="굴림" charset="-127"/>
              </a:rPr>
              <a:t>negatively</a:t>
            </a:r>
            <a:r>
              <a:rPr lang="en-US" altLang="ko-KR" sz="3600" dirty="0">
                <a:ea typeface="굴림" charset="-127"/>
              </a:rPr>
              <a:t> or </a:t>
            </a:r>
            <a:r>
              <a:rPr lang="en-US" altLang="ko-KR" sz="3600" dirty="0">
                <a:solidFill>
                  <a:srgbClr val="FFFF00"/>
                </a:solidFill>
                <a:ea typeface="굴림" charset="-127"/>
              </a:rPr>
              <a:t>inversely</a:t>
            </a:r>
            <a:r>
              <a:rPr lang="en-US" altLang="ko-KR" sz="3600" dirty="0">
                <a:ea typeface="굴림" charset="-127"/>
              </a:rPr>
              <a:t> related to its </a:t>
            </a:r>
            <a:r>
              <a:rPr lang="en-US" altLang="ko-KR" sz="3600" dirty="0">
                <a:solidFill>
                  <a:srgbClr val="FFFF00"/>
                </a:solidFill>
                <a:ea typeface="굴림" charset="-127"/>
              </a:rPr>
              <a:t>own </a:t>
            </a:r>
            <a:r>
              <a:rPr lang="en-US" altLang="ko-KR" sz="3600" dirty="0" smtClean="0">
                <a:solidFill>
                  <a:srgbClr val="FFFF00"/>
                </a:solidFill>
                <a:ea typeface="굴림" charset="-127"/>
              </a:rPr>
              <a:t>price </a:t>
            </a:r>
            <a:r>
              <a:rPr lang="en-US" altLang="ko-KR" sz="3600" dirty="0" smtClean="0">
                <a:ea typeface="굴림" charset="-127"/>
              </a:rPr>
              <a:t>– the First Law of Demand.</a:t>
            </a:r>
            <a:endParaRPr lang="en-US" altLang="ko-KR" sz="3600" dirty="0">
              <a:ea typeface="굴림" charset="-127"/>
            </a:endParaRPr>
          </a:p>
          <a:p>
            <a:pPr lvl="1"/>
            <a:r>
              <a:rPr lang="en-US" sz="3600" dirty="0"/>
              <a:t>When the price increases, less of the good or service will be </a:t>
            </a:r>
            <a:r>
              <a:rPr lang="en-US" sz="3600" dirty="0" smtClean="0"/>
              <a:t>bought.</a:t>
            </a:r>
            <a:endParaRPr lang="en-US" sz="3600" dirty="0"/>
          </a:p>
          <a:p>
            <a:pPr lvl="1"/>
            <a:r>
              <a:rPr lang="en-US" sz="3600" dirty="0"/>
              <a:t>When the price decreases, more of the commodity will be purchased.</a:t>
            </a:r>
          </a:p>
        </p:txBody>
      </p:sp>
      <p:sp>
        <p:nvSpPr>
          <p:cNvPr id="95236" name="Text Box 4"/>
          <p:cNvSpPr txBox="1">
            <a:spLocks noChangeArrowheads="1"/>
          </p:cNvSpPr>
          <p:nvPr/>
        </p:nvSpPr>
        <p:spPr bwMode="auto">
          <a:xfrm>
            <a:off x="3352800" y="6019800"/>
            <a:ext cx="3200400" cy="641350"/>
          </a:xfrm>
          <a:prstGeom prst="rect">
            <a:avLst/>
          </a:prstGeom>
          <a:noFill/>
          <a:ln w="9525">
            <a:noFill/>
            <a:miter lim="800000"/>
            <a:headEnd/>
            <a:tailEnd/>
          </a:ln>
          <a:effectLst/>
        </p:spPr>
        <p:txBody>
          <a:bodyPr>
            <a:spAutoFit/>
          </a:bodyPr>
          <a:lstStyle/>
          <a:p>
            <a:pPr algn="l">
              <a:spcBef>
                <a:spcPct val="50000"/>
              </a:spcBef>
            </a:pPr>
            <a:r>
              <a:rPr lang="en-US" sz="3600" b="1" dirty="0">
                <a:solidFill>
                  <a:srgbClr val="FFC000"/>
                </a:solidFill>
              </a:rPr>
              <a:t>WHY SO?</a:t>
            </a:r>
          </a:p>
        </p:txBody>
      </p:sp>
      <p:sp>
        <p:nvSpPr>
          <p:cNvPr id="6" name="Slide Number Placeholder 5"/>
          <p:cNvSpPr>
            <a:spLocks noGrp="1"/>
          </p:cNvSpPr>
          <p:nvPr>
            <p:ph type="sldNum" sz="quarter" idx="11"/>
          </p:nvPr>
        </p:nvSpPr>
        <p:spPr/>
        <p:txBody>
          <a:bodyPr/>
          <a:lstStyle/>
          <a:p>
            <a:fld id="{6D63C845-4982-41E6-901A-A3EC09BDD7BE}" type="slidenum">
              <a:rPr lang="en-US" smtClean="0"/>
              <a:pPr/>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animEffect transition="in" filter="fade">
                                      <p:cBhvr>
                                        <p:cTn id="7" dur="800" decel="100000"/>
                                        <p:tgtEl>
                                          <p:spTgt spid="95235">
                                            <p:txEl>
                                              <p:pRg st="0" end="0"/>
                                            </p:txEl>
                                          </p:spTgt>
                                        </p:tgtEl>
                                      </p:cBhvr>
                                    </p:animEffect>
                                    <p:anim calcmode="lin" valueType="num">
                                      <p:cBhvr>
                                        <p:cTn id="8" dur="800" decel="100000" fill="hold"/>
                                        <p:tgtEl>
                                          <p:spTgt spid="95235">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95235">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95235">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95235">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95235">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95235">
                                            <p:txEl>
                                              <p:pRg st="1" end="1"/>
                                            </p:txEl>
                                          </p:spTgt>
                                        </p:tgtEl>
                                        <p:attrNameLst>
                                          <p:attrName>style.visibility</p:attrName>
                                        </p:attrNameLst>
                                      </p:cBhvr>
                                      <p:to>
                                        <p:strVal val="visible"/>
                                      </p:to>
                                    </p:set>
                                    <p:animEffect transition="in" filter="fade">
                                      <p:cBhvr>
                                        <p:cTn id="17" dur="800" decel="100000"/>
                                        <p:tgtEl>
                                          <p:spTgt spid="95235">
                                            <p:txEl>
                                              <p:pRg st="1" end="1"/>
                                            </p:txEl>
                                          </p:spTgt>
                                        </p:tgtEl>
                                      </p:cBhvr>
                                    </p:animEffect>
                                    <p:anim calcmode="lin" valueType="num">
                                      <p:cBhvr>
                                        <p:cTn id="18" dur="800" decel="100000" fill="hold"/>
                                        <p:tgtEl>
                                          <p:spTgt spid="95235">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95235">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95235">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95235">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95235">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95235">
                                            <p:txEl>
                                              <p:pRg st="2" end="2"/>
                                            </p:txEl>
                                          </p:spTgt>
                                        </p:tgtEl>
                                        <p:attrNameLst>
                                          <p:attrName>style.visibility</p:attrName>
                                        </p:attrNameLst>
                                      </p:cBhvr>
                                      <p:to>
                                        <p:strVal val="visible"/>
                                      </p:to>
                                    </p:set>
                                    <p:animEffect transition="in" filter="fade">
                                      <p:cBhvr>
                                        <p:cTn id="27" dur="800" decel="100000"/>
                                        <p:tgtEl>
                                          <p:spTgt spid="95235">
                                            <p:txEl>
                                              <p:pRg st="2" end="2"/>
                                            </p:txEl>
                                          </p:spTgt>
                                        </p:tgtEl>
                                      </p:cBhvr>
                                    </p:animEffect>
                                    <p:anim calcmode="lin" valueType="num">
                                      <p:cBhvr>
                                        <p:cTn id="28" dur="800" decel="100000" fill="hold"/>
                                        <p:tgtEl>
                                          <p:spTgt spid="95235">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95235">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95235">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95235">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95235">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5236">
                                            <p:txEl>
                                              <p:pRg st="0" end="0"/>
                                            </p:txEl>
                                          </p:spTgt>
                                        </p:tgtEl>
                                        <p:attrNameLst>
                                          <p:attrName>style.visibility</p:attrName>
                                        </p:attrNameLst>
                                      </p:cBhvr>
                                      <p:to>
                                        <p:strVal val="visible"/>
                                      </p:to>
                                    </p:set>
                                    <p:anim calcmode="lin" valueType="num">
                                      <p:cBhvr additive="base">
                                        <p:cTn id="37" dur="1000" fill="hold"/>
                                        <p:tgtEl>
                                          <p:spTgt spid="95236">
                                            <p:txEl>
                                              <p:pRg st="0" end="0"/>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9523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algn="l"/>
            <a:r>
              <a:rPr lang="en-US" sz="4000" u="sng" dirty="0"/>
              <a:t>Two Reasons for the Inverse </a:t>
            </a:r>
            <a:r>
              <a:rPr lang="en-US" sz="4000" u="sng" dirty="0" smtClean="0"/>
              <a:t>Relationship:</a:t>
            </a:r>
            <a:endParaRPr lang="en-US" sz="4000" u="sng" dirty="0"/>
          </a:p>
        </p:txBody>
      </p:sp>
      <p:sp>
        <p:nvSpPr>
          <p:cNvPr id="96259" name="Rectangle 3"/>
          <p:cNvSpPr>
            <a:spLocks noGrp="1" noChangeArrowheads="1"/>
          </p:cNvSpPr>
          <p:nvPr>
            <p:ph idx="1"/>
          </p:nvPr>
        </p:nvSpPr>
        <p:spPr>
          <a:xfrm>
            <a:off x="304800" y="1600200"/>
            <a:ext cx="8534400" cy="5124450"/>
          </a:xfrm>
        </p:spPr>
        <p:txBody>
          <a:bodyPr/>
          <a:lstStyle/>
          <a:p>
            <a:r>
              <a:rPr lang="en-US" dirty="0">
                <a:solidFill>
                  <a:srgbClr val="FFFF00"/>
                </a:solidFill>
              </a:rPr>
              <a:t>Substitution effect</a:t>
            </a:r>
          </a:p>
          <a:p>
            <a:pPr lvl="1"/>
            <a:r>
              <a:rPr lang="en-US" sz="3200" dirty="0"/>
              <a:t>When price of a good decreases, the consumer </a:t>
            </a:r>
            <a:r>
              <a:rPr lang="en-US" sz="3200" u="sng" dirty="0"/>
              <a:t>substitutes</a:t>
            </a:r>
            <a:r>
              <a:rPr lang="en-US" sz="3200" dirty="0"/>
              <a:t> the lower priced good for the more expensive ones.</a:t>
            </a:r>
          </a:p>
          <a:p>
            <a:r>
              <a:rPr lang="en-US" dirty="0">
                <a:solidFill>
                  <a:srgbClr val="FFFF00"/>
                </a:solidFill>
              </a:rPr>
              <a:t>Income effect</a:t>
            </a:r>
          </a:p>
          <a:p>
            <a:pPr lvl="1"/>
            <a:r>
              <a:rPr lang="en-US" sz="3200" dirty="0"/>
              <a:t>When price decreases, the consumer’s </a:t>
            </a:r>
            <a:r>
              <a:rPr lang="en-US" sz="3200" u="sng" dirty="0"/>
              <a:t>real income</a:t>
            </a:r>
            <a:r>
              <a:rPr lang="en-US" sz="3200" dirty="0"/>
              <a:t> (or purchasing power) increases, so he tends to buy </a:t>
            </a:r>
            <a:r>
              <a:rPr lang="en-US" sz="3200" dirty="0" smtClean="0"/>
              <a:t>more of the good.</a:t>
            </a:r>
            <a:endParaRPr lang="en-US" sz="3200" dirty="0"/>
          </a:p>
        </p:txBody>
      </p:sp>
      <p:sp>
        <p:nvSpPr>
          <p:cNvPr id="96260" name="Text Box 4"/>
          <p:cNvSpPr txBox="1">
            <a:spLocks noChangeArrowheads="1"/>
          </p:cNvSpPr>
          <p:nvPr/>
        </p:nvSpPr>
        <p:spPr bwMode="auto">
          <a:xfrm>
            <a:off x="5638800" y="6019800"/>
            <a:ext cx="609600" cy="701675"/>
          </a:xfrm>
          <a:prstGeom prst="rect">
            <a:avLst/>
          </a:prstGeom>
          <a:noFill/>
          <a:ln w="9525">
            <a:noFill/>
            <a:miter lim="800000"/>
            <a:headEnd/>
            <a:tailEnd/>
          </a:ln>
          <a:effectLst/>
        </p:spPr>
        <p:txBody>
          <a:bodyPr>
            <a:spAutoFit/>
          </a:bodyPr>
          <a:lstStyle/>
          <a:p>
            <a:pPr algn="l">
              <a:spcBef>
                <a:spcPct val="50000"/>
              </a:spcBef>
            </a:pPr>
            <a:r>
              <a:rPr lang="en-US" sz="4000" b="1" dirty="0">
                <a:solidFill>
                  <a:srgbClr val="FF3300"/>
                </a:solidFill>
              </a:rPr>
              <a:t>P</a:t>
            </a:r>
            <a:r>
              <a:rPr lang="en-US" sz="3200" dirty="0"/>
              <a:t>   </a:t>
            </a:r>
          </a:p>
        </p:txBody>
      </p:sp>
      <p:sp>
        <p:nvSpPr>
          <p:cNvPr id="96261" name="Text Box 5"/>
          <p:cNvSpPr txBox="1">
            <a:spLocks noChangeArrowheads="1"/>
          </p:cNvSpPr>
          <p:nvPr/>
        </p:nvSpPr>
        <p:spPr bwMode="auto">
          <a:xfrm>
            <a:off x="6888162" y="6019799"/>
            <a:ext cx="579438" cy="701675"/>
          </a:xfrm>
          <a:prstGeom prst="rect">
            <a:avLst/>
          </a:prstGeom>
          <a:noFill/>
          <a:ln w="9525">
            <a:noFill/>
            <a:miter lim="800000"/>
            <a:headEnd/>
            <a:tailEnd/>
          </a:ln>
          <a:effectLst/>
        </p:spPr>
        <p:txBody>
          <a:bodyPr wrap="none">
            <a:spAutoFit/>
          </a:bodyPr>
          <a:lstStyle/>
          <a:p>
            <a:pPr algn="l"/>
            <a:r>
              <a:rPr lang="en-US" sz="4000" b="1" dirty="0">
                <a:solidFill>
                  <a:srgbClr val="FF3300"/>
                </a:solidFill>
              </a:rPr>
              <a:t>Q</a:t>
            </a:r>
          </a:p>
        </p:txBody>
      </p:sp>
      <p:sp>
        <p:nvSpPr>
          <p:cNvPr id="96262" name="AutoShape 6"/>
          <p:cNvSpPr>
            <a:spLocks noChangeArrowheads="1"/>
          </p:cNvSpPr>
          <p:nvPr/>
        </p:nvSpPr>
        <p:spPr bwMode="auto">
          <a:xfrm>
            <a:off x="7467600" y="6103936"/>
            <a:ext cx="152400" cy="533400"/>
          </a:xfrm>
          <a:prstGeom prst="upArrow">
            <a:avLst>
              <a:gd name="adj1" fmla="val 50000"/>
              <a:gd name="adj2" fmla="val 875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96263" name="AutoShape 7"/>
          <p:cNvSpPr>
            <a:spLocks noChangeArrowheads="1"/>
          </p:cNvSpPr>
          <p:nvPr/>
        </p:nvSpPr>
        <p:spPr bwMode="auto">
          <a:xfrm>
            <a:off x="6248400" y="6145622"/>
            <a:ext cx="152400" cy="533400"/>
          </a:xfrm>
          <a:prstGeom prst="downArrow">
            <a:avLst>
              <a:gd name="adj1" fmla="val 50000"/>
              <a:gd name="adj2" fmla="val 87500"/>
            </a:avLst>
          </a:prstGeom>
          <a:solidFill>
            <a:schemeClr val="accent1"/>
          </a:solidFill>
          <a:ln w="9525">
            <a:solidFill>
              <a:schemeClr val="tx1"/>
            </a:solidFill>
            <a:miter lim="800000"/>
            <a:headEnd/>
            <a:tailEnd/>
          </a:ln>
          <a:effectLst/>
        </p:spPr>
        <p:txBody>
          <a:bodyPr vert="eaVert" wrap="none" anchor="ctr"/>
          <a:lstStyle/>
          <a:p>
            <a:endParaRPr lang="en-US"/>
          </a:p>
        </p:txBody>
      </p:sp>
      <p:sp>
        <p:nvSpPr>
          <p:cNvPr id="9" name="Slide Number Placeholder 8"/>
          <p:cNvSpPr>
            <a:spLocks noGrp="1"/>
          </p:cNvSpPr>
          <p:nvPr>
            <p:ph type="sldNum" sz="quarter" idx="11"/>
          </p:nvPr>
        </p:nvSpPr>
        <p:spPr/>
        <p:txBody>
          <a:bodyPr/>
          <a:lstStyle/>
          <a:p>
            <a:fld id="{6D63C845-4982-41E6-901A-A3EC09BDD7BE}" type="slidenum">
              <a:rPr lang="en-US" smtClean="0"/>
              <a:pPr/>
              <a:t>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fade">
                                      <p:cBhvr>
                                        <p:cTn id="7" dur="800" decel="100000"/>
                                        <p:tgtEl>
                                          <p:spTgt spid="96259">
                                            <p:txEl>
                                              <p:pRg st="0" end="0"/>
                                            </p:txEl>
                                          </p:spTgt>
                                        </p:tgtEl>
                                      </p:cBhvr>
                                    </p:animEffect>
                                    <p:anim calcmode="lin" valueType="num">
                                      <p:cBhvr>
                                        <p:cTn id="8" dur="800" decel="100000" fill="hold"/>
                                        <p:tgtEl>
                                          <p:spTgt spid="96259">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96259">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96259">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96259">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96259">
                                            <p:txEl>
                                              <p:pRg st="0" end="0"/>
                                            </p:txEl>
                                          </p:spTgt>
                                        </p:tgtEl>
                                        <p:attrNameLst>
                                          <p:attrName>ppt_y</p:attrName>
                                        </p:attrNameLst>
                                      </p:cBhvr>
                                      <p:tavLst>
                                        <p:tav tm="0">
                                          <p:val>
                                            <p:strVal val="#ppt_y+0.1"/>
                                          </p:val>
                                        </p:tav>
                                        <p:tav tm="100000">
                                          <p:val>
                                            <p:strVal val="#ppt_y"/>
                                          </p:val>
                                        </p:tav>
                                      </p:tavLst>
                                    </p:anim>
                                  </p:childTnLst>
                                </p:cTn>
                              </p:par>
                              <p:par>
                                <p:cTn id="13" presetID="30" presetClass="entr" presetSubtype="0" fill="hold" grpId="0" nodeType="withEffect">
                                  <p:stCondLst>
                                    <p:cond delay="0"/>
                                  </p:stCondLst>
                                  <p:childTnLst>
                                    <p:set>
                                      <p:cBhvr>
                                        <p:cTn id="14" dur="1" fill="hold">
                                          <p:stCondLst>
                                            <p:cond delay="0"/>
                                          </p:stCondLst>
                                        </p:cTn>
                                        <p:tgtEl>
                                          <p:spTgt spid="96259">
                                            <p:txEl>
                                              <p:pRg st="1" end="1"/>
                                            </p:txEl>
                                          </p:spTgt>
                                        </p:tgtEl>
                                        <p:attrNameLst>
                                          <p:attrName>style.visibility</p:attrName>
                                        </p:attrNameLst>
                                      </p:cBhvr>
                                      <p:to>
                                        <p:strVal val="visible"/>
                                      </p:to>
                                    </p:set>
                                    <p:animEffect transition="in" filter="fade">
                                      <p:cBhvr>
                                        <p:cTn id="15" dur="800" decel="100000"/>
                                        <p:tgtEl>
                                          <p:spTgt spid="96259">
                                            <p:txEl>
                                              <p:pRg st="1" end="1"/>
                                            </p:txEl>
                                          </p:spTgt>
                                        </p:tgtEl>
                                      </p:cBhvr>
                                    </p:animEffect>
                                    <p:anim calcmode="lin" valueType="num">
                                      <p:cBhvr>
                                        <p:cTn id="16" dur="800" decel="100000" fill="hold"/>
                                        <p:tgtEl>
                                          <p:spTgt spid="96259">
                                            <p:txEl>
                                              <p:pRg st="1" end="1"/>
                                            </p:txEl>
                                          </p:spTgt>
                                        </p:tgtEl>
                                        <p:attrNameLst>
                                          <p:attrName>style.rotation</p:attrName>
                                        </p:attrNameLst>
                                      </p:cBhvr>
                                      <p:tavLst>
                                        <p:tav tm="0">
                                          <p:val>
                                            <p:fltVal val="-90"/>
                                          </p:val>
                                        </p:tav>
                                        <p:tav tm="100000">
                                          <p:val>
                                            <p:fltVal val="0"/>
                                          </p:val>
                                        </p:tav>
                                      </p:tavLst>
                                    </p:anim>
                                    <p:anim calcmode="lin" valueType="num">
                                      <p:cBhvr>
                                        <p:cTn id="17" dur="800" decel="100000" fill="hold"/>
                                        <p:tgtEl>
                                          <p:spTgt spid="96259">
                                            <p:txEl>
                                              <p:pRg st="1" end="1"/>
                                            </p:txEl>
                                          </p:spTgt>
                                        </p:tgtEl>
                                        <p:attrNameLst>
                                          <p:attrName>ppt_x</p:attrName>
                                        </p:attrNameLst>
                                      </p:cBhvr>
                                      <p:tavLst>
                                        <p:tav tm="0">
                                          <p:val>
                                            <p:strVal val="#ppt_x+0.4"/>
                                          </p:val>
                                        </p:tav>
                                        <p:tav tm="100000">
                                          <p:val>
                                            <p:strVal val="#ppt_x-0.05"/>
                                          </p:val>
                                        </p:tav>
                                      </p:tavLst>
                                    </p:anim>
                                    <p:anim calcmode="lin" valueType="num">
                                      <p:cBhvr>
                                        <p:cTn id="18" dur="800" decel="100000" fill="hold"/>
                                        <p:tgtEl>
                                          <p:spTgt spid="96259">
                                            <p:txEl>
                                              <p:pRg st="1" end="1"/>
                                            </p:txEl>
                                          </p:spTgt>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96259">
                                            <p:txEl>
                                              <p:pRg st="1" end="1"/>
                                            </p:txEl>
                                          </p:spTgt>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96259">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0" presetClass="entr" presetSubtype="0" fill="hold" grpId="0" nodeType="clickEffect">
                                  <p:stCondLst>
                                    <p:cond delay="0"/>
                                  </p:stCondLst>
                                  <p:childTnLst>
                                    <p:set>
                                      <p:cBhvr>
                                        <p:cTn id="24" dur="1" fill="hold">
                                          <p:stCondLst>
                                            <p:cond delay="0"/>
                                          </p:stCondLst>
                                        </p:cTn>
                                        <p:tgtEl>
                                          <p:spTgt spid="96259">
                                            <p:txEl>
                                              <p:pRg st="2" end="2"/>
                                            </p:txEl>
                                          </p:spTgt>
                                        </p:tgtEl>
                                        <p:attrNameLst>
                                          <p:attrName>style.visibility</p:attrName>
                                        </p:attrNameLst>
                                      </p:cBhvr>
                                      <p:to>
                                        <p:strVal val="visible"/>
                                      </p:to>
                                    </p:set>
                                    <p:animEffect transition="in" filter="fade">
                                      <p:cBhvr>
                                        <p:cTn id="25" dur="800" decel="100000"/>
                                        <p:tgtEl>
                                          <p:spTgt spid="96259">
                                            <p:txEl>
                                              <p:pRg st="2" end="2"/>
                                            </p:txEl>
                                          </p:spTgt>
                                        </p:tgtEl>
                                      </p:cBhvr>
                                    </p:animEffect>
                                    <p:anim calcmode="lin" valueType="num">
                                      <p:cBhvr>
                                        <p:cTn id="26" dur="800" decel="100000" fill="hold"/>
                                        <p:tgtEl>
                                          <p:spTgt spid="96259">
                                            <p:txEl>
                                              <p:pRg st="2" end="2"/>
                                            </p:txEl>
                                          </p:spTgt>
                                        </p:tgtEl>
                                        <p:attrNameLst>
                                          <p:attrName>style.rotation</p:attrName>
                                        </p:attrNameLst>
                                      </p:cBhvr>
                                      <p:tavLst>
                                        <p:tav tm="0">
                                          <p:val>
                                            <p:fltVal val="-90"/>
                                          </p:val>
                                        </p:tav>
                                        <p:tav tm="100000">
                                          <p:val>
                                            <p:fltVal val="0"/>
                                          </p:val>
                                        </p:tav>
                                      </p:tavLst>
                                    </p:anim>
                                    <p:anim calcmode="lin" valueType="num">
                                      <p:cBhvr>
                                        <p:cTn id="27" dur="800" decel="100000" fill="hold"/>
                                        <p:tgtEl>
                                          <p:spTgt spid="96259">
                                            <p:txEl>
                                              <p:pRg st="2" end="2"/>
                                            </p:txEl>
                                          </p:spTgt>
                                        </p:tgtEl>
                                        <p:attrNameLst>
                                          <p:attrName>ppt_x</p:attrName>
                                        </p:attrNameLst>
                                      </p:cBhvr>
                                      <p:tavLst>
                                        <p:tav tm="0">
                                          <p:val>
                                            <p:strVal val="#ppt_x+0.4"/>
                                          </p:val>
                                        </p:tav>
                                        <p:tav tm="100000">
                                          <p:val>
                                            <p:strVal val="#ppt_x-0.05"/>
                                          </p:val>
                                        </p:tav>
                                      </p:tavLst>
                                    </p:anim>
                                    <p:anim calcmode="lin" valueType="num">
                                      <p:cBhvr>
                                        <p:cTn id="28" dur="800" decel="100000" fill="hold"/>
                                        <p:tgtEl>
                                          <p:spTgt spid="96259">
                                            <p:txEl>
                                              <p:pRg st="2" end="2"/>
                                            </p:txEl>
                                          </p:spTgt>
                                        </p:tgtEl>
                                        <p:attrNameLst>
                                          <p:attrName>ppt_y</p:attrName>
                                        </p:attrNameLst>
                                      </p:cBhvr>
                                      <p:tavLst>
                                        <p:tav tm="0">
                                          <p:val>
                                            <p:strVal val="#ppt_y-0.4"/>
                                          </p:val>
                                        </p:tav>
                                        <p:tav tm="100000">
                                          <p:val>
                                            <p:strVal val="#ppt_y+0.1"/>
                                          </p:val>
                                        </p:tav>
                                      </p:tavLst>
                                    </p:anim>
                                    <p:anim calcmode="lin" valueType="num">
                                      <p:cBhvr>
                                        <p:cTn id="29" dur="200" accel="100000" fill="hold">
                                          <p:stCondLst>
                                            <p:cond delay="800"/>
                                          </p:stCondLst>
                                        </p:cTn>
                                        <p:tgtEl>
                                          <p:spTgt spid="96259">
                                            <p:txEl>
                                              <p:pRg st="2" end="2"/>
                                            </p:txEl>
                                          </p:spTgt>
                                        </p:tgtEl>
                                        <p:attrNameLst>
                                          <p:attrName>ppt_x</p:attrName>
                                        </p:attrNameLst>
                                      </p:cBhvr>
                                      <p:tavLst>
                                        <p:tav tm="0">
                                          <p:val>
                                            <p:strVal val="#ppt_x-0.05"/>
                                          </p:val>
                                        </p:tav>
                                        <p:tav tm="100000">
                                          <p:val>
                                            <p:strVal val="#ppt_x"/>
                                          </p:val>
                                        </p:tav>
                                      </p:tavLst>
                                    </p:anim>
                                    <p:anim calcmode="lin" valueType="num">
                                      <p:cBhvr>
                                        <p:cTn id="30" dur="200" accel="100000" fill="hold">
                                          <p:stCondLst>
                                            <p:cond delay="800"/>
                                          </p:stCondLst>
                                        </p:cTn>
                                        <p:tgtEl>
                                          <p:spTgt spid="96259">
                                            <p:txEl>
                                              <p:pRg st="2" end="2"/>
                                            </p:txEl>
                                          </p:spTgt>
                                        </p:tgtEl>
                                        <p:attrNameLst>
                                          <p:attrName>ppt_y</p:attrName>
                                        </p:attrNameLst>
                                      </p:cBhvr>
                                      <p:tavLst>
                                        <p:tav tm="0">
                                          <p:val>
                                            <p:strVal val="#ppt_y+0.1"/>
                                          </p:val>
                                        </p:tav>
                                        <p:tav tm="100000">
                                          <p:val>
                                            <p:strVal val="#ppt_y"/>
                                          </p:val>
                                        </p:tav>
                                      </p:tavLst>
                                    </p:anim>
                                  </p:childTnLst>
                                </p:cTn>
                              </p:par>
                              <p:par>
                                <p:cTn id="31" presetID="30" presetClass="entr" presetSubtype="0" fill="hold" grpId="0" nodeType="withEffect">
                                  <p:stCondLst>
                                    <p:cond delay="0"/>
                                  </p:stCondLst>
                                  <p:childTnLst>
                                    <p:set>
                                      <p:cBhvr>
                                        <p:cTn id="32" dur="1" fill="hold">
                                          <p:stCondLst>
                                            <p:cond delay="0"/>
                                          </p:stCondLst>
                                        </p:cTn>
                                        <p:tgtEl>
                                          <p:spTgt spid="96259">
                                            <p:txEl>
                                              <p:pRg st="3" end="3"/>
                                            </p:txEl>
                                          </p:spTgt>
                                        </p:tgtEl>
                                        <p:attrNameLst>
                                          <p:attrName>style.visibility</p:attrName>
                                        </p:attrNameLst>
                                      </p:cBhvr>
                                      <p:to>
                                        <p:strVal val="visible"/>
                                      </p:to>
                                    </p:set>
                                    <p:animEffect transition="in" filter="fade">
                                      <p:cBhvr>
                                        <p:cTn id="33" dur="800" decel="100000"/>
                                        <p:tgtEl>
                                          <p:spTgt spid="96259">
                                            <p:txEl>
                                              <p:pRg st="3" end="3"/>
                                            </p:txEl>
                                          </p:spTgt>
                                        </p:tgtEl>
                                      </p:cBhvr>
                                    </p:animEffect>
                                    <p:anim calcmode="lin" valueType="num">
                                      <p:cBhvr>
                                        <p:cTn id="34" dur="800" decel="100000" fill="hold"/>
                                        <p:tgtEl>
                                          <p:spTgt spid="96259">
                                            <p:txEl>
                                              <p:pRg st="3" end="3"/>
                                            </p:txEl>
                                          </p:spTgt>
                                        </p:tgtEl>
                                        <p:attrNameLst>
                                          <p:attrName>style.rotation</p:attrName>
                                        </p:attrNameLst>
                                      </p:cBhvr>
                                      <p:tavLst>
                                        <p:tav tm="0">
                                          <p:val>
                                            <p:fltVal val="-90"/>
                                          </p:val>
                                        </p:tav>
                                        <p:tav tm="100000">
                                          <p:val>
                                            <p:fltVal val="0"/>
                                          </p:val>
                                        </p:tav>
                                      </p:tavLst>
                                    </p:anim>
                                    <p:anim calcmode="lin" valueType="num">
                                      <p:cBhvr>
                                        <p:cTn id="35" dur="800" decel="100000" fill="hold"/>
                                        <p:tgtEl>
                                          <p:spTgt spid="96259">
                                            <p:txEl>
                                              <p:pRg st="3" end="3"/>
                                            </p:txEl>
                                          </p:spTgt>
                                        </p:tgtEl>
                                        <p:attrNameLst>
                                          <p:attrName>ppt_x</p:attrName>
                                        </p:attrNameLst>
                                      </p:cBhvr>
                                      <p:tavLst>
                                        <p:tav tm="0">
                                          <p:val>
                                            <p:strVal val="#ppt_x+0.4"/>
                                          </p:val>
                                        </p:tav>
                                        <p:tav tm="100000">
                                          <p:val>
                                            <p:strVal val="#ppt_x-0.05"/>
                                          </p:val>
                                        </p:tav>
                                      </p:tavLst>
                                    </p:anim>
                                    <p:anim calcmode="lin" valueType="num">
                                      <p:cBhvr>
                                        <p:cTn id="36" dur="800" decel="100000" fill="hold"/>
                                        <p:tgtEl>
                                          <p:spTgt spid="96259">
                                            <p:txEl>
                                              <p:pRg st="3" end="3"/>
                                            </p:txEl>
                                          </p:spTgt>
                                        </p:tgtEl>
                                        <p:attrNameLst>
                                          <p:attrName>ppt_y</p:attrName>
                                        </p:attrNameLst>
                                      </p:cBhvr>
                                      <p:tavLst>
                                        <p:tav tm="0">
                                          <p:val>
                                            <p:strVal val="#ppt_y-0.4"/>
                                          </p:val>
                                        </p:tav>
                                        <p:tav tm="100000">
                                          <p:val>
                                            <p:strVal val="#ppt_y+0.1"/>
                                          </p:val>
                                        </p:tav>
                                      </p:tavLst>
                                    </p:anim>
                                    <p:anim calcmode="lin" valueType="num">
                                      <p:cBhvr>
                                        <p:cTn id="37" dur="200" accel="100000" fill="hold">
                                          <p:stCondLst>
                                            <p:cond delay="800"/>
                                          </p:stCondLst>
                                        </p:cTn>
                                        <p:tgtEl>
                                          <p:spTgt spid="96259">
                                            <p:txEl>
                                              <p:pRg st="3" end="3"/>
                                            </p:txEl>
                                          </p:spTgt>
                                        </p:tgtEl>
                                        <p:attrNameLst>
                                          <p:attrName>ppt_x</p:attrName>
                                        </p:attrNameLst>
                                      </p:cBhvr>
                                      <p:tavLst>
                                        <p:tav tm="0">
                                          <p:val>
                                            <p:strVal val="#ppt_x-0.05"/>
                                          </p:val>
                                        </p:tav>
                                        <p:tav tm="100000">
                                          <p:val>
                                            <p:strVal val="#ppt_x"/>
                                          </p:val>
                                        </p:tav>
                                      </p:tavLst>
                                    </p:anim>
                                    <p:anim calcmode="lin" valueType="num">
                                      <p:cBhvr>
                                        <p:cTn id="38" dur="200" accel="100000" fill="hold">
                                          <p:stCondLst>
                                            <p:cond delay="800"/>
                                          </p:stCondLst>
                                        </p:cTn>
                                        <p:tgtEl>
                                          <p:spTgt spid="96259">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6260"/>
                                        </p:tgtEl>
                                        <p:attrNameLst>
                                          <p:attrName>style.visibility</p:attrName>
                                        </p:attrNameLst>
                                      </p:cBhvr>
                                      <p:to>
                                        <p:strVal val="visible"/>
                                      </p:to>
                                    </p:set>
                                    <p:anim calcmode="lin" valueType="num">
                                      <p:cBhvr additive="base">
                                        <p:cTn id="43" dur="500" fill="hold"/>
                                        <p:tgtEl>
                                          <p:spTgt spid="96260"/>
                                        </p:tgtEl>
                                        <p:attrNameLst>
                                          <p:attrName>ppt_x</p:attrName>
                                        </p:attrNameLst>
                                      </p:cBhvr>
                                      <p:tavLst>
                                        <p:tav tm="0">
                                          <p:val>
                                            <p:strVal val="#ppt_x"/>
                                          </p:val>
                                        </p:tav>
                                        <p:tav tm="100000">
                                          <p:val>
                                            <p:strVal val="#ppt_x"/>
                                          </p:val>
                                        </p:tav>
                                      </p:tavLst>
                                    </p:anim>
                                    <p:anim calcmode="lin" valueType="num">
                                      <p:cBhvr additive="base">
                                        <p:cTn id="44" dur="500" fill="hold"/>
                                        <p:tgtEl>
                                          <p:spTgt spid="9626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1" fill="hold" grpId="0" nodeType="clickEffect">
                                  <p:stCondLst>
                                    <p:cond delay="0"/>
                                  </p:stCondLst>
                                  <p:childTnLst>
                                    <p:set>
                                      <p:cBhvr>
                                        <p:cTn id="48" dur="1" fill="hold">
                                          <p:stCondLst>
                                            <p:cond delay="0"/>
                                          </p:stCondLst>
                                        </p:cTn>
                                        <p:tgtEl>
                                          <p:spTgt spid="96263"/>
                                        </p:tgtEl>
                                        <p:attrNameLst>
                                          <p:attrName>style.visibility</p:attrName>
                                        </p:attrNameLst>
                                      </p:cBhvr>
                                      <p:to>
                                        <p:strVal val="visible"/>
                                      </p:to>
                                    </p:set>
                                    <p:anim calcmode="lin" valueType="num">
                                      <p:cBhvr additive="base">
                                        <p:cTn id="49" dur="500" fill="hold"/>
                                        <p:tgtEl>
                                          <p:spTgt spid="96263"/>
                                        </p:tgtEl>
                                        <p:attrNameLst>
                                          <p:attrName>ppt_x</p:attrName>
                                        </p:attrNameLst>
                                      </p:cBhvr>
                                      <p:tavLst>
                                        <p:tav tm="0">
                                          <p:val>
                                            <p:strVal val="#ppt_x"/>
                                          </p:val>
                                        </p:tav>
                                        <p:tav tm="100000">
                                          <p:val>
                                            <p:strVal val="#ppt_x"/>
                                          </p:val>
                                        </p:tav>
                                      </p:tavLst>
                                    </p:anim>
                                    <p:anim calcmode="lin" valueType="num">
                                      <p:cBhvr additive="base">
                                        <p:cTn id="50" dur="500" fill="hold"/>
                                        <p:tgtEl>
                                          <p:spTgt spid="96263"/>
                                        </p:tgtEl>
                                        <p:attrNameLst>
                                          <p:attrName>ppt_y</p:attrName>
                                        </p:attrNameLst>
                                      </p:cBhvr>
                                      <p:tavLst>
                                        <p:tav tm="0">
                                          <p:val>
                                            <p:strVal val="0-#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96261"/>
                                        </p:tgtEl>
                                        <p:attrNameLst>
                                          <p:attrName>style.visibility</p:attrName>
                                        </p:attrNameLst>
                                      </p:cBhvr>
                                      <p:to>
                                        <p:strVal val="visible"/>
                                      </p:to>
                                    </p:set>
                                    <p:anim calcmode="lin" valueType="num">
                                      <p:cBhvr additive="base">
                                        <p:cTn id="55" dur="500" fill="hold"/>
                                        <p:tgtEl>
                                          <p:spTgt spid="96261"/>
                                        </p:tgtEl>
                                        <p:attrNameLst>
                                          <p:attrName>ppt_x</p:attrName>
                                        </p:attrNameLst>
                                      </p:cBhvr>
                                      <p:tavLst>
                                        <p:tav tm="0">
                                          <p:val>
                                            <p:strVal val="#ppt_x"/>
                                          </p:val>
                                        </p:tav>
                                        <p:tav tm="100000">
                                          <p:val>
                                            <p:strVal val="#ppt_x"/>
                                          </p:val>
                                        </p:tav>
                                      </p:tavLst>
                                    </p:anim>
                                    <p:anim calcmode="lin" valueType="num">
                                      <p:cBhvr additive="base">
                                        <p:cTn id="56" dur="500" fill="hold"/>
                                        <p:tgtEl>
                                          <p:spTgt spid="96261"/>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96262"/>
                                        </p:tgtEl>
                                        <p:attrNameLst>
                                          <p:attrName>style.visibility</p:attrName>
                                        </p:attrNameLst>
                                      </p:cBhvr>
                                      <p:to>
                                        <p:strVal val="visible"/>
                                      </p:to>
                                    </p:set>
                                    <p:anim calcmode="lin" valueType="num">
                                      <p:cBhvr additive="base">
                                        <p:cTn id="61" dur="500" fill="hold"/>
                                        <p:tgtEl>
                                          <p:spTgt spid="96262"/>
                                        </p:tgtEl>
                                        <p:attrNameLst>
                                          <p:attrName>ppt_x</p:attrName>
                                        </p:attrNameLst>
                                      </p:cBhvr>
                                      <p:tavLst>
                                        <p:tav tm="0">
                                          <p:val>
                                            <p:strVal val="#ppt_x"/>
                                          </p:val>
                                        </p:tav>
                                        <p:tav tm="100000">
                                          <p:val>
                                            <p:strVal val="#ppt_x"/>
                                          </p:val>
                                        </p:tav>
                                      </p:tavLst>
                                    </p:anim>
                                    <p:anim calcmode="lin" valueType="num">
                                      <p:cBhvr additive="base">
                                        <p:cTn id="62" dur="500" fill="hold"/>
                                        <p:tgtEl>
                                          <p:spTgt spid="962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p:bldP spid="96260" grpId="0"/>
      <p:bldP spid="96261" grpId="0"/>
      <p:bldP spid="96262" grpId="0" animBg="1"/>
      <p:bldP spid="9626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algn="l"/>
            <a:r>
              <a:rPr lang="en-US" sz="4000" u="sng" dirty="0" smtClean="0"/>
              <a:t>Presentation of the Demand Relationship:</a:t>
            </a:r>
            <a:endParaRPr lang="en-US" sz="4000" u="sng" dirty="0"/>
          </a:p>
        </p:txBody>
      </p:sp>
      <p:sp>
        <p:nvSpPr>
          <p:cNvPr id="98307" name="Rectangle 3"/>
          <p:cNvSpPr>
            <a:spLocks noGrp="1" noChangeArrowheads="1"/>
          </p:cNvSpPr>
          <p:nvPr>
            <p:ph idx="1"/>
          </p:nvPr>
        </p:nvSpPr>
        <p:spPr>
          <a:xfrm>
            <a:off x="228600" y="1600200"/>
            <a:ext cx="8763000" cy="4800600"/>
          </a:xfrm>
        </p:spPr>
        <p:txBody>
          <a:bodyPr/>
          <a:lstStyle/>
          <a:p>
            <a:pPr marL="609600" indent="-609600">
              <a:buFont typeface="Wingdings" pitchFamily="2" charset="2"/>
              <a:buNone/>
            </a:pPr>
            <a:r>
              <a:rPr lang="en-US" sz="3600" dirty="0"/>
              <a:t>The relationship between </a:t>
            </a:r>
            <a:r>
              <a:rPr lang="en-US" sz="3600" b="1" i="1" dirty="0">
                <a:solidFill>
                  <a:srgbClr val="FFFF00"/>
                </a:solidFill>
              </a:rPr>
              <a:t>quantity</a:t>
            </a:r>
            <a:r>
              <a:rPr lang="en-US" sz="3600" i="1" dirty="0">
                <a:solidFill>
                  <a:srgbClr val="FFFF00"/>
                </a:solidFill>
              </a:rPr>
              <a:t> </a:t>
            </a:r>
            <a:r>
              <a:rPr lang="en-US" sz="3600" b="1" i="1" dirty="0">
                <a:solidFill>
                  <a:srgbClr val="FFFF00"/>
                </a:solidFill>
              </a:rPr>
              <a:t>purchased</a:t>
            </a:r>
            <a:r>
              <a:rPr lang="en-US" sz="3600" dirty="0">
                <a:solidFill>
                  <a:srgbClr val="FFFF00"/>
                </a:solidFill>
              </a:rPr>
              <a:t> </a:t>
            </a:r>
            <a:r>
              <a:rPr lang="en-US" sz="3600" dirty="0"/>
              <a:t>and alternative </a:t>
            </a:r>
            <a:r>
              <a:rPr lang="en-US" sz="3600" b="1" i="1" dirty="0">
                <a:solidFill>
                  <a:srgbClr val="FFFF00"/>
                </a:solidFill>
              </a:rPr>
              <a:t>prices</a:t>
            </a:r>
            <a:r>
              <a:rPr lang="en-US" sz="3600" dirty="0"/>
              <a:t> may be presented in </a:t>
            </a:r>
            <a:r>
              <a:rPr lang="en-US" sz="3600" b="1" u="sng" dirty="0">
                <a:solidFill>
                  <a:srgbClr val="FFFF00"/>
                </a:solidFill>
              </a:rPr>
              <a:t>3</a:t>
            </a:r>
            <a:r>
              <a:rPr lang="en-US" sz="3600" dirty="0"/>
              <a:t> ways:</a:t>
            </a:r>
          </a:p>
          <a:p>
            <a:pPr marL="609600" indent="-609600"/>
            <a:r>
              <a:rPr lang="en-US" sz="3600" dirty="0"/>
              <a:t>Demand schedule </a:t>
            </a:r>
            <a:r>
              <a:rPr lang="en-US" sz="3600" dirty="0" smtClean="0"/>
              <a:t>– in </a:t>
            </a:r>
            <a:r>
              <a:rPr lang="en-US" sz="3600" dirty="0"/>
              <a:t>tabular form.</a:t>
            </a:r>
          </a:p>
          <a:p>
            <a:pPr marL="609600" indent="-609600"/>
            <a:r>
              <a:rPr lang="en-US" sz="3600" dirty="0"/>
              <a:t>Demand curve – in graphical </a:t>
            </a:r>
            <a:r>
              <a:rPr lang="en-US" sz="3600" dirty="0" smtClean="0"/>
              <a:t>form.</a:t>
            </a:r>
            <a:endParaRPr lang="en-US" sz="3600" dirty="0"/>
          </a:p>
          <a:p>
            <a:pPr marL="609600" indent="-609600"/>
            <a:r>
              <a:rPr lang="en-US" sz="3600" dirty="0"/>
              <a:t>Demand function – in equation </a:t>
            </a:r>
            <a:r>
              <a:rPr lang="en-US" sz="3600" dirty="0" smtClean="0"/>
              <a:t>form.</a:t>
            </a:r>
            <a:endParaRPr lang="en-US" sz="3600" dirty="0"/>
          </a:p>
        </p:txBody>
      </p:sp>
      <p:sp>
        <p:nvSpPr>
          <p:cNvPr id="5" name="Slide Number Placeholder 4"/>
          <p:cNvSpPr>
            <a:spLocks noGrp="1"/>
          </p:cNvSpPr>
          <p:nvPr>
            <p:ph type="sldNum" sz="quarter" idx="11"/>
          </p:nvPr>
        </p:nvSpPr>
        <p:spPr/>
        <p:txBody>
          <a:bodyPr/>
          <a:lstStyle/>
          <a:p>
            <a:fld id="{6D63C845-4982-41E6-901A-A3EC09BDD7BE}" type="slidenum">
              <a:rPr lang="en-US" smtClean="0"/>
              <a:pPr/>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98307">
                                            <p:txEl>
                                              <p:pRg st="0" end="0"/>
                                            </p:txEl>
                                          </p:spTgt>
                                        </p:tgtEl>
                                        <p:attrNameLst>
                                          <p:attrName>style.visibility</p:attrName>
                                        </p:attrNameLst>
                                      </p:cBhvr>
                                      <p:to>
                                        <p:strVal val="visible"/>
                                      </p:to>
                                    </p:set>
                                    <p:animEffect transition="in" filter="fade">
                                      <p:cBhvr>
                                        <p:cTn id="7" dur="800" decel="100000"/>
                                        <p:tgtEl>
                                          <p:spTgt spid="98307">
                                            <p:txEl>
                                              <p:pRg st="0" end="0"/>
                                            </p:txEl>
                                          </p:spTgt>
                                        </p:tgtEl>
                                      </p:cBhvr>
                                    </p:animEffect>
                                    <p:anim calcmode="lin" valueType="num">
                                      <p:cBhvr>
                                        <p:cTn id="8" dur="800" decel="100000" fill="hold"/>
                                        <p:tgtEl>
                                          <p:spTgt spid="98307">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98307">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98307">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98307">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98307">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98307">
                                            <p:txEl>
                                              <p:pRg st="1" end="1"/>
                                            </p:txEl>
                                          </p:spTgt>
                                        </p:tgtEl>
                                        <p:attrNameLst>
                                          <p:attrName>style.visibility</p:attrName>
                                        </p:attrNameLst>
                                      </p:cBhvr>
                                      <p:to>
                                        <p:strVal val="visible"/>
                                      </p:to>
                                    </p:set>
                                    <p:animEffect transition="in" filter="fade">
                                      <p:cBhvr>
                                        <p:cTn id="17" dur="800" decel="100000"/>
                                        <p:tgtEl>
                                          <p:spTgt spid="98307">
                                            <p:txEl>
                                              <p:pRg st="1" end="1"/>
                                            </p:txEl>
                                          </p:spTgt>
                                        </p:tgtEl>
                                      </p:cBhvr>
                                    </p:animEffect>
                                    <p:anim calcmode="lin" valueType="num">
                                      <p:cBhvr>
                                        <p:cTn id="18" dur="800" decel="100000" fill="hold"/>
                                        <p:tgtEl>
                                          <p:spTgt spid="98307">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98307">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98307">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98307">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98307">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grpId="0" nodeType="clickEffect">
                                  <p:stCondLst>
                                    <p:cond delay="0"/>
                                  </p:stCondLst>
                                  <p:childTnLst>
                                    <p:set>
                                      <p:cBhvr>
                                        <p:cTn id="26" dur="1" fill="hold">
                                          <p:stCondLst>
                                            <p:cond delay="0"/>
                                          </p:stCondLst>
                                        </p:cTn>
                                        <p:tgtEl>
                                          <p:spTgt spid="98307">
                                            <p:txEl>
                                              <p:pRg st="2" end="2"/>
                                            </p:txEl>
                                          </p:spTgt>
                                        </p:tgtEl>
                                        <p:attrNameLst>
                                          <p:attrName>style.visibility</p:attrName>
                                        </p:attrNameLst>
                                      </p:cBhvr>
                                      <p:to>
                                        <p:strVal val="visible"/>
                                      </p:to>
                                    </p:set>
                                    <p:animEffect transition="in" filter="fade">
                                      <p:cBhvr>
                                        <p:cTn id="27" dur="800" decel="100000"/>
                                        <p:tgtEl>
                                          <p:spTgt spid="98307">
                                            <p:txEl>
                                              <p:pRg st="2" end="2"/>
                                            </p:txEl>
                                          </p:spTgt>
                                        </p:tgtEl>
                                      </p:cBhvr>
                                    </p:animEffect>
                                    <p:anim calcmode="lin" valueType="num">
                                      <p:cBhvr>
                                        <p:cTn id="28" dur="800" decel="100000" fill="hold"/>
                                        <p:tgtEl>
                                          <p:spTgt spid="98307">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98307">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98307">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98307">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98307">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grpId="0" nodeType="clickEffect">
                                  <p:stCondLst>
                                    <p:cond delay="0"/>
                                  </p:stCondLst>
                                  <p:childTnLst>
                                    <p:set>
                                      <p:cBhvr>
                                        <p:cTn id="36" dur="1" fill="hold">
                                          <p:stCondLst>
                                            <p:cond delay="0"/>
                                          </p:stCondLst>
                                        </p:cTn>
                                        <p:tgtEl>
                                          <p:spTgt spid="98307">
                                            <p:txEl>
                                              <p:pRg st="3" end="3"/>
                                            </p:txEl>
                                          </p:spTgt>
                                        </p:tgtEl>
                                        <p:attrNameLst>
                                          <p:attrName>style.visibility</p:attrName>
                                        </p:attrNameLst>
                                      </p:cBhvr>
                                      <p:to>
                                        <p:strVal val="visible"/>
                                      </p:to>
                                    </p:set>
                                    <p:animEffect transition="in" filter="fade">
                                      <p:cBhvr>
                                        <p:cTn id="37" dur="800" decel="100000"/>
                                        <p:tgtEl>
                                          <p:spTgt spid="98307">
                                            <p:txEl>
                                              <p:pRg st="3" end="3"/>
                                            </p:txEl>
                                          </p:spTgt>
                                        </p:tgtEl>
                                      </p:cBhvr>
                                    </p:animEffect>
                                    <p:anim calcmode="lin" valueType="num">
                                      <p:cBhvr>
                                        <p:cTn id="38" dur="800" decel="100000" fill="hold"/>
                                        <p:tgtEl>
                                          <p:spTgt spid="98307">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98307">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98307">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98307">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98307">
                                            <p:txEl>
                                              <p:pRg st="3" end="3"/>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algn="l"/>
            <a:r>
              <a:rPr lang="en-US" u="sng" dirty="0"/>
              <a:t>Demand </a:t>
            </a:r>
            <a:r>
              <a:rPr lang="en-US" u="sng" dirty="0" smtClean="0"/>
              <a:t>Schedule:</a:t>
            </a:r>
            <a:endParaRPr lang="en-US" u="sng" dirty="0"/>
          </a:p>
        </p:txBody>
      </p:sp>
      <p:graphicFrame>
        <p:nvGraphicFramePr>
          <p:cNvPr id="107702" name="Group 182"/>
          <p:cNvGraphicFramePr>
            <a:graphicFrameLocks noGrp="1"/>
          </p:cNvGraphicFramePr>
          <p:nvPr>
            <p:ph type="tbl" idx="1"/>
            <p:extLst>
              <p:ext uri="{D42A27DB-BD31-4B8C-83A1-F6EECF244321}">
                <p14:modId xmlns:p14="http://schemas.microsoft.com/office/powerpoint/2010/main" val="3706999125"/>
              </p:ext>
            </p:extLst>
          </p:nvPr>
        </p:nvGraphicFramePr>
        <p:xfrm>
          <a:off x="381000" y="1219200"/>
          <a:ext cx="8229600" cy="5071110"/>
        </p:xfrm>
        <a:graphic>
          <a:graphicData uri="http://schemas.openxmlformats.org/drawingml/2006/table">
            <a:tbl>
              <a:tblPr/>
              <a:tblGrid>
                <a:gridCol w="3760788">
                  <a:extLst>
                    <a:ext uri="{9D8B030D-6E8A-4147-A177-3AD203B41FA5}">
                      <a16:colId xmlns:a16="http://schemas.microsoft.com/office/drawing/2014/main" val="20000"/>
                    </a:ext>
                  </a:extLst>
                </a:gridCol>
                <a:gridCol w="4468812">
                  <a:extLst>
                    <a:ext uri="{9D8B030D-6E8A-4147-A177-3AD203B41FA5}">
                      <a16:colId xmlns:a16="http://schemas.microsoft.com/office/drawing/2014/main" val="20001"/>
                    </a:ext>
                  </a:extLst>
                </a:gridCol>
              </a:tblGrid>
              <a:tr h="542925">
                <a:tc gridSpan="2">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rgbClr val="FFFF00"/>
                          </a:solidFill>
                          <a:effectLst/>
                          <a:latin typeface="Arial" charset="0"/>
                          <a:cs typeface="Arial" charset="0"/>
                        </a:rPr>
                        <a:t>Demand Schedule for Shoes</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96202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FFFF00"/>
                          </a:solidFill>
                          <a:effectLst/>
                          <a:latin typeface="Arial" charset="0"/>
                          <a:cs typeface="Arial" charset="0"/>
                        </a:rPr>
                        <a:t>Price of a pair of shoes</a:t>
                      </a:r>
                    </a:p>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FFFF00"/>
                          </a:solidFill>
                          <a:effectLst/>
                          <a:latin typeface="Arial" charset="0"/>
                          <a:cs typeface="Arial" charset="0"/>
                        </a:rPr>
                        <a:t>(in pounds)</a:t>
                      </a:r>
                      <a:endParaRPr kumimoji="0" lang="en-US" sz="3600" b="0" i="0" u="none" strike="noStrike" cap="none" normalizeH="0" baseline="0" dirty="0" smtClean="0">
                        <a:ln>
                          <a:noFill/>
                        </a:ln>
                        <a:solidFill>
                          <a:srgbClr val="FFFF00"/>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FFFF00"/>
                          </a:solidFill>
                          <a:effectLst/>
                          <a:latin typeface="Arial" charset="0"/>
                          <a:cs typeface="Arial" charset="0"/>
                        </a:rPr>
                        <a:t>Quantity demanded/year</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8</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6550">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50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7</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4963">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100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6</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550">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150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5</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4963">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200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4</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6550">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250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3</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963">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300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2</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6550">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350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1</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4963">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400</a:t>
                      </a:r>
                      <a:endParaRPr kumimoji="0" lang="en-US" sz="3600" b="0" i="0" u="none" strike="noStrike" cap="none" normalizeH="0" baseline="0" dirty="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0</a:t>
                      </a:r>
                      <a:endParaRPr kumimoji="0" lang="en-US" sz="3600" b="0" i="0" u="none" strike="noStrike" cap="none" normalizeH="0" baseline="0" dirty="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5" name="Slide Number Placeholder 4"/>
          <p:cNvSpPr>
            <a:spLocks noGrp="1"/>
          </p:cNvSpPr>
          <p:nvPr>
            <p:ph type="sldNum" sz="quarter" idx="11"/>
          </p:nvPr>
        </p:nvSpPr>
        <p:spPr/>
        <p:txBody>
          <a:bodyPr/>
          <a:lstStyle/>
          <a:p>
            <a:fld id="{4F0CC6FD-F329-4C89-BE2D-2A8E4FC45061}" type="slidenum">
              <a:rPr lang="en-US" smtClean="0"/>
              <a:pPr/>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07702"/>
                                        </p:tgtEl>
                                        <p:attrNameLst>
                                          <p:attrName>style.visibility</p:attrName>
                                        </p:attrNameLst>
                                      </p:cBhvr>
                                      <p:to>
                                        <p:strVal val="visible"/>
                                      </p:to>
                                    </p:set>
                                    <p:animEffect transition="in" filter="diamond(in)">
                                      <p:cBhvr>
                                        <p:cTn id="7" dur="2000"/>
                                        <p:tgtEl>
                                          <p:spTgt spid="107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32"/>
          <p:cNvSpPr>
            <a:spLocks noGrp="1"/>
          </p:cNvSpPr>
          <p:nvPr>
            <p:ph type="sldNum" sz="quarter" idx="11"/>
          </p:nvPr>
        </p:nvSpPr>
        <p:spPr/>
        <p:txBody>
          <a:bodyPr/>
          <a:lstStyle/>
          <a:p>
            <a:fld id="{5D8C0D95-B81A-45DB-B701-8AAA9905C101}" type="slidenum">
              <a:rPr lang="en-US" smtClean="0"/>
              <a:pPr/>
              <a:t>9</a:t>
            </a:fld>
            <a:endParaRPr lang="en-US"/>
          </a:p>
        </p:txBody>
      </p:sp>
      <p:sp>
        <p:nvSpPr>
          <p:cNvPr id="186370" name="Rectangle 2"/>
          <p:cNvSpPr>
            <a:spLocks noGrp="1" noChangeArrowheads="1"/>
          </p:cNvSpPr>
          <p:nvPr>
            <p:ph type="title" idx="4294967295"/>
          </p:nvPr>
        </p:nvSpPr>
        <p:spPr>
          <a:xfrm>
            <a:off x="0" y="274638"/>
            <a:ext cx="8229600" cy="1143000"/>
          </a:xfrm>
        </p:spPr>
        <p:txBody>
          <a:bodyPr/>
          <a:lstStyle/>
          <a:p>
            <a:pPr algn="l"/>
            <a:r>
              <a:rPr lang="en-US" dirty="0" smtClean="0"/>
              <a:t>    </a:t>
            </a:r>
            <a:r>
              <a:rPr lang="en-US" u="sng" dirty="0" smtClean="0"/>
              <a:t>Demand Curve:</a:t>
            </a:r>
            <a:endParaRPr lang="en-US" u="sng" dirty="0"/>
          </a:p>
        </p:txBody>
      </p:sp>
      <p:sp>
        <p:nvSpPr>
          <p:cNvPr id="186371" name="Line 3"/>
          <p:cNvSpPr>
            <a:spLocks noChangeShapeType="1"/>
          </p:cNvSpPr>
          <p:nvPr/>
        </p:nvSpPr>
        <p:spPr bwMode="auto">
          <a:xfrm>
            <a:off x="2362200" y="1981200"/>
            <a:ext cx="0" cy="2438400"/>
          </a:xfrm>
          <a:prstGeom prst="line">
            <a:avLst/>
          </a:prstGeom>
          <a:noFill/>
          <a:ln w="22225">
            <a:solidFill>
              <a:schemeClr val="tx1"/>
            </a:solidFill>
            <a:round/>
            <a:headEnd/>
            <a:tailEnd/>
          </a:ln>
          <a:effectLst/>
        </p:spPr>
        <p:txBody>
          <a:bodyPr/>
          <a:lstStyle/>
          <a:p>
            <a:endParaRPr lang="en-US"/>
          </a:p>
        </p:txBody>
      </p:sp>
      <p:sp>
        <p:nvSpPr>
          <p:cNvPr id="186372" name="Line 4"/>
          <p:cNvSpPr>
            <a:spLocks noChangeShapeType="1"/>
          </p:cNvSpPr>
          <p:nvPr/>
        </p:nvSpPr>
        <p:spPr bwMode="auto">
          <a:xfrm>
            <a:off x="2362200" y="4419600"/>
            <a:ext cx="4953000" cy="0"/>
          </a:xfrm>
          <a:prstGeom prst="line">
            <a:avLst/>
          </a:prstGeom>
          <a:noFill/>
          <a:ln w="22225">
            <a:solidFill>
              <a:schemeClr val="tx1"/>
            </a:solidFill>
            <a:round/>
            <a:headEnd/>
            <a:tailEnd/>
          </a:ln>
          <a:effectLst/>
        </p:spPr>
        <p:txBody>
          <a:bodyPr/>
          <a:lstStyle/>
          <a:p>
            <a:endParaRPr lang="en-US"/>
          </a:p>
        </p:txBody>
      </p:sp>
      <p:sp>
        <p:nvSpPr>
          <p:cNvPr id="186373" name="Line 5"/>
          <p:cNvSpPr>
            <a:spLocks noChangeShapeType="1"/>
          </p:cNvSpPr>
          <p:nvPr/>
        </p:nvSpPr>
        <p:spPr bwMode="auto">
          <a:xfrm>
            <a:off x="2362200" y="3886200"/>
            <a:ext cx="3276600" cy="0"/>
          </a:xfrm>
          <a:prstGeom prst="line">
            <a:avLst/>
          </a:prstGeom>
          <a:noFill/>
          <a:ln w="9525">
            <a:solidFill>
              <a:schemeClr val="tx1"/>
            </a:solidFill>
            <a:prstDash val="dash"/>
            <a:round/>
            <a:headEnd/>
            <a:tailEnd/>
          </a:ln>
          <a:effectLst/>
        </p:spPr>
        <p:txBody>
          <a:bodyPr/>
          <a:lstStyle/>
          <a:p>
            <a:endParaRPr lang="en-US"/>
          </a:p>
        </p:txBody>
      </p:sp>
      <p:sp>
        <p:nvSpPr>
          <p:cNvPr id="186374" name="Line 6"/>
          <p:cNvSpPr>
            <a:spLocks noChangeShapeType="1"/>
          </p:cNvSpPr>
          <p:nvPr/>
        </p:nvSpPr>
        <p:spPr bwMode="auto">
          <a:xfrm>
            <a:off x="2362200" y="3352800"/>
            <a:ext cx="2133600" cy="0"/>
          </a:xfrm>
          <a:prstGeom prst="line">
            <a:avLst/>
          </a:prstGeom>
          <a:noFill/>
          <a:ln w="9525">
            <a:solidFill>
              <a:schemeClr val="tx1"/>
            </a:solidFill>
            <a:prstDash val="dash"/>
            <a:round/>
            <a:headEnd/>
            <a:tailEnd/>
          </a:ln>
          <a:effectLst/>
        </p:spPr>
        <p:txBody>
          <a:bodyPr/>
          <a:lstStyle/>
          <a:p>
            <a:endParaRPr lang="en-US"/>
          </a:p>
        </p:txBody>
      </p:sp>
      <p:sp>
        <p:nvSpPr>
          <p:cNvPr id="186375" name="Line 7"/>
          <p:cNvSpPr>
            <a:spLocks noChangeShapeType="1"/>
          </p:cNvSpPr>
          <p:nvPr/>
        </p:nvSpPr>
        <p:spPr bwMode="auto">
          <a:xfrm>
            <a:off x="2362200" y="2819400"/>
            <a:ext cx="1143000" cy="0"/>
          </a:xfrm>
          <a:prstGeom prst="line">
            <a:avLst/>
          </a:prstGeom>
          <a:noFill/>
          <a:ln w="9525">
            <a:solidFill>
              <a:schemeClr val="tx1"/>
            </a:solidFill>
            <a:prstDash val="dash"/>
            <a:round/>
            <a:headEnd/>
            <a:tailEnd/>
          </a:ln>
          <a:effectLst/>
        </p:spPr>
        <p:txBody>
          <a:bodyPr/>
          <a:lstStyle/>
          <a:p>
            <a:endParaRPr lang="en-US"/>
          </a:p>
        </p:txBody>
      </p:sp>
      <p:sp>
        <p:nvSpPr>
          <p:cNvPr id="186377" name="Line 9"/>
          <p:cNvSpPr>
            <a:spLocks noChangeShapeType="1"/>
          </p:cNvSpPr>
          <p:nvPr/>
        </p:nvSpPr>
        <p:spPr bwMode="auto">
          <a:xfrm>
            <a:off x="3505200" y="2819400"/>
            <a:ext cx="0" cy="1600200"/>
          </a:xfrm>
          <a:prstGeom prst="line">
            <a:avLst/>
          </a:prstGeom>
          <a:noFill/>
          <a:ln w="9525">
            <a:solidFill>
              <a:schemeClr val="tx1"/>
            </a:solidFill>
            <a:prstDash val="dash"/>
            <a:round/>
            <a:headEnd/>
            <a:tailEnd/>
          </a:ln>
          <a:effectLst/>
        </p:spPr>
        <p:txBody>
          <a:bodyPr/>
          <a:lstStyle/>
          <a:p>
            <a:endParaRPr lang="en-US"/>
          </a:p>
        </p:txBody>
      </p:sp>
      <p:sp>
        <p:nvSpPr>
          <p:cNvPr id="186378" name="Line 10"/>
          <p:cNvSpPr>
            <a:spLocks noChangeShapeType="1"/>
          </p:cNvSpPr>
          <p:nvPr/>
        </p:nvSpPr>
        <p:spPr bwMode="auto">
          <a:xfrm>
            <a:off x="4495800" y="3352800"/>
            <a:ext cx="0" cy="1066800"/>
          </a:xfrm>
          <a:prstGeom prst="line">
            <a:avLst/>
          </a:prstGeom>
          <a:noFill/>
          <a:ln w="9525">
            <a:solidFill>
              <a:schemeClr val="tx1"/>
            </a:solidFill>
            <a:prstDash val="dash"/>
            <a:round/>
            <a:headEnd/>
            <a:tailEnd/>
          </a:ln>
          <a:effectLst/>
        </p:spPr>
        <p:txBody>
          <a:bodyPr/>
          <a:lstStyle/>
          <a:p>
            <a:endParaRPr lang="en-US"/>
          </a:p>
        </p:txBody>
      </p:sp>
      <p:sp>
        <p:nvSpPr>
          <p:cNvPr id="186379" name="Line 11"/>
          <p:cNvSpPr>
            <a:spLocks noChangeShapeType="1"/>
          </p:cNvSpPr>
          <p:nvPr/>
        </p:nvSpPr>
        <p:spPr bwMode="auto">
          <a:xfrm>
            <a:off x="5638800" y="3886200"/>
            <a:ext cx="0" cy="533400"/>
          </a:xfrm>
          <a:prstGeom prst="line">
            <a:avLst/>
          </a:prstGeom>
          <a:noFill/>
          <a:ln w="9525">
            <a:solidFill>
              <a:schemeClr val="tx1"/>
            </a:solidFill>
            <a:prstDash val="dash"/>
            <a:round/>
            <a:headEnd/>
            <a:tailEnd/>
          </a:ln>
          <a:effectLst/>
        </p:spPr>
        <p:txBody>
          <a:bodyPr/>
          <a:lstStyle/>
          <a:p>
            <a:endParaRPr lang="en-US"/>
          </a:p>
        </p:txBody>
      </p:sp>
      <p:sp>
        <p:nvSpPr>
          <p:cNvPr id="186381" name="Text Box 13"/>
          <p:cNvSpPr txBox="1">
            <a:spLocks noChangeArrowheads="1"/>
          </p:cNvSpPr>
          <p:nvPr/>
        </p:nvSpPr>
        <p:spPr bwMode="auto">
          <a:xfrm>
            <a:off x="4387645" y="4662486"/>
            <a:ext cx="1219200" cy="366713"/>
          </a:xfrm>
          <a:prstGeom prst="rect">
            <a:avLst/>
          </a:prstGeom>
          <a:noFill/>
          <a:ln w="9525">
            <a:noFill/>
            <a:miter lim="800000"/>
            <a:headEnd/>
            <a:tailEnd/>
          </a:ln>
          <a:effectLst/>
        </p:spPr>
        <p:txBody>
          <a:bodyPr>
            <a:spAutoFit/>
          </a:bodyPr>
          <a:lstStyle/>
          <a:p>
            <a:pPr algn="l">
              <a:spcBef>
                <a:spcPct val="50000"/>
              </a:spcBef>
            </a:pPr>
            <a:r>
              <a:rPr lang="en-US" sz="1800" dirty="0"/>
              <a:t>Quantity</a:t>
            </a:r>
          </a:p>
        </p:txBody>
      </p:sp>
      <p:sp>
        <p:nvSpPr>
          <p:cNvPr id="186382" name="Text Box 14"/>
          <p:cNvSpPr txBox="1">
            <a:spLocks noChangeArrowheads="1"/>
          </p:cNvSpPr>
          <p:nvPr/>
        </p:nvSpPr>
        <p:spPr bwMode="auto">
          <a:xfrm rot="16200000">
            <a:off x="-121443" y="2712243"/>
            <a:ext cx="2895600" cy="366713"/>
          </a:xfrm>
          <a:prstGeom prst="rect">
            <a:avLst/>
          </a:prstGeom>
          <a:noFill/>
          <a:ln w="9525">
            <a:noFill/>
            <a:miter lim="800000"/>
            <a:headEnd/>
            <a:tailEnd/>
          </a:ln>
          <a:effectLst/>
        </p:spPr>
        <p:txBody>
          <a:bodyPr>
            <a:spAutoFit/>
          </a:bodyPr>
          <a:lstStyle/>
          <a:p>
            <a:pPr algn="l">
              <a:spcBef>
                <a:spcPct val="50000"/>
              </a:spcBef>
            </a:pPr>
            <a:r>
              <a:rPr lang="en-US" sz="1800" dirty="0"/>
              <a:t>Price (in </a:t>
            </a:r>
            <a:r>
              <a:rPr lang="en-US" sz="1800" dirty="0" smtClean="0"/>
              <a:t>pounds)</a:t>
            </a:r>
            <a:endParaRPr lang="en-US" sz="1800" dirty="0"/>
          </a:p>
        </p:txBody>
      </p:sp>
      <p:sp>
        <p:nvSpPr>
          <p:cNvPr id="186384" name="Text Box 16"/>
          <p:cNvSpPr txBox="1">
            <a:spLocks noChangeArrowheads="1"/>
          </p:cNvSpPr>
          <p:nvPr/>
        </p:nvSpPr>
        <p:spPr bwMode="auto">
          <a:xfrm>
            <a:off x="2057400" y="1600200"/>
            <a:ext cx="381000" cy="366713"/>
          </a:xfrm>
          <a:prstGeom prst="rect">
            <a:avLst/>
          </a:prstGeom>
          <a:noFill/>
          <a:ln w="9525">
            <a:noFill/>
            <a:miter lim="800000"/>
            <a:headEnd/>
            <a:tailEnd/>
          </a:ln>
          <a:effectLst/>
        </p:spPr>
        <p:txBody>
          <a:bodyPr>
            <a:spAutoFit/>
          </a:bodyPr>
          <a:lstStyle/>
          <a:p>
            <a:pPr algn="l">
              <a:spcBef>
                <a:spcPct val="50000"/>
              </a:spcBef>
            </a:pPr>
            <a:r>
              <a:rPr lang="en-US" sz="1800"/>
              <a:t>P</a:t>
            </a:r>
          </a:p>
        </p:txBody>
      </p:sp>
      <p:sp>
        <p:nvSpPr>
          <p:cNvPr id="186385" name="Text Box 17"/>
          <p:cNvSpPr txBox="1">
            <a:spLocks noChangeArrowheads="1"/>
          </p:cNvSpPr>
          <p:nvPr/>
        </p:nvSpPr>
        <p:spPr bwMode="auto">
          <a:xfrm>
            <a:off x="7543800" y="4267200"/>
            <a:ext cx="381000" cy="366713"/>
          </a:xfrm>
          <a:prstGeom prst="rect">
            <a:avLst/>
          </a:prstGeom>
          <a:noFill/>
          <a:ln w="9525">
            <a:noFill/>
            <a:miter lim="800000"/>
            <a:headEnd/>
            <a:tailEnd/>
          </a:ln>
          <a:effectLst/>
        </p:spPr>
        <p:txBody>
          <a:bodyPr>
            <a:spAutoFit/>
          </a:bodyPr>
          <a:lstStyle/>
          <a:p>
            <a:pPr algn="l">
              <a:spcBef>
                <a:spcPct val="50000"/>
              </a:spcBef>
            </a:pPr>
            <a:r>
              <a:rPr lang="en-US" sz="1800"/>
              <a:t>Q</a:t>
            </a:r>
          </a:p>
        </p:txBody>
      </p:sp>
      <p:sp>
        <p:nvSpPr>
          <p:cNvPr id="186386" name="Text Box 18"/>
          <p:cNvSpPr txBox="1">
            <a:spLocks noChangeArrowheads="1"/>
          </p:cNvSpPr>
          <p:nvPr/>
        </p:nvSpPr>
        <p:spPr bwMode="auto">
          <a:xfrm>
            <a:off x="2133600" y="4419600"/>
            <a:ext cx="304800" cy="274638"/>
          </a:xfrm>
          <a:prstGeom prst="rect">
            <a:avLst/>
          </a:prstGeom>
          <a:noFill/>
          <a:ln w="9525">
            <a:noFill/>
            <a:miter lim="800000"/>
            <a:headEnd/>
            <a:tailEnd/>
          </a:ln>
          <a:effectLst/>
        </p:spPr>
        <p:txBody>
          <a:bodyPr>
            <a:spAutoFit/>
          </a:bodyPr>
          <a:lstStyle/>
          <a:p>
            <a:pPr algn="l">
              <a:spcBef>
                <a:spcPct val="50000"/>
              </a:spcBef>
            </a:pPr>
            <a:r>
              <a:rPr lang="en-US" sz="1200"/>
              <a:t>0</a:t>
            </a:r>
          </a:p>
        </p:txBody>
      </p:sp>
      <p:sp>
        <p:nvSpPr>
          <p:cNvPr id="186387" name="Text Box 19"/>
          <p:cNvSpPr txBox="1">
            <a:spLocks noChangeArrowheads="1"/>
          </p:cNvSpPr>
          <p:nvPr/>
        </p:nvSpPr>
        <p:spPr bwMode="auto">
          <a:xfrm>
            <a:off x="3352800" y="4419600"/>
            <a:ext cx="304800" cy="274638"/>
          </a:xfrm>
          <a:prstGeom prst="rect">
            <a:avLst/>
          </a:prstGeom>
          <a:noFill/>
          <a:ln w="9525">
            <a:noFill/>
            <a:miter lim="800000"/>
            <a:headEnd/>
            <a:tailEnd/>
          </a:ln>
          <a:effectLst/>
        </p:spPr>
        <p:txBody>
          <a:bodyPr>
            <a:spAutoFit/>
          </a:bodyPr>
          <a:lstStyle/>
          <a:p>
            <a:pPr algn="l">
              <a:spcBef>
                <a:spcPct val="50000"/>
              </a:spcBef>
            </a:pPr>
            <a:r>
              <a:rPr lang="en-US" sz="1200"/>
              <a:t>2</a:t>
            </a:r>
          </a:p>
        </p:txBody>
      </p:sp>
      <p:sp>
        <p:nvSpPr>
          <p:cNvPr id="186388" name="Text Box 20"/>
          <p:cNvSpPr txBox="1">
            <a:spLocks noChangeArrowheads="1"/>
          </p:cNvSpPr>
          <p:nvPr/>
        </p:nvSpPr>
        <p:spPr bwMode="auto">
          <a:xfrm>
            <a:off x="4343400" y="4419600"/>
            <a:ext cx="304800" cy="274638"/>
          </a:xfrm>
          <a:prstGeom prst="rect">
            <a:avLst/>
          </a:prstGeom>
          <a:noFill/>
          <a:ln w="9525">
            <a:noFill/>
            <a:miter lim="800000"/>
            <a:headEnd/>
            <a:tailEnd/>
          </a:ln>
          <a:effectLst/>
        </p:spPr>
        <p:txBody>
          <a:bodyPr>
            <a:spAutoFit/>
          </a:bodyPr>
          <a:lstStyle/>
          <a:p>
            <a:pPr algn="l">
              <a:spcBef>
                <a:spcPct val="50000"/>
              </a:spcBef>
            </a:pPr>
            <a:r>
              <a:rPr lang="en-US" sz="1200"/>
              <a:t>4</a:t>
            </a:r>
          </a:p>
        </p:txBody>
      </p:sp>
      <p:sp>
        <p:nvSpPr>
          <p:cNvPr id="186389" name="Text Box 21"/>
          <p:cNvSpPr txBox="1">
            <a:spLocks noChangeArrowheads="1"/>
          </p:cNvSpPr>
          <p:nvPr/>
        </p:nvSpPr>
        <p:spPr bwMode="auto">
          <a:xfrm>
            <a:off x="5486400" y="4419600"/>
            <a:ext cx="304800" cy="274638"/>
          </a:xfrm>
          <a:prstGeom prst="rect">
            <a:avLst/>
          </a:prstGeom>
          <a:noFill/>
          <a:ln w="9525">
            <a:noFill/>
            <a:miter lim="800000"/>
            <a:headEnd/>
            <a:tailEnd/>
          </a:ln>
          <a:effectLst/>
        </p:spPr>
        <p:txBody>
          <a:bodyPr>
            <a:spAutoFit/>
          </a:bodyPr>
          <a:lstStyle/>
          <a:p>
            <a:pPr algn="l">
              <a:spcBef>
                <a:spcPct val="50000"/>
              </a:spcBef>
            </a:pPr>
            <a:r>
              <a:rPr lang="en-US" sz="1200"/>
              <a:t>6</a:t>
            </a:r>
          </a:p>
        </p:txBody>
      </p:sp>
      <p:sp>
        <p:nvSpPr>
          <p:cNvPr id="186390" name="Text Box 22"/>
          <p:cNvSpPr txBox="1">
            <a:spLocks noChangeArrowheads="1"/>
          </p:cNvSpPr>
          <p:nvPr/>
        </p:nvSpPr>
        <p:spPr bwMode="auto">
          <a:xfrm>
            <a:off x="6553200" y="4419600"/>
            <a:ext cx="304800" cy="274638"/>
          </a:xfrm>
          <a:prstGeom prst="rect">
            <a:avLst/>
          </a:prstGeom>
          <a:noFill/>
          <a:ln w="9525">
            <a:noFill/>
            <a:miter lim="800000"/>
            <a:headEnd/>
            <a:tailEnd/>
          </a:ln>
          <a:effectLst/>
        </p:spPr>
        <p:txBody>
          <a:bodyPr>
            <a:spAutoFit/>
          </a:bodyPr>
          <a:lstStyle/>
          <a:p>
            <a:pPr algn="l">
              <a:spcBef>
                <a:spcPct val="50000"/>
              </a:spcBef>
            </a:pPr>
            <a:r>
              <a:rPr lang="en-US" sz="1200"/>
              <a:t>8</a:t>
            </a:r>
          </a:p>
        </p:txBody>
      </p:sp>
      <p:sp>
        <p:nvSpPr>
          <p:cNvPr id="186391" name="Text Box 23"/>
          <p:cNvSpPr txBox="1">
            <a:spLocks noChangeArrowheads="1"/>
          </p:cNvSpPr>
          <p:nvPr/>
        </p:nvSpPr>
        <p:spPr bwMode="auto">
          <a:xfrm>
            <a:off x="1905000" y="3733800"/>
            <a:ext cx="457200" cy="274638"/>
          </a:xfrm>
          <a:prstGeom prst="rect">
            <a:avLst/>
          </a:prstGeom>
          <a:noFill/>
          <a:ln w="9525">
            <a:noFill/>
            <a:miter lim="800000"/>
            <a:headEnd/>
            <a:tailEnd/>
          </a:ln>
          <a:effectLst/>
        </p:spPr>
        <p:txBody>
          <a:bodyPr>
            <a:spAutoFit/>
          </a:bodyPr>
          <a:lstStyle/>
          <a:p>
            <a:pPr algn="l">
              <a:spcBef>
                <a:spcPct val="50000"/>
              </a:spcBef>
            </a:pPr>
            <a:r>
              <a:rPr lang="en-US" sz="1200"/>
              <a:t>100</a:t>
            </a:r>
          </a:p>
        </p:txBody>
      </p:sp>
      <p:sp>
        <p:nvSpPr>
          <p:cNvPr id="186392" name="Text Box 24"/>
          <p:cNvSpPr txBox="1">
            <a:spLocks noChangeArrowheads="1"/>
          </p:cNvSpPr>
          <p:nvPr/>
        </p:nvSpPr>
        <p:spPr bwMode="auto">
          <a:xfrm>
            <a:off x="1905000" y="3200400"/>
            <a:ext cx="457200" cy="274638"/>
          </a:xfrm>
          <a:prstGeom prst="rect">
            <a:avLst/>
          </a:prstGeom>
          <a:noFill/>
          <a:ln w="9525">
            <a:noFill/>
            <a:miter lim="800000"/>
            <a:headEnd/>
            <a:tailEnd/>
          </a:ln>
          <a:effectLst/>
        </p:spPr>
        <p:txBody>
          <a:bodyPr>
            <a:spAutoFit/>
          </a:bodyPr>
          <a:lstStyle/>
          <a:p>
            <a:pPr algn="l">
              <a:spcBef>
                <a:spcPct val="50000"/>
              </a:spcBef>
            </a:pPr>
            <a:r>
              <a:rPr lang="en-US" sz="1200" dirty="0"/>
              <a:t>200</a:t>
            </a:r>
          </a:p>
        </p:txBody>
      </p:sp>
      <p:sp>
        <p:nvSpPr>
          <p:cNvPr id="186393" name="Text Box 25"/>
          <p:cNvSpPr txBox="1">
            <a:spLocks noChangeArrowheads="1"/>
          </p:cNvSpPr>
          <p:nvPr/>
        </p:nvSpPr>
        <p:spPr bwMode="auto">
          <a:xfrm>
            <a:off x="1905000" y="2758281"/>
            <a:ext cx="457200" cy="274638"/>
          </a:xfrm>
          <a:prstGeom prst="rect">
            <a:avLst/>
          </a:prstGeom>
          <a:noFill/>
          <a:ln w="9525">
            <a:noFill/>
            <a:miter lim="800000"/>
            <a:headEnd/>
            <a:tailEnd/>
          </a:ln>
          <a:effectLst/>
        </p:spPr>
        <p:txBody>
          <a:bodyPr>
            <a:spAutoFit/>
          </a:bodyPr>
          <a:lstStyle/>
          <a:p>
            <a:pPr algn="l">
              <a:spcBef>
                <a:spcPct val="50000"/>
              </a:spcBef>
            </a:pPr>
            <a:r>
              <a:rPr lang="en-US" sz="1200"/>
              <a:t>300</a:t>
            </a:r>
          </a:p>
        </p:txBody>
      </p:sp>
      <p:sp>
        <p:nvSpPr>
          <p:cNvPr id="186394" name="Text Box 26"/>
          <p:cNvSpPr txBox="1">
            <a:spLocks noChangeArrowheads="1"/>
          </p:cNvSpPr>
          <p:nvPr/>
        </p:nvSpPr>
        <p:spPr bwMode="auto">
          <a:xfrm>
            <a:off x="1905000" y="2133600"/>
            <a:ext cx="457200" cy="274638"/>
          </a:xfrm>
          <a:prstGeom prst="rect">
            <a:avLst/>
          </a:prstGeom>
          <a:noFill/>
          <a:ln w="9525">
            <a:noFill/>
            <a:miter lim="800000"/>
            <a:headEnd/>
            <a:tailEnd/>
          </a:ln>
          <a:effectLst/>
        </p:spPr>
        <p:txBody>
          <a:bodyPr>
            <a:spAutoFit/>
          </a:bodyPr>
          <a:lstStyle/>
          <a:p>
            <a:pPr algn="l">
              <a:spcBef>
                <a:spcPct val="50000"/>
              </a:spcBef>
            </a:pPr>
            <a:r>
              <a:rPr lang="en-US" sz="1200" dirty="0"/>
              <a:t>400</a:t>
            </a:r>
          </a:p>
        </p:txBody>
      </p:sp>
      <p:sp>
        <p:nvSpPr>
          <p:cNvPr id="186395" name="Text Box 27"/>
          <p:cNvSpPr txBox="1">
            <a:spLocks noChangeArrowheads="1"/>
          </p:cNvSpPr>
          <p:nvPr/>
        </p:nvSpPr>
        <p:spPr bwMode="auto">
          <a:xfrm>
            <a:off x="6477000" y="3886200"/>
            <a:ext cx="381000" cy="366713"/>
          </a:xfrm>
          <a:prstGeom prst="rect">
            <a:avLst/>
          </a:prstGeom>
          <a:noFill/>
          <a:ln w="9525">
            <a:noFill/>
            <a:miter lim="800000"/>
            <a:headEnd/>
            <a:tailEnd/>
          </a:ln>
          <a:effectLst/>
        </p:spPr>
        <p:txBody>
          <a:bodyPr>
            <a:spAutoFit/>
          </a:bodyPr>
          <a:lstStyle/>
          <a:p>
            <a:pPr algn="l">
              <a:spcBef>
                <a:spcPct val="50000"/>
              </a:spcBef>
            </a:pPr>
            <a:r>
              <a:rPr lang="en-US" sz="1800"/>
              <a:t>D</a:t>
            </a:r>
          </a:p>
        </p:txBody>
      </p:sp>
      <p:sp>
        <p:nvSpPr>
          <p:cNvPr id="186396" name="Text Box 28"/>
          <p:cNvSpPr txBox="1">
            <a:spLocks noChangeArrowheads="1"/>
          </p:cNvSpPr>
          <p:nvPr/>
        </p:nvSpPr>
        <p:spPr bwMode="auto">
          <a:xfrm>
            <a:off x="495300" y="5373597"/>
            <a:ext cx="8305800" cy="1200329"/>
          </a:xfrm>
          <a:prstGeom prst="rect">
            <a:avLst/>
          </a:prstGeom>
          <a:noFill/>
          <a:ln w="9525">
            <a:noFill/>
            <a:miter lim="800000"/>
            <a:headEnd/>
            <a:tailEnd/>
          </a:ln>
          <a:effectLst/>
        </p:spPr>
        <p:txBody>
          <a:bodyPr wrap="square">
            <a:spAutoFit/>
          </a:bodyPr>
          <a:lstStyle/>
          <a:p>
            <a:pPr algn="l">
              <a:spcBef>
                <a:spcPct val="50000"/>
              </a:spcBef>
            </a:pPr>
            <a:r>
              <a:rPr lang="en-US" sz="2400" dirty="0"/>
              <a:t>Figure </a:t>
            </a:r>
            <a:r>
              <a:rPr lang="en-US" sz="2400" dirty="0" smtClean="0"/>
              <a:t>1</a:t>
            </a:r>
            <a:r>
              <a:rPr lang="en-US" sz="2400" dirty="0"/>
              <a:t>:</a:t>
            </a:r>
            <a:r>
              <a:rPr lang="en-US" sz="2400" dirty="0" smtClean="0"/>
              <a:t>  </a:t>
            </a:r>
            <a:r>
              <a:rPr lang="en-US" sz="2400" u="sng" dirty="0">
                <a:solidFill>
                  <a:srgbClr val="FFFF00"/>
                </a:solidFill>
              </a:rPr>
              <a:t>Demand Curve</a:t>
            </a:r>
            <a:r>
              <a:rPr lang="en-US" sz="2400" dirty="0"/>
              <a:t>.  The negative slope of the demand curve depicts the inverse relationship between price and quantity demanded.</a:t>
            </a:r>
          </a:p>
        </p:txBody>
      </p:sp>
      <p:sp>
        <p:nvSpPr>
          <p:cNvPr id="186397" name="Line 29"/>
          <p:cNvSpPr>
            <a:spLocks noChangeShapeType="1"/>
          </p:cNvSpPr>
          <p:nvPr/>
        </p:nvSpPr>
        <p:spPr bwMode="auto">
          <a:xfrm>
            <a:off x="2362200" y="2286000"/>
            <a:ext cx="4419600" cy="2133600"/>
          </a:xfrm>
          <a:prstGeom prst="line">
            <a:avLst/>
          </a:prstGeom>
          <a:noFill/>
          <a:ln w="38100">
            <a:solidFill>
              <a:schemeClr val="tx1"/>
            </a:solidFill>
            <a:round/>
            <a:headEnd/>
            <a:tailEnd/>
          </a:ln>
          <a:effectLst/>
        </p:spPr>
        <p:txBody>
          <a:bodyPr/>
          <a:lstStyle/>
          <a:p>
            <a:endParaRPr lang="en-US"/>
          </a:p>
        </p:txBody>
      </p:sp>
      <p:sp>
        <p:nvSpPr>
          <p:cNvPr id="186398" name="AutoShape 30"/>
          <p:cNvSpPr>
            <a:spLocks noChangeArrowheads="1"/>
          </p:cNvSpPr>
          <p:nvPr/>
        </p:nvSpPr>
        <p:spPr bwMode="auto">
          <a:xfrm>
            <a:off x="3505200" y="2819400"/>
            <a:ext cx="76200" cy="76200"/>
          </a:xfrm>
          <a:prstGeom prst="flowChartConnector">
            <a:avLst/>
          </a:prstGeom>
          <a:solidFill>
            <a:schemeClr val="accent1"/>
          </a:solidFill>
          <a:ln w="9525">
            <a:solidFill>
              <a:schemeClr val="tx1"/>
            </a:solidFill>
            <a:round/>
            <a:headEnd/>
            <a:tailEnd/>
          </a:ln>
          <a:effectLst/>
        </p:spPr>
        <p:txBody>
          <a:bodyPr wrap="none" anchor="ctr"/>
          <a:lstStyle/>
          <a:p>
            <a:endParaRPr lang="en-US"/>
          </a:p>
        </p:txBody>
      </p:sp>
      <p:sp>
        <p:nvSpPr>
          <p:cNvPr id="186399" name="AutoShape 31"/>
          <p:cNvSpPr>
            <a:spLocks noChangeArrowheads="1"/>
          </p:cNvSpPr>
          <p:nvPr/>
        </p:nvSpPr>
        <p:spPr bwMode="auto">
          <a:xfrm>
            <a:off x="4495800" y="3276600"/>
            <a:ext cx="76200" cy="76200"/>
          </a:xfrm>
          <a:prstGeom prst="flowChartConnector">
            <a:avLst/>
          </a:prstGeom>
          <a:solidFill>
            <a:schemeClr val="accent1"/>
          </a:solidFill>
          <a:ln w="9525">
            <a:solidFill>
              <a:schemeClr val="tx1"/>
            </a:solidFill>
            <a:round/>
            <a:headEnd/>
            <a:tailEnd/>
          </a:ln>
          <a:effectLst/>
        </p:spPr>
        <p:txBody>
          <a:bodyPr wrap="none" anchor="ctr"/>
          <a:lstStyle/>
          <a:p>
            <a:endParaRPr lang="en-US"/>
          </a:p>
        </p:txBody>
      </p:sp>
      <p:sp>
        <p:nvSpPr>
          <p:cNvPr id="186400" name="AutoShape 32"/>
          <p:cNvSpPr>
            <a:spLocks noChangeArrowheads="1"/>
          </p:cNvSpPr>
          <p:nvPr/>
        </p:nvSpPr>
        <p:spPr bwMode="auto">
          <a:xfrm>
            <a:off x="5562600" y="3810000"/>
            <a:ext cx="76200" cy="76200"/>
          </a:xfrm>
          <a:prstGeom prst="flowChartConnector">
            <a:avLst/>
          </a:prstGeom>
          <a:solidFill>
            <a:schemeClr val="accent1"/>
          </a:solidFill>
          <a:ln w="9525">
            <a:solidFill>
              <a:schemeClr val="tx1"/>
            </a:solidFill>
            <a:round/>
            <a:headEnd/>
            <a:tailEnd/>
          </a:ln>
          <a:effectLst/>
        </p:spPr>
        <p:txBody>
          <a:bodyPr wrap="none" anchor="ctr"/>
          <a:lstStyle/>
          <a:p>
            <a:endParaRPr lang="en-US"/>
          </a:p>
        </p:txBody>
      </p:sp>
      <p:sp>
        <p:nvSpPr>
          <p:cNvPr id="186401" name="AutoShape 33"/>
          <p:cNvSpPr>
            <a:spLocks noChangeArrowheads="1"/>
          </p:cNvSpPr>
          <p:nvPr/>
        </p:nvSpPr>
        <p:spPr bwMode="auto">
          <a:xfrm>
            <a:off x="6705600" y="4343400"/>
            <a:ext cx="76200" cy="76200"/>
          </a:xfrm>
          <a:prstGeom prst="flowChartConnector">
            <a:avLst/>
          </a:prstGeom>
          <a:solidFill>
            <a:schemeClr val="accent1"/>
          </a:solidFill>
          <a:ln w="9525">
            <a:solidFill>
              <a:schemeClr val="tx1"/>
            </a:solidFill>
            <a:round/>
            <a:headEnd/>
            <a:tailEnd/>
          </a:ln>
          <a:effectLst/>
        </p:spPr>
        <p:txBody>
          <a:bodyPr wrap="none" anchor="ctr"/>
          <a:lstStyle/>
          <a:p>
            <a:endParaRPr lang="en-US"/>
          </a:p>
        </p:txBody>
      </p:sp>
      <p:sp>
        <p:nvSpPr>
          <p:cNvPr id="186402" name="AutoShape 34"/>
          <p:cNvSpPr>
            <a:spLocks noChangeArrowheads="1"/>
          </p:cNvSpPr>
          <p:nvPr/>
        </p:nvSpPr>
        <p:spPr bwMode="auto">
          <a:xfrm>
            <a:off x="2362200" y="2286000"/>
            <a:ext cx="76200" cy="76200"/>
          </a:xfrm>
          <a:prstGeom prst="flowChartConnector">
            <a:avLst/>
          </a:prstGeom>
          <a:solidFill>
            <a:schemeClr val="accent1"/>
          </a:solidFill>
          <a:ln w="9525">
            <a:solidFill>
              <a:schemeClr val="tx1"/>
            </a:solidFill>
            <a:round/>
            <a:headEnd/>
            <a:tailEnd/>
          </a:ln>
          <a:effectLst/>
        </p:spPr>
        <p:txBody>
          <a:bodyPr wrap="none" anchor="ctr"/>
          <a:lstStyle/>
          <a:p>
            <a:endParaRPr lang="en-US"/>
          </a:p>
        </p:txBody>
      </p:sp>
    </p:spTree>
  </p:cSld>
  <p:clrMapOvr>
    <a:masterClrMapping/>
  </p:clrMapOvr>
  <p:transition>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lgn="l"/>
            <a:r>
              <a:rPr lang="en-US" u="sng" dirty="0"/>
              <a:t>Demand </a:t>
            </a:r>
            <a:r>
              <a:rPr lang="en-US" u="sng" dirty="0" smtClean="0"/>
              <a:t>Function:</a:t>
            </a:r>
            <a:endParaRPr lang="en-US" u="sng" dirty="0"/>
          </a:p>
        </p:txBody>
      </p:sp>
      <p:sp>
        <p:nvSpPr>
          <p:cNvPr id="109571" name="Rectangle 3"/>
          <p:cNvSpPr>
            <a:spLocks noGrp="1" noChangeArrowheads="1"/>
          </p:cNvSpPr>
          <p:nvPr>
            <p:ph idx="1"/>
          </p:nvPr>
        </p:nvSpPr>
        <p:spPr>
          <a:xfrm>
            <a:off x="304800" y="1219200"/>
            <a:ext cx="8610600" cy="5505450"/>
          </a:xfrm>
        </p:spPr>
        <p:txBody>
          <a:bodyPr/>
          <a:lstStyle/>
          <a:p>
            <a:r>
              <a:rPr lang="en-US" dirty="0"/>
              <a:t>Quantity demanded </a:t>
            </a:r>
            <a:r>
              <a:rPr lang="en-US" i="1" dirty="0"/>
              <a:t>(Q) </a:t>
            </a:r>
            <a:r>
              <a:rPr lang="en-US" dirty="0"/>
              <a:t>is expressed as a mathematical function of price </a:t>
            </a:r>
            <a:r>
              <a:rPr lang="en-US" i="1" dirty="0"/>
              <a:t>(P). </a:t>
            </a:r>
            <a:r>
              <a:rPr lang="en-US" dirty="0"/>
              <a:t>The demand function may thus be written as:</a:t>
            </a:r>
            <a:br>
              <a:rPr lang="en-US" dirty="0"/>
            </a:br>
            <a:r>
              <a:rPr lang="en-US" dirty="0"/>
              <a:t/>
            </a:r>
            <a:br>
              <a:rPr lang="en-US" dirty="0"/>
            </a:br>
            <a:r>
              <a:rPr lang="en-US" dirty="0"/>
              <a:t> 			</a:t>
            </a:r>
            <a:r>
              <a:rPr lang="en-US" dirty="0" err="1">
                <a:solidFill>
                  <a:srgbClr val="FFFF00"/>
                </a:solidFill>
              </a:rPr>
              <a:t>Q</a:t>
            </a:r>
            <a:r>
              <a:rPr lang="en-US" baseline="-25000" dirty="0" err="1">
                <a:solidFill>
                  <a:srgbClr val="FFFF00"/>
                </a:solidFill>
                <a:effectLst/>
              </a:rPr>
              <a:t>d</a:t>
            </a:r>
            <a:r>
              <a:rPr lang="en-US" dirty="0">
                <a:solidFill>
                  <a:srgbClr val="FFFF00"/>
                </a:solidFill>
              </a:rPr>
              <a:t> = a - </a:t>
            </a:r>
            <a:r>
              <a:rPr lang="en-US" dirty="0" err="1">
                <a:solidFill>
                  <a:srgbClr val="FFFF00"/>
                </a:solidFill>
                <a:effectLst/>
              </a:rPr>
              <a:t>bP</a:t>
            </a:r>
            <a:endParaRPr lang="en-US" dirty="0">
              <a:solidFill>
                <a:srgbClr val="FFFF00"/>
              </a:solidFill>
              <a:effectLst/>
            </a:endParaRPr>
          </a:p>
          <a:p>
            <a:pPr>
              <a:buFont typeface="Wingdings" pitchFamily="2" charset="2"/>
              <a:buNone/>
            </a:pPr>
            <a:r>
              <a:rPr lang="en-US" altLang="ko-KR" dirty="0">
                <a:ea typeface="굴림" charset="-127"/>
              </a:rPr>
              <a:t>	</a:t>
            </a:r>
            <a:r>
              <a:rPr lang="en-US" altLang="ko-KR" dirty="0" smtClean="0">
                <a:ea typeface="굴림" charset="-127"/>
              </a:rPr>
              <a:t>where:- </a:t>
            </a:r>
            <a:endParaRPr lang="en-US" altLang="ko-KR" dirty="0">
              <a:ea typeface="굴림" charset="-127"/>
            </a:endParaRPr>
          </a:p>
          <a:p>
            <a:pPr lvl="1"/>
            <a:r>
              <a:rPr lang="en-US" altLang="ko-KR" sz="3200" b="1" i="1" u="sng" dirty="0">
                <a:solidFill>
                  <a:srgbClr val="FFFF00"/>
                </a:solidFill>
                <a:ea typeface="굴림" charset="-127"/>
              </a:rPr>
              <a:t>a</a:t>
            </a:r>
            <a:r>
              <a:rPr lang="en-US" altLang="ko-KR" sz="3200" i="1" dirty="0">
                <a:ea typeface="굴림" charset="-127"/>
              </a:rPr>
              <a:t> </a:t>
            </a:r>
            <a:r>
              <a:rPr lang="en-US" altLang="ko-KR" sz="3200" dirty="0">
                <a:ea typeface="굴림" charset="-127"/>
              </a:rPr>
              <a:t>is the </a:t>
            </a:r>
            <a:r>
              <a:rPr lang="en-US" altLang="ko-KR" sz="3200" u="sng" dirty="0">
                <a:ea typeface="굴림" charset="-127"/>
              </a:rPr>
              <a:t>horizontal</a:t>
            </a:r>
            <a:r>
              <a:rPr lang="en-US" altLang="ko-KR" sz="3200" dirty="0">
                <a:ea typeface="굴림" charset="-127"/>
              </a:rPr>
              <a:t> intercept of the equation or the quantity demanded when price is </a:t>
            </a:r>
            <a:r>
              <a:rPr lang="en-US" altLang="ko-KR" sz="3200" dirty="0" smtClean="0">
                <a:ea typeface="굴림" charset="-127"/>
              </a:rPr>
              <a:t>zero. </a:t>
            </a:r>
            <a:endParaRPr lang="en-US" altLang="ko-KR" sz="3200" dirty="0">
              <a:ea typeface="굴림" charset="-127"/>
            </a:endParaRPr>
          </a:p>
          <a:p>
            <a:pPr lvl="1"/>
            <a:r>
              <a:rPr lang="en-US" altLang="ko-KR" sz="3200" i="1" dirty="0" smtClean="0">
                <a:ea typeface="굴림" charset="-127"/>
              </a:rPr>
              <a:t>(</a:t>
            </a:r>
            <a:r>
              <a:rPr lang="en-US" altLang="ko-KR" sz="3200" b="1" i="1" dirty="0" smtClean="0">
                <a:solidFill>
                  <a:srgbClr val="FFFF00"/>
                </a:solidFill>
                <a:ea typeface="굴림" charset="-127"/>
              </a:rPr>
              <a:t>- b</a:t>
            </a:r>
            <a:r>
              <a:rPr lang="en-US" altLang="ko-KR" sz="3200" i="1" dirty="0">
                <a:ea typeface="굴림" charset="-127"/>
              </a:rPr>
              <a:t>) </a:t>
            </a:r>
            <a:r>
              <a:rPr lang="en-US" altLang="ko-KR" sz="3200" dirty="0">
                <a:ea typeface="굴림" charset="-127"/>
              </a:rPr>
              <a:t>is the slope of the function. </a:t>
            </a:r>
          </a:p>
          <a:p>
            <a:r>
              <a:rPr lang="en-US" dirty="0"/>
              <a:t>Example:  	</a:t>
            </a:r>
            <a:r>
              <a:rPr lang="en-US" altLang="ko-KR" dirty="0" err="1">
                <a:solidFill>
                  <a:srgbClr val="FFFF00"/>
                </a:solidFill>
                <a:ea typeface="굴림" charset="-127"/>
              </a:rPr>
              <a:t>Q</a:t>
            </a:r>
            <a:r>
              <a:rPr lang="en-US" altLang="ko-KR" baseline="-25000" dirty="0" err="1">
                <a:solidFill>
                  <a:srgbClr val="FFFF00"/>
                </a:solidFill>
                <a:ea typeface="굴림" charset="-127"/>
              </a:rPr>
              <a:t>d</a:t>
            </a:r>
            <a:r>
              <a:rPr lang="en-US" altLang="ko-KR" dirty="0">
                <a:solidFill>
                  <a:srgbClr val="FFFF00"/>
                </a:solidFill>
                <a:ea typeface="굴림" charset="-127"/>
              </a:rPr>
              <a:t> = 8 - 0.02P</a:t>
            </a:r>
            <a:r>
              <a:rPr lang="en-US" altLang="ko-KR" dirty="0">
                <a:ea typeface="굴림" charset="-127"/>
              </a:rPr>
              <a:t> </a:t>
            </a:r>
            <a:endParaRPr lang="en-US" dirty="0"/>
          </a:p>
        </p:txBody>
      </p:sp>
      <p:sp>
        <p:nvSpPr>
          <p:cNvPr id="5" name="Slide Number Placeholder 4"/>
          <p:cNvSpPr>
            <a:spLocks noGrp="1"/>
          </p:cNvSpPr>
          <p:nvPr>
            <p:ph type="sldNum" sz="quarter" idx="11"/>
          </p:nvPr>
        </p:nvSpPr>
        <p:spPr/>
        <p:txBody>
          <a:bodyPr/>
          <a:lstStyle/>
          <a:p>
            <a:fld id="{6D63C845-4982-41E6-901A-A3EC09BDD7BE}" type="slidenum">
              <a:rPr lang="en-US" smtClean="0"/>
              <a:pPr/>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animEffect transition="in" filter="fade">
                                      <p:cBhvr>
                                        <p:cTn id="7" dur="800" decel="100000"/>
                                        <p:tgtEl>
                                          <p:spTgt spid="109571">
                                            <p:txEl>
                                              <p:pRg st="0" end="0"/>
                                            </p:txEl>
                                          </p:spTgt>
                                        </p:tgtEl>
                                      </p:cBhvr>
                                    </p:animEffect>
                                    <p:anim calcmode="lin" valueType="num">
                                      <p:cBhvr>
                                        <p:cTn id="8" dur="800" decel="100000" fill="hold"/>
                                        <p:tgtEl>
                                          <p:spTgt spid="109571">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09571">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09571">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09571">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0957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09571">
                                            <p:txEl>
                                              <p:pRg st="1" end="1"/>
                                            </p:txEl>
                                          </p:spTgt>
                                        </p:tgtEl>
                                        <p:attrNameLst>
                                          <p:attrName>style.visibility</p:attrName>
                                        </p:attrNameLst>
                                      </p:cBhvr>
                                      <p:to>
                                        <p:strVal val="visible"/>
                                      </p:to>
                                    </p:set>
                                    <p:animEffect transition="in" filter="fade">
                                      <p:cBhvr>
                                        <p:cTn id="17" dur="800" decel="100000"/>
                                        <p:tgtEl>
                                          <p:spTgt spid="109571">
                                            <p:txEl>
                                              <p:pRg st="1" end="1"/>
                                            </p:txEl>
                                          </p:spTgt>
                                        </p:tgtEl>
                                      </p:cBhvr>
                                    </p:animEffect>
                                    <p:anim calcmode="lin" valueType="num">
                                      <p:cBhvr>
                                        <p:cTn id="18" dur="800" decel="100000" fill="hold"/>
                                        <p:tgtEl>
                                          <p:spTgt spid="109571">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09571">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09571">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09571">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09571">
                                            <p:txEl>
                                              <p:pRg st="1" end="1"/>
                                            </p:txEl>
                                          </p:spTgt>
                                        </p:tgtEl>
                                        <p:attrNameLst>
                                          <p:attrName>ppt_y</p:attrName>
                                        </p:attrNameLst>
                                      </p:cBhvr>
                                      <p:tavLst>
                                        <p:tav tm="0">
                                          <p:val>
                                            <p:strVal val="#ppt_y+0.1"/>
                                          </p:val>
                                        </p:tav>
                                        <p:tav tm="100000">
                                          <p:val>
                                            <p:strVal val="#ppt_y"/>
                                          </p:val>
                                        </p:tav>
                                      </p:tavLst>
                                    </p:anim>
                                  </p:childTnLst>
                                </p:cTn>
                              </p:par>
                              <p:par>
                                <p:cTn id="23" presetID="30" presetClass="entr" presetSubtype="0" fill="hold" grpId="0" nodeType="withEffect">
                                  <p:stCondLst>
                                    <p:cond delay="0"/>
                                  </p:stCondLst>
                                  <p:childTnLst>
                                    <p:set>
                                      <p:cBhvr>
                                        <p:cTn id="24" dur="1" fill="hold">
                                          <p:stCondLst>
                                            <p:cond delay="0"/>
                                          </p:stCondLst>
                                        </p:cTn>
                                        <p:tgtEl>
                                          <p:spTgt spid="109571">
                                            <p:txEl>
                                              <p:pRg st="2" end="2"/>
                                            </p:txEl>
                                          </p:spTgt>
                                        </p:tgtEl>
                                        <p:attrNameLst>
                                          <p:attrName>style.visibility</p:attrName>
                                        </p:attrNameLst>
                                      </p:cBhvr>
                                      <p:to>
                                        <p:strVal val="visible"/>
                                      </p:to>
                                    </p:set>
                                    <p:animEffect transition="in" filter="fade">
                                      <p:cBhvr>
                                        <p:cTn id="25" dur="800" decel="100000"/>
                                        <p:tgtEl>
                                          <p:spTgt spid="109571">
                                            <p:txEl>
                                              <p:pRg st="2" end="2"/>
                                            </p:txEl>
                                          </p:spTgt>
                                        </p:tgtEl>
                                      </p:cBhvr>
                                    </p:animEffect>
                                    <p:anim calcmode="lin" valueType="num">
                                      <p:cBhvr>
                                        <p:cTn id="26" dur="800" decel="100000" fill="hold"/>
                                        <p:tgtEl>
                                          <p:spTgt spid="109571">
                                            <p:txEl>
                                              <p:pRg st="2" end="2"/>
                                            </p:txEl>
                                          </p:spTgt>
                                        </p:tgtEl>
                                        <p:attrNameLst>
                                          <p:attrName>style.rotation</p:attrName>
                                        </p:attrNameLst>
                                      </p:cBhvr>
                                      <p:tavLst>
                                        <p:tav tm="0">
                                          <p:val>
                                            <p:fltVal val="-90"/>
                                          </p:val>
                                        </p:tav>
                                        <p:tav tm="100000">
                                          <p:val>
                                            <p:fltVal val="0"/>
                                          </p:val>
                                        </p:tav>
                                      </p:tavLst>
                                    </p:anim>
                                    <p:anim calcmode="lin" valueType="num">
                                      <p:cBhvr>
                                        <p:cTn id="27" dur="800" decel="100000" fill="hold"/>
                                        <p:tgtEl>
                                          <p:spTgt spid="109571">
                                            <p:txEl>
                                              <p:pRg st="2" end="2"/>
                                            </p:txEl>
                                          </p:spTgt>
                                        </p:tgtEl>
                                        <p:attrNameLst>
                                          <p:attrName>ppt_x</p:attrName>
                                        </p:attrNameLst>
                                      </p:cBhvr>
                                      <p:tavLst>
                                        <p:tav tm="0">
                                          <p:val>
                                            <p:strVal val="#ppt_x+0.4"/>
                                          </p:val>
                                        </p:tav>
                                        <p:tav tm="100000">
                                          <p:val>
                                            <p:strVal val="#ppt_x-0.05"/>
                                          </p:val>
                                        </p:tav>
                                      </p:tavLst>
                                    </p:anim>
                                    <p:anim calcmode="lin" valueType="num">
                                      <p:cBhvr>
                                        <p:cTn id="28" dur="800" decel="100000" fill="hold"/>
                                        <p:tgtEl>
                                          <p:spTgt spid="109571">
                                            <p:txEl>
                                              <p:pRg st="2" end="2"/>
                                            </p:txEl>
                                          </p:spTgt>
                                        </p:tgtEl>
                                        <p:attrNameLst>
                                          <p:attrName>ppt_y</p:attrName>
                                        </p:attrNameLst>
                                      </p:cBhvr>
                                      <p:tavLst>
                                        <p:tav tm="0">
                                          <p:val>
                                            <p:strVal val="#ppt_y-0.4"/>
                                          </p:val>
                                        </p:tav>
                                        <p:tav tm="100000">
                                          <p:val>
                                            <p:strVal val="#ppt_y+0.1"/>
                                          </p:val>
                                        </p:tav>
                                      </p:tavLst>
                                    </p:anim>
                                    <p:anim calcmode="lin" valueType="num">
                                      <p:cBhvr>
                                        <p:cTn id="29" dur="200" accel="100000" fill="hold">
                                          <p:stCondLst>
                                            <p:cond delay="800"/>
                                          </p:stCondLst>
                                        </p:cTn>
                                        <p:tgtEl>
                                          <p:spTgt spid="109571">
                                            <p:txEl>
                                              <p:pRg st="2" end="2"/>
                                            </p:txEl>
                                          </p:spTgt>
                                        </p:tgtEl>
                                        <p:attrNameLst>
                                          <p:attrName>ppt_x</p:attrName>
                                        </p:attrNameLst>
                                      </p:cBhvr>
                                      <p:tavLst>
                                        <p:tav tm="0">
                                          <p:val>
                                            <p:strVal val="#ppt_x-0.05"/>
                                          </p:val>
                                        </p:tav>
                                        <p:tav tm="100000">
                                          <p:val>
                                            <p:strVal val="#ppt_x"/>
                                          </p:val>
                                        </p:tav>
                                      </p:tavLst>
                                    </p:anim>
                                    <p:anim calcmode="lin" valueType="num">
                                      <p:cBhvr>
                                        <p:cTn id="30" dur="200" accel="100000" fill="hold">
                                          <p:stCondLst>
                                            <p:cond delay="800"/>
                                          </p:stCondLst>
                                        </p:cTn>
                                        <p:tgtEl>
                                          <p:spTgt spid="109571">
                                            <p:txEl>
                                              <p:pRg st="2" end="2"/>
                                            </p:txEl>
                                          </p:spTgt>
                                        </p:tgtEl>
                                        <p:attrNameLst>
                                          <p:attrName>ppt_y</p:attrName>
                                        </p:attrNameLst>
                                      </p:cBhvr>
                                      <p:tavLst>
                                        <p:tav tm="0">
                                          <p:val>
                                            <p:strVal val="#ppt_y+0.1"/>
                                          </p:val>
                                        </p:tav>
                                        <p:tav tm="100000">
                                          <p:val>
                                            <p:strVal val="#ppt_y"/>
                                          </p:val>
                                        </p:tav>
                                      </p:tavLst>
                                    </p:anim>
                                  </p:childTnLst>
                                </p:cTn>
                              </p:par>
                              <p:par>
                                <p:cTn id="31" presetID="30" presetClass="entr" presetSubtype="0" fill="hold" grpId="0" nodeType="withEffect">
                                  <p:stCondLst>
                                    <p:cond delay="0"/>
                                  </p:stCondLst>
                                  <p:childTnLst>
                                    <p:set>
                                      <p:cBhvr>
                                        <p:cTn id="32" dur="1" fill="hold">
                                          <p:stCondLst>
                                            <p:cond delay="0"/>
                                          </p:stCondLst>
                                        </p:cTn>
                                        <p:tgtEl>
                                          <p:spTgt spid="109571">
                                            <p:txEl>
                                              <p:pRg st="3" end="3"/>
                                            </p:txEl>
                                          </p:spTgt>
                                        </p:tgtEl>
                                        <p:attrNameLst>
                                          <p:attrName>style.visibility</p:attrName>
                                        </p:attrNameLst>
                                      </p:cBhvr>
                                      <p:to>
                                        <p:strVal val="visible"/>
                                      </p:to>
                                    </p:set>
                                    <p:animEffect transition="in" filter="fade">
                                      <p:cBhvr>
                                        <p:cTn id="33" dur="800" decel="100000"/>
                                        <p:tgtEl>
                                          <p:spTgt spid="109571">
                                            <p:txEl>
                                              <p:pRg st="3" end="3"/>
                                            </p:txEl>
                                          </p:spTgt>
                                        </p:tgtEl>
                                      </p:cBhvr>
                                    </p:animEffect>
                                    <p:anim calcmode="lin" valueType="num">
                                      <p:cBhvr>
                                        <p:cTn id="34" dur="800" decel="100000" fill="hold"/>
                                        <p:tgtEl>
                                          <p:spTgt spid="109571">
                                            <p:txEl>
                                              <p:pRg st="3" end="3"/>
                                            </p:txEl>
                                          </p:spTgt>
                                        </p:tgtEl>
                                        <p:attrNameLst>
                                          <p:attrName>style.rotation</p:attrName>
                                        </p:attrNameLst>
                                      </p:cBhvr>
                                      <p:tavLst>
                                        <p:tav tm="0">
                                          <p:val>
                                            <p:fltVal val="-90"/>
                                          </p:val>
                                        </p:tav>
                                        <p:tav tm="100000">
                                          <p:val>
                                            <p:fltVal val="0"/>
                                          </p:val>
                                        </p:tav>
                                      </p:tavLst>
                                    </p:anim>
                                    <p:anim calcmode="lin" valueType="num">
                                      <p:cBhvr>
                                        <p:cTn id="35" dur="800" decel="100000" fill="hold"/>
                                        <p:tgtEl>
                                          <p:spTgt spid="109571">
                                            <p:txEl>
                                              <p:pRg st="3" end="3"/>
                                            </p:txEl>
                                          </p:spTgt>
                                        </p:tgtEl>
                                        <p:attrNameLst>
                                          <p:attrName>ppt_x</p:attrName>
                                        </p:attrNameLst>
                                      </p:cBhvr>
                                      <p:tavLst>
                                        <p:tav tm="0">
                                          <p:val>
                                            <p:strVal val="#ppt_x+0.4"/>
                                          </p:val>
                                        </p:tav>
                                        <p:tav tm="100000">
                                          <p:val>
                                            <p:strVal val="#ppt_x-0.05"/>
                                          </p:val>
                                        </p:tav>
                                      </p:tavLst>
                                    </p:anim>
                                    <p:anim calcmode="lin" valueType="num">
                                      <p:cBhvr>
                                        <p:cTn id="36" dur="800" decel="100000" fill="hold"/>
                                        <p:tgtEl>
                                          <p:spTgt spid="109571">
                                            <p:txEl>
                                              <p:pRg st="3" end="3"/>
                                            </p:txEl>
                                          </p:spTgt>
                                        </p:tgtEl>
                                        <p:attrNameLst>
                                          <p:attrName>ppt_y</p:attrName>
                                        </p:attrNameLst>
                                      </p:cBhvr>
                                      <p:tavLst>
                                        <p:tav tm="0">
                                          <p:val>
                                            <p:strVal val="#ppt_y-0.4"/>
                                          </p:val>
                                        </p:tav>
                                        <p:tav tm="100000">
                                          <p:val>
                                            <p:strVal val="#ppt_y+0.1"/>
                                          </p:val>
                                        </p:tav>
                                      </p:tavLst>
                                    </p:anim>
                                    <p:anim calcmode="lin" valueType="num">
                                      <p:cBhvr>
                                        <p:cTn id="37" dur="200" accel="100000" fill="hold">
                                          <p:stCondLst>
                                            <p:cond delay="800"/>
                                          </p:stCondLst>
                                        </p:cTn>
                                        <p:tgtEl>
                                          <p:spTgt spid="109571">
                                            <p:txEl>
                                              <p:pRg st="3" end="3"/>
                                            </p:txEl>
                                          </p:spTgt>
                                        </p:tgtEl>
                                        <p:attrNameLst>
                                          <p:attrName>ppt_x</p:attrName>
                                        </p:attrNameLst>
                                      </p:cBhvr>
                                      <p:tavLst>
                                        <p:tav tm="0">
                                          <p:val>
                                            <p:strVal val="#ppt_x-0.05"/>
                                          </p:val>
                                        </p:tav>
                                        <p:tav tm="100000">
                                          <p:val>
                                            <p:strVal val="#ppt_x"/>
                                          </p:val>
                                        </p:tav>
                                      </p:tavLst>
                                    </p:anim>
                                    <p:anim calcmode="lin" valueType="num">
                                      <p:cBhvr>
                                        <p:cTn id="38" dur="200" accel="100000" fill="hold">
                                          <p:stCondLst>
                                            <p:cond delay="800"/>
                                          </p:stCondLst>
                                        </p:cTn>
                                        <p:tgtEl>
                                          <p:spTgt spid="109571">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0" presetClass="entr" presetSubtype="0" fill="hold" grpId="0" nodeType="clickEffect">
                                  <p:stCondLst>
                                    <p:cond delay="0"/>
                                  </p:stCondLst>
                                  <p:childTnLst>
                                    <p:set>
                                      <p:cBhvr>
                                        <p:cTn id="42" dur="1" fill="hold">
                                          <p:stCondLst>
                                            <p:cond delay="0"/>
                                          </p:stCondLst>
                                        </p:cTn>
                                        <p:tgtEl>
                                          <p:spTgt spid="109571">
                                            <p:txEl>
                                              <p:pRg st="4" end="4"/>
                                            </p:txEl>
                                          </p:spTgt>
                                        </p:tgtEl>
                                        <p:attrNameLst>
                                          <p:attrName>style.visibility</p:attrName>
                                        </p:attrNameLst>
                                      </p:cBhvr>
                                      <p:to>
                                        <p:strVal val="visible"/>
                                      </p:to>
                                    </p:set>
                                    <p:animEffect transition="in" filter="fade">
                                      <p:cBhvr>
                                        <p:cTn id="43" dur="800" decel="100000"/>
                                        <p:tgtEl>
                                          <p:spTgt spid="109571">
                                            <p:txEl>
                                              <p:pRg st="4" end="4"/>
                                            </p:txEl>
                                          </p:spTgt>
                                        </p:tgtEl>
                                      </p:cBhvr>
                                    </p:animEffect>
                                    <p:anim calcmode="lin" valueType="num">
                                      <p:cBhvr>
                                        <p:cTn id="44" dur="800" decel="100000" fill="hold"/>
                                        <p:tgtEl>
                                          <p:spTgt spid="109571">
                                            <p:txEl>
                                              <p:pRg st="4" end="4"/>
                                            </p:txEl>
                                          </p:spTgt>
                                        </p:tgtEl>
                                        <p:attrNameLst>
                                          <p:attrName>style.rotation</p:attrName>
                                        </p:attrNameLst>
                                      </p:cBhvr>
                                      <p:tavLst>
                                        <p:tav tm="0">
                                          <p:val>
                                            <p:fltVal val="-90"/>
                                          </p:val>
                                        </p:tav>
                                        <p:tav tm="100000">
                                          <p:val>
                                            <p:fltVal val="0"/>
                                          </p:val>
                                        </p:tav>
                                      </p:tavLst>
                                    </p:anim>
                                    <p:anim calcmode="lin" valueType="num">
                                      <p:cBhvr>
                                        <p:cTn id="45" dur="800" decel="100000" fill="hold"/>
                                        <p:tgtEl>
                                          <p:spTgt spid="109571">
                                            <p:txEl>
                                              <p:pRg st="4" end="4"/>
                                            </p:txEl>
                                          </p:spTgt>
                                        </p:tgtEl>
                                        <p:attrNameLst>
                                          <p:attrName>ppt_x</p:attrName>
                                        </p:attrNameLst>
                                      </p:cBhvr>
                                      <p:tavLst>
                                        <p:tav tm="0">
                                          <p:val>
                                            <p:strVal val="#ppt_x+0.4"/>
                                          </p:val>
                                        </p:tav>
                                        <p:tav tm="100000">
                                          <p:val>
                                            <p:strVal val="#ppt_x-0.05"/>
                                          </p:val>
                                        </p:tav>
                                      </p:tavLst>
                                    </p:anim>
                                    <p:anim calcmode="lin" valueType="num">
                                      <p:cBhvr>
                                        <p:cTn id="46" dur="800" decel="100000" fill="hold"/>
                                        <p:tgtEl>
                                          <p:spTgt spid="109571">
                                            <p:txEl>
                                              <p:pRg st="4" end="4"/>
                                            </p:txEl>
                                          </p:spTgt>
                                        </p:tgtEl>
                                        <p:attrNameLst>
                                          <p:attrName>ppt_y</p:attrName>
                                        </p:attrNameLst>
                                      </p:cBhvr>
                                      <p:tavLst>
                                        <p:tav tm="0">
                                          <p:val>
                                            <p:strVal val="#ppt_y-0.4"/>
                                          </p:val>
                                        </p:tav>
                                        <p:tav tm="100000">
                                          <p:val>
                                            <p:strVal val="#ppt_y+0.1"/>
                                          </p:val>
                                        </p:tav>
                                      </p:tavLst>
                                    </p:anim>
                                    <p:anim calcmode="lin" valueType="num">
                                      <p:cBhvr>
                                        <p:cTn id="47" dur="200" accel="100000" fill="hold">
                                          <p:stCondLst>
                                            <p:cond delay="800"/>
                                          </p:stCondLst>
                                        </p:cTn>
                                        <p:tgtEl>
                                          <p:spTgt spid="109571">
                                            <p:txEl>
                                              <p:pRg st="4" end="4"/>
                                            </p:txEl>
                                          </p:spTgt>
                                        </p:tgtEl>
                                        <p:attrNameLst>
                                          <p:attrName>ppt_x</p:attrName>
                                        </p:attrNameLst>
                                      </p:cBhvr>
                                      <p:tavLst>
                                        <p:tav tm="0">
                                          <p:val>
                                            <p:strVal val="#ppt_x-0.05"/>
                                          </p:val>
                                        </p:tav>
                                        <p:tav tm="100000">
                                          <p:val>
                                            <p:strVal val="#ppt_x"/>
                                          </p:val>
                                        </p:tav>
                                      </p:tavLst>
                                    </p:anim>
                                    <p:anim calcmode="lin" valueType="num">
                                      <p:cBhvr>
                                        <p:cTn id="48" dur="200" accel="100000" fill="hold">
                                          <p:stCondLst>
                                            <p:cond delay="800"/>
                                          </p:stCondLst>
                                        </p:cTn>
                                        <p:tgtEl>
                                          <p:spTgt spid="109571">
                                            <p:txEl>
                                              <p:pRg st="4" end="4"/>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algn="l"/>
            <a:r>
              <a:rPr lang="en-US" u="sng" dirty="0" smtClean="0"/>
              <a:t>Important Factors </a:t>
            </a:r>
            <a:r>
              <a:rPr lang="en-US" u="sng" dirty="0"/>
              <a:t>Affecting </a:t>
            </a:r>
            <a:r>
              <a:rPr lang="en-US" u="sng" dirty="0" smtClean="0"/>
              <a:t>Demand:</a:t>
            </a:r>
            <a:endParaRPr lang="en-US" u="sng" dirty="0"/>
          </a:p>
        </p:txBody>
      </p:sp>
      <p:sp>
        <p:nvSpPr>
          <p:cNvPr id="113667" name="Rectangle 3"/>
          <p:cNvSpPr>
            <a:spLocks noGrp="1" noChangeArrowheads="1"/>
          </p:cNvSpPr>
          <p:nvPr>
            <p:ph idx="1"/>
          </p:nvPr>
        </p:nvSpPr>
        <p:spPr>
          <a:xfrm>
            <a:off x="457200" y="1600200"/>
            <a:ext cx="8229600" cy="5124450"/>
          </a:xfrm>
        </p:spPr>
        <p:txBody>
          <a:bodyPr/>
          <a:lstStyle/>
          <a:p>
            <a:pPr marL="609600" indent="-609600">
              <a:buFont typeface="Wingdings" pitchFamily="2" charset="2"/>
              <a:buAutoNum type="arabicPeriod"/>
            </a:pPr>
            <a:r>
              <a:rPr lang="en-US" sz="3600" dirty="0"/>
              <a:t>Price of the </a:t>
            </a:r>
            <a:r>
              <a:rPr lang="en-US" sz="3600" dirty="0" smtClean="0"/>
              <a:t>commodity.</a:t>
            </a:r>
            <a:endParaRPr lang="en-US" sz="3600" dirty="0"/>
          </a:p>
          <a:p>
            <a:pPr marL="609600" indent="-609600">
              <a:buFont typeface="Wingdings" pitchFamily="2" charset="2"/>
              <a:buAutoNum type="arabicPeriod"/>
            </a:pPr>
            <a:r>
              <a:rPr lang="en-US" sz="3600" dirty="0" smtClean="0"/>
              <a:t>Consumer incomes.</a:t>
            </a:r>
          </a:p>
          <a:p>
            <a:pPr marL="609600" indent="-609600">
              <a:buFont typeface="Wingdings" pitchFamily="2" charset="2"/>
              <a:buAutoNum type="arabicPeriod"/>
            </a:pPr>
            <a:r>
              <a:rPr lang="en-US" sz="3600" dirty="0" smtClean="0"/>
              <a:t>Prices </a:t>
            </a:r>
            <a:r>
              <a:rPr lang="en-US" sz="3600" dirty="0"/>
              <a:t>of related commodities (substitutes and complements</a:t>
            </a:r>
            <a:r>
              <a:rPr lang="en-US" sz="3600" dirty="0" smtClean="0"/>
              <a:t>).</a:t>
            </a:r>
            <a:endParaRPr lang="en-US" sz="3600" dirty="0"/>
          </a:p>
          <a:p>
            <a:pPr marL="609600" indent="-609600">
              <a:buFont typeface="Wingdings" pitchFamily="2" charset="2"/>
              <a:buAutoNum type="arabicPeriod"/>
            </a:pPr>
            <a:r>
              <a:rPr lang="en-US" sz="3600" dirty="0" smtClean="0"/>
              <a:t>Tastes </a:t>
            </a:r>
            <a:r>
              <a:rPr lang="en-US" sz="3600" dirty="0"/>
              <a:t>and </a:t>
            </a:r>
            <a:r>
              <a:rPr lang="en-US" sz="3600" dirty="0" smtClean="0"/>
              <a:t>preferences.</a:t>
            </a:r>
          </a:p>
          <a:p>
            <a:pPr marL="609600" indent="-609600">
              <a:buFont typeface="Wingdings" pitchFamily="2" charset="2"/>
              <a:buAutoNum type="arabicPeriod"/>
            </a:pPr>
            <a:r>
              <a:rPr lang="en-US" sz="3600" dirty="0" smtClean="0"/>
              <a:t>Consumer expectations.</a:t>
            </a:r>
            <a:endParaRPr lang="en-US" sz="3600" dirty="0"/>
          </a:p>
          <a:p>
            <a:pPr marL="609600" indent="-609600">
              <a:buFont typeface="Wingdings" pitchFamily="2" charset="2"/>
              <a:buAutoNum type="arabicPeriod"/>
            </a:pPr>
            <a:r>
              <a:rPr lang="en-US" sz="3600" dirty="0"/>
              <a:t>Number of </a:t>
            </a:r>
            <a:r>
              <a:rPr lang="en-US" sz="3600" dirty="0" smtClean="0"/>
              <a:t>consumers.</a:t>
            </a:r>
            <a:endParaRPr lang="en-US" sz="3600" dirty="0"/>
          </a:p>
        </p:txBody>
      </p:sp>
      <p:sp>
        <p:nvSpPr>
          <p:cNvPr id="5" name="Slide Number Placeholder 4"/>
          <p:cNvSpPr>
            <a:spLocks noGrp="1"/>
          </p:cNvSpPr>
          <p:nvPr>
            <p:ph type="sldNum" sz="quarter" idx="11"/>
          </p:nvPr>
        </p:nvSpPr>
        <p:spPr/>
        <p:txBody>
          <a:bodyPr/>
          <a:lstStyle/>
          <a:p>
            <a:fld id="{6D63C845-4982-41E6-901A-A3EC09BDD7BE}" type="slidenum">
              <a:rPr lang="en-US" smtClean="0"/>
              <a:pPr/>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fade">
                                      <p:cBhvr>
                                        <p:cTn id="7" dur="800" decel="100000"/>
                                        <p:tgtEl>
                                          <p:spTgt spid="113667">
                                            <p:txEl>
                                              <p:pRg st="0" end="0"/>
                                            </p:txEl>
                                          </p:spTgt>
                                        </p:tgtEl>
                                      </p:cBhvr>
                                    </p:animEffect>
                                    <p:anim calcmode="lin" valueType="num">
                                      <p:cBhvr>
                                        <p:cTn id="8" dur="800" decel="100000" fill="hold"/>
                                        <p:tgtEl>
                                          <p:spTgt spid="113667">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13667">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13667">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13667">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13667">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13667">
                                            <p:txEl>
                                              <p:pRg st="1" end="1"/>
                                            </p:txEl>
                                          </p:spTgt>
                                        </p:tgtEl>
                                        <p:attrNameLst>
                                          <p:attrName>style.visibility</p:attrName>
                                        </p:attrNameLst>
                                      </p:cBhvr>
                                      <p:to>
                                        <p:strVal val="visible"/>
                                      </p:to>
                                    </p:set>
                                    <p:animEffect transition="in" filter="fade">
                                      <p:cBhvr>
                                        <p:cTn id="17" dur="800" decel="100000"/>
                                        <p:tgtEl>
                                          <p:spTgt spid="113667">
                                            <p:txEl>
                                              <p:pRg st="1" end="1"/>
                                            </p:txEl>
                                          </p:spTgt>
                                        </p:tgtEl>
                                      </p:cBhvr>
                                    </p:animEffect>
                                    <p:anim calcmode="lin" valueType="num">
                                      <p:cBhvr>
                                        <p:cTn id="18" dur="800" decel="100000" fill="hold"/>
                                        <p:tgtEl>
                                          <p:spTgt spid="113667">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13667">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13667">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13667">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13667">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grpId="0" nodeType="clickEffect">
                                  <p:stCondLst>
                                    <p:cond delay="0"/>
                                  </p:stCondLst>
                                  <p:childTnLst>
                                    <p:set>
                                      <p:cBhvr>
                                        <p:cTn id="26" dur="1" fill="hold">
                                          <p:stCondLst>
                                            <p:cond delay="0"/>
                                          </p:stCondLst>
                                        </p:cTn>
                                        <p:tgtEl>
                                          <p:spTgt spid="113667">
                                            <p:txEl>
                                              <p:pRg st="2" end="2"/>
                                            </p:txEl>
                                          </p:spTgt>
                                        </p:tgtEl>
                                        <p:attrNameLst>
                                          <p:attrName>style.visibility</p:attrName>
                                        </p:attrNameLst>
                                      </p:cBhvr>
                                      <p:to>
                                        <p:strVal val="visible"/>
                                      </p:to>
                                    </p:set>
                                    <p:animEffect transition="in" filter="fade">
                                      <p:cBhvr>
                                        <p:cTn id="27" dur="800" decel="100000"/>
                                        <p:tgtEl>
                                          <p:spTgt spid="113667">
                                            <p:txEl>
                                              <p:pRg st="2" end="2"/>
                                            </p:txEl>
                                          </p:spTgt>
                                        </p:tgtEl>
                                      </p:cBhvr>
                                    </p:animEffect>
                                    <p:anim calcmode="lin" valueType="num">
                                      <p:cBhvr>
                                        <p:cTn id="28" dur="800" decel="100000" fill="hold"/>
                                        <p:tgtEl>
                                          <p:spTgt spid="113667">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13667">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13667">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13667">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13667">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grpId="0" nodeType="clickEffect">
                                  <p:stCondLst>
                                    <p:cond delay="0"/>
                                  </p:stCondLst>
                                  <p:childTnLst>
                                    <p:set>
                                      <p:cBhvr>
                                        <p:cTn id="36" dur="1" fill="hold">
                                          <p:stCondLst>
                                            <p:cond delay="0"/>
                                          </p:stCondLst>
                                        </p:cTn>
                                        <p:tgtEl>
                                          <p:spTgt spid="113667">
                                            <p:txEl>
                                              <p:pRg st="3" end="3"/>
                                            </p:txEl>
                                          </p:spTgt>
                                        </p:tgtEl>
                                        <p:attrNameLst>
                                          <p:attrName>style.visibility</p:attrName>
                                        </p:attrNameLst>
                                      </p:cBhvr>
                                      <p:to>
                                        <p:strVal val="visible"/>
                                      </p:to>
                                    </p:set>
                                    <p:animEffect transition="in" filter="fade">
                                      <p:cBhvr>
                                        <p:cTn id="37" dur="800" decel="100000"/>
                                        <p:tgtEl>
                                          <p:spTgt spid="113667">
                                            <p:txEl>
                                              <p:pRg st="3" end="3"/>
                                            </p:txEl>
                                          </p:spTgt>
                                        </p:tgtEl>
                                      </p:cBhvr>
                                    </p:animEffect>
                                    <p:anim calcmode="lin" valueType="num">
                                      <p:cBhvr>
                                        <p:cTn id="38" dur="800" decel="100000" fill="hold"/>
                                        <p:tgtEl>
                                          <p:spTgt spid="113667">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13667">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13667">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13667">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13667">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grpId="0" nodeType="clickEffect">
                                  <p:stCondLst>
                                    <p:cond delay="0"/>
                                  </p:stCondLst>
                                  <p:childTnLst>
                                    <p:set>
                                      <p:cBhvr>
                                        <p:cTn id="46" dur="1" fill="hold">
                                          <p:stCondLst>
                                            <p:cond delay="0"/>
                                          </p:stCondLst>
                                        </p:cTn>
                                        <p:tgtEl>
                                          <p:spTgt spid="113667">
                                            <p:txEl>
                                              <p:pRg st="4" end="4"/>
                                            </p:txEl>
                                          </p:spTgt>
                                        </p:tgtEl>
                                        <p:attrNameLst>
                                          <p:attrName>style.visibility</p:attrName>
                                        </p:attrNameLst>
                                      </p:cBhvr>
                                      <p:to>
                                        <p:strVal val="visible"/>
                                      </p:to>
                                    </p:set>
                                    <p:animEffect transition="in" filter="fade">
                                      <p:cBhvr>
                                        <p:cTn id="47" dur="800" decel="100000"/>
                                        <p:tgtEl>
                                          <p:spTgt spid="113667">
                                            <p:txEl>
                                              <p:pRg st="4" end="4"/>
                                            </p:txEl>
                                          </p:spTgt>
                                        </p:tgtEl>
                                      </p:cBhvr>
                                    </p:animEffect>
                                    <p:anim calcmode="lin" valueType="num">
                                      <p:cBhvr>
                                        <p:cTn id="48" dur="800" decel="100000" fill="hold"/>
                                        <p:tgtEl>
                                          <p:spTgt spid="113667">
                                            <p:txEl>
                                              <p:pRg st="4" end="4"/>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113667">
                                            <p:txEl>
                                              <p:pRg st="4" end="4"/>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113667">
                                            <p:txEl>
                                              <p:pRg st="4" end="4"/>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113667">
                                            <p:txEl>
                                              <p:pRg st="4" end="4"/>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113667">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0" presetClass="entr" presetSubtype="0" fill="hold" grpId="0" nodeType="clickEffect">
                                  <p:stCondLst>
                                    <p:cond delay="0"/>
                                  </p:stCondLst>
                                  <p:childTnLst>
                                    <p:set>
                                      <p:cBhvr>
                                        <p:cTn id="56" dur="1" fill="hold">
                                          <p:stCondLst>
                                            <p:cond delay="0"/>
                                          </p:stCondLst>
                                        </p:cTn>
                                        <p:tgtEl>
                                          <p:spTgt spid="113667">
                                            <p:txEl>
                                              <p:pRg st="5" end="5"/>
                                            </p:txEl>
                                          </p:spTgt>
                                        </p:tgtEl>
                                        <p:attrNameLst>
                                          <p:attrName>style.visibility</p:attrName>
                                        </p:attrNameLst>
                                      </p:cBhvr>
                                      <p:to>
                                        <p:strVal val="visible"/>
                                      </p:to>
                                    </p:set>
                                    <p:animEffect transition="in" filter="fade">
                                      <p:cBhvr>
                                        <p:cTn id="57" dur="800" decel="100000"/>
                                        <p:tgtEl>
                                          <p:spTgt spid="113667">
                                            <p:txEl>
                                              <p:pRg st="5" end="5"/>
                                            </p:txEl>
                                          </p:spTgt>
                                        </p:tgtEl>
                                      </p:cBhvr>
                                    </p:animEffect>
                                    <p:anim calcmode="lin" valueType="num">
                                      <p:cBhvr>
                                        <p:cTn id="58" dur="800" decel="100000" fill="hold"/>
                                        <p:tgtEl>
                                          <p:spTgt spid="113667">
                                            <p:txEl>
                                              <p:pRg st="5" end="5"/>
                                            </p:txEl>
                                          </p:spTgt>
                                        </p:tgtEl>
                                        <p:attrNameLst>
                                          <p:attrName>style.rotation</p:attrName>
                                        </p:attrNameLst>
                                      </p:cBhvr>
                                      <p:tavLst>
                                        <p:tav tm="0">
                                          <p:val>
                                            <p:fltVal val="-90"/>
                                          </p:val>
                                        </p:tav>
                                        <p:tav tm="100000">
                                          <p:val>
                                            <p:fltVal val="0"/>
                                          </p:val>
                                        </p:tav>
                                      </p:tavLst>
                                    </p:anim>
                                    <p:anim calcmode="lin" valueType="num">
                                      <p:cBhvr>
                                        <p:cTn id="59" dur="800" decel="100000" fill="hold"/>
                                        <p:tgtEl>
                                          <p:spTgt spid="113667">
                                            <p:txEl>
                                              <p:pRg st="5" end="5"/>
                                            </p:txEl>
                                          </p:spTgt>
                                        </p:tgtEl>
                                        <p:attrNameLst>
                                          <p:attrName>ppt_x</p:attrName>
                                        </p:attrNameLst>
                                      </p:cBhvr>
                                      <p:tavLst>
                                        <p:tav tm="0">
                                          <p:val>
                                            <p:strVal val="#ppt_x+0.4"/>
                                          </p:val>
                                        </p:tav>
                                        <p:tav tm="100000">
                                          <p:val>
                                            <p:strVal val="#ppt_x-0.05"/>
                                          </p:val>
                                        </p:tav>
                                      </p:tavLst>
                                    </p:anim>
                                    <p:anim calcmode="lin" valueType="num">
                                      <p:cBhvr>
                                        <p:cTn id="60" dur="800" decel="100000" fill="hold"/>
                                        <p:tgtEl>
                                          <p:spTgt spid="113667">
                                            <p:txEl>
                                              <p:pRg st="5" end="5"/>
                                            </p:txEl>
                                          </p:spTgt>
                                        </p:tgtEl>
                                        <p:attrNameLst>
                                          <p:attrName>ppt_y</p:attrName>
                                        </p:attrNameLst>
                                      </p:cBhvr>
                                      <p:tavLst>
                                        <p:tav tm="0">
                                          <p:val>
                                            <p:strVal val="#ppt_y-0.4"/>
                                          </p:val>
                                        </p:tav>
                                        <p:tav tm="100000">
                                          <p:val>
                                            <p:strVal val="#ppt_y+0.1"/>
                                          </p:val>
                                        </p:tav>
                                      </p:tavLst>
                                    </p:anim>
                                    <p:anim calcmode="lin" valueType="num">
                                      <p:cBhvr>
                                        <p:cTn id="61" dur="200" accel="100000" fill="hold">
                                          <p:stCondLst>
                                            <p:cond delay="800"/>
                                          </p:stCondLst>
                                        </p:cTn>
                                        <p:tgtEl>
                                          <p:spTgt spid="113667">
                                            <p:txEl>
                                              <p:pRg st="5" end="5"/>
                                            </p:txEl>
                                          </p:spTgt>
                                        </p:tgtEl>
                                        <p:attrNameLst>
                                          <p:attrName>ppt_x</p:attrName>
                                        </p:attrNameLst>
                                      </p:cBhvr>
                                      <p:tavLst>
                                        <p:tav tm="0">
                                          <p:val>
                                            <p:strVal val="#ppt_x-0.05"/>
                                          </p:val>
                                        </p:tav>
                                        <p:tav tm="100000">
                                          <p:val>
                                            <p:strVal val="#ppt_x"/>
                                          </p:val>
                                        </p:tav>
                                      </p:tavLst>
                                    </p:anim>
                                    <p:anim calcmode="lin" valueType="num">
                                      <p:cBhvr>
                                        <p:cTn id="62" dur="200" accel="100000" fill="hold">
                                          <p:stCondLst>
                                            <p:cond delay="800"/>
                                          </p:stCondLst>
                                        </p:cTn>
                                        <p:tgtEl>
                                          <p:spTgt spid="113667">
                                            <p:txEl>
                                              <p:pRg st="5" end="5"/>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452284" y="76200"/>
            <a:ext cx="8229600" cy="792162"/>
          </a:xfrm>
        </p:spPr>
        <p:txBody>
          <a:bodyPr/>
          <a:lstStyle/>
          <a:p>
            <a:pPr algn="l"/>
            <a:r>
              <a:rPr lang="en-US" dirty="0" smtClean="0"/>
              <a:t>(Cont.)</a:t>
            </a:r>
            <a:endParaRPr lang="en-US" dirty="0"/>
          </a:p>
        </p:txBody>
      </p:sp>
      <p:sp>
        <p:nvSpPr>
          <p:cNvPr id="120835" name="Rectangle 3"/>
          <p:cNvSpPr>
            <a:spLocks noGrp="1" noChangeArrowheads="1"/>
          </p:cNvSpPr>
          <p:nvPr>
            <p:ph idx="1"/>
          </p:nvPr>
        </p:nvSpPr>
        <p:spPr>
          <a:xfrm>
            <a:off x="228600" y="870820"/>
            <a:ext cx="8610600" cy="5853830"/>
          </a:xfrm>
        </p:spPr>
        <p:txBody>
          <a:bodyPr/>
          <a:lstStyle/>
          <a:p>
            <a:pPr>
              <a:lnSpc>
                <a:spcPct val="90000"/>
              </a:lnSpc>
            </a:pPr>
            <a:r>
              <a:rPr lang="en-US" b="1" dirty="0">
                <a:solidFill>
                  <a:srgbClr val="FFFF00"/>
                </a:solidFill>
              </a:rPr>
              <a:t>Income:</a:t>
            </a:r>
            <a:r>
              <a:rPr lang="en-US" dirty="0"/>
              <a:t>  </a:t>
            </a:r>
            <a:endParaRPr lang="en-US" dirty="0" smtClean="0"/>
          </a:p>
          <a:p>
            <a:pPr>
              <a:lnSpc>
                <a:spcPct val="90000"/>
              </a:lnSpc>
              <a:buNone/>
            </a:pPr>
            <a:r>
              <a:rPr lang="en-US" dirty="0" smtClean="0"/>
              <a:t>	As </a:t>
            </a:r>
            <a:r>
              <a:rPr lang="en-US" dirty="0"/>
              <a:t>income changes, demand </a:t>
            </a:r>
            <a:r>
              <a:rPr lang="en-US" dirty="0" smtClean="0"/>
              <a:t>for a </a:t>
            </a:r>
            <a:r>
              <a:rPr lang="en-US" dirty="0"/>
              <a:t>commodity usually </a:t>
            </a:r>
            <a:r>
              <a:rPr lang="en-US" dirty="0" smtClean="0"/>
              <a:t>changes.</a:t>
            </a:r>
            <a:endParaRPr lang="en-US" dirty="0"/>
          </a:p>
          <a:p>
            <a:pPr lvl="1">
              <a:lnSpc>
                <a:spcPct val="90000"/>
              </a:lnSpc>
            </a:pPr>
            <a:r>
              <a:rPr lang="en-US" sz="3200" u="sng" dirty="0">
                <a:solidFill>
                  <a:srgbClr val="FFFF00"/>
                </a:solidFill>
              </a:rPr>
              <a:t>Normal goods</a:t>
            </a:r>
            <a:r>
              <a:rPr lang="en-US" sz="3200" dirty="0">
                <a:solidFill>
                  <a:srgbClr val="FFFF00"/>
                </a:solidFill>
              </a:rPr>
              <a:t> </a:t>
            </a:r>
            <a:r>
              <a:rPr lang="en-US" sz="3200" dirty="0"/>
              <a:t>– are goods whose demand </a:t>
            </a:r>
            <a:r>
              <a:rPr lang="en-US" sz="3200" dirty="0" smtClean="0"/>
              <a:t>responds </a:t>
            </a:r>
            <a:r>
              <a:rPr lang="en-US" sz="3200" u="sng" dirty="0"/>
              <a:t>positively</a:t>
            </a:r>
            <a:r>
              <a:rPr lang="en-US" sz="3200" dirty="0"/>
              <a:t> to changes in income.</a:t>
            </a:r>
          </a:p>
          <a:p>
            <a:pPr lvl="2">
              <a:lnSpc>
                <a:spcPct val="90000"/>
              </a:lnSpc>
            </a:pPr>
            <a:r>
              <a:rPr lang="en-US" sz="3200" dirty="0"/>
              <a:t>Most goods are normal goods. As income increases, more of shoes, TVs, clothes, are bought.</a:t>
            </a:r>
          </a:p>
          <a:p>
            <a:pPr lvl="1">
              <a:lnSpc>
                <a:spcPct val="90000"/>
              </a:lnSpc>
            </a:pPr>
            <a:r>
              <a:rPr lang="en-US" sz="3200" u="sng" dirty="0">
                <a:solidFill>
                  <a:srgbClr val="FFFF00"/>
                </a:solidFill>
              </a:rPr>
              <a:t>Inferior goods</a:t>
            </a:r>
            <a:r>
              <a:rPr lang="en-US" sz="3200" dirty="0">
                <a:solidFill>
                  <a:srgbClr val="FFFF00"/>
                </a:solidFill>
              </a:rPr>
              <a:t> </a:t>
            </a:r>
            <a:r>
              <a:rPr lang="en-US" sz="3200" dirty="0"/>
              <a:t>– are goods whose demand </a:t>
            </a:r>
            <a:r>
              <a:rPr lang="en-US" sz="3200" dirty="0" smtClean="0"/>
              <a:t>responds </a:t>
            </a:r>
            <a:r>
              <a:rPr lang="en-US" sz="3200" u="sng" dirty="0"/>
              <a:t>negatively</a:t>
            </a:r>
            <a:r>
              <a:rPr lang="en-US" sz="3200" dirty="0"/>
              <a:t> to </a:t>
            </a:r>
            <a:r>
              <a:rPr lang="en-US" sz="3200" dirty="0" smtClean="0"/>
              <a:t>changes </a:t>
            </a:r>
            <a:r>
              <a:rPr lang="en-US" sz="3200" dirty="0"/>
              <a:t>in </a:t>
            </a:r>
            <a:r>
              <a:rPr lang="en-US" sz="3200" dirty="0" smtClean="0"/>
              <a:t>income.</a:t>
            </a:r>
            <a:endParaRPr lang="en-US" sz="3200" dirty="0"/>
          </a:p>
          <a:p>
            <a:pPr lvl="2">
              <a:lnSpc>
                <a:spcPct val="90000"/>
              </a:lnSpc>
            </a:pPr>
            <a:r>
              <a:rPr lang="en-US" sz="3200" dirty="0"/>
              <a:t>Few but existent. </a:t>
            </a:r>
            <a:r>
              <a:rPr lang="en-US" sz="3200" u="sng" dirty="0" smtClean="0">
                <a:solidFill>
                  <a:srgbClr val="FFFF00"/>
                </a:solidFill>
              </a:rPr>
              <a:t>Examples</a:t>
            </a:r>
            <a:r>
              <a:rPr lang="en-US" sz="3200" dirty="0" smtClean="0"/>
              <a:t>: old cell phone models, used cars, some food items.</a:t>
            </a:r>
            <a:endParaRPr lang="en-US" sz="3200" dirty="0"/>
          </a:p>
        </p:txBody>
      </p:sp>
      <p:sp>
        <p:nvSpPr>
          <p:cNvPr id="5" name="Slide Number Placeholder 4"/>
          <p:cNvSpPr>
            <a:spLocks noGrp="1"/>
          </p:cNvSpPr>
          <p:nvPr>
            <p:ph type="sldNum" sz="quarter" idx="11"/>
          </p:nvPr>
        </p:nvSpPr>
        <p:spPr/>
        <p:txBody>
          <a:bodyPr/>
          <a:lstStyle/>
          <a:p>
            <a:fld id="{6D63C845-4982-41E6-901A-A3EC09BDD7BE}" type="slidenum">
              <a:rPr lang="en-US" smtClean="0"/>
              <a:pPr/>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120835">
                                            <p:txEl>
                                              <p:pRg st="1" end="1"/>
                                            </p:txEl>
                                          </p:spTgt>
                                        </p:tgtEl>
                                        <p:attrNameLst>
                                          <p:attrName>style.visibility</p:attrName>
                                        </p:attrNameLst>
                                      </p:cBhvr>
                                      <p:to>
                                        <p:strVal val="visible"/>
                                      </p:to>
                                    </p:set>
                                    <p:animEffect transition="in" filter="fade">
                                      <p:cBhvr>
                                        <p:cTn id="7" dur="800" decel="100000"/>
                                        <p:tgtEl>
                                          <p:spTgt spid="120835">
                                            <p:txEl>
                                              <p:pRg st="1" end="1"/>
                                            </p:txEl>
                                          </p:spTgt>
                                        </p:tgtEl>
                                      </p:cBhvr>
                                    </p:animEffect>
                                    <p:anim calcmode="lin" valueType="num">
                                      <p:cBhvr>
                                        <p:cTn id="8" dur="800" decel="100000" fill="hold"/>
                                        <p:tgtEl>
                                          <p:spTgt spid="120835">
                                            <p:txEl>
                                              <p:pRg st="1" end="1"/>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20835">
                                            <p:txEl>
                                              <p:pRg st="1" end="1"/>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20835">
                                            <p:txEl>
                                              <p:pRg st="1" end="1"/>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20835">
                                            <p:txEl>
                                              <p:pRg st="1" end="1"/>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20835">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20835">
                                            <p:txEl>
                                              <p:pRg st="2" end="2"/>
                                            </p:txEl>
                                          </p:spTgt>
                                        </p:tgtEl>
                                        <p:attrNameLst>
                                          <p:attrName>style.visibility</p:attrName>
                                        </p:attrNameLst>
                                      </p:cBhvr>
                                      <p:to>
                                        <p:strVal val="visible"/>
                                      </p:to>
                                    </p:set>
                                    <p:animEffect transition="in" filter="fade">
                                      <p:cBhvr>
                                        <p:cTn id="17" dur="800" decel="100000"/>
                                        <p:tgtEl>
                                          <p:spTgt spid="120835">
                                            <p:txEl>
                                              <p:pRg st="2" end="2"/>
                                            </p:txEl>
                                          </p:spTgt>
                                        </p:tgtEl>
                                      </p:cBhvr>
                                    </p:animEffect>
                                    <p:anim calcmode="lin" valueType="num">
                                      <p:cBhvr>
                                        <p:cTn id="18" dur="800" decel="100000" fill="hold"/>
                                        <p:tgtEl>
                                          <p:spTgt spid="120835">
                                            <p:txEl>
                                              <p:pRg st="2" end="2"/>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20835">
                                            <p:txEl>
                                              <p:pRg st="2" end="2"/>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20835">
                                            <p:txEl>
                                              <p:pRg st="2" end="2"/>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20835">
                                            <p:txEl>
                                              <p:pRg st="2" end="2"/>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20835">
                                            <p:txEl>
                                              <p:pRg st="2" end="2"/>
                                            </p:txEl>
                                          </p:spTgt>
                                        </p:tgtEl>
                                        <p:attrNameLst>
                                          <p:attrName>ppt_y</p:attrName>
                                        </p:attrNameLst>
                                      </p:cBhvr>
                                      <p:tavLst>
                                        <p:tav tm="0">
                                          <p:val>
                                            <p:strVal val="#ppt_y+0.1"/>
                                          </p:val>
                                        </p:tav>
                                        <p:tav tm="100000">
                                          <p:val>
                                            <p:strVal val="#ppt_y"/>
                                          </p:val>
                                        </p:tav>
                                      </p:tavLst>
                                    </p:anim>
                                  </p:childTnLst>
                                </p:cTn>
                              </p:par>
                              <p:par>
                                <p:cTn id="23" presetID="30" presetClass="entr" presetSubtype="0" fill="hold" nodeType="withEffect">
                                  <p:stCondLst>
                                    <p:cond delay="0"/>
                                  </p:stCondLst>
                                  <p:childTnLst>
                                    <p:set>
                                      <p:cBhvr>
                                        <p:cTn id="24" dur="1" fill="hold">
                                          <p:stCondLst>
                                            <p:cond delay="0"/>
                                          </p:stCondLst>
                                        </p:cTn>
                                        <p:tgtEl>
                                          <p:spTgt spid="120835">
                                            <p:txEl>
                                              <p:pRg st="3" end="3"/>
                                            </p:txEl>
                                          </p:spTgt>
                                        </p:tgtEl>
                                        <p:attrNameLst>
                                          <p:attrName>style.visibility</p:attrName>
                                        </p:attrNameLst>
                                      </p:cBhvr>
                                      <p:to>
                                        <p:strVal val="visible"/>
                                      </p:to>
                                    </p:set>
                                    <p:animEffect transition="in" filter="fade">
                                      <p:cBhvr>
                                        <p:cTn id="25" dur="800" decel="100000"/>
                                        <p:tgtEl>
                                          <p:spTgt spid="120835">
                                            <p:txEl>
                                              <p:pRg st="3" end="3"/>
                                            </p:txEl>
                                          </p:spTgt>
                                        </p:tgtEl>
                                      </p:cBhvr>
                                    </p:animEffect>
                                    <p:anim calcmode="lin" valueType="num">
                                      <p:cBhvr>
                                        <p:cTn id="26" dur="800" decel="100000" fill="hold"/>
                                        <p:tgtEl>
                                          <p:spTgt spid="120835">
                                            <p:txEl>
                                              <p:pRg st="3" end="3"/>
                                            </p:txEl>
                                          </p:spTgt>
                                        </p:tgtEl>
                                        <p:attrNameLst>
                                          <p:attrName>style.rotation</p:attrName>
                                        </p:attrNameLst>
                                      </p:cBhvr>
                                      <p:tavLst>
                                        <p:tav tm="0">
                                          <p:val>
                                            <p:fltVal val="-90"/>
                                          </p:val>
                                        </p:tav>
                                        <p:tav tm="100000">
                                          <p:val>
                                            <p:fltVal val="0"/>
                                          </p:val>
                                        </p:tav>
                                      </p:tavLst>
                                    </p:anim>
                                    <p:anim calcmode="lin" valueType="num">
                                      <p:cBhvr>
                                        <p:cTn id="27" dur="800" decel="100000" fill="hold"/>
                                        <p:tgtEl>
                                          <p:spTgt spid="120835">
                                            <p:txEl>
                                              <p:pRg st="3" end="3"/>
                                            </p:txEl>
                                          </p:spTgt>
                                        </p:tgtEl>
                                        <p:attrNameLst>
                                          <p:attrName>ppt_x</p:attrName>
                                        </p:attrNameLst>
                                      </p:cBhvr>
                                      <p:tavLst>
                                        <p:tav tm="0">
                                          <p:val>
                                            <p:strVal val="#ppt_x+0.4"/>
                                          </p:val>
                                        </p:tav>
                                        <p:tav tm="100000">
                                          <p:val>
                                            <p:strVal val="#ppt_x-0.05"/>
                                          </p:val>
                                        </p:tav>
                                      </p:tavLst>
                                    </p:anim>
                                    <p:anim calcmode="lin" valueType="num">
                                      <p:cBhvr>
                                        <p:cTn id="28" dur="800" decel="100000" fill="hold"/>
                                        <p:tgtEl>
                                          <p:spTgt spid="120835">
                                            <p:txEl>
                                              <p:pRg st="3" end="3"/>
                                            </p:txEl>
                                          </p:spTgt>
                                        </p:tgtEl>
                                        <p:attrNameLst>
                                          <p:attrName>ppt_y</p:attrName>
                                        </p:attrNameLst>
                                      </p:cBhvr>
                                      <p:tavLst>
                                        <p:tav tm="0">
                                          <p:val>
                                            <p:strVal val="#ppt_y-0.4"/>
                                          </p:val>
                                        </p:tav>
                                        <p:tav tm="100000">
                                          <p:val>
                                            <p:strVal val="#ppt_y+0.1"/>
                                          </p:val>
                                        </p:tav>
                                      </p:tavLst>
                                    </p:anim>
                                    <p:anim calcmode="lin" valueType="num">
                                      <p:cBhvr>
                                        <p:cTn id="29" dur="200" accel="100000" fill="hold">
                                          <p:stCondLst>
                                            <p:cond delay="800"/>
                                          </p:stCondLst>
                                        </p:cTn>
                                        <p:tgtEl>
                                          <p:spTgt spid="120835">
                                            <p:txEl>
                                              <p:pRg st="3" end="3"/>
                                            </p:txEl>
                                          </p:spTgt>
                                        </p:tgtEl>
                                        <p:attrNameLst>
                                          <p:attrName>ppt_x</p:attrName>
                                        </p:attrNameLst>
                                      </p:cBhvr>
                                      <p:tavLst>
                                        <p:tav tm="0">
                                          <p:val>
                                            <p:strVal val="#ppt_x-0.05"/>
                                          </p:val>
                                        </p:tav>
                                        <p:tav tm="100000">
                                          <p:val>
                                            <p:strVal val="#ppt_x"/>
                                          </p:val>
                                        </p:tav>
                                      </p:tavLst>
                                    </p:anim>
                                    <p:anim calcmode="lin" valueType="num">
                                      <p:cBhvr>
                                        <p:cTn id="30" dur="200" accel="100000" fill="hold">
                                          <p:stCondLst>
                                            <p:cond delay="800"/>
                                          </p:stCondLst>
                                        </p:cTn>
                                        <p:tgtEl>
                                          <p:spTgt spid="120835">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0" presetClass="entr" presetSubtype="0" fill="hold" nodeType="clickEffect">
                                  <p:stCondLst>
                                    <p:cond delay="0"/>
                                  </p:stCondLst>
                                  <p:childTnLst>
                                    <p:set>
                                      <p:cBhvr>
                                        <p:cTn id="34" dur="1" fill="hold">
                                          <p:stCondLst>
                                            <p:cond delay="0"/>
                                          </p:stCondLst>
                                        </p:cTn>
                                        <p:tgtEl>
                                          <p:spTgt spid="120835">
                                            <p:txEl>
                                              <p:pRg st="4" end="4"/>
                                            </p:txEl>
                                          </p:spTgt>
                                        </p:tgtEl>
                                        <p:attrNameLst>
                                          <p:attrName>style.visibility</p:attrName>
                                        </p:attrNameLst>
                                      </p:cBhvr>
                                      <p:to>
                                        <p:strVal val="visible"/>
                                      </p:to>
                                    </p:set>
                                    <p:animEffect transition="in" filter="fade">
                                      <p:cBhvr>
                                        <p:cTn id="35" dur="800" decel="100000"/>
                                        <p:tgtEl>
                                          <p:spTgt spid="120835">
                                            <p:txEl>
                                              <p:pRg st="4" end="4"/>
                                            </p:txEl>
                                          </p:spTgt>
                                        </p:tgtEl>
                                      </p:cBhvr>
                                    </p:animEffect>
                                    <p:anim calcmode="lin" valueType="num">
                                      <p:cBhvr>
                                        <p:cTn id="36" dur="800" decel="100000" fill="hold"/>
                                        <p:tgtEl>
                                          <p:spTgt spid="120835">
                                            <p:txEl>
                                              <p:pRg st="4" end="4"/>
                                            </p:txEl>
                                          </p:spTgt>
                                        </p:tgtEl>
                                        <p:attrNameLst>
                                          <p:attrName>style.rotation</p:attrName>
                                        </p:attrNameLst>
                                      </p:cBhvr>
                                      <p:tavLst>
                                        <p:tav tm="0">
                                          <p:val>
                                            <p:fltVal val="-90"/>
                                          </p:val>
                                        </p:tav>
                                        <p:tav tm="100000">
                                          <p:val>
                                            <p:fltVal val="0"/>
                                          </p:val>
                                        </p:tav>
                                      </p:tavLst>
                                    </p:anim>
                                    <p:anim calcmode="lin" valueType="num">
                                      <p:cBhvr>
                                        <p:cTn id="37" dur="800" decel="100000" fill="hold"/>
                                        <p:tgtEl>
                                          <p:spTgt spid="120835">
                                            <p:txEl>
                                              <p:pRg st="4" end="4"/>
                                            </p:txEl>
                                          </p:spTgt>
                                        </p:tgtEl>
                                        <p:attrNameLst>
                                          <p:attrName>ppt_x</p:attrName>
                                        </p:attrNameLst>
                                      </p:cBhvr>
                                      <p:tavLst>
                                        <p:tav tm="0">
                                          <p:val>
                                            <p:strVal val="#ppt_x+0.4"/>
                                          </p:val>
                                        </p:tav>
                                        <p:tav tm="100000">
                                          <p:val>
                                            <p:strVal val="#ppt_x-0.05"/>
                                          </p:val>
                                        </p:tav>
                                      </p:tavLst>
                                    </p:anim>
                                    <p:anim calcmode="lin" valueType="num">
                                      <p:cBhvr>
                                        <p:cTn id="38" dur="800" decel="100000" fill="hold"/>
                                        <p:tgtEl>
                                          <p:spTgt spid="120835">
                                            <p:txEl>
                                              <p:pRg st="4" end="4"/>
                                            </p:txEl>
                                          </p:spTgt>
                                        </p:tgtEl>
                                        <p:attrNameLst>
                                          <p:attrName>ppt_y</p:attrName>
                                        </p:attrNameLst>
                                      </p:cBhvr>
                                      <p:tavLst>
                                        <p:tav tm="0">
                                          <p:val>
                                            <p:strVal val="#ppt_y-0.4"/>
                                          </p:val>
                                        </p:tav>
                                        <p:tav tm="100000">
                                          <p:val>
                                            <p:strVal val="#ppt_y+0.1"/>
                                          </p:val>
                                        </p:tav>
                                      </p:tavLst>
                                    </p:anim>
                                    <p:anim calcmode="lin" valueType="num">
                                      <p:cBhvr>
                                        <p:cTn id="39" dur="200" accel="100000" fill="hold">
                                          <p:stCondLst>
                                            <p:cond delay="800"/>
                                          </p:stCondLst>
                                        </p:cTn>
                                        <p:tgtEl>
                                          <p:spTgt spid="120835">
                                            <p:txEl>
                                              <p:pRg st="4" end="4"/>
                                            </p:txEl>
                                          </p:spTgt>
                                        </p:tgtEl>
                                        <p:attrNameLst>
                                          <p:attrName>ppt_x</p:attrName>
                                        </p:attrNameLst>
                                      </p:cBhvr>
                                      <p:tavLst>
                                        <p:tav tm="0">
                                          <p:val>
                                            <p:strVal val="#ppt_x-0.05"/>
                                          </p:val>
                                        </p:tav>
                                        <p:tav tm="100000">
                                          <p:val>
                                            <p:strVal val="#ppt_x"/>
                                          </p:val>
                                        </p:tav>
                                      </p:tavLst>
                                    </p:anim>
                                    <p:anim calcmode="lin" valueType="num">
                                      <p:cBhvr>
                                        <p:cTn id="40" dur="200" accel="100000" fill="hold">
                                          <p:stCondLst>
                                            <p:cond delay="800"/>
                                          </p:stCondLst>
                                        </p:cTn>
                                        <p:tgtEl>
                                          <p:spTgt spid="120835">
                                            <p:txEl>
                                              <p:pRg st="4" end="4"/>
                                            </p:txEl>
                                          </p:spTgt>
                                        </p:tgtEl>
                                        <p:attrNameLst>
                                          <p:attrName>ppt_y</p:attrName>
                                        </p:attrNameLst>
                                      </p:cBhvr>
                                      <p:tavLst>
                                        <p:tav tm="0">
                                          <p:val>
                                            <p:strVal val="#ppt_y+0.1"/>
                                          </p:val>
                                        </p:tav>
                                        <p:tav tm="100000">
                                          <p:val>
                                            <p:strVal val="#ppt_y"/>
                                          </p:val>
                                        </p:tav>
                                      </p:tavLst>
                                    </p:anim>
                                  </p:childTnLst>
                                </p:cTn>
                              </p:par>
                              <p:par>
                                <p:cTn id="41" presetID="30" presetClass="entr" presetSubtype="0" fill="hold" nodeType="withEffect">
                                  <p:stCondLst>
                                    <p:cond delay="0"/>
                                  </p:stCondLst>
                                  <p:childTnLst>
                                    <p:set>
                                      <p:cBhvr>
                                        <p:cTn id="42" dur="1" fill="hold">
                                          <p:stCondLst>
                                            <p:cond delay="0"/>
                                          </p:stCondLst>
                                        </p:cTn>
                                        <p:tgtEl>
                                          <p:spTgt spid="120835">
                                            <p:txEl>
                                              <p:pRg st="5" end="5"/>
                                            </p:txEl>
                                          </p:spTgt>
                                        </p:tgtEl>
                                        <p:attrNameLst>
                                          <p:attrName>style.visibility</p:attrName>
                                        </p:attrNameLst>
                                      </p:cBhvr>
                                      <p:to>
                                        <p:strVal val="visible"/>
                                      </p:to>
                                    </p:set>
                                    <p:animEffect transition="in" filter="fade">
                                      <p:cBhvr>
                                        <p:cTn id="43" dur="800" decel="100000"/>
                                        <p:tgtEl>
                                          <p:spTgt spid="120835">
                                            <p:txEl>
                                              <p:pRg st="5" end="5"/>
                                            </p:txEl>
                                          </p:spTgt>
                                        </p:tgtEl>
                                      </p:cBhvr>
                                    </p:animEffect>
                                    <p:anim calcmode="lin" valueType="num">
                                      <p:cBhvr>
                                        <p:cTn id="44" dur="800" decel="100000" fill="hold"/>
                                        <p:tgtEl>
                                          <p:spTgt spid="120835">
                                            <p:txEl>
                                              <p:pRg st="5" end="5"/>
                                            </p:txEl>
                                          </p:spTgt>
                                        </p:tgtEl>
                                        <p:attrNameLst>
                                          <p:attrName>style.rotation</p:attrName>
                                        </p:attrNameLst>
                                      </p:cBhvr>
                                      <p:tavLst>
                                        <p:tav tm="0">
                                          <p:val>
                                            <p:fltVal val="-90"/>
                                          </p:val>
                                        </p:tav>
                                        <p:tav tm="100000">
                                          <p:val>
                                            <p:fltVal val="0"/>
                                          </p:val>
                                        </p:tav>
                                      </p:tavLst>
                                    </p:anim>
                                    <p:anim calcmode="lin" valueType="num">
                                      <p:cBhvr>
                                        <p:cTn id="45" dur="800" decel="100000" fill="hold"/>
                                        <p:tgtEl>
                                          <p:spTgt spid="120835">
                                            <p:txEl>
                                              <p:pRg st="5" end="5"/>
                                            </p:txEl>
                                          </p:spTgt>
                                        </p:tgtEl>
                                        <p:attrNameLst>
                                          <p:attrName>ppt_x</p:attrName>
                                        </p:attrNameLst>
                                      </p:cBhvr>
                                      <p:tavLst>
                                        <p:tav tm="0">
                                          <p:val>
                                            <p:strVal val="#ppt_x+0.4"/>
                                          </p:val>
                                        </p:tav>
                                        <p:tav tm="100000">
                                          <p:val>
                                            <p:strVal val="#ppt_x-0.05"/>
                                          </p:val>
                                        </p:tav>
                                      </p:tavLst>
                                    </p:anim>
                                    <p:anim calcmode="lin" valueType="num">
                                      <p:cBhvr>
                                        <p:cTn id="46" dur="800" decel="100000" fill="hold"/>
                                        <p:tgtEl>
                                          <p:spTgt spid="120835">
                                            <p:txEl>
                                              <p:pRg st="5" end="5"/>
                                            </p:txEl>
                                          </p:spTgt>
                                        </p:tgtEl>
                                        <p:attrNameLst>
                                          <p:attrName>ppt_y</p:attrName>
                                        </p:attrNameLst>
                                      </p:cBhvr>
                                      <p:tavLst>
                                        <p:tav tm="0">
                                          <p:val>
                                            <p:strVal val="#ppt_y-0.4"/>
                                          </p:val>
                                        </p:tav>
                                        <p:tav tm="100000">
                                          <p:val>
                                            <p:strVal val="#ppt_y+0.1"/>
                                          </p:val>
                                        </p:tav>
                                      </p:tavLst>
                                    </p:anim>
                                    <p:anim calcmode="lin" valueType="num">
                                      <p:cBhvr>
                                        <p:cTn id="47" dur="200" accel="100000" fill="hold">
                                          <p:stCondLst>
                                            <p:cond delay="800"/>
                                          </p:stCondLst>
                                        </p:cTn>
                                        <p:tgtEl>
                                          <p:spTgt spid="120835">
                                            <p:txEl>
                                              <p:pRg st="5" end="5"/>
                                            </p:txEl>
                                          </p:spTgt>
                                        </p:tgtEl>
                                        <p:attrNameLst>
                                          <p:attrName>ppt_x</p:attrName>
                                        </p:attrNameLst>
                                      </p:cBhvr>
                                      <p:tavLst>
                                        <p:tav tm="0">
                                          <p:val>
                                            <p:strVal val="#ppt_x-0.05"/>
                                          </p:val>
                                        </p:tav>
                                        <p:tav tm="100000">
                                          <p:val>
                                            <p:strVal val="#ppt_x"/>
                                          </p:val>
                                        </p:tav>
                                      </p:tavLst>
                                    </p:anim>
                                    <p:anim calcmode="lin" valueType="num">
                                      <p:cBhvr>
                                        <p:cTn id="48" dur="200" accel="100000" fill="hold">
                                          <p:stCondLst>
                                            <p:cond delay="800"/>
                                          </p:stCondLst>
                                        </p:cTn>
                                        <p:tgtEl>
                                          <p:spTgt spid="120835">
                                            <p:txEl>
                                              <p:pRg st="5" end="5"/>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432619" y="76200"/>
            <a:ext cx="8229600" cy="735012"/>
          </a:xfrm>
        </p:spPr>
        <p:txBody>
          <a:bodyPr/>
          <a:lstStyle/>
          <a:p>
            <a:pPr algn="l"/>
            <a:r>
              <a:rPr lang="en-US" dirty="0" smtClean="0"/>
              <a:t>(Cont.)</a:t>
            </a:r>
            <a:endParaRPr lang="en-US" dirty="0"/>
          </a:p>
        </p:txBody>
      </p:sp>
      <p:sp>
        <p:nvSpPr>
          <p:cNvPr id="141315" name="Rectangle 3"/>
          <p:cNvSpPr>
            <a:spLocks noGrp="1" noChangeArrowheads="1"/>
          </p:cNvSpPr>
          <p:nvPr>
            <p:ph idx="1"/>
          </p:nvPr>
        </p:nvSpPr>
        <p:spPr>
          <a:xfrm>
            <a:off x="165919" y="776799"/>
            <a:ext cx="8763000" cy="5947852"/>
          </a:xfrm>
        </p:spPr>
        <p:txBody>
          <a:bodyPr/>
          <a:lstStyle/>
          <a:p>
            <a:pPr>
              <a:lnSpc>
                <a:spcPct val="80000"/>
              </a:lnSpc>
            </a:pPr>
            <a:r>
              <a:rPr lang="en-US" sz="2800" b="1" dirty="0">
                <a:solidFill>
                  <a:srgbClr val="FFFF00"/>
                </a:solidFill>
              </a:rPr>
              <a:t>Prices of </a:t>
            </a:r>
            <a:r>
              <a:rPr lang="en-US" sz="2800" b="1" dirty="0" smtClean="0">
                <a:solidFill>
                  <a:srgbClr val="FFFF00"/>
                </a:solidFill>
              </a:rPr>
              <a:t>Related </a:t>
            </a:r>
            <a:r>
              <a:rPr lang="en-US" sz="2800" b="1" dirty="0">
                <a:solidFill>
                  <a:srgbClr val="FFFF00"/>
                </a:solidFill>
              </a:rPr>
              <a:t>C</a:t>
            </a:r>
            <a:r>
              <a:rPr lang="en-US" sz="2800" b="1" dirty="0" smtClean="0">
                <a:solidFill>
                  <a:srgbClr val="FFFF00"/>
                </a:solidFill>
              </a:rPr>
              <a:t>ommodities </a:t>
            </a:r>
            <a:r>
              <a:rPr lang="en-US" sz="2800" b="1" dirty="0">
                <a:solidFill>
                  <a:srgbClr val="FFFF00"/>
                </a:solidFill>
              </a:rPr>
              <a:t>in </a:t>
            </a:r>
            <a:r>
              <a:rPr lang="en-US" sz="2800" b="1" dirty="0" smtClean="0">
                <a:solidFill>
                  <a:srgbClr val="FFFF00"/>
                </a:solidFill>
              </a:rPr>
              <a:t>Consumption</a:t>
            </a:r>
            <a:r>
              <a:rPr lang="en-US" sz="2800" b="1" dirty="0">
                <a:solidFill>
                  <a:srgbClr val="FFFF00"/>
                </a:solidFill>
              </a:rPr>
              <a:t>:</a:t>
            </a:r>
            <a:r>
              <a:rPr lang="en-US" sz="2800" dirty="0"/>
              <a:t>  </a:t>
            </a:r>
          </a:p>
          <a:p>
            <a:pPr lvl="1">
              <a:lnSpc>
                <a:spcPct val="80000"/>
              </a:lnSpc>
            </a:pPr>
            <a:r>
              <a:rPr lang="en-US" u="sng" dirty="0">
                <a:solidFill>
                  <a:srgbClr val="FFFF00"/>
                </a:solidFill>
              </a:rPr>
              <a:t>Substitutes</a:t>
            </a:r>
            <a:r>
              <a:rPr lang="en-US" dirty="0"/>
              <a:t> – are goods that are substitutable with each other (not necessarily perfect).  </a:t>
            </a:r>
          </a:p>
          <a:p>
            <a:pPr lvl="2">
              <a:lnSpc>
                <a:spcPct val="80000"/>
              </a:lnSpc>
            </a:pPr>
            <a:r>
              <a:rPr lang="en-US" sz="2800" u="sng" dirty="0"/>
              <a:t>Examples</a:t>
            </a:r>
            <a:r>
              <a:rPr lang="en-US" sz="2800" dirty="0"/>
              <a:t> are coffee and tea, Coke and </a:t>
            </a:r>
            <a:r>
              <a:rPr lang="en-US" sz="2800" dirty="0" smtClean="0"/>
              <a:t>Pepsi. </a:t>
            </a:r>
            <a:endParaRPr lang="en-US" sz="2800" dirty="0"/>
          </a:p>
          <a:p>
            <a:pPr lvl="2">
              <a:lnSpc>
                <a:spcPct val="80000"/>
              </a:lnSpc>
            </a:pPr>
            <a:r>
              <a:rPr lang="en-US" sz="2800" dirty="0"/>
              <a:t>When the price of a substitute </a:t>
            </a:r>
            <a:r>
              <a:rPr lang="en-US" sz="2800" dirty="0" smtClean="0"/>
              <a:t>increases (</a:t>
            </a:r>
            <a:r>
              <a:rPr lang="en-US" sz="2800" dirty="0" smtClean="0">
                <a:solidFill>
                  <a:srgbClr val="FFFF00"/>
                </a:solidFill>
              </a:rPr>
              <a:t>P</a:t>
            </a:r>
            <a:r>
              <a:rPr lang="en-US" sz="2800" baseline="-25000" dirty="0" smtClean="0">
                <a:solidFill>
                  <a:srgbClr val="FFFF00"/>
                </a:solidFill>
              </a:rPr>
              <a:t>y</a:t>
            </a:r>
            <a:r>
              <a:rPr lang="en-US" sz="2800" dirty="0" smtClean="0">
                <a:sym typeface="Mathematica1" pitchFamily="2" charset="2"/>
              </a:rPr>
              <a:t> </a:t>
            </a:r>
            <a:r>
              <a:rPr lang="en-US" sz="2800" dirty="0" smtClean="0"/>
              <a:t>), </a:t>
            </a:r>
            <a:r>
              <a:rPr lang="en-US" sz="2800" dirty="0"/>
              <a:t>quantity bought of </a:t>
            </a:r>
            <a:r>
              <a:rPr lang="en-US" sz="2800" dirty="0" smtClean="0"/>
              <a:t>the other </a:t>
            </a:r>
            <a:r>
              <a:rPr lang="en-US" sz="2800" dirty="0"/>
              <a:t>good </a:t>
            </a:r>
            <a:r>
              <a:rPr lang="en-US" sz="2800" dirty="0" smtClean="0"/>
              <a:t>(</a:t>
            </a:r>
            <a:r>
              <a:rPr lang="en-US" sz="2800" dirty="0" smtClean="0">
                <a:solidFill>
                  <a:srgbClr val="FFFF00"/>
                </a:solidFill>
              </a:rPr>
              <a:t>Q</a:t>
            </a:r>
            <a:r>
              <a:rPr lang="en-US" sz="2800" baseline="-25000" dirty="0" smtClean="0">
                <a:solidFill>
                  <a:srgbClr val="FFFF00"/>
                </a:solidFill>
              </a:rPr>
              <a:t>x</a:t>
            </a:r>
            <a:r>
              <a:rPr lang="en-US" sz="2800" dirty="0" smtClean="0"/>
              <a:t>) increases - </a:t>
            </a:r>
            <a:r>
              <a:rPr lang="en-US" sz="2800" dirty="0" smtClean="0">
                <a:sym typeface="Mathematica1" pitchFamily="2" charset="2"/>
              </a:rPr>
              <a:t>(</a:t>
            </a:r>
            <a:r>
              <a:rPr lang="en-US" sz="2800" dirty="0">
                <a:sym typeface="Mathematica1" pitchFamily="2" charset="2"/>
              </a:rPr>
              <a:t>direct relationship)</a:t>
            </a:r>
          </a:p>
          <a:p>
            <a:pPr lvl="1">
              <a:lnSpc>
                <a:spcPct val="80000"/>
              </a:lnSpc>
            </a:pPr>
            <a:r>
              <a:rPr lang="en-US" u="sng" dirty="0">
                <a:solidFill>
                  <a:srgbClr val="FFFF00"/>
                </a:solidFill>
              </a:rPr>
              <a:t>Complements</a:t>
            </a:r>
            <a:r>
              <a:rPr lang="en-US" dirty="0"/>
              <a:t> – are goods that are used or consumed together.</a:t>
            </a:r>
          </a:p>
          <a:p>
            <a:pPr lvl="2">
              <a:lnSpc>
                <a:spcPct val="80000"/>
              </a:lnSpc>
            </a:pPr>
            <a:r>
              <a:rPr lang="en-US" sz="2800" u="sng" dirty="0"/>
              <a:t>Examples</a:t>
            </a:r>
            <a:r>
              <a:rPr lang="en-US" sz="2800" dirty="0"/>
              <a:t> are coffee and sugar, bread and butter, tennis rackets and tennis </a:t>
            </a:r>
            <a:r>
              <a:rPr lang="en-US" sz="2800" dirty="0" smtClean="0"/>
              <a:t>balls,  computers and software packages. </a:t>
            </a:r>
            <a:endParaRPr lang="en-US" sz="2800" dirty="0"/>
          </a:p>
          <a:p>
            <a:pPr lvl="2">
              <a:lnSpc>
                <a:spcPct val="80000"/>
              </a:lnSpc>
            </a:pPr>
            <a:r>
              <a:rPr lang="en-US" sz="2800" dirty="0"/>
              <a:t>When the price of a complement increases, quantity bought of </a:t>
            </a:r>
            <a:r>
              <a:rPr lang="en-US" sz="2800" dirty="0" smtClean="0"/>
              <a:t> the other  </a:t>
            </a:r>
            <a:r>
              <a:rPr lang="en-US" sz="2800" dirty="0"/>
              <a:t>good </a:t>
            </a:r>
            <a:r>
              <a:rPr lang="en-US" sz="2800" dirty="0" smtClean="0"/>
              <a:t>decreases</a:t>
            </a:r>
            <a:r>
              <a:rPr lang="en-US" sz="2800" dirty="0" smtClean="0">
                <a:sym typeface="Mathematica1" pitchFamily="2" charset="2"/>
              </a:rPr>
              <a:t> - (</a:t>
            </a:r>
            <a:r>
              <a:rPr lang="en-US" sz="2800" dirty="0">
                <a:sym typeface="Mathematica1" pitchFamily="2" charset="2"/>
              </a:rPr>
              <a:t>inverse relationship</a:t>
            </a:r>
            <a:r>
              <a:rPr lang="en-US" sz="2800" dirty="0" smtClean="0">
                <a:sym typeface="Mathematica1" pitchFamily="2" charset="2"/>
              </a:rPr>
              <a:t>).</a:t>
            </a:r>
            <a:endParaRPr lang="en-US" sz="2800" dirty="0">
              <a:sym typeface="Mathematica1" pitchFamily="2" charset="2"/>
            </a:endParaRPr>
          </a:p>
        </p:txBody>
      </p:sp>
      <p:sp>
        <p:nvSpPr>
          <p:cNvPr id="5" name="Slide Number Placeholder 4"/>
          <p:cNvSpPr>
            <a:spLocks noGrp="1"/>
          </p:cNvSpPr>
          <p:nvPr>
            <p:ph type="sldNum" sz="quarter" idx="11"/>
          </p:nvPr>
        </p:nvSpPr>
        <p:spPr/>
        <p:txBody>
          <a:bodyPr/>
          <a:lstStyle/>
          <a:p>
            <a:fld id="{6D63C845-4982-41E6-901A-A3EC09BDD7BE}" type="slidenum">
              <a:rPr lang="en-US" smtClean="0"/>
              <a:pPr/>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animEffect transition="in" filter="fade">
                                      <p:cBhvr>
                                        <p:cTn id="7" dur="800" decel="100000"/>
                                        <p:tgtEl>
                                          <p:spTgt spid="141315">
                                            <p:txEl>
                                              <p:pRg st="1" end="1"/>
                                            </p:txEl>
                                          </p:spTgt>
                                        </p:tgtEl>
                                      </p:cBhvr>
                                    </p:animEffect>
                                    <p:anim calcmode="lin" valueType="num">
                                      <p:cBhvr>
                                        <p:cTn id="8" dur="800" decel="100000" fill="hold"/>
                                        <p:tgtEl>
                                          <p:spTgt spid="141315">
                                            <p:txEl>
                                              <p:pRg st="1" end="1"/>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41315">
                                            <p:txEl>
                                              <p:pRg st="1" end="1"/>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41315">
                                            <p:txEl>
                                              <p:pRg st="1" end="1"/>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41315">
                                            <p:txEl>
                                              <p:pRg st="1" end="1"/>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41315">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41315">
                                            <p:txEl>
                                              <p:pRg st="2" end="2"/>
                                            </p:txEl>
                                          </p:spTgt>
                                        </p:tgtEl>
                                        <p:attrNameLst>
                                          <p:attrName>style.visibility</p:attrName>
                                        </p:attrNameLst>
                                      </p:cBhvr>
                                      <p:to>
                                        <p:strVal val="visible"/>
                                      </p:to>
                                    </p:set>
                                    <p:animEffect transition="in" filter="fade">
                                      <p:cBhvr>
                                        <p:cTn id="17" dur="800" decel="100000"/>
                                        <p:tgtEl>
                                          <p:spTgt spid="141315">
                                            <p:txEl>
                                              <p:pRg st="2" end="2"/>
                                            </p:txEl>
                                          </p:spTgt>
                                        </p:tgtEl>
                                      </p:cBhvr>
                                    </p:animEffect>
                                    <p:anim calcmode="lin" valueType="num">
                                      <p:cBhvr>
                                        <p:cTn id="18" dur="800" decel="100000" fill="hold"/>
                                        <p:tgtEl>
                                          <p:spTgt spid="141315">
                                            <p:txEl>
                                              <p:pRg st="2" end="2"/>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41315">
                                            <p:txEl>
                                              <p:pRg st="2" end="2"/>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41315">
                                            <p:txEl>
                                              <p:pRg st="2" end="2"/>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41315">
                                            <p:txEl>
                                              <p:pRg st="2" end="2"/>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41315">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41315">
                                            <p:txEl>
                                              <p:pRg st="3" end="3"/>
                                            </p:txEl>
                                          </p:spTgt>
                                        </p:tgtEl>
                                        <p:attrNameLst>
                                          <p:attrName>style.visibility</p:attrName>
                                        </p:attrNameLst>
                                      </p:cBhvr>
                                      <p:to>
                                        <p:strVal val="visible"/>
                                      </p:to>
                                    </p:set>
                                    <p:animEffect transition="in" filter="fade">
                                      <p:cBhvr>
                                        <p:cTn id="27" dur="800" decel="100000"/>
                                        <p:tgtEl>
                                          <p:spTgt spid="141315">
                                            <p:txEl>
                                              <p:pRg st="3" end="3"/>
                                            </p:txEl>
                                          </p:spTgt>
                                        </p:tgtEl>
                                      </p:cBhvr>
                                    </p:animEffect>
                                    <p:anim calcmode="lin" valueType="num">
                                      <p:cBhvr>
                                        <p:cTn id="28" dur="800" decel="100000" fill="hold"/>
                                        <p:tgtEl>
                                          <p:spTgt spid="141315">
                                            <p:txEl>
                                              <p:pRg st="3" end="3"/>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41315">
                                            <p:txEl>
                                              <p:pRg st="3" end="3"/>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41315">
                                            <p:txEl>
                                              <p:pRg st="3" end="3"/>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41315">
                                            <p:txEl>
                                              <p:pRg st="3" end="3"/>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41315">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141315">
                                            <p:txEl>
                                              <p:pRg st="4" end="4"/>
                                            </p:txEl>
                                          </p:spTgt>
                                        </p:tgtEl>
                                        <p:attrNameLst>
                                          <p:attrName>style.visibility</p:attrName>
                                        </p:attrNameLst>
                                      </p:cBhvr>
                                      <p:to>
                                        <p:strVal val="visible"/>
                                      </p:to>
                                    </p:set>
                                    <p:animEffect transition="in" filter="fade">
                                      <p:cBhvr>
                                        <p:cTn id="37" dur="800" decel="100000"/>
                                        <p:tgtEl>
                                          <p:spTgt spid="141315">
                                            <p:txEl>
                                              <p:pRg st="4" end="4"/>
                                            </p:txEl>
                                          </p:spTgt>
                                        </p:tgtEl>
                                      </p:cBhvr>
                                    </p:animEffect>
                                    <p:anim calcmode="lin" valueType="num">
                                      <p:cBhvr>
                                        <p:cTn id="38" dur="800" decel="100000" fill="hold"/>
                                        <p:tgtEl>
                                          <p:spTgt spid="141315">
                                            <p:txEl>
                                              <p:pRg st="4" end="4"/>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41315">
                                            <p:txEl>
                                              <p:pRg st="4" end="4"/>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41315">
                                            <p:txEl>
                                              <p:pRg st="4" end="4"/>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41315">
                                            <p:txEl>
                                              <p:pRg st="4" end="4"/>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41315">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nodeType="clickEffect">
                                  <p:stCondLst>
                                    <p:cond delay="0"/>
                                  </p:stCondLst>
                                  <p:childTnLst>
                                    <p:set>
                                      <p:cBhvr>
                                        <p:cTn id="46" dur="1" fill="hold">
                                          <p:stCondLst>
                                            <p:cond delay="0"/>
                                          </p:stCondLst>
                                        </p:cTn>
                                        <p:tgtEl>
                                          <p:spTgt spid="141315">
                                            <p:txEl>
                                              <p:pRg st="5" end="5"/>
                                            </p:txEl>
                                          </p:spTgt>
                                        </p:tgtEl>
                                        <p:attrNameLst>
                                          <p:attrName>style.visibility</p:attrName>
                                        </p:attrNameLst>
                                      </p:cBhvr>
                                      <p:to>
                                        <p:strVal val="visible"/>
                                      </p:to>
                                    </p:set>
                                    <p:animEffect transition="in" filter="fade">
                                      <p:cBhvr>
                                        <p:cTn id="47" dur="800" decel="100000"/>
                                        <p:tgtEl>
                                          <p:spTgt spid="141315">
                                            <p:txEl>
                                              <p:pRg st="5" end="5"/>
                                            </p:txEl>
                                          </p:spTgt>
                                        </p:tgtEl>
                                      </p:cBhvr>
                                    </p:animEffect>
                                    <p:anim calcmode="lin" valueType="num">
                                      <p:cBhvr>
                                        <p:cTn id="48" dur="800" decel="100000" fill="hold"/>
                                        <p:tgtEl>
                                          <p:spTgt spid="141315">
                                            <p:txEl>
                                              <p:pRg st="5" end="5"/>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141315">
                                            <p:txEl>
                                              <p:pRg st="5" end="5"/>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141315">
                                            <p:txEl>
                                              <p:pRg st="5" end="5"/>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141315">
                                            <p:txEl>
                                              <p:pRg st="5" end="5"/>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141315">
                                            <p:txEl>
                                              <p:pRg st="5" end="5"/>
                                            </p:txEl>
                                          </p:spTgt>
                                        </p:tgtEl>
                                        <p:attrNameLst>
                                          <p:attrName>ppt_y</p:attrName>
                                        </p:attrNameLst>
                                      </p:cBhvr>
                                      <p:tavLst>
                                        <p:tav tm="0">
                                          <p:val>
                                            <p:strVal val="#ppt_y+0.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0" presetClass="entr" presetSubtype="0" fill="hold" nodeType="clickEffect">
                                  <p:stCondLst>
                                    <p:cond delay="0"/>
                                  </p:stCondLst>
                                  <p:childTnLst>
                                    <p:set>
                                      <p:cBhvr>
                                        <p:cTn id="56" dur="1" fill="hold">
                                          <p:stCondLst>
                                            <p:cond delay="0"/>
                                          </p:stCondLst>
                                        </p:cTn>
                                        <p:tgtEl>
                                          <p:spTgt spid="141315">
                                            <p:txEl>
                                              <p:pRg st="6" end="6"/>
                                            </p:txEl>
                                          </p:spTgt>
                                        </p:tgtEl>
                                        <p:attrNameLst>
                                          <p:attrName>style.visibility</p:attrName>
                                        </p:attrNameLst>
                                      </p:cBhvr>
                                      <p:to>
                                        <p:strVal val="visible"/>
                                      </p:to>
                                    </p:set>
                                    <p:animEffect transition="in" filter="fade">
                                      <p:cBhvr>
                                        <p:cTn id="57" dur="800" decel="100000"/>
                                        <p:tgtEl>
                                          <p:spTgt spid="141315">
                                            <p:txEl>
                                              <p:pRg st="6" end="6"/>
                                            </p:txEl>
                                          </p:spTgt>
                                        </p:tgtEl>
                                      </p:cBhvr>
                                    </p:animEffect>
                                    <p:anim calcmode="lin" valueType="num">
                                      <p:cBhvr>
                                        <p:cTn id="58" dur="800" decel="100000" fill="hold"/>
                                        <p:tgtEl>
                                          <p:spTgt spid="141315">
                                            <p:txEl>
                                              <p:pRg st="6" end="6"/>
                                            </p:txEl>
                                          </p:spTgt>
                                        </p:tgtEl>
                                        <p:attrNameLst>
                                          <p:attrName>style.rotation</p:attrName>
                                        </p:attrNameLst>
                                      </p:cBhvr>
                                      <p:tavLst>
                                        <p:tav tm="0">
                                          <p:val>
                                            <p:fltVal val="-90"/>
                                          </p:val>
                                        </p:tav>
                                        <p:tav tm="100000">
                                          <p:val>
                                            <p:fltVal val="0"/>
                                          </p:val>
                                        </p:tav>
                                      </p:tavLst>
                                    </p:anim>
                                    <p:anim calcmode="lin" valueType="num">
                                      <p:cBhvr>
                                        <p:cTn id="59" dur="800" decel="100000" fill="hold"/>
                                        <p:tgtEl>
                                          <p:spTgt spid="141315">
                                            <p:txEl>
                                              <p:pRg st="6" end="6"/>
                                            </p:txEl>
                                          </p:spTgt>
                                        </p:tgtEl>
                                        <p:attrNameLst>
                                          <p:attrName>ppt_x</p:attrName>
                                        </p:attrNameLst>
                                      </p:cBhvr>
                                      <p:tavLst>
                                        <p:tav tm="0">
                                          <p:val>
                                            <p:strVal val="#ppt_x+0.4"/>
                                          </p:val>
                                        </p:tav>
                                        <p:tav tm="100000">
                                          <p:val>
                                            <p:strVal val="#ppt_x-0.05"/>
                                          </p:val>
                                        </p:tav>
                                      </p:tavLst>
                                    </p:anim>
                                    <p:anim calcmode="lin" valueType="num">
                                      <p:cBhvr>
                                        <p:cTn id="60" dur="800" decel="100000" fill="hold"/>
                                        <p:tgtEl>
                                          <p:spTgt spid="141315">
                                            <p:txEl>
                                              <p:pRg st="6" end="6"/>
                                            </p:txEl>
                                          </p:spTgt>
                                        </p:tgtEl>
                                        <p:attrNameLst>
                                          <p:attrName>ppt_y</p:attrName>
                                        </p:attrNameLst>
                                      </p:cBhvr>
                                      <p:tavLst>
                                        <p:tav tm="0">
                                          <p:val>
                                            <p:strVal val="#ppt_y-0.4"/>
                                          </p:val>
                                        </p:tav>
                                        <p:tav tm="100000">
                                          <p:val>
                                            <p:strVal val="#ppt_y+0.1"/>
                                          </p:val>
                                        </p:tav>
                                      </p:tavLst>
                                    </p:anim>
                                    <p:anim calcmode="lin" valueType="num">
                                      <p:cBhvr>
                                        <p:cTn id="61" dur="200" accel="100000" fill="hold">
                                          <p:stCondLst>
                                            <p:cond delay="800"/>
                                          </p:stCondLst>
                                        </p:cTn>
                                        <p:tgtEl>
                                          <p:spTgt spid="141315">
                                            <p:txEl>
                                              <p:pRg st="6" end="6"/>
                                            </p:txEl>
                                          </p:spTgt>
                                        </p:tgtEl>
                                        <p:attrNameLst>
                                          <p:attrName>ppt_x</p:attrName>
                                        </p:attrNameLst>
                                      </p:cBhvr>
                                      <p:tavLst>
                                        <p:tav tm="0">
                                          <p:val>
                                            <p:strVal val="#ppt_x-0.05"/>
                                          </p:val>
                                        </p:tav>
                                        <p:tav tm="100000">
                                          <p:val>
                                            <p:strVal val="#ppt_x"/>
                                          </p:val>
                                        </p:tav>
                                      </p:tavLst>
                                    </p:anim>
                                    <p:anim calcmode="lin" valueType="num">
                                      <p:cBhvr>
                                        <p:cTn id="62" dur="200" accel="100000" fill="hold">
                                          <p:stCondLst>
                                            <p:cond delay="800"/>
                                          </p:stCondLst>
                                        </p:cTn>
                                        <p:tgtEl>
                                          <p:spTgt spid="141315">
                                            <p:txEl>
                                              <p:pRg st="6" end="6"/>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457200" y="76200"/>
            <a:ext cx="8229600" cy="685800"/>
          </a:xfrm>
        </p:spPr>
        <p:txBody>
          <a:bodyPr/>
          <a:lstStyle/>
          <a:p>
            <a:pPr algn="l"/>
            <a:r>
              <a:rPr lang="en-US" dirty="0" smtClean="0"/>
              <a:t>(Cont.)</a:t>
            </a:r>
            <a:endParaRPr lang="en-US" dirty="0"/>
          </a:p>
        </p:txBody>
      </p:sp>
      <p:sp>
        <p:nvSpPr>
          <p:cNvPr id="143363" name="Rectangle 3"/>
          <p:cNvSpPr>
            <a:spLocks noGrp="1" noChangeArrowheads="1"/>
          </p:cNvSpPr>
          <p:nvPr>
            <p:ph idx="1"/>
          </p:nvPr>
        </p:nvSpPr>
        <p:spPr>
          <a:xfrm>
            <a:off x="228600" y="762000"/>
            <a:ext cx="8686800" cy="5962650"/>
          </a:xfrm>
        </p:spPr>
        <p:txBody>
          <a:bodyPr/>
          <a:lstStyle/>
          <a:p>
            <a:r>
              <a:rPr lang="en-US" sz="2800" b="1" dirty="0">
                <a:solidFill>
                  <a:srgbClr val="FFFF00"/>
                </a:solidFill>
              </a:rPr>
              <a:t>Consumer </a:t>
            </a:r>
            <a:r>
              <a:rPr lang="en-US" sz="2800" b="1" dirty="0" smtClean="0">
                <a:solidFill>
                  <a:srgbClr val="FFFF00"/>
                </a:solidFill>
              </a:rPr>
              <a:t>Tastes </a:t>
            </a:r>
            <a:r>
              <a:rPr lang="en-US" sz="2800" b="1" dirty="0">
                <a:solidFill>
                  <a:srgbClr val="FFFF00"/>
                </a:solidFill>
              </a:rPr>
              <a:t>and </a:t>
            </a:r>
            <a:r>
              <a:rPr lang="en-US" sz="2800" b="1" dirty="0" smtClean="0">
                <a:solidFill>
                  <a:srgbClr val="FFFF00"/>
                </a:solidFill>
              </a:rPr>
              <a:t>Preferences</a:t>
            </a:r>
            <a:r>
              <a:rPr lang="en-US" sz="2800" b="1" dirty="0">
                <a:solidFill>
                  <a:srgbClr val="FFFF00"/>
                </a:solidFill>
              </a:rPr>
              <a:t>:</a:t>
            </a:r>
            <a:r>
              <a:rPr lang="en-US" sz="2800" dirty="0"/>
              <a:t>  </a:t>
            </a:r>
          </a:p>
          <a:p>
            <a:pPr lvl="1"/>
            <a:r>
              <a:rPr lang="en-US" dirty="0"/>
              <a:t>When consumer tastes </a:t>
            </a:r>
            <a:r>
              <a:rPr lang="en-US" dirty="0">
                <a:solidFill>
                  <a:srgbClr val="FFFF00"/>
                </a:solidFill>
              </a:rPr>
              <a:t>shift towards </a:t>
            </a:r>
            <a:r>
              <a:rPr lang="en-US" dirty="0"/>
              <a:t>a particular good, greater amounts of a good are demanded at each price.</a:t>
            </a:r>
          </a:p>
          <a:p>
            <a:pPr lvl="2"/>
            <a:r>
              <a:rPr lang="en-US" sz="2800" u="sng" dirty="0">
                <a:solidFill>
                  <a:srgbClr val="00B050"/>
                </a:solidFill>
              </a:rPr>
              <a:t>Example</a:t>
            </a:r>
            <a:r>
              <a:rPr lang="en-US" sz="2800" dirty="0">
                <a:solidFill>
                  <a:srgbClr val="00B050"/>
                </a:solidFill>
              </a:rPr>
              <a:t>: </a:t>
            </a:r>
            <a:r>
              <a:rPr lang="en-US" sz="2800" dirty="0" smtClean="0"/>
              <a:t>if  consumers’ </a:t>
            </a:r>
            <a:r>
              <a:rPr lang="en-US" sz="2800" dirty="0"/>
              <a:t>preference for drinking </a:t>
            </a:r>
            <a:r>
              <a:rPr lang="en-US" sz="2800" dirty="0" smtClean="0"/>
              <a:t>bottled water  increases its </a:t>
            </a:r>
            <a:r>
              <a:rPr lang="en-US" sz="2800" dirty="0"/>
              <a:t>demand curve will shift rightward. </a:t>
            </a:r>
          </a:p>
          <a:p>
            <a:pPr lvl="1"/>
            <a:r>
              <a:rPr lang="en-US" dirty="0"/>
              <a:t>If consumer preferences change </a:t>
            </a:r>
            <a:r>
              <a:rPr lang="en-US" dirty="0">
                <a:solidFill>
                  <a:srgbClr val="FFFF00"/>
                </a:solidFill>
              </a:rPr>
              <a:t>away from a good</a:t>
            </a:r>
            <a:r>
              <a:rPr lang="en-US" dirty="0"/>
              <a:t>, its demand will </a:t>
            </a:r>
            <a:r>
              <a:rPr lang="en-US" dirty="0" smtClean="0"/>
              <a:t>decrease. </a:t>
            </a:r>
            <a:r>
              <a:rPr lang="en-US" dirty="0"/>
              <a:t>A</a:t>
            </a:r>
            <a:r>
              <a:rPr lang="en-US" dirty="0" smtClean="0"/>
              <a:t>t </a:t>
            </a:r>
            <a:r>
              <a:rPr lang="en-US" dirty="0"/>
              <a:t>every possible </a:t>
            </a:r>
            <a:r>
              <a:rPr lang="en-US" dirty="0" smtClean="0"/>
              <a:t>price </a:t>
            </a:r>
            <a:r>
              <a:rPr lang="en-US" dirty="0"/>
              <a:t>less of the good is demanded than before.</a:t>
            </a:r>
          </a:p>
          <a:p>
            <a:pPr lvl="2"/>
            <a:r>
              <a:rPr lang="en-US" sz="2800" u="sng" dirty="0">
                <a:solidFill>
                  <a:srgbClr val="00B050"/>
                </a:solidFill>
              </a:rPr>
              <a:t>Example</a:t>
            </a:r>
            <a:r>
              <a:rPr lang="en-US" sz="2800" dirty="0">
                <a:solidFill>
                  <a:srgbClr val="00B050"/>
                </a:solidFill>
              </a:rPr>
              <a:t>:  </a:t>
            </a:r>
            <a:r>
              <a:rPr lang="en-US" sz="2800" dirty="0"/>
              <a:t>the demand for </a:t>
            </a:r>
            <a:r>
              <a:rPr lang="en-US" sz="2800" dirty="0" smtClean="0"/>
              <a:t>cassette tapes decreased </a:t>
            </a:r>
            <a:r>
              <a:rPr lang="en-US" sz="2800" dirty="0"/>
              <a:t>due to preference for DVDs.</a:t>
            </a:r>
          </a:p>
        </p:txBody>
      </p:sp>
      <p:sp>
        <p:nvSpPr>
          <p:cNvPr id="5" name="Slide Number Placeholder 4"/>
          <p:cNvSpPr>
            <a:spLocks noGrp="1"/>
          </p:cNvSpPr>
          <p:nvPr>
            <p:ph type="sldNum" sz="quarter" idx="11"/>
          </p:nvPr>
        </p:nvSpPr>
        <p:spPr/>
        <p:txBody>
          <a:bodyPr/>
          <a:lstStyle/>
          <a:p>
            <a:fld id="{6D63C845-4982-41E6-901A-A3EC09BDD7BE}" type="slidenum">
              <a:rPr lang="en-US" smtClean="0"/>
              <a:pPr/>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143363">
                                            <p:txEl>
                                              <p:pRg st="1" end="1"/>
                                            </p:txEl>
                                          </p:spTgt>
                                        </p:tgtEl>
                                        <p:attrNameLst>
                                          <p:attrName>style.visibility</p:attrName>
                                        </p:attrNameLst>
                                      </p:cBhvr>
                                      <p:to>
                                        <p:strVal val="visible"/>
                                      </p:to>
                                    </p:set>
                                    <p:animEffect transition="in" filter="fade">
                                      <p:cBhvr>
                                        <p:cTn id="7" dur="800" decel="100000"/>
                                        <p:tgtEl>
                                          <p:spTgt spid="143363">
                                            <p:txEl>
                                              <p:pRg st="1" end="1"/>
                                            </p:txEl>
                                          </p:spTgt>
                                        </p:tgtEl>
                                      </p:cBhvr>
                                    </p:animEffect>
                                    <p:anim calcmode="lin" valueType="num">
                                      <p:cBhvr>
                                        <p:cTn id="8" dur="800" decel="100000" fill="hold"/>
                                        <p:tgtEl>
                                          <p:spTgt spid="143363">
                                            <p:txEl>
                                              <p:pRg st="1" end="1"/>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43363">
                                            <p:txEl>
                                              <p:pRg st="1" end="1"/>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43363">
                                            <p:txEl>
                                              <p:pRg st="1" end="1"/>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43363">
                                            <p:txEl>
                                              <p:pRg st="1" end="1"/>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4336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43363">
                                            <p:txEl>
                                              <p:pRg st="2" end="2"/>
                                            </p:txEl>
                                          </p:spTgt>
                                        </p:tgtEl>
                                        <p:attrNameLst>
                                          <p:attrName>style.visibility</p:attrName>
                                        </p:attrNameLst>
                                      </p:cBhvr>
                                      <p:to>
                                        <p:strVal val="visible"/>
                                      </p:to>
                                    </p:set>
                                    <p:animEffect transition="in" filter="fade">
                                      <p:cBhvr>
                                        <p:cTn id="17" dur="800" decel="100000"/>
                                        <p:tgtEl>
                                          <p:spTgt spid="143363">
                                            <p:txEl>
                                              <p:pRg st="2" end="2"/>
                                            </p:txEl>
                                          </p:spTgt>
                                        </p:tgtEl>
                                      </p:cBhvr>
                                    </p:animEffect>
                                    <p:anim calcmode="lin" valueType="num">
                                      <p:cBhvr>
                                        <p:cTn id="18" dur="800" decel="100000" fill="hold"/>
                                        <p:tgtEl>
                                          <p:spTgt spid="143363">
                                            <p:txEl>
                                              <p:pRg st="2" end="2"/>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43363">
                                            <p:txEl>
                                              <p:pRg st="2" end="2"/>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43363">
                                            <p:txEl>
                                              <p:pRg st="2" end="2"/>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43363">
                                            <p:txEl>
                                              <p:pRg st="2" end="2"/>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43363">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43363">
                                            <p:txEl>
                                              <p:pRg st="3" end="3"/>
                                            </p:txEl>
                                          </p:spTgt>
                                        </p:tgtEl>
                                        <p:attrNameLst>
                                          <p:attrName>style.visibility</p:attrName>
                                        </p:attrNameLst>
                                      </p:cBhvr>
                                      <p:to>
                                        <p:strVal val="visible"/>
                                      </p:to>
                                    </p:set>
                                    <p:animEffect transition="in" filter="fade">
                                      <p:cBhvr>
                                        <p:cTn id="27" dur="800" decel="100000"/>
                                        <p:tgtEl>
                                          <p:spTgt spid="143363">
                                            <p:txEl>
                                              <p:pRg st="3" end="3"/>
                                            </p:txEl>
                                          </p:spTgt>
                                        </p:tgtEl>
                                      </p:cBhvr>
                                    </p:animEffect>
                                    <p:anim calcmode="lin" valueType="num">
                                      <p:cBhvr>
                                        <p:cTn id="28" dur="800" decel="100000" fill="hold"/>
                                        <p:tgtEl>
                                          <p:spTgt spid="143363">
                                            <p:txEl>
                                              <p:pRg st="3" end="3"/>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43363">
                                            <p:txEl>
                                              <p:pRg st="3" end="3"/>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43363">
                                            <p:txEl>
                                              <p:pRg st="3" end="3"/>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43363">
                                            <p:txEl>
                                              <p:pRg st="3" end="3"/>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43363">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143363">
                                            <p:txEl>
                                              <p:pRg st="4" end="4"/>
                                            </p:txEl>
                                          </p:spTgt>
                                        </p:tgtEl>
                                        <p:attrNameLst>
                                          <p:attrName>style.visibility</p:attrName>
                                        </p:attrNameLst>
                                      </p:cBhvr>
                                      <p:to>
                                        <p:strVal val="visible"/>
                                      </p:to>
                                    </p:set>
                                    <p:animEffect transition="in" filter="fade">
                                      <p:cBhvr>
                                        <p:cTn id="37" dur="800" decel="100000"/>
                                        <p:tgtEl>
                                          <p:spTgt spid="143363">
                                            <p:txEl>
                                              <p:pRg st="4" end="4"/>
                                            </p:txEl>
                                          </p:spTgt>
                                        </p:tgtEl>
                                      </p:cBhvr>
                                    </p:animEffect>
                                    <p:anim calcmode="lin" valueType="num">
                                      <p:cBhvr>
                                        <p:cTn id="38" dur="800" decel="100000" fill="hold"/>
                                        <p:tgtEl>
                                          <p:spTgt spid="143363">
                                            <p:txEl>
                                              <p:pRg st="4" end="4"/>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43363">
                                            <p:txEl>
                                              <p:pRg st="4" end="4"/>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43363">
                                            <p:txEl>
                                              <p:pRg st="4" end="4"/>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43363">
                                            <p:txEl>
                                              <p:pRg st="4" end="4"/>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43363">
                                            <p:txEl>
                                              <p:pRg st="4" end="4"/>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xfrm>
            <a:off x="457200" y="152400"/>
            <a:ext cx="8229600" cy="685800"/>
          </a:xfrm>
        </p:spPr>
        <p:txBody>
          <a:bodyPr/>
          <a:lstStyle/>
          <a:p>
            <a:pPr algn="l"/>
            <a:r>
              <a:rPr lang="en-US" dirty="0" smtClean="0"/>
              <a:t>(Cont.)</a:t>
            </a:r>
            <a:endParaRPr lang="en-US" dirty="0"/>
          </a:p>
        </p:txBody>
      </p:sp>
      <p:sp>
        <p:nvSpPr>
          <p:cNvPr id="167939" name="Rectangle 3"/>
          <p:cNvSpPr>
            <a:spLocks noGrp="1" noChangeArrowheads="1"/>
          </p:cNvSpPr>
          <p:nvPr>
            <p:ph idx="1"/>
          </p:nvPr>
        </p:nvSpPr>
        <p:spPr>
          <a:xfrm>
            <a:off x="304800" y="914400"/>
            <a:ext cx="8686800" cy="5810250"/>
          </a:xfrm>
        </p:spPr>
        <p:txBody>
          <a:bodyPr/>
          <a:lstStyle/>
          <a:p>
            <a:r>
              <a:rPr lang="en-US" b="1" dirty="0">
                <a:solidFill>
                  <a:srgbClr val="FFFF00"/>
                </a:solidFill>
              </a:rPr>
              <a:t>Consumer </a:t>
            </a:r>
            <a:r>
              <a:rPr lang="en-US" b="1" dirty="0" smtClean="0">
                <a:solidFill>
                  <a:srgbClr val="FFFF00"/>
                </a:solidFill>
              </a:rPr>
              <a:t>Expectations</a:t>
            </a:r>
            <a:r>
              <a:rPr lang="en-US" b="1" dirty="0">
                <a:solidFill>
                  <a:srgbClr val="FFFF00"/>
                </a:solidFill>
              </a:rPr>
              <a:t>:</a:t>
            </a:r>
            <a:r>
              <a:rPr lang="en-US" dirty="0"/>
              <a:t> </a:t>
            </a:r>
            <a:endParaRPr lang="en-US" dirty="0" smtClean="0"/>
          </a:p>
          <a:p>
            <a:pPr>
              <a:buNone/>
            </a:pPr>
            <a:r>
              <a:rPr lang="en-US" dirty="0" smtClean="0"/>
              <a:t>	Expectations </a:t>
            </a:r>
            <a:r>
              <a:rPr lang="en-US" dirty="0"/>
              <a:t>about </a:t>
            </a:r>
            <a:r>
              <a:rPr lang="en-US" dirty="0">
                <a:solidFill>
                  <a:srgbClr val="00B050"/>
                </a:solidFill>
              </a:rPr>
              <a:t>future prices </a:t>
            </a:r>
            <a:r>
              <a:rPr lang="en-US" dirty="0"/>
              <a:t>and </a:t>
            </a:r>
            <a:r>
              <a:rPr lang="en-US" dirty="0" smtClean="0">
                <a:solidFill>
                  <a:srgbClr val="00B050"/>
                </a:solidFill>
              </a:rPr>
              <a:t>incomes</a:t>
            </a:r>
            <a:r>
              <a:rPr lang="en-US" dirty="0" smtClean="0"/>
              <a:t> </a:t>
            </a:r>
            <a:r>
              <a:rPr lang="en-US" dirty="0"/>
              <a:t>affect </a:t>
            </a:r>
            <a:r>
              <a:rPr lang="en-US" dirty="0" smtClean="0"/>
              <a:t>current </a:t>
            </a:r>
            <a:r>
              <a:rPr lang="en-US" dirty="0"/>
              <a:t>demand for many goods and services. </a:t>
            </a:r>
          </a:p>
          <a:p>
            <a:pPr lvl="1"/>
            <a:r>
              <a:rPr lang="en-US" sz="3200" dirty="0"/>
              <a:t>If we expect </a:t>
            </a:r>
            <a:r>
              <a:rPr lang="en-US" sz="3200" dirty="0" smtClean="0"/>
              <a:t>price </a:t>
            </a:r>
            <a:r>
              <a:rPr lang="en-US" sz="3200" dirty="0"/>
              <a:t>of </a:t>
            </a:r>
            <a:r>
              <a:rPr lang="en-US" sz="3200" dirty="0" smtClean="0"/>
              <a:t>sugar to </a:t>
            </a:r>
            <a:r>
              <a:rPr lang="en-US" sz="3200" dirty="0" smtClean="0">
                <a:solidFill>
                  <a:srgbClr val="FFFF00"/>
                </a:solidFill>
              </a:rPr>
              <a:t>increase</a:t>
            </a:r>
            <a:r>
              <a:rPr lang="en-US" sz="3200" dirty="0" smtClean="0"/>
              <a:t>, </a:t>
            </a:r>
            <a:r>
              <a:rPr lang="en-US" sz="3200" dirty="0"/>
              <a:t>we might stock up on the good to avoid the expected price increase. Thus, current demand for </a:t>
            </a:r>
            <a:r>
              <a:rPr lang="en-US" sz="3200" dirty="0" smtClean="0"/>
              <a:t>sugar might increase.</a:t>
            </a:r>
            <a:endParaRPr lang="en-US" sz="3200" dirty="0"/>
          </a:p>
          <a:p>
            <a:pPr lvl="1"/>
            <a:r>
              <a:rPr lang="en-US" sz="3200" dirty="0"/>
              <a:t>T</a:t>
            </a:r>
            <a:r>
              <a:rPr lang="en-US" sz="3200" dirty="0" smtClean="0"/>
              <a:t>hose </a:t>
            </a:r>
            <a:r>
              <a:rPr lang="en-US" sz="3200" dirty="0"/>
              <a:t>who expect to </a:t>
            </a:r>
            <a:r>
              <a:rPr lang="en-US" sz="3200" dirty="0">
                <a:solidFill>
                  <a:srgbClr val="FFFF00"/>
                </a:solidFill>
              </a:rPr>
              <a:t>lose their jobs </a:t>
            </a:r>
            <a:r>
              <a:rPr lang="en-US" sz="3200" dirty="0"/>
              <a:t>due to bad economic conditions, will reduce their demand for a variety of goods in the current period.</a:t>
            </a:r>
          </a:p>
        </p:txBody>
      </p:sp>
      <p:sp>
        <p:nvSpPr>
          <p:cNvPr id="5" name="Slide Number Placeholder 4"/>
          <p:cNvSpPr>
            <a:spLocks noGrp="1"/>
          </p:cNvSpPr>
          <p:nvPr>
            <p:ph type="sldNum" sz="quarter" idx="11"/>
          </p:nvPr>
        </p:nvSpPr>
        <p:spPr/>
        <p:txBody>
          <a:bodyPr/>
          <a:lstStyle/>
          <a:p>
            <a:fld id="{6D63C845-4982-41E6-901A-A3EC09BDD7BE}" type="slidenum">
              <a:rPr lang="en-US" smtClean="0"/>
              <a:pPr/>
              <a:t>15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167939">
                                            <p:txEl>
                                              <p:pRg st="1" end="1"/>
                                            </p:txEl>
                                          </p:spTgt>
                                        </p:tgtEl>
                                        <p:attrNameLst>
                                          <p:attrName>style.visibility</p:attrName>
                                        </p:attrNameLst>
                                      </p:cBhvr>
                                      <p:to>
                                        <p:strVal val="visible"/>
                                      </p:to>
                                    </p:set>
                                    <p:animEffect transition="in" filter="fade">
                                      <p:cBhvr>
                                        <p:cTn id="7" dur="800" decel="100000"/>
                                        <p:tgtEl>
                                          <p:spTgt spid="167939">
                                            <p:txEl>
                                              <p:pRg st="1" end="1"/>
                                            </p:txEl>
                                          </p:spTgt>
                                        </p:tgtEl>
                                      </p:cBhvr>
                                    </p:animEffect>
                                    <p:anim calcmode="lin" valueType="num">
                                      <p:cBhvr>
                                        <p:cTn id="8" dur="800" decel="100000" fill="hold"/>
                                        <p:tgtEl>
                                          <p:spTgt spid="167939">
                                            <p:txEl>
                                              <p:pRg st="1" end="1"/>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67939">
                                            <p:txEl>
                                              <p:pRg st="1" end="1"/>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67939">
                                            <p:txEl>
                                              <p:pRg st="1" end="1"/>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67939">
                                            <p:txEl>
                                              <p:pRg st="1" end="1"/>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67939">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67939">
                                            <p:txEl>
                                              <p:pRg st="2" end="2"/>
                                            </p:txEl>
                                          </p:spTgt>
                                        </p:tgtEl>
                                        <p:attrNameLst>
                                          <p:attrName>style.visibility</p:attrName>
                                        </p:attrNameLst>
                                      </p:cBhvr>
                                      <p:to>
                                        <p:strVal val="visible"/>
                                      </p:to>
                                    </p:set>
                                    <p:animEffect transition="in" filter="fade">
                                      <p:cBhvr>
                                        <p:cTn id="17" dur="800" decel="100000"/>
                                        <p:tgtEl>
                                          <p:spTgt spid="167939">
                                            <p:txEl>
                                              <p:pRg st="2" end="2"/>
                                            </p:txEl>
                                          </p:spTgt>
                                        </p:tgtEl>
                                      </p:cBhvr>
                                    </p:animEffect>
                                    <p:anim calcmode="lin" valueType="num">
                                      <p:cBhvr>
                                        <p:cTn id="18" dur="800" decel="100000" fill="hold"/>
                                        <p:tgtEl>
                                          <p:spTgt spid="167939">
                                            <p:txEl>
                                              <p:pRg st="2" end="2"/>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67939">
                                            <p:txEl>
                                              <p:pRg st="2" end="2"/>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67939">
                                            <p:txEl>
                                              <p:pRg st="2" end="2"/>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67939">
                                            <p:txEl>
                                              <p:pRg st="2" end="2"/>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67939">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67939">
                                            <p:txEl>
                                              <p:pRg st="3" end="3"/>
                                            </p:txEl>
                                          </p:spTgt>
                                        </p:tgtEl>
                                        <p:attrNameLst>
                                          <p:attrName>style.visibility</p:attrName>
                                        </p:attrNameLst>
                                      </p:cBhvr>
                                      <p:to>
                                        <p:strVal val="visible"/>
                                      </p:to>
                                    </p:set>
                                    <p:animEffect transition="in" filter="fade">
                                      <p:cBhvr>
                                        <p:cTn id="27" dur="800" decel="100000"/>
                                        <p:tgtEl>
                                          <p:spTgt spid="167939">
                                            <p:txEl>
                                              <p:pRg st="3" end="3"/>
                                            </p:txEl>
                                          </p:spTgt>
                                        </p:tgtEl>
                                      </p:cBhvr>
                                    </p:animEffect>
                                    <p:anim calcmode="lin" valueType="num">
                                      <p:cBhvr>
                                        <p:cTn id="28" dur="800" decel="100000" fill="hold"/>
                                        <p:tgtEl>
                                          <p:spTgt spid="167939">
                                            <p:txEl>
                                              <p:pRg st="3" end="3"/>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67939">
                                            <p:txEl>
                                              <p:pRg st="3" end="3"/>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67939">
                                            <p:txEl>
                                              <p:pRg st="3" end="3"/>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67939">
                                            <p:txEl>
                                              <p:pRg st="3" end="3"/>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67939">
                                            <p:txEl>
                                              <p:pRg st="3" end="3"/>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a:xfrm>
            <a:off x="457200" y="0"/>
            <a:ext cx="8229600" cy="609600"/>
          </a:xfrm>
        </p:spPr>
        <p:txBody>
          <a:bodyPr/>
          <a:lstStyle/>
          <a:p>
            <a:pPr algn="l"/>
            <a:r>
              <a:rPr lang="en-US" dirty="0" smtClean="0"/>
              <a:t>(Cont.)</a:t>
            </a:r>
            <a:endParaRPr lang="en-US" dirty="0"/>
          </a:p>
        </p:txBody>
      </p:sp>
      <p:sp>
        <p:nvSpPr>
          <p:cNvPr id="171011" name="Rectangle 3"/>
          <p:cNvSpPr>
            <a:spLocks noGrp="1" noChangeArrowheads="1"/>
          </p:cNvSpPr>
          <p:nvPr>
            <p:ph idx="1"/>
          </p:nvPr>
        </p:nvSpPr>
        <p:spPr>
          <a:xfrm>
            <a:off x="152400" y="641555"/>
            <a:ext cx="8839200" cy="5911645"/>
          </a:xfrm>
        </p:spPr>
        <p:txBody>
          <a:bodyPr/>
          <a:lstStyle/>
          <a:p>
            <a:pPr>
              <a:lnSpc>
                <a:spcPct val="80000"/>
              </a:lnSpc>
            </a:pPr>
            <a:r>
              <a:rPr lang="en-US" b="1" dirty="0">
                <a:solidFill>
                  <a:srgbClr val="FFFF00"/>
                </a:solidFill>
              </a:rPr>
              <a:t>Number of Consumers:</a:t>
            </a:r>
            <a:r>
              <a:rPr lang="en-US" dirty="0"/>
              <a:t>  </a:t>
            </a:r>
            <a:endParaRPr lang="en-US" dirty="0" smtClean="0"/>
          </a:p>
          <a:p>
            <a:pPr>
              <a:lnSpc>
                <a:spcPct val="80000"/>
              </a:lnSpc>
              <a:buNone/>
            </a:pPr>
            <a:r>
              <a:rPr lang="en-US" dirty="0" smtClean="0"/>
              <a:t>	It affects </a:t>
            </a:r>
            <a:r>
              <a:rPr lang="en-US" dirty="0"/>
              <a:t>the total demand for a good. </a:t>
            </a:r>
          </a:p>
          <a:p>
            <a:pPr lvl="1">
              <a:lnSpc>
                <a:spcPct val="80000"/>
              </a:lnSpc>
            </a:pPr>
            <a:r>
              <a:rPr lang="en-US" sz="3200" dirty="0">
                <a:solidFill>
                  <a:srgbClr val="FFFF00"/>
                </a:solidFill>
              </a:rPr>
              <a:t>Total demand </a:t>
            </a:r>
            <a:r>
              <a:rPr lang="en-US" sz="3200" dirty="0"/>
              <a:t>is also known as </a:t>
            </a:r>
            <a:r>
              <a:rPr lang="en-US" sz="3200" dirty="0">
                <a:solidFill>
                  <a:srgbClr val="FFFF00"/>
                </a:solidFill>
              </a:rPr>
              <a:t>market demand</a:t>
            </a:r>
            <a:r>
              <a:rPr lang="en-US" sz="3200" dirty="0"/>
              <a:t>. It is the </a:t>
            </a:r>
            <a:r>
              <a:rPr lang="en-US" sz="3200" dirty="0" smtClean="0">
                <a:solidFill>
                  <a:srgbClr val="FFFF00"/>
                </a:solidFill>
              </a:rPr>
              <a:t>horizontal summation </a:t>
            </a:r>
            <a:r>
              <a:rPr lang="en-US" sz="3200" dirty="0"/>
              <a:t>of the individual </a:t>
            </a:r>
            <a:r>
              <a:rPr lang="en-US" sz="3200" dirty="0" smtClean="0"/>
              <a:t>demands </a:t>
            </a:r>
            <a:r>
              <a:rPr lang="en-US" sz="3200" dirty="0"/>
              <a:t>of all </a:t>
            </a:r>
            <a:r>
              <a:rPr lang="en-US" sz="3200" dirty="0" smtClean="0"/>
              <a:t>consumers.</a:t>
            </a:r>
            <a:endParaRPr lang="en-US" sz="3200" dirty="0"/>
          </a:p>
          <a:p>
            <a:pPr>
              <a:lnSpc>
                <a:spcPct val="80000"/>
              </a:lnSpc>
            </a:pPr>
            <a:r>
              <a:rPr lang="en-US" dirty="0"/>
              <a:t>An increase in the number of consumers shifts the market demand curve to the </a:t>
            </a:r>
            <a:r>
              <a:rPr lang="en-US" dirty="0" smtClean="0"/>
              <a:t>right. </a:t>
            </a:r>
            <a:endParaRPr lang="en-US" dirty="0"/>
          </a:p>
          <a:p>
            <a:pPr lvl="1">
              <a:lnSpc>
                <a:spcPct val="80000"/>
              </a:lnSpc>
            </a:pPr>
            <a:r>
              <a:rPr lang="en-US" sz="3200" u="sng" dirty="0">
                <a:solidFill>
                  <a:srgbClr val="FFFF00"/>
                </a:solidFill>
              </a:rPr>
              <a:t>Example</a:t>
            </a:r>
            <a:r>
              <a:rPr lang="en-US" sz="3200" dirty="0">
                <a:solidFill>
                  <a:srgbClr val="FFFF00"/>
                </a:solidFill>
              </a:rPr>
              <a:t>: </a:t>
            </a:r>
            <a:r>
              <a:rPr lang="en-US" sz="3200" dirty="0"/>
              <a:t>demand for housing and transportation increases with an </a:t>
            </a:r>
            <a:r>
              <a:rPr lang="en-US" sz="3200" dirty="0">
                <a:solidFill>
                  <a:srgbClr val="FFFF00"/>
                </a:solidFill>
              </a:rPr>
              <a:t>increase in population</a:t>
            </a:r>
            <a:r>
              <a:rPr lang="en-US" sz="3200" dirty="0"/>
              <a:t>.</a:t>
            </a:r>
          </a:p>
          <a:p>
            <a:pPr>
              <a:lnSpc>
                <a:spcPct val="80000"/>
              </a:lnSpc>
            </a:pPr>
            <a:r>
              <a:rPr lang="en-US" dirty="0"/>
              <a:t>On the other hand, less consumers will cause the market demand to decrease, resulting in a shift to the left of the entire demand curve. </a:t>
            </a:r>
          </a:p>
        </p:txBody>
      </p:sp>
      <p:sp>
        <p:nvSpPr>
          <p:cNvPr id="5" name="Slide Number Placeholder 4"/>
          <p:cNvSpPr>
            <a:spLocks noGrp="1"/>
          </p:cNvSpPr>
          <p:nvPr>
            <p:ph type="sldNum" sz="quarter" idx="11"/>
          </p:nvPr>
        </p:nvSpPr>
        <p:spPr/>
        <p:txBody>
          <a:bodyPr/>
          <a:lstStyle/>
          <a:p>
            <a:fld id="{6D63C845-4982-41E6-901A-A3EC09BDD7BE}" type="slidenum">
              <a:rPr lang="en-US" smtClean="0"/>
              <a:pPr/>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71011">
                                            <p:txEl>
                                              <p:pRg st="1" end="1"/>
                                            </p:txEl>
                                          </p:spTgt>
                                        </p:tgtEl>
                                        <p:attrNameLst>
                                          <p:attrName>style.visibility</p:attrName>
                                        </p:attrNameLst>
                                      </p:cBhvr>
                                      <p:to>
                                        <p:strVal val="visible"/>
                                      </p:to>
                                    </p:set>
                                    <p:animEffect transition="in" filter="fade">
                                      <p:cBhvr>
                                        <p:cTn id="7" dur="800" decel="100000"/>
                                        <p:tgtEl>
                                          <p:spTgt spid="171011">
                                            <p:txEl>
                                              <p:pRg st="1" end="1"/>
                                            </p:txEl>
                                          </p:spTgt>
                                        </p:tgtEl>
                                      </p:cBhvr>
                                    </p:animEffect>
                                    <p:anim calcmode="lin" valueType="num">
                                      <p:cBhvr>
                                        <p:cTn id="8" dur="800" decel="100000" fill="hold"/>
                                        <p:tgtEl>
                                          <p:spTgt spid="171011">
                                            <p:txEl>
                                              <p:pRg st="1" end="1"/>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71011">
                                            <p:txEl>
                                              <p:pRg st="1" end="1"/>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71011">
                                            <p:txEl>
                                              <p:pRg st="1" end="1"/>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71011">
                                            <p:txEl>
                                              <p:pRg st="1" end="1"/>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71011">
                                            <p:txEl>
                                              <p:pRg st="1" end="1"/>
                                            </p:txEl>
                                          </p:spTgt>
                                        </p:tgtEl>
                                        <p:attrNameLst>
                                          <p:attrName>ppt_y</p:attrName>
                                        </p:attrNameLst>
                                      </p:cBhvr>
                                      <p:tavLst>
                                        <p:tav tm="0">
                                          <p:val>
                                            <p:strVal val="#ppt_y+0.1"/>
                                          </p:val>
                                        </p:tav>
                                        <p:tav tm="100000">
                                          <p:val>
                                            <p:strVal val="#ppt_y"/>
                                          </p:val>
                                        </p:tav>
                                      </p:tavLst>
                                    </p:anim>
                                  </p:childTnLst>
                                </p:cTn>
                              </p:par>
                              <p:par>
                                <p:cTn id="13" presetID="30" presetClass="entr" presetSubtype="0" fill="hold" grpId="0" nodeType="withEffect">
                                  <p:stCondLst>
                                    <p:cond delay="0"/>
                                  </p:stCondLst>
                                  <p:childTnLst>
                                    <p:set>
                                      <p:cBhvr>
                                        <p:cTn id="14" dur="1" fill="hold">
                                          <p:stCondLst>
                                            <p:cond delay="0"/>
                                          </p:stCondLst>
                                        </p:cTn>
                                        <p:tgtEl>
                                          <p:spTgt spid="171011">
                                            <p:txEl>
                                              <p:pRg st="2" end="2"/>
                                            </p:txEl>
                                          </p:spTgt>
                                        </p:tgtEl>
                                        <p:attrNameLst>
                                          <p:attrName>style.visibility</p:attrName>
                                        </p:attrNameLst>
                                      </p:cBhvr>
                                      <p:to>
                                        <p:strVal val="visible"/>
                                      </p:to>
                                    </p:set>
                                    <p:animEffect transition="in" filter="fade">
                                      <p:cBhvr>
                                        <p:cTn id="15" dur="800" decel="100000"/>
                                        <p:tgtEl>
                                          <p:spTgt spid="171011">
                                            <p:txEl>
                                              <p:pRg st="2" end="2"/>
                                            </p:txEl>
                                          </p:spTgt>
                                        </p:tgtEl>
                                      </p:cBhvr>
                                    </p:animEffect>
                                    <p:anim calcmode="lin" valueType="num">
                                      <p:cBhvr>
                                        <p:cTn id="16" dur="800" decel="100000" fill="hold"/>
                                        <p:tgtEl>
                                          <p:spTgt spid="171011">
                                            <p:txEl>
                                              <p:pRg st="2" end="2"/>
                                            </p:txEl>
                                          </p:spTgt>
                                        </p:tgtEl>
                                        <p:attrNameLst>
                                          <p:attrName>style.rotation</p:attrName>
                                        </p:attrNameLst>
                                      </p:cBhvr>
                                      <p:tavLst>
                                        <p:tav tm="0">
                                          <p:val>
                                            <p:fltVal val="-90"/>
                                          </p:val>
                                        </p:tav>
                                        <p:tav tm="100000">
                                          <p:val>
                                            <p:fltVal val="0"/>
                                          </p:val>
                                        </p:tav>
                                      </p:tavLst>
                                    </p:anim>
                                    <p:anim calcmode="lin" valueType="num">
                                      <p:cBhvr>
                                        <p:cTn id="17" dur="800" decel="100000" fill="hold"/>
                                        <p:tgtEl>
                                          <p:spTgt spid="171011">
                                            <p:txEl>
                                              <p:pRg st="2" end="2"/>
                                            </p:txEl>
                                          </p:spTgt>
                                        </p:tgtEl>
                                        <p:attrNameLst>
                                          <p:attrName>ppt_x</p:attrName>
                                        </p:attrNameLst>
                                      </p:cBhvr>
                                      <p:tavLst>
                                        <p:tav tm="0">
                                          <p:val>
                                            <p:strVal val="#ppt_x+0.4"/>
                                          </p:val>
                                        </p:tav>
                                        <p:tav tm="100000">
                                          <p:val>
                                            <p:strVal val="#ppt_x-0.05"/>
                                          </p:val>
                                        </p:tav>
                                      </p:tavLst>
                                    </p:anim>
                                    <p:anim calcmode="lin" valueType="num">
                                      <p:cBhvr>
                                        <p:cTn id="18" dur="800" decel="100000" fill="hold"/>
                                        <p:tgtEl>
                                          <p:spTgt spid="171011">
                                            <p:txEl>
                                              <p:pRg st="2" end="2"/>
                                            </p:txEl>
                                          </p:spTgt>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171011">
                                            <p:txEl>
                                              <p:pRg st="2" end="2"/>
                                            </p:txEl>
                                          </p:spTgt>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171011">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0" presetClass="entr" presetSubtype="0" fill="hold" grpId="0" nodeType="clickEffect">
                                  <p:stCondLst>
                                    <p:cond delay="0"/>
                                  </p:stCondLst>
                                  <p:childTnLst>
                                    <p:set>
                                      <p:cBhvr>
                                        <p:cTn id="24" dur="1" fill="hold">
                                          <p:stCondLst>
                                            <p:cond delay="0"/>
                                          </p:stCondLst>
                                        </p:cTn>
                                        <p:tgtEl>
                                          <p:spTgt spid="171011">
                                            <p:txEl>
                                              <p:pRg st="3" end="3"/>
                                            </p:txEl>
                                          </p:spTgt>
                                        </p:tgtEl>
                                        <p:attrNameLst>
                                          <p:attrName>style.visibility</p:attrName>
                                        </p:attrNameLst>
                                      </p:cBhvr>
                                      <p:to>
                                        <p:strVal val="visible"/>
                                      </p:to>
                                    </p:set>
                                    <p:animEffect transition="in" filter="fade">
                                      <p:cBhvr>
                                        <p:cTn id="25" dur="800" decel="100000"/>
                                        <p:tgtEl>
                                          <p:spTgt spid="171011">
                                            <p:txEl>
                                              <p:pRg st="3" end="3"/>
                                            </p:txEl>
                                          </p:spTgt>
                                        </p:tgtEl>
                                      </p:cBhvr>
                                    </p:animEffect>
                                    <p:anim calcmode="lin" valueType="num">
                                      <p:cBhvr>
                                        <p:cTn id="26" dur="800" decel="100000" fill="hold"/>
                                        <p:tgtEl>
                                          <p:spTgt spid="171011">
                                            <p:txEl>
                                              <p:pRg st="3" end="3"/>
                                            </p:txEl>
                                          </p:spTgt>
                                        </p:tgtEl>
                                        <p:attrNameLst>
                                          <p:attrName>style.rotation</p:attrName>
                                        </p:attrNameLst>
                                      </p:cBhvr>
                                      <p:tavLst>
                                        <p:tav tm="0">
                                          <p:val>
                                            <p:fltVal val="-90"/>
                                          </p:val>
                                        </p:tav>
                                        <p:tav tm="100000">
                                          <p:val>
                                            <p:fltVal val="0"/>
                                          </p:val>
                                        </p:tav>
                                      </p:tavLst>
                                    </p:anim>
                                    <p:anim calcmode="lin" valueType="num">
                                      <p:cBhvr>
                                        <p:cTn id="27" dur="800" decel="100000" fill="hold"/>
                                        <p:tgtEl>
                                          <p:spTgt spid="171011">
                                            <p:txEl>
                                              <p:pRg st="3" end="3"/>
                                            </p:txEl>
                                          </p:spTgt>
                                        </p:tgtEl>
                                        <p:attrNameLst>
                                          <p:attrName>ppt_x</p:attrName>
                                        </p:attrNameLst>
                                      </p:cBhvr>
                                      <p:tavLst>
                                        <p:tav tm="0">
                                          <p:val>
                                            <p:strVal val="#ppt_x+0.4"/>
                                          </p:val>
                                        </p:tav>
                                        <p:tav tm="100000">
                                          <p:val>
                                            <p:strVal val="#ppt_x-0.05"/>
                                          </p:val>
                                        </p:tav>
                                      </p:tavLst>
                                    </p:anim>
                                    <p:anim calcmode="lin" valueType="num">
                                      <p:cBhvr>
                                        <p:cTn id="28" dur="800" decel="100000" fill="hold"/>
                                        <p:tgtEl>
                                          <p:spTgt spid="171011">
                                            <p:txEl>
                                              <p:pRg st="3" end="3"/>
                                            </p:txEl>
                                          </p:spTgt>
                                        </p:tgtEl>
                                        <p:attrNameLst>
                                          <p:attrName>ppt_y</p:attrName>
                                        </p:attrNameLst>
                                      </p:cBhvr>
                                      <p:tavLst>
                                        <p:tav tm="0">
                                          <p:val>
                                            <p:strVal val="#ppt_y-0.4"/>
                                          </p:val>
                                        </p:tav>
                                        <p:tav tm="100000">
                                          <p:val>
                                            <p:strVal val="#ppt_y+0.1"/>
                                          </p:val>
                                        </p:tav>
                                      </p:tavLst>
                                    </p:anim>
                                    <p:anim calcmode="lin" valueType="num">
                                      <p:cBhvr>
                                        <p:cTn id="29" dur="200" accel="100000" fill="hold">
                                          <p:stCondLst>
                                            <p:cond delay="800"/>
                                          </p:stCondLst>
                                        </p:cTn>
                                        <p:tgtEl>
                                          <p:spTgt spid="171011">
                                            <p:txEl>
                                              <p:pRg st="3" end="3"/>
                                            </p:txEl>
                                          </p:spTgt>
                                        </p:tgtEl>
                                        <p:attrNameLst>
                                          <p:attrName>ppt_x</p:attrName>
                                        </p:attrNameLst>
                                      </p:cBhvr>
                                      <p:tavLst>
                                        <p:tav tm="0">
                                          <p:val>
                                            <p:strVal val="#ppt_x-0.05"/>
                                          </p:val>
                                        </p:tav>
                                        <p:tav tm="100000">
                                          <p:val>
                                            <p:strVal val="#ppt_x"/>
                                          </p:val>
                                        </p:tav>
                                      </p:tavLst>
                                    </p:anim>
                                    <p:anim calcmode="lin" valueType="num">
                                      <p:cBhvr>
                                        <p:cTn id="30" dur="200" accel="100000" fill="hold">
                                          <p:stCondLst>
                                            <p:cond delay="800"/>
                                          </p:stCondLst>
                                        </p:cTn>
                                        <p:tgtEl>
                                          <p:spTgt spid="171011">
                                            <p:txEl>
                                              <p:pRg st="3" end="3"/>
                                            </p:txEl>
                                          </p:spTgt>
                                        </p:tgtEl>
                                        <p:attrNameLst>
                                          <p:attrName>ppt_y</p:attrName>
                                        </p:attrNameLst>
                                      </p:cBhvr>
                                      <p:tavLst>
                                        <p:tav tm="0">
                                          <p:val>
                                            <p:strVal val="#ppt_y+0.1"/>
                                          </p:val>
                                        </p:tav>
                                        <p:tav tm="100000">
                                          <p:val>
                                            <p:strVal val="#ppt_y"/>
                                          </p:val>
                                        </p:tav>
                                      </p:tavLst>
                                    </p:anim>
                                  </p:childTnLst>
                                </p:cTn>
                              </p:par>
                              <p:par>
                                <p:cTn id="31" presetID="30" presetClass="entr" presetSubtype="0" fill="hold" grpId="0" nodeType="withEffect">
                                  <p:stCondLst>
                                    <p:cond delay="0"/>
                                  </p:stCondLst>
                                  <p:childTnLst>
                                    <p:set>
                                      <p:cBhvr>
                                        <p:cTn id="32" dur="1" fill="hold">
                                          <p:stCondLst>
                                            <p:cond delay="0"/>
                                          </p:stCondLst>
                                        </p:cTn>
                                        <p:tgtEl>
                                          <p:spTgt spid="171011">
                                            <p:txEl>
                                              <p:pRg st="4" end="4"/>
                                            </p:txEl>
                                          </p:spTgt>
                                        </p:tgtEl>
                                        <p:attrNameLst>
                                          <p:attrName>style.visibility</p:attrName>
                                        </p:attrNameLst>
                                      </p:cBhvr>
                                      <p:to>
                                        <p:strVal val="visible"/>
                                      </p:to>
                                    </p:set>
                                    <p:animEffect transition="in" filter="fade">
                                      <p:cBhvr>
                                        <p:cTn id="33" dur="800" decel="100000"/>
                                        <p:tgtEl>
                                          <p:spTgt spid="171011">
                                            <p:txEl>
                                              <p:pRg st="4" end="4"/>
                                            </p:txEl>
                                          </p:spTgt>
                                        </p:tgtEl>
                                      </p:cBhvr>
                                    </p:animEffect>
                                    <p:anim calcmode="lin" valueType="num">
                                      <p:cBhvr>
                                        <p:cTn id="34" dur="800" decel="100000" fill="hold"/>
                                        <p:tgtEl>
                                          <p:spTgt spid="171011">
                                            <p:txEl>
                                              <p:pRg st="4" end="4"/>
                                            </p:txEl>
                                          </p:spTgt>
                                        </p:tgtEl>
                                        <p:attrNameLst>
                                          <p:attrName>style.rotation</p:attrName>
                                        </p:attrNameLst>
                                      </p:cBhvr>
                                      <p:tavLst>
                                        <p:tav tm="0">
                                          <p:val>
                                            <p:fltVal val="-90"/>
                                          </p:val>
                                        </p:tav>
                                        <p:tav tm="100000">
                                          <p:val>
                                            <p:fltVal val="0"/>
                                          </p:val>
                                        </p:tav>
                                      </p:tavLst>
                                    </p:anim>
                                    <p:anim calcmode="lin" valueType="num">
                                      <p:cBhvr>
                                        <p:cTn id="35" dur="800" decel="100000" fill="hold"/>
                                        <p:tgtEl>
                                          <p:spTgt spid="171011">
                                            <p:txEl>
                                              <p:pRg st="4" end="4"/>
                                            </p:txEl>
                                          </p:spTgt>
                                        </p:tgtEl>
                                        <p:attrNameLst>
                                          <p:attrName>ppt_x</p:attrName>
                                        </p:attrNameLst>
                                      </p:cBhvr>
                                      <p:tavLst>
                                        <p:tav tm="0">
                                          <p:val>
                                            <p:strVal val="#ppt_x+0.4"/>
                                          </p:val>
                                        </p:tav>
                                        <p:tav tm="100000">
                                          <p:val>
                                            <p:strVal val="#ppt_x-0.05"/>
                                          </p:val>
                                        </p:tav>
                                      </p:tavLst>
                                    </p:anim>
                                    <p:anim calcmode="lin" valueType="num">
                                      <p:cBhvr>
                                        <p:cTn id="36" dur="800" decel="100000" fill="hold"/>
                                        <p:tgtEl>
                                          <p:spTgt spid="171011">
                                            <p:txEl>
                                              <p:pRg st="4" end="4"/>
                                            </p:txEl>
                                          </p:spTgt>
                                        </p:tgtEl>
                                        <p:attrNameLst>
                                          <p:attrName>ppt_y</p:attrName>
                                        </p:attrNameLst>
                                      </p:cBhvr>
                                      <p:tavLst>
                                        <p:tav tm="0">
                                          <p:val>
                                            <p:strVal val="#ppt_y-0.4"/>
                                          </p:val>
                                        </p:tav>
                                        <p:tav tm="100000">
                                          <p:val>
                                            <p:strVal val="#ppt_y+0.1"/>
                                          </p:val>
                                        </p:tav>
                                      </p:tavLst>
                                    </p:anim>
                                    <p:anim calcmode="lin" valueType="num">
                                      <p:cBhvr>
                                        <p:cTn id="37" dur="200" accel="100000" fill="hold">
                                          <p:stCondLst>
                                            <p:cond delay="800"/>
                                          </p:stCondLst>
                                        </p:cTn>
                                        <p:tgtEl>
                                          <p:spTgt spid="171011">
                                            <p:txEl>
                                              <p:pRg st="4" end="4"/>
                                            </p:txEl>
                                          </p:spTgt>
                                        </p:tgtEl>
                                        <p:attrNameLst>
                                          <p:attrName>ppt_x</p:attrName>
                                        </p:attrNameLst>
                                      </p:cBhvr>
                                      <p:tavLst>
                                        <p:tav tm="0">
                                          <p:val>
                                            <p:strVal val="#ppt_x-0.05"/>
                                          </p:val>
                                        </p:tav>
                                        <p:tav tm="100000">
                                          <p:val>
                                            <p:strVal val="#ppt_x"/>
                                          </p:val>
                                        </p:tav>
                                      </p:tavLst>
                                    </p:anim>
                                    <p:anim calcmode="lin" valueType="num">
                                      <p:cBhvr>
                                        <p:cTn id="38" dur="200" accel="100000" fill="hold">
                                          <p:stCondLst>
                                            <p:cond delay="800"/>
                                          </p:stCondLst>
                                        </p:cTn>
                                        <p:tgtEl>
                                          <p:spTgt spid="171011">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0" presetClass="entr" presetSubtype="0" fill="hold" grpId="0" nodeType="clickEffect">
                                  <p:stCondLst>
                                    <p:cond delay="0"/>
                                  </p:stCondLst>
                                  <p:childTnLst>
                                    <p:set>
                                      <p:cBhvr>
                                        <p:cTn id="42" dur="1" fill="hold">
                                          <p:stCondLst>
                                            <p:cond delay="0"/>
                                          </p:stCondLst>
                                        </p:cTn>
                                        <p:tgtEl>
                                          <p:spTgt spid="171011">
                                            <p:txEl>
                                              <p:pRg st="5" end="5"/>
                                            </p:txEl>
                                          </p:spTgt>
                                        </p:tgtEl>
                                        <p:attrNameLst>
                                          <p:attrName>style.visibility</p:attrName>
                                        </p:attrNameLst>
                                      </p:cBhvr>
                                      <p:to>
                                        <p:strVal val="visible"/>
                                      </p:to>
                                    </p:set>
                                    <p:animEffect transition="in" filter="fade">
                                      <p:cBhvr>
                                        <p:cTn id="43" dur="800" decel="100000"/>
                                        <p:tgtEl>
                                          <p:spTgt spid="171011">
                                            <p:txEl>
                                              <p:pRg st="5" end="5"/>
                                            </p:txEl>
                                          </p:spTgt>
                                        </p:tgtEl>
                                      </p:cBhvr>
                                    </p:animEffect>
                                    <p:anim calcmode="lin" valueType="num">
                                      <p:cBhvr>
                                        <p:cTn id="44" dur="800" decel="100000" fill="hold"/>
                                        <p:tgtEl>
                                          <p:spTgt spid="171011">
                                            <p:txEl>
                                              <p:pRg st="5" end="5"/>
                                            </p:txEl>
                                          </p:spTgt>
                                        </p:tgtEl>
                                        <p:attrNameLst>
                                          <p:attrName>style.rotation</p:attrName>
                                        </p:attrNameLst>
                                      </p:cBhvr>
                                      <p:tavLst>
                                        <p:tav tm="0">
                                          <p:val>
                                            <p:fltVal val="-90"/>
                                          </p:val>
                                        </p:tav>
                                        <p:tav tm="100000">
                                          <p:val>
                                            <p:fltVal val="0"/>
                                          </p:val>
                                        </p:tav>
                                      </p:tavLst>
                                    </p:anim>
                                    <p:anim calcmode="lin" valueType="num">
                                      <p:cBhvr>
                                        <p:cTn id="45" dur="800" decel="100000" fill="hold"/>
                                        <p:tgtEl>
                                          <p:spTgt spid="171011">
                                            <p:txEl>
                                              <p:pRg st="5" end="5"/>
                                            </p:txEl>
                                          </p:spTgt>
                                        </p:tgtEl>
                                        <p:attrNameLst>
                                          <p:attrName>ppt_x</p:attrName>
                                        </p:attrNameLst>
                                      </p:cBhvr>
                                      <p:tavLst>
                                        <p:tav tm="0">
                                          <p:val>
                                            <p:strVal val="#ppt_x+0.4"/>
                                          </p:val>
                                        </p:tav>
                                        <p:tav tm="100000">
                                          <p:val>
                                            <p:strVal val="#ppt_x-0.05"/>
                                          </p:val>
                                        </p:tav>
                                      </p:tavLst>
                                    </p:anim>
                                    <p:anim calcmode="lin" valueType="num">
                                      <p:cBhvr>
                                        <p:cTn id="46" dur="800" decel="100000" fill="hold"/>
                                        <p:tgtEl>
                                          <p:spTgt spid="171011">
                                            <p:txEl>
                                              <p:pRg st="5" end="5"/>
                                            </p:txEl>
                                          </p:spTgt>
                                        </p:tgtEl>
                                        <p:attrNameLst>
                                          <p:attrName>ppt_y</p:attrName>
                                        </p:attrNameLst>
                                      </p:cBhvr>
                                      <p:tavLst>
                                        <p:tav tm="0">
                                          <p:val>
                                            <p:strVal val="#ppt_y-0.4"/>
                                          </p:val>
                                        </p:tav>
                                        <p:tav tm="100000">
                                          <p:val>
                                            <p:strVal val="#ppt_y+0.1"/>
                                          </p:val>
                                        </p:tav>
                                      </p:tavLst>
                                    </p:anim>
                                    <p:anim calcmode="lin" valueType="num">
                                      <p:cBhvr>
                                        <p:cTn id="47" dur="200" accel="100000" fill="hold">
                                          <p:stCondLst>
                                            <p:cond delay="800"/>
                                          </p:stCondLst>
                                        </p:cTn>
                                        <p:tgtEl>
                                          <p:spTgt spid="171011">
                                            <p:txEl>
                                              <p:pRg st="5" end="5"/>
                                            </p:txEl>
                                          </p:spTgt>
                                        </p:tgtEl>
                                        <p:attrNameLst>
                                          <p:attrName>ppt_x</p:attrName>
                                        </p:attrNameLst>
                                      </p:cBhvr>
                                      <p:tavLst>
                                        <p:tav tm="0">
                                          <p:val>
                                            <p:strVal val="#ppt_x-0.05"/>
                                          </p:val>
                                        </p:tav>
                                        <p:tav tm="100000">
                                          <p:val>
                                            <p:strVal val="#ppt_x"/>
                                          </p:val>
                                        </p:tav>
                                      </p:tavLst>
                                    </p:anim>
                                    <p:anim calcmode="lin" valueType="num">
                                      <p:cBhvr>
                                        <p:cTn id="48" dur="200" accel="100000" fill="hold">
                                          <p:stCondLst>
                                            <p:cond delay="800"/>
                                          </p:stCondLst>
                                        </p:cTn>
                                        <p:tgtEl>
                                          <p:spTgt spid="171011">
                                            <p:txEl>
                                              <p:pRg st="5" end="5"/>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algn="l"/>
            <a:r>
              <a:rPr lang="en-US" sz="4000" u="sng" dirty="0"/>
              <a:t>Change in Quantity Demanded vs.</a:t>
            </a:r>
            <a:br>
              <a:rPr lang="en-US" sz="4000" u="sng" dirty="0"/>
            </a:br>
            <a:r>
              <a:rPr lang="en-US" sz="4000" u="sng" dirty="0"/>
              <a:t>Change in </a:t>
            </a:r>
            <a:r>
              <a:rPr lang="en-US" sz="4000" u="sng" dirty="0" smtClean="0"/>
              <a:t>Demand:</a:t>
            </a:r>
            <a:endParaRPr lang="en-US" sz="4000" u="sng" dirty="0"/>
          </a:p>
        </p:txBody>
      </p:sp>
      <p:sp>
        <p:nvSpPr>
          <p:cNvPr id="114691" name="Rectangle 3"/>
          <p:cNvSpPr>
            <a:spLocks noGrp="1" noChangeArrowheads="1"/>
          </p:cNvSpPr>
          <p:nvPr>
            <p:ph idx="1"/>
          </p:nvPr>
        </p:nvSpPr>
        <p:spPr>
          <a:xfrm>
            <a:off x="152400" y="1600200"/>
            <a:ext cx="8839200" cy="4953000"/>
          </a:xfrm>
        </p:spPr>
        <p:txBody>
          <a:bodyPr/>
          <a:lstStyle/>
          <a:p>
            <a:r>
              <a:rPr lang="en-US" sz="3600" dirty="0">
                <a:solidFill>
                  <a:srgbClr val="FFFF00"/>
                </a:solidFill>
              </a:rPr>
              <a:t>Change in quantity demanded</a:t>
            </a:r>
            <a:r>
              <a:rPr lang="en-US" sz="3600" dirty="0"/>
              <a:t> – is a </a:t>
            </a:r>
            <a:r>
              <a:rPr lang="en-US" sz="3600" u="sng" dirty="0"/>
              <a:t>movement</a:t>
            </a:r>
            <a:r>
              <a:rPr lang="en-US" sz="3600" dirty="0"/>
              <a:t> along the same demand curve, due solely to a change in price, </a:t>
            </a:r>
            <a:r>
              <a:rPr lang="en-US" sz="3600" dirty="0" smtClean="0"/>
              <a:t>all </a:t>
            </a:r>
            <a:r>
              <a:rPr lang="en-US" sz="3600" dirty="0"/>
              <a:t>other factors held constant.</a:t>
            </a:r>
          </a:p>
          <a:p>
            <a:r>
              <a:rPr lang="en-US" sz="3600" dirty="0">
                <a:solidFill>
                  <a:srgbClr val="FFFF00"/>
                </a:solidFill>
              </a:rPr>
              <a:t>Change in demand</a:t>
            </a:r>
            <a:r>
              <a:rPr lang="en-US" sz="3600" dirty="0"/>
              <a:t> – is a shift in the </a:t>
            </a:r>
            <a:r>
              <a:rPr lang="en-US" sz="3600" u="sng" dirty="0"/>
              <a:t>entire</a:t>
            </a:r>
            <a:r>
              <a:rPr lang="en-US" sz="3600" dirty="0"/>
              <a:t> demand curve (either to the left or to the right) as a result of changes in other factors affecting demand.</a:t>
            </a:r>
          </a:p>
        </p:txBody>
      </p:sp>
      <p:sp>
        <p:nvSpPr>
          <p:cNvPr id="5" name="Slide Number Placeholder 4"/>
          <p:cNvSpPr>
            <a:spLocks noGrp="1"/>
          </p:cNvSpPr>
          <p:nvPr>
            <p:ph type="sldNum" sz="quarter" idx="11"/>
          </p:nvPr>
        </p:nvSpPr>
        <p:spPr/>
        <p:txBody>
          <a:bodyPr/>
          <a:lstStyle/>
          <a:p>
            <a:fld id="{6D63C845-4982-41E6-901A-A3EC09BDD7BE}" type="slidenum">
              <a:rPr lang="en-US" smtClean="0"/>
              <a:pPr/>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Effect transition="in" filter="fade">
                                      <p:cBhvr>
                                        <p:cTn id="7" dur="800" decel="100000"/>
                                        <p:tgtEl>
                                          <p:spTgt spid="114691">
                                            <p:txEl>
                                              <p:pRg st="0" end="0"/>
                                            </p:txEl>
                                          </p:spTgt>
                                        </p:tgtEl>
                                      </p:cBhvr>
                                    </p:animEffect>
                                    <p:anim calcmode="lin" valueType="num">
                                      <p:cBhvr>
                                        <p:cTn id="8" dur="800" decel="100000" fill="hold"/>
                                        <p:tgtEl>
                                          <p:spTgt spid="114691">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14691">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14691">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14691">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1469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14691">
                                            <p:txEl>
                                              <p:pRg st="1" end="1"/>
                                            </p:txEl>
                                          </p:spTgt>
                                        </p:tgtEl>
                                        <p:attrNameLst>
                                          <p:attrName>style.visibility</p:attrName>
                                        </p:attrNameLst>
                                      </p:cBhvr>
                                      <p:to>
                                        <p:strVal val="visible"/>
                                      </p:to>
                                    </p:set>
                                    <p:animEffect transition="in" filter="fade">
                                      <p:cBhvr>
                                        <p:cTn id="17" dur="800" decel="100000"/>
                                        <p:tgtEl>
                                          <p:spTgt spid="114691">
                                            <p:txEl>
                                              <p:pRg st="1" end="1"/>
                                            </p:txEl>
                                          </p:spTgt>
                                        </p:tgtEl>
                                      </p:cBhvr>
                                    </p:animEffect>
                                    <p:anim calcmode="lin" valueType="num">
                                      <p:cBhvr>
                                        <p:cTn id="18" dur="800" decel="100000" fill="hold"/>
                                        <p:tgtEl>
                                          <p:spTgt spid="114691">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14691">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14691">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14691">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14691">
                                            <p:txEl>
                                              <p:pRg st="1" end="1"/>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algn="l"/>
            <a:r>
              <a:rPr lang="en-US" u="sng" dirty="0"/>
              <a:t>Change in </a:t>
            </a:r>
            <a:r>
              <a:rPr lang="en-US" u="sng" dirty="0" smtClean="0"/>
              <a:t>Quantity Demanded:</a:t>
            </a:r>
            <a:endParaRPr lang="en-US" u="sng" dirty="0"/>
          </a:p>
        </p:txBody>
      </p:sp>
      <p:sp>
        <p:nvSpPr>
          <p:cNvPr id="115716" name="Line 4"/>
          <p:cNvSpPr>
            <a:spLocks noChangeShapeType="1"/>
          </p:cNvSpPr>
          <p:nvPr/>
        </p:nvSpPr>
        <p:spPr bwMode="auto">
          <a:xfrm>
            <a:off x="1981200" y="1524000"/>
            <a:ext cx="0" cy="4267200"/>
          </a:xfrm>
          <a:prstGeom prst="line">
            <a:avLst/>
          </a:prstGeom>
          <a:noFill/>
          <a:ln w="25400">
            <a:solidFill>
              <a:schemeClr val="tx1"/>
            </a:solidFill>
            <a:round/>
            <a:headEnd/>
            <a:tailEnd/>
          </a:ln>
          <a:effectLst/>
        </p:spPr>
        <p:txBody>
          <a:bodyPr/>
          <a:lstStyle/>
          <a:p>
            <a:endParaRPr lang="en-US"/>
          </a:p>
        </p:txBody>
      </p:sp>
      <p:sp>
        <p:nvSpPr>
          <p:cNvPr id="115717" name="Line 5"/>
          <p:cNvSpPr>
            <a:spLocks noChangeShapeType="1"/>
          </p:cNvSpPr>
          <p:nvPr/>
        </p:nvSpPr>
        <p:spPr bwMode="auto">
          <a:xfrm>
            <a:off x="1981200" y="5791200"/>
            <a:ext cx="5562600" cy="0"/>
          </a:xfrm>
          <a:prstGeom prst="line">
            <a:avLst/>
          </a:prstGeom>
          <a:noFill/>
          <a:ln w="25400">
            <a:solidFill>
              <a:schemeClr val="tx1"/>
            </a:solidFill>
            <a:round/>
            <a:headEnd/>
            <a:tailEnd/>
          </a:ln>
          <a:effectLst/>
        </p:spPr>
        <p:txBody>
          <a:bodyPr/>
          <a:lstStyle/>
          <a:p>
            <a:endParaRPr lang="en-US"/>
          </a:p>
        </p:txBody>
      </p:sp>
      <p:sp>
        <p:nvSpPr>
          <p:cNvPr id="115718" name="Text Box 6"/>
          <p:cNvSpPr txBox="1">
            <a:spLocks noChangeArrowheads="1"/>
          </p:cNvSpPr>
          <p:nvPr/>
        </p:nvSpPr>
        <p:spPr bwMode="auto">
          <a:xfrm>
            <a:off x="762000" y="1752600"/>
            <a:ext cx="914400" cy="366713"/>
          </a:xfrm>
          <a:prstGeom prst="rect">
            <a:avLst/>
          </a:prstGeom>
          <a:noFill/>
          <a:ln w="9525">
            <a:noFill/>
            <a:miter lim="800000"/>
            <a:headEnd/>
            <a:tailEnd/>
          </a:ln>
          <a:effectLst/>
        </p:spPr>
        <p:txBody>
          <a:bodyPr>
            <a:spAutoFit/>
          </a:bodyPr>
          <a:lstStyle/>
          <a:p>
            <a:pPr algn="l">
              <a:spcBef>
                <a:spcPct val="50000"/>
              </a:spcBef>
            </a:pPr>
            <a:r>
              <a:rPr lang="en-US" sz="1800"/>
              <a:t>Price</a:t>
            </a:r>
          </a:p>
        </p:txBody>
      </p:sp>
      <p:sp>
        <p:nvSpPr>
          <p:cNvPr id="115719" name="Text Box 7"/>
          <p:cNvSpPr txBox="1">
            <a:spLocks noChangeArrowheads="1"/>
          </p:cNvSpPr>
          <p:nvPr/>
        </p:nvSpPr>
        <p:spPr bwMode="auto">
          <a:xfrm>
            <a:off x="7772400" y="5638800"/>
            <a:ext cx="1219200" cy="366713"/>
          </a:xfrm>
          <a:prstGeom prst="rect">
            <a:avLst/>
          </a:prstGeom>
          <a:noFill/>
          <a:ln w="9525">
            <a:noFill/>
            <a:miter lim="800000"/>
            <a:headEnd/>
            <a:tailEnd/>
          </a:ln>
          <a:effectLst/>
        </p:spPr>
        <p:txBody>
          <a:bodyPr>
            <a:spAutoFit/>
          </a:bodyPr>
          <a:lstStyle/>
          <a:p>
            <a:pPr algn="l">
              <a:spcBef>
                <a:spcPct val="50000"/>
              </a:spcBef>
            </a:pPr>
            <a:r>
              <a:rPr lang="en-US" sz="1800"/>
              <a:t>Quantity</a:t>
            </a:r>
          </a:p>
        </p:txBody>
      </p:sp>
      <p:sp>
        <p:nvSpPr>
          <p:cNvPr id="115720" name="Line 8"/>
          <p:cNvSpPr>
            <a:spLocks noChangeShapeType="1"/>
          </p:cNvSpPr>
          <p:nvPr/>
        </p:nvSpPr>
        <p:spPr bwMode="auto">
          <a:xfrm>
            <a:off x="1981200" y="2286000"/>
            <a:ext cx="4572000" cy="3124200"/>
          </a:xfrm>
          <a:prstGeom prst="line">
            <a:avLst/>
          </a:prstGeom>
          <a:noFill/>
          <a:ln w="25400">
            <a:solidFill>
              <a:schemeClr val="tx1"/>
            </a:solidFill>
            <a:round/>
            <a:headEnd/>
            <a:tailEnd/>
          </a:ln>
          <a:effectLst/>
        </p:spPr>
        <p:txBody>
          <a:bodyPr/>
          <a:lstStyle/>
          <a:p>
            <a:endParaRPr lang="en-US"/>
          </a:p>
        </p:txBody>
      </p:sp>
      <p:sp>
        <p:nvSpPr>
          <p:cNvPr id="115721" name="Text Box 9"/>
          <p:cNvSpPr txBox="1">
            <a:spLocks noChangeArrowheads="1"/>
          </p:cNvSpPr>
          <p:nvPr/>
        </p:nvSpPr>
        <p:spPr bwMode="auto">
          <a:xfrm>
            <a:off x="1219200" y="2743200"/>
            <a:ext cx="685800" cy="366713"/>
          </a:xfrm>
          <a:prstGeom prst="rect">
            <a:avLst/>
          </a:prstGeom>
          <a:noFill/>
          <a:ln w="9525">
            <a:noFill/>
            <a:miter lim="800000"/>
            <a:headEnd/>
            <a:tailEnd/>
          </a:ln>
          <a:effectLst/>
        </p:spPr>
        <p:txBody>
          <a:bodyPr>
            <a:spAutoFit/>
          </a:bodyPr>
          <a:lstStyle/>
          <a:p>
            <a:pPr algn="l">
              <a:spcBef>
                <a:spcPct val="50000"/>
              </a:spcBef>
            </a:pPr>
            <a:r>
              <a:rPr lang="en-US" sz="1800"/>
              <a:t>p</a:t>
            </a:r>
            <a:r>
              <a:rPr lang="en-US" sz="1800" baseline="-25000"/>
              <a:t>1</a:t>
            </a:r>
          </a:p>
        </p:txBody>
      </p:sp>
      <p:sp>
        <p:nvSpPr>
          <p:cNvPr id="115722" name="Text Box 10"/>
          <p:cNvSpPr txBox="1">
            <a:spLocks noChangeArrowheads="1"/>
          </p:cNvSpPr>
          <p:nvPr/>
        </p:nvSpPr>
        <p:spPr bwMode="auto">
          <a:xfrm>
            <a:off x="1219200" y="3810000"/>
            <a:ext cx="685800" cy="366713"/>
          </a:xfrm>
          <a:prstGeom prst="rect">
            <a:avLst/>
          </a:prstGeom>
          <a:noFill/>
          <a:ln w="9525">
            <a:noFill/>
            <a:miter lim="800000"/>
            <a:headEnd/>
            <a:tailEnd/>
          </a:ln>
          <a:effectLst/>
        </p:spPr>
        <p:txBody>
          <a:bodyPr>
            <a:spAutoFit/>
          </a:bodyPr>
          <a:lstStyle/>
          <a:p>
            <a:pPr algn="l">
              <a:spcBef>
                <a:spcPct val="50000"/>
              </a:spcBef>
            </a:pPr>
            <a:r>
              <a:rPr lang="en-US" sz="1800"/>
              <a:t>p</a:t>
            </a:r>
            <a:r>
              <a:rPr lang="en-US" sz="1800" baseline="-25000"/>
              <a:t>2</a:t>
            </a:r>
            <a:endParaRPr lang="en-US" sz="1800"/>
          </a:p>
        </p:txBody>
      </p:sp>
      <p:sp>
        <p:nvSpPr>
          <p:cNvPr id="115723" name="Line 11"/>
          <p:cNvSpPr>
            <a:spLocks noChangeShapeType="1"/>
          </p:cNvSpPr>
          <p:nvPr/>
        </p:nvSpPr>
        <p:spPr bwMode="auto">
          <a:xfrm>
            <a:off x="1981200" y="3048000"/>
            <a:ext cx="1143000" cy="0"/>
          </a:xfrm>
          <a:prstGeom prst="line">
            <a:avLst/>
          </a:prstGeom>
          <a:noFill/>
          <a:ln w="9525">
            <a:solidFill>
              <a:schemeClr val="tx1"/>
            </a:solidFill>
            <a:prstDash val="dash"/>
            <a:round/>
            <a:headEnd/>
            <a:tailEnd/>
          </a:ln>
          <a:effectLst/>
        </p:spPr>
        <p:txBody>
          <a:bodyPr/>
          <a:lstStyle/>
          <a:p>
            <a:endParaRPr lang="en-US"/>
          </a:p>
        </p:txBody>
      </p:sp>
      <p:sp>
        <p:nvSpPr>
          <p:cNvPr id="115724" name="Line 12"/>
          <p:cNvSpPr>
            <a:spLocks noChangeShapeType="1"/>
          </p:cNvSpPr>
          <p:nvPr/>
        </p:nvSpPr>
        <p:spPr bwMode="auto">
          <a:xfrm>
            <a:off x="3124200" y="3048000"/>
            <a:ext cx="0" cy="2743200"/>
          </a:xfrm>
          <a:prstGeom prst="line">
            <a:avLst/>
          </a:prstGeom>
          <a:noFill/>
          <a:ln w="9525">
            <a:solidFill>
              <a:schemeClr val="tx1"/>
            </a:solidFill>
            <a:prstDash val="dash"/>
            <a:round/>
            <a:headEnd/>
            <a:tailEnd/>
          </a:ln>
          <a:effectLst/>
        </p:spPr>
        <p:txBody>
          <a:bodyPr/>
          <a:lstStyle/>
          <a:p>
            <a:endParaRPr lang="en-US"/>
          </a:p>
        </p:txBody>
      </p:sp>
      <p:sp>
        <p:nvSpPr>
          <p:cNvPr id="115725" name="Line 13"/>
          <p:cNvSpPr>
            <a:spLocks noChangeShapeType="1"/>
          </p:cNvSpPr>
          <p:nvPr/>
        </p:nvSpPr>
        <p:spPr bwMode="auto">
          <a:xfrm>
            <a:off x="1981200" y="4038600"/>
            <a:ext cx="2667000" cy="0"/>
          </a:xfrm>
          <a:prstGeom prst="line">
            <a:avLst/>
          </a:prstGeom>
          <a:noFill/>
          <a:ln w="9525">
            <a:solidFill>
              <a:schemeClr val="tx1"/>
            </a:solidFill>
            <a:prstDash val="dash"/>
            <a:round/>
            <a:headEnd/>
            <a:tailEnd/>
          </a:ln>
          <a:effectLst/>
        </p:spPr>
        <p:txBody>
          <a:bodyPr/>
          <a:lstStyle/>
          <a:p>
            <a:endParaRPr lang="en-US"/>
          </a:p>
        </p:txBody>
      </p:sp>
      <p:sp>
        <p:nvSpPr>
          <p:cNvPr id="115726" name="Line 14"/>
          <p:cNvSpPr>
            <a:spLocks noChangeShapeType="1"/>
          </p:cNvSpPr>
          <p:nvPr/>
        </p:nvSpPr>
        <p:spPr bwMode="auto">
          <a:xfrm>
            <a:off x="4648200" y="4038600"/>
            <a:ext cx="0" cy="1752600"/>
          </a:xfrm>
          <a:prstGeom prst="line">
            <a:avLst/>
          </a:prstGeom>
          <a:noFill/>
          <a:ln w="9525">
            <a:solidFill>
              <a:schemeClr val="tx1"/>
            </a:solidFill>
            <a:prstDash val="dash"/>
            <a:round/>
            <a:headEnd/>
            <a:tailEnd/>
          </a:ln>
          <a:effectLst/>
        </p:spPr>
        <p:txBody>
          <a:bodyPr/>
          <a:lstStyle/>
          <a:p>
            <a:endParaRPr lang="en-US"/>
          </a:p>
        </p:txBody>
      </p:sp>
      <p:sp>
        <p:nvSpPr>
          <p:cNvPr id="115727" name="Text Box 15"/>
          <p:cNvSpPr txBox="1">
            <a:spLocks noChangeArrowheads="1"/>
          </p:cNvSpPr>
          <p:nvPr/>
        </p:nvSpPr>
        <p:spPr bwMode="auto">
          <a:xfrm>
            <a:off x="2743200" y="5791200"/>
            <a:ext cx="685800" cy="366713"/>
          </a:xfrm>
          <a:prstGeom prst="rect">
            <a:avLst/>
          </a:prstGeom>
          <a:noFill/>
          <a:ln w="9525">
            <a:noFill/>
            <a:miter lim="800000"/>
            <a:headEnd/>
            <a:tailEnd/>
          </a:ln>
          <a:effectLst/>
        </p:spPr>
        <p:txBody>
          <a:bodyPr>
            <a:spAutoFit/>
          </a:bodyPr>
          <a:lstStyle/>
          <a:p>
            <a:pPr algn="l">
              <a:spcBef>
                <a:spcPct val="50000"/>
              </a:spcBef>
            </a:pPr>
            <a:r>
              <a:rPr lang="en-US" sz="1800"/>
              <a:t>q</a:t>
            </a:r>
            <a:r>
              <a:rPr lang="en-US" sz="1800" baseline="-25000"/>
              <a:t>1</a:t>
            </a:r>
          </a:p>
        </p:txBody>
      </p:sp>
      <p:sp>
        <p:nvSpPr>
          <p:cNvPr id="115728" name="Text Box 16"/>
          <p:cNvSpPr txBox="1">
            <a:spLocks noChangeArrowheads="1"/>
          </p:cNvSpPr>
          <p:nvPr/>
        </p:nvSpPr>
        <p:spPr bwMode="auto">
          <a:xfrm>
            <a:off x="4343400" y="5791200"/>
            <a:ext cx="685800" cy="366713"/>
          </a:xfrm>
          <a:prstGeom prst="rect">
            <a:avLst/>
          </a:prstGeom>
          <a:noFill/>
          <a:ln w="9525">
            <a:noFill/>
            <a:miter lim="800000"/>
            <a:headEnd/>
            <a:tailEnd/>
          </a:ln>
          <a:effectLst/>
        </p:spPr>
        <p:txBody>
          <a:bodyPr>
            <a:spAutoFit/>
          </a:bodyPr>
          <a:lstStyle/>
          <a:p>
            <a:pPr algn="l">
              <a:spcBef>
                <a:spcPct val="50000"/>
              </a:spcBef>
            </a:pPr>
            <a:r>
              <a:rPr lang="en-US" sz="1800"/>
              <a:t>q</a:t>
            </a:r>
            <a:r>
              <a:rPr lang="en-US" sz="1800" baseline="-25000"/>
              <a:t>2</a:t>
            </a:r>
            <a:endParaRPr lang="en-US" sz="1800"/>
          </a:p>
        </p:txBody>
      </p:sp>
      <p:sp>
        <p:nvSpPr>
          <p:cNvPr id="115729" name="Line 17"/>
          <p:cNvSpPr>
            <a:spLocks noChangeShapeType="1"/>
          </p:cNvSpPr>
          <p:nvPr/>
        </p:nvSpPr>
        <p:spPr bwMode="auto">
          <a:xfrm>
            <a:off x="3200400" y="2743200"/>
            <a:ext cx="1752600" cy="1143000"/>
          </a:xfrm>
          <a:prstGeom prst="line">
            <a:avLst/>
          </a:prstGeom>
          <a:noFill/>
          <a:ln w="47625">
            <a:solidFill>
              <a:srgbClr val="FFFF00"/>
            </a:solidFill>
            <a:round/>
            <a:headEnd/>
            <a:tailEnd type="triangle" w="med" len="med"/>
          </a:ln>
          <a:effectLst/>
        </p:spPr>
        <p:txBody>
          <a:bodyPr/>
          <a:lstStyle/>
          <a:p>
            <a:endParaRPr lang="en-US"/>
          </a:p>
        </p:txBody>
      </p:sp>
      <p:sp>
        <p:nvSpPr>
          <p:cNvPr id="115731" name="AutoShape 19"/>
          <p:cNvSpPr>
            <a:spLocks noChangeArrowheads="1"/>
          </p:cNvSpPr>
          <p:nvPr/>
        </p:nvSpPr>
        <p:spPr bwMode="auto">
          <a:xfrm>
            <a:off x="3124200" y="3048000"/>
            <a:ext cx="76200" cy="76200"/>
          </a:xfrm>
          <a:prstGeom prst="flowChartConnector">
            <a:avLst/>
          </a:prstGeom>
          <a:solidFill>
            <a:schemeClr val="accent1"/>
          </a:solidFill>
          <a:ln w="9525">
            <a:solidFill>
              <a:schemeClr val="tx1"/>
            </a:solidFill>
            <a:round/>
            <a:headEnd/>
            <a:tailEnd/>
          </a:ln>
          <a:effectLst/>
        </p:spPr>
        <p:txBody>
          <a:bodyPr wrap="none" anchor="ctr"/>
          <a:lstStyle/>
          <a:p>
            <a:endParaRPr lang="en-US"/>
          </a:p>
        </p:txBody>
      </p:sp>
      <p:sp>
        <p:nvSpPr>
          <p:cNvPr id="115732" name="AutoShape 20"/>
          <p:cNvSpPr>
            <a:spLocks noChangeArrowheads="1"/>
          </p:cNvSpPr>
          <p:nvPr/>
        </p:nvSpPr>
        <p:spPr bwMode="auto">
          <a:xfrm>
            <a:off x="4572000" y="4038600"/>
            <a:ext cx="76200" cy="76200"/>
          </a:xfrm>
          <a:prstGeom prst="flowChartConnector">
            <a:avLst/>
          </a:prstGeom>
          <a:solidFill>
            <a:schemeClr val="accent1"/>
          </a:solidFill>
          <a:ln w="9525">
            <a:solidFill>
              <a:schemeClr val="tx1"/>
            </a:solidFill>
            <a:round/>
            <a:headEnd/>
            <a:tailEnd/>
          </a:ln>
          <a:effectLst/>
        </p:spPr>
        <p:txBody>
          <a:bodyPr wrap="none" anchor="ctr"/>
          <a:lstStyle/>
          <a:p>
            <a:endParaRPr lang="en-US"/>
          </a:p>
        </p:txBody>
      </p:sp>
      <p:sp>
        <p:nvSpPr>
          <p:cNvPr id="115733" name="Text Box 21"/>
          <p:cNvSpPr txBox="1">
            <a:spLocks noChangeArrowheads="1"/>
          </p:cNvSpPr>
          <p:nvPr/>
        </p:nvSpPr>
        <p:spPr bwMode="auto">
          <a:xfrm>
            <a:off x="6705600" y="5105400"/>
            <a:ext cx="762000" cy="366713"/>
          </a:xfrm>
          <a:prstGeom prst="rect">
            <a:avLst/>
          </a:prstGeom>
          <a:noFill/>
          <a:ln w="9525">
            <a:noFill/>
            <a:miter lim="800000"/>
            <a:headEnd/>
            <a:tailEnd/>
          </a:ln>
          <a:effectLst/>
        </p:spPr>
        <p:txBody>
          <a:bodyPr>
            <a:spAutoFit/>
          </a:bodyPr>
          <a:lstStyle/>
          <a:p>
            <a:pPr algn="l">
              <a:spcBef>
                <a:spcPct val="50000"/>
              </a:spcBef>
            </a:pPr>
            <a:r>
              <a:rPr lang="en-US" sz="1800"/>
              <a:t>D</a:t>
            </a:r>
          </a:p>
        </p:txBody>
      </p:sp>
      <p:sp>
        <p:nvSpPr>
          <p:cNvPr id="115734" name="Text Box 22"/>
          <p:cNvSpPr txBox="1">
            <a:spLocks noChangeArrowheads="1"/>
          </p:cNvSpPr>
          <p:nvPr/>
        </p:nvSpPr>
        <p:spPr bwMode="auto">
          <a:xfrm>
            <a:off x="5029199" y="1612484"/>
            <a:ext cx="4038601" cy="2092881"/>
          </a:xfrm>
          <a:prstGeom prst="rect">
            <a:avLst/>
          </a:prstGeom>
          <a:noFill/>
          <a:ln w="9525">
            <a:noFill/>
            <a:miter lim="800000"/>
            <a:headEnd/>
            <a:tailEnd/>
          </a:ln>
          <a:effectLst/>
        </p:spPr>
        <p:txBody>
          <a:bodyPr wrap="square">
            <a:spAutoFit/>
          </a:bodyPr>
          <a:lstStyle/>
          <a:p>
            <a:pPr algn="l">
              <a:spcBef>
                <a:spcPct val="50000"/>
              </a:spcBef>
              <a:buFontTx/>
              <a:buChar char="•"/>
            </a:pPr>
            <a:r>
              <a:rPr lang="en-US" sz="2000" dirty="0" smtClean="0"/>
              <a:t> A </a:t>
            </a:r>
            <a:r>
              <a:rPr lang="en-US" sz="2000" dirty="0"/>
              <a:t>decrease in price from </a:t>
            </a:r>
            <a:r>
              <a:rPr lang="en-US" sz="2000" b="1" dirty="0">
                <a:solidFill>
                  <a:srgbClr val="FFFF00"/>
                </a:solidFill>
              </a:rPr>
              <a:t>p</a:t>
            </a:r>
            <a:r>
              <a:rPr lang="en-US" sz="2000" b="1" baseline="-25000" dirty="0">
                <a:solidFill>
                  <a:srgbClr val="FFFF00"/>
                </a:solidFill>
              </a:rPr>
              <a:t>1</a:t>
            </a:r>
            <a:r>
              <a:rPr lang="en-US" sz="2000" dirty="0"/>
              <a:t> to </a:t>
            </a:r>
            <a:r>
              <a:rPr lang="en-US" sz="2000" b="1" dirty="0">
                <a:solidFill>
                  <a:srgbClr val="FFFF00"/>
                </a:solidFill>
              </a:rPr>
              <a:t>p</a:t>
            </a:r>
            <a:r>
              <a:rPr lang="en-US" sz="2000" b="1" baseline="-25000" dirty="0">
                <a:solidFill>
                  <a:srgbClr val="FFFF00"/>
                </a:solidFill>
              </a:rPr>
              <a:t>2</a:t>
            </a:r>
            <a:r>
              <a:rPr lang="en-US" sz="2000" dirty="0"/>
              <a:t> brings about an increase in quantity demanded from </a:t>
            </a:r>
            <a:r>
              <a:rPr lang="en-US" sz="2000" b="1" dirty="0">
                <a:solidFill>
                  <a:srgbClr val="FFFF00"/>
                </a:solidFill>
              </a:rPr>
              <a:t>q</a:t>
            </a:r>
            <a:r>
              <a:rPr lang="en-US" sz="2000" b="1" baseline="-25000" dirty="0">
                <a:solidFill>
                  <a:srgbClr val="FFFF00"/>
                </a:solidFill>
              </a:rPr>
              <a:t>1</a:t>
            </a:r>
            <a:r>
              <a:rPr lang="en-US" sz="2000" dirty="0"/>
              <a:t> to </a:t>
            </a:r>
            <a:r>
              <a:rPr lang="en-US" sz="2000" b="1" dirty="0" smtClean="0">
                <a:solidFill>
                  <a:srgbClr val="FFFF00"/>
                </a:solidFill>
              </a:rPr>
              <a:t>q</a:t>
            </a:r>
            <a:r>
              <a:rPr lang="en-US" sz="2000" b="1" baseline="-25000" dirty="0" smtClean="0">
                <a:solidFill>
                  <a:srgbClr val="FFFF00"/>
                </a:solidFill>
              </a:rPr>
              <a:t>2</a:t>
            </a:r>
            <a:r>
              <a:rPr lang="en-US" sz="2000" dirty="0" smtClean="0"/>
              <a:t>.</a:t>
            </a:r>
            <a:endParaRPr lang="en-US" sz="2000" baseline="-25000" dirty="0"/>
          </a:p>
          <a:p>
            <a:pPr algn="l">
              <a:spcBef>
                <a:spcPct val="50000"/>
              </a:spcBef>
              <a:buFontTx/>
              <a:buChar char="•"/>
            </a:pPr>
            <a:r>
              <a:rPr lang="en-US" sz="2000" dirty="0" smtClean="0"/>
              <a:t> It </a:t>
            </a:r>
            <a:r>
              <a:rPr lang="en-US" sz="2000" dirty="0"/>
              <a:t>is shown as a movement along the same demand </a:t>
            </a:r>
            <a:r>
              <a:rPr lang="en-US" sz="2000" dirty="0" smtClean="0"/>
              <a:t>curve from  </a:t>
            </a:r>
            <a:r>
              <a:rPr lang="en-US" sz="2000" b="1" dirty="0" smtClean="0">
                <a:solidFill>
                  <a:srgbClr val="FFFF00"/>
                </a:solidFill>
              </a:rPr>
              <a:t>A </a:t>
            </a:r>
            <a:r>
              <a:rPr lang="en-US" sz="2000" dirty="0" smtClean="0"/>
              <a:t> to </a:t>
            </a:r>
            <a:r>
              <a:rPr lang="en-US" sz="2000" b="1" dirty="0" smtClean="0">
                <a:solidFill>
                  <a:srgbClr val="FFFF00"/>
                </a:solidFill>
              </a:rPr>
              <a:t>B</a:t>
            </a:r>
            <a:r>
              <a:rPr lang="en-US" sz="2000" dirty="0" smtClean="0"/>
              <a:t>.</a:t>
            </a:r>
            <a:endParaRPr lang="en-US" sz="2000" dirty="0"/>
          </a:p>
        </p:txBody>
      </p:sp>
      <p:sp>
        <p:nvSpPr>
          <p:cNvPr id="115735" name="Line 23"/>
          <p:cNvSpPr>
            <a:spLocks noChangeShapeType="1"/>
          </p:cNvSpPr>
          <p:nvPr/>
        </p:nvSpPr>
        <p:spPr bwMode="auto">
          <a:xfrm>
            <a:off x="1066800" y="3200400"/>
            <a:ext cx="0" cy="685800"/>
          </a:xfrm>
          <a:prstGeom prst="line">
            <a:avLst/>
          </a:prstGeom>
          <a:noFill/>
          <a:ln w="25400">
            <a:solidFill>
              <a:srgbClr val="FFFF00"/>
            </a:solidFill>
            <a:round/>
            <a:headEnd/>
            <a:tailEnd type="triangle" w="med" len="med"/>
          </a:ln>
          <a:effectLst/>
        </p:spPr>
        <p:txBody>
          <a:bodyPr/>
          <a:lstStyle/>
          <a:p>
            <a:endParaRPr lang="en-US"/>
          </a:p>
        </p:txBody>
      </p:sp>
      <p:sp>
        <p:nvSpPr>
          <p:cNvPr id="115736" name="Line 24"/>
          <p:cNvSpPr>
            <a:spLocks noChangeShapeType="1"/>
          </p:cNvSpPr>
          <p:nvPr/>
        </p:nvSpPr>
        <p:spPr bwMode="auto">
          <a:xfrm>
            <a:off x="3429000" y="6019800"/>
            <a:ext cx="838200" cy="0"/>
          </a:xfrm>
          <a:prstGeom prst="line">
            <a:avLst/>
          </a:prstGeom>
          <a:noFill/>
          <a:ln w="25400">
            <a:solidFill>
              <a:srgbClr val="FFFF00"/>
            </a:solidFill>
            <a:round/>
            <a:headEnd/>
            <a:tailEnd type="triangle" w="med" len="med"/>
          </a:ln>
          <a:effectLst/>
        </p:spPr>
        <p:txBody>
          <a:bodyPr/>
          <a:lstStyle/>
          <a:p>
            <a:endParaRPr lang="en-US"/>
          </a:p>
        </p:txBody>
      </p:sp>
      <p:sp>
        <p:nvSpPr>
          <p:cNvPr id="24" name="Slide Number Placeholder 23"/>
          <p:cNvSpPr>
            <a:spLocks noGrp="1"/>
          </p:cNvSpPr>
          <p:nvPr>
            <p:ph type="sldNum" sz="quarter" idx="11"/>
          </p:nvPr>
        </p:nvSpPr>
        <p:spPr/>
        <p:txBody>
          <a:bodyPr/>
          <a:lstStyle/>
          <a:p>
            <a:fld id="{5D8C0D95-B81A-45DB-B701-8AAA9905C101}" type="slidenum">
              <a:rPr lang="en-US" smtClean="0"/>
              <a:pPr/>
              <a:t>18</a:t>
            </a:fld>
            <a:endParaRPr lang="en-US"/>
          </a:p>
        </p:txBody>
      </p:sp>
      <p:sp>
        <p:nvSpPr>
          <p:cNvPr id="25" name="TextBox 24"/>
          <p:cNvSpPr txBox="1"/>
          <p:nvPr/>
        </p:nvSpPr>
        <p:spPr>
          <a:xfrm>
            <a:off x="2971800" y="2743200"/>
            <a:ext cx="457200" cy="338554"/>
          </a:xfrm>
          <a:prstGeom prst="rect">
            <a:avLst/>
          </a:prstGeom>
          <a:noFill/>
        </p:spPr>
        <p:txBody>
          <a:bodyPr wrap="square" rtlCol="0">
            <a:spAutoFit/>
          </a:bodyPr>
          <a:lstStyle/>
          <a:p>
            <a:r>
              <a:rPr lang="en-US" dirty="0" smtClean="0"/>
              <a:t>A</a:t>
            </a:r>
            <a:endParaRPr lang="en-US" dirty="0"/>
          </a:p>
        </p:txBody>
      </p:sp>
      <p:sp>
        <p:nvSpPr>
          <p:cNvPr id="27" name="TextBox 26"/>
          <p:cNvSpPr txBox="1"/>
          <p:nvPr/>
        </p:nvSpPr>
        <p:spPr>
          <a:xfrm>
            <a:off x="4419600" y="3733800"/>
            <a:ext cx="457200" cy="338554"/>
          </a:xfrm>
          <a:prstGeom prst="rect">
            <a:avLst/>
          </a:prstGeom>
          <a:noFill/>
        </p:spPr>
        <p:txBody>
          <a:bodyPr wrap="square" rtlCol="0">
            <a:spAutoFit/>
          </a:bodyPr>
          <a:lstStyle/>
          <a:p>
            <a:r>
              <a:rPr lang="en-US" dirty="0" smtClean="0"/>
              <a:t>B</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15735"/>
                                        </p:tgtEl>
                                        <p:attrNameLst>
                                          <p:attrName>style.visibility</p:attrName>
                                        </p:attrNameLst>
                                      </p:cBhvr>
                                      <p:to>
                                        <p:strVal val="visible"/>
                                      </p:to>
                                    </p:set>
                                    <p:anim calcmode="lin" valueType="num">
                                      <p:cBhvr additive="base">
                                        <p:cTn id="7" dur="500" fill="hold"/>
                                        <p:tgtEl>
                                          <p:spTgt spid="115735"/>
                                        </p:tgtEl>
                                        <p:attrNameLst>
                                          <p:attrName>ppt_x</p:attrName>
                                        </p:attrNameLst>
                                      </p:cBhvr>
                                      <p:tavLst>
                                        <p:tav tm="0">
                                          <p:val>
                                            <p:strVal val="#ppt_x"/>
                                          </p:val>
                                        </p:tav>
                                        <p:tav tm="100000">
                                          <p:val>
                                            <p:strVal val="#ppt_x"/>
                                          </p:val>
                                        </p:tav>
                                      </p:tavLst>
                                    </p:anim>
                                    <p:anim calcmode="lin" valueType="num">
                                      <p:cBhvr additive="base">
                                        <p:cTn id="8" dur="500" fill="hold"/>
                                        <p:tgtEl>
                                          <p:spTgt spid="11573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5736"/>
                                        </p:tgtEl>
                                        <p:attrNameLst>
                                          <p:attrName>style.visibility</p:attrName>
                                        </p:attrNameLst>
                                      </p:cBhvr>
                                      <p:to>
                                        <p:strVal val="visible"/>
                                      </p:to>
                                    </p:set>
                                    <p:anim calcmode="lin" valueType="num">
                                      <p:cBhvr additive="base">
                                        <p:cTn id="13" dur="500" fill="hold"/>
                                        <p:tgtEl>
                                          <p:spTgt spid="115736"/>
                                        </p:tgtEl>
                                        <p:attrNameLst>
                                          <p:attrName>ppt_x</p:attrName>
                                        </p:attrNameLst>
                                      </p:cBhvr>
                                      <p:tavLst>
                                        <p:tav tm="0">
                                          <p:val>
                                            <p:strVal val="0-#ppt_w/2"/>
                                          </p:val>
                                        </p:tav>
                                        <p:tav tm="100000">
                                          <p:val>
                                            <p:strVal val="#ppt_x"/>
                                          </p:val>
                                        </p:tav>
                                      </p:tavLst>
                                    </p:anim>
                                    <p:anim calcmode="lin" valueType="num">
                                      <p:cBhvr additive="base">
                                        <p:cTn id="14" dur="500" fill="hold"/>
                                        <p:tgtEl>
                                          <p:spTgt spid="11573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115734">
                                            <p:txEl>
                                              <p:pRg st="0" end="0"/>
                                            </p:txEl>
                                          </p:spTgt>
                                        </p:tgtEl>
                                        <p:attrNameLst>
                                          <p:attrName>style.visibility</p:attrName>
                                        </p:attrNameLst>
                                      </p:cBhvr>
                                      <p:to>
                                        <p:strVal val="visible"/>
                                      </p:to>
                                    </p:set>
                                    <p:animEffect transition="in" filter="checkerboard(across)">
                                      <p:cBhvr>
                                        <p:cTn id="19" dur="500"/>
                                        <p:tgtEl>
                                          <p:spTgt spid="115734">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115734">
                                            <p:txEl>
                                              <p:pRg st="1" end="1"/>
                                            </p:txEl>
                                          </p:spTgt>
                                        </p:tgtEl>
                                        <p:attrNameLst>
                                          <p:attrName>style.visibility</p:attrName>
                                        </p:attrNameLst>
                                      </p:cBhvr>
                                      <p:to>
                                        <p:strVal val="visible"/>
                                      </p:to>
                                    </p:set>
                                    <p:animEffect transition="in" filter="checkerboard(across)">
                                      <p:cBhvr>
                                        <p:cTn id="24" dur="500"/>
                                        <p:tgtEl>
                                          <p:spTgt spid="115734">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9" fill="hold" grpId="0" nodeType="clickEffect">
                                  <p:stCondLst>
                                    <p:cond delay="0"/>
                                  </p:stCondLst>
                                  <p:childTnLst>
                                    <p:set>
                                      <p:cBhvr>
                                        <p:cTn id="28" dur="1" fill="hold">
                                          <p:stCondLst>
                                            <p:cond delay="0"/>
                                          </p:stCondLst>
                                        </p:cTn>
                                        <p:tgtEl>
                                          <p:spTgt spid="115729"/>
                                        </p:tgtEl>
                                        <p:attrNameLst>
                                          <p:attrName>style.visibility</p:attrName>
                                        </p:attrNameLst>
                                      </p:cBhvr>
                                      <p:to>
                                        <p:strVal val="visible"/>
                                      </p:to>
                                    </p:set>
                                    <p:anim calcmode="lin" valueType="num">
                                      <p:cBhvr additive="base">
                                        <p:cTn id="29" dur="500" fill="hold"/>
                                        <p:tgtEl>
                                          <p:spTgt spid="115729"/>
                                        </p:tgtEl>
                                        <p:attrNameLst>
                                          <p:attrName>ppt_x</p:attrName>
                                        </p:attrNameLst>
                                      </p:cBhvr>
                                      <p:tavLst>
                                        <p:tav tm="0">
                                          <p:val>
                                            <p:strVal val="0-#ppt_w/2"/>
                                          </p:val>
                                        </p:tav>
                                        <p:tav tm="100000">
                                          <p:val>
                                            <p:strVal val="#ppt_x"/>
                                          </p:val>
                                        </p:tav>
                                      </p:tavLst>
                                    </p:anim>
                                    <p:anim calcmode="lin" valueType="num">
                                      <p:cBhvr additive="base">
                                        <p:cTn id="30" dur="500" fill="hold"/>
                                        <p:tgtEl>
                                          <p:spTgt spid="11572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29" grpId="0" animBg="1"/>
      <p:bldP spid="115735" grpId="0" animBg="1"/>
      <p:bldP spid="11573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algn="l"/>
            <a:r>
              <a:rPr lang="en-US" u="sng" dirty="0"/>
              <a:t>Change in </a:t>
            </a:r>
            <a:r>
              <a:rPr lang="en-US" u="sng" dirty="0" smtClean="0"/>
              <a:t>Demand:</a:t>
            </a:r>
            <a:endParaRPr lang="en-US" u="sng" dirty="0"/>
          </a:p>
        </p:txBody>
      </p:sp>
      <p:sp>
        <p:nvSpPr>
          <p:cNvPr id="119811" name="Line 3"/>
          <p:cNvSpPr>
            <a:spLocks noChangeShapeType="1"/>
          </p:cNvSpPr>
          <p:nvPr/>
        </p:nvSpPr>
        <p:spPr bwMode="auto">
          <a:xfrm>
            <a:off x="1981200" y="1524000"/>
            <a:ext cx="0" cy="4267200"/>
          </a:xfrm>
          <a:prstGeom prst="line">
            <a:avLst/>
          </a:prstGeom>
          <a:noFill/>
          <a:ln w="25400">
            <a:solidFill>
              <a:schemeClr val="tx1"/>
            </a:solidFill>
            <a:round/>
            <a:headEnd/>
            <a:tailEnd/>
          </a:ln>
          <a:effectLst/>
        </p:spPr>
        <p:txBody>
          <a:bodyPr/>
          <a:lstStyle/>
          <a:p>
            <a:endParaRPr lang="en-US"/>
          </a:p>
        </p:txBody>
      </p:sp>
      <p:sp>
        <p:nvSpPr>
          <p:cNvPr id="119812" name="Line 4"/>
          <p:cNvSpPr>
            <a:spLocks noChangeShapeType="1"/>
          </p:cNvSpPr>
          <p:nvPr/>
        </p:nvSpPr>
        <p:spPr bwMode="auto">
          <a:xfrm>
            <a:off x="1981200" y="5791200"/>
            <a:ext cx="5562600" cy="0"/>
          </a:xfrm>
          <a:prstGeom prst="line">
            <a:avLst/>
          </a:prstGeom>
          <a:noFill/>
          <a:ln w="25400">
            <a:solidFill>
              <a:schemeClr val="tx1"/>
            </a:solidFill>
            <a:round/>
            <a:headEnd/>
            <a:tailEnd/>
          </a:ln>
          <a:effectLst/>
        </p:spPr>
        <p:txBody>
          <a:bodyPr/>
          <a:lstStyle/>
          <a:p>
            <a:endParaRPr lang="en-US"/>
          </a:p>
        </p:txBody>
      </p:sp>
      <p:sp>
        <p:nvSpPr>
          <p:cNvPr id="119813" name="Text Box 5"/>
          <p:cNvSpPr txBox="1">
            <a:spLocks noChangeArrowheads="1"/>
          </p:cNvSpPr>
          <p:nvPr/>
        </p:nvSpPr>
        <p:spPr bwMode="auto">
          <a:xfrm>
            <a:off x="762000" y="1752600"/>
            <a:ext cx="914400" cy="366713"/>
          </a:xfrm>
          <a:prstGeom prst="rect">
            <a:avLst/>
          </a:prstGeom>
          <a:noFill/>
          <a:ln w="9525">
            <a:noFill/>
            <a:miter lim="800000"/>
            <a:headEnd/>
            <a:tailEnd/>
          </a:ln>
          <a:effectLst/>
        </p:spPr>
        <p:txBody>
          <a:bodyPr>
            <a:spAutoFit/>
          </a:bodyPr>
          <a:lstStyle/>
          <a:p>
            <a:pPr algn="l">
              <a:spcBef>
                <a:spcPct val="50000"/>
              </a:spcBef>
            </a:pPr>
            <a:r>
              <a:rPr lang="en-US" sz="1800"/>
              <a:t>Price</a:t>
            </a:r>
          </a:p>
        </p:txBody>
      </p:sp>
      <p:sp>
        <p:nvSpPr>
          <p:cNvPr id="119814" name="Text Box 6"/>
          <p:cNvSpPr txBox="1">
            <a:spLocks noChangeArrowheads="1"/>
          </p:cNvSpPr>
          <p:nvPr/>
        </p:nvSpPr>
        <p:spPr bwMode="auto">
          <a:xfrm>
            <a:off x="7772400" y="5638800"/>
            <a:ext cx="1219200" cy="366713"/>
          </a:xfrm>
          <a:prstGeom prst="rect">
            <a:avLst/>
          </a:prstGeom>
          <a:noFill/>
          <a:ln w="9525">
            <a:noFill/>
            <a:miter lim="800000"/>
            <a:headEnd/>
            <a:tailEnd/>
          </a:ln>
          <a:effectLst/>
        </p:spPr>
        <p:txBody>
          <a:bodyPr>
            <a:spAutoFit/>
          </a:bodyPr>
          <a:lstStyle/>
          <a:p>
            <a:pPr algn="l">
              <a:spcBef>
                <a:spcPct val="50000"/>
              </a:spcBef>
            </a:pPr>
            <a:r>
              <a:rPr lang="en-US" sz="1800"/>
              <a:t>Quantity</a:t>
            </a:r>
          </a:p>
        </p:txBody>
      </p:sp>
      <p:sp>
        <p:nvSpPr>
          <p:cNvPr id="119815" name="Line 7"/>
          <p:cNvSpPr>
            <a:spLocks noChangeShapeType="1"/>
          </p:cNvSpPr>
          <p:nvPr/>
        </p:nvSpPr>
        <p:spPr bwMode="auto">
          <a:xfrm>
            <a:off x="2209800" y="2438400"/>
            <a:ext cx="4343400" cy="2971800"/>
          </a:xfrm>
          <a:prstGeom prst="line">
            <a:avLst/>
          </a:prstGeom>
          <a:noFill/>
          <a:ln w="25400">
            <a:solidFill>
              <a:schemeClr val="tx1"/>
            </a:solidFill>
            <a:round/>
            <a:headEnd/>
            <a:tailEnd/>
          </a:ln>
          <a:effectLst/>
        </p:spPr>
        <p:txBody>
          <a:bodyPr/>
          <a:lstStyle/>
          <a:p>
            <a:endParaRPr lang="en-US"/>
          </a:p>
        </p:txBody>
      </p:sp>
      <p:sp>
        <p:nvSpPr>
          <p:cNvPr id="119816" name="Text Box 8"/>
          <p:cNvSpPr txBox="1">
            <a:spLocks noChangeArrowheads="1"/>
          </p:cNvSpPr>
          <p:nvPr/>
        </p:nvSpPr>
        <p:spPr bwMode="auto">
          <a:xfrm>
            <a:off x="1219200" y="2743200"/>
            <a:ext cx="685800" cy="366713"/>
          </a:xfrm>
          <a:prstGeom prst="rect">
            <a:avLst/>
          </a:prstGeom>
          <a:noFill/>
          <a:ln w="9525">
            <a:noFill/>
            <a:miter lim="800000"/>
            <a:headEnd/>
            <a:tailEnd/>
          </a:ln>
          <a:effectLst/>
        </p:spPr>
        <p:txBody>
          <a:bodyPr>
            <a:spAutoFit/>
          </a:bodyPr>
          <a:lstStyle/>
          <a:p>
            <a:pPr algn="l">
              <a:spcBef>
                <a:spcPct val="50000"/>
              </a:spcBef>
            </a:pPr>
            <a:r>
              <a:rPr lang="en-US" sz="1800"/>
              <a:t>p</a:t>
            </a:r>
            <a:r>
              <a:rPr lang="en-US" sz="1800" baseline="-25000"/>
              <a:t>1</a:t>
            </a:r>
          </a:p>
        </p:txBody>
      </p:sp>
      <p:sp>
        <p:nvSpPr>
          <p:cNvPr id="119818" name="Line 10"/>
          <p:cNvSpPr>
            <a:spLocks noChangeShapeType="1"/>
          </p:cNvSpPr>
          <p:nvPr/>
        </p:nvSpPr>
        <p:spPr bwMode="auto">
          <a:xfrm>
            <a:off x="1981200" y="3048000"/>
            <a:ext cx="1143000" cy="0"/>
          </a:xfrm>
          <a:prstGeom prst="line">
            <a:avLst/>
          </a:prstGeom>
          <a:noFill/>
          <a:ln w="9525">
            <a:solidFill>
              <a:schemeClr val="tx1"/>
            </a:solidFill>
            <a:prstDash val="dash"/>
            <a:round/>
            <a:headEnd/>
            <a:tailEnd/>
          </a:ln>
          <a:effectLst/>
        </p:spPr>
        <p:txBody>
          <a:bodyPr/>
          <a:lstStyle/>
          <a:p>
            <a:endParaRPr lang="en-US"/>
          </a:p>
        </p:txBody>
      </p:sp>
      <p:sp>
        <p:nvSpPr>
          <p:cNvPr id="119819" name="Line 11"/>
          <p:cNvSpPr>
            <a:spLocks noChangeShapeType="1"/>
          </p:cNvSpPr>
          <p:nvPr/>
        </p:nvSpPr>
        <p:spPr bwMode="auto">
          <a:xfrm>
            <a:off x="3124200" y="3048000"/>
            <a:ext cx="0" cy="2743200"/>
          </a:xfrm>
          <a:prstGeom prst="line">
            <a:avLst/>
          </a:prstGeom>
          <a:noFill/>
          <a:ln w="9525">
            <a:solidFill>
              <a:schemeClr val="tx1"/>
            </a:solidFill>
            <a:prstDash val="dash"/>
            <a:round/>
            <a:headEnd/>
            <a:tailEnd/>
          </a:ln>
          <a:effectLst/>
        </p:spPr>
        <p:txBody>
          <a:bodyPr/>
          <a:lstStyle/>
          <a:p>
            <a:endParaRPr lang="en-US"/>
          </a:p>
        </p:txBody>
      </p:sp>
      <p:sp>
        <p:nvSpPr>
          <p:cNvPr id="119822" name="Text Box 14"/>
          <p:cNvSpPr txBox="1">
            <a:spLocks noChangeArrowheads="1"/>
          </p:cNvSpPr>
          <p:nvPr/>
        </p:nvSpPr>
        <p:spPr bwMode="auto">
          <a:xfrm>
            <a:off x="2743200" y="5791200"/>
            <a:ext cx="685800" cy="366713"/>
          </a:xfrm>
          <a:prstGeom prst="rect">
            <a:avLst/>
          </a:prstGeom>
          <a:noFill/>
          <a:ln w="9525">
            <a:noFill/>
            <a:miter lim="800000"/>
            <a:headEnd/>
            <a:tailEnd/>
          </a:ln>
          <a:effectLst/>
        </p:spPr>
        <p:txBody>
          <a:bodyPr>
            <a:spAutoFit/>
          </a:bodyPr>
          <a:lstStyle/>
          <a:p>
            <a:pPr algn="l">
              <a:spcBef>
                <a:spcPct val="50000"/>
              </a:spcBef>
            </a:pPr>
            <a:r>
              <a:rPr lang="en-US" sz="1800"/>
              <a:t>q</a:t>
            </a:r>
            <a:r>
              <a:rPr lang="en-US" sz="1800" baseline="-25000"/>
              <a:t>1</a:t>
            </a:r>
          </a:p>
        </p:txBody>
      </p:sp>
      <p:sp>
        <p:nvSpPr>
          <p:cNvPr id="119825" name="AutoShape 17"/>
          <p:cNvSpPr>
            <a:spLocks noChangeArrowheads="1"/>
          </p:cNvSpPr>
          <p:nvPr/>
        </p:nvSpPr>
        <p:spPr bwMode="auto">
          <a:xfrm>
            <a:off x="3124200" y="3048000"/>
            <a:ext cx="76200" cy="76200"/>
          </a:xfrm>
          <a:prstGeom prst="flowChartConnector">
            <a:avLst/>
          </a:prstGeom>
          <a:solidFill>
            <a:schemeClr val="accent1"/>
          </a:solidFill>
          <a:ln w="9525">
            <a:solidFill>
              <a:schemeClr val="tx1"/>
            </a:solidFill>
            <a:round/>
            <a:headEnd/>
            <a:tailEnd/>
          </a:ln>
          <a:effectLst/>
        </p:spPr>
        <p:txBody>
          <a:bodyPr wrap="none" anchor="ctr"/>
          <a:lstStyle/>
          <a:p>
            <a:endParaRPr lang="en-US"/>
          </a:p>
        </p:txBody>
      </p:sp>
      <p:sp>
        <p:nvSpPr>
          <p:cNvPr id="119828" name="Text Box 20"/>
          <p:cNvSpPr txBox="1">
            <a:spLocks noChangeArrowheads="1"/>
          </p:cNvSpPr>
          <p:nvPr/>
        </p:nvSpPr>
        <p:spPr bwMode="auto">
          <a:xfrm>
            <a:off x="5181600" y="1371600"/>
            <a:ext cx="3962400" cy="2708434"/>
          </a:xfrm>
          <a:prstGeom prst="rect">
            <a:avLst/>
          </a:prstGeom>
          <a:noFill/>
          <a:ln w="9525">
            <a:noFill/>
            <a:miter lim="800000"/>
            <a:headEnd/>
            <a:tailEnd/>
          </a:ln>
          <a:effectLst/>
        </p:spPr>
        <p:txBody>
          <a:bodyPr wrap="square">
            <a:spAutoFit/>
          </a:bodyPr>
          <a:lstStyle/>
          <a:p>
            <a:pPr algn="l">
              <a:spcBef>
                <a:spcPct val="50000"/>
              </a:spcBef>
              <a:buFontTx/>
              <a:buChar char="•"/>
            </a:pPr>
            <a:r>
              <a:rPr lang="en-US" sz="2000" dirty="0" smtClean="0"/>
              <a:t> An </a:t>
            </a:r>
            <a:r>
              <a:rPr lang="en-US" sz="2000" dirty="0"/>
              <a:t>increase in demand means that at the same price such as </a:t>
            </a:r>
            <a:r>
              <a:rPr lang="en-US" sz="2000" b="1" dirty="0" smtClean="0">
                <a:solidFill>
                  <a:srgbClr val="FFFF00"/>
                </a:solidFill>
              </a:rPr>
              <a:t>p</a:t>
            </a:r>
            <a:r>
              <a:rPr lang="en-US" sz="2000" b="1" baseline="-25000" dirty="0" smtClean="0">
                <a:solidFill>
                  <a:srgbClr val="FFFF00"/>
                </a:solidFill>
              </a:rPr>
              <a:t>1</a:t>
            </a:r>
            <a:r>
              <a:rPr lang="en-US" sz="2000" b="1" dirty="0" smtClean="0">
                <a:solidFill>
                  <a:srgbClr val="FFFF00"/>
                </a:solidFill>
              </a:rPr>
              <a:t> </a:t>
            </a:r>
            <a:r>
              <a:rPr lang="en-US" sz="2000" dirty="0"/>
              <a:t>more will be </a:t>
            </a:r>
            <a:r>
              <a:rPr lang="en-US" sz="2000" dirty="0" smtClean="0"/>
              <a:t>bought</a:t>
            </a:r>
            <a:r>
              <a:rPr lang="en-US" sz="2000" dirty="0"/>
              <a:t>, due to other factors such as increased incomes, increase in number of consumers, etc.</a:t>
            </a:r>
          </a:p>
          <a:p>
            <a:pPr algn="l">
              <a:spcBef>
                <a:spcPct val="50000"/>
              </a:spcBef>
              <a:buFontTx/>
              <a:buChar char="•"/>
            </a:pPr>
            <a:r>
              <a:rPr lang="en-US" sz="2000" dirty="0" smtClean="0"/>
              <a:t> It </a:t>
            </a:r>
            <a:r>
              <a:rPr lang="en-US" sz="2000" dirty="0"/>
              <a:t>is shown as a shift in the entire demand </a:t>
            </a:r>
            <a:r>
              <a:rPr lang="en-US" sz="2000" dirty="0" smtClean="0"/>
              <a:t>curve.</a:t>
            </a:r>
            <a:endParaRPr lang="en-US" sz="2000" dirty="0"/>
          </a:p>
        </p:txBody>
      </p:sp>
      <p:sp>
        <p:nvSpPr>
          <p:cNvPr id="119831" name="Text Box 23"/>
          <p:cNvSpPr txBox="1">
            <a:spLocks noChangeArrowheads="1"/>
          </p:cNvSpPr>
          <p:nvPr/>
        </p:nvSpPr>
        <p:spPr bwMode="auto">
          <a:xfrm>
            <a:off x="6553200" y="5181600"/>
            <a:ext cx="762000" cy="366713"/>
          </a:xfrm>
          <a:prstGeom prst="rect">
            <a:avLst/>
          </a:prstGeom>
          <a:noFill/>
          <a:ln w="9525">
            <a:noFill/>
            <a:miter lim="800000"/>
            <a:headEnd/>
            <a:tailEnd/>
          </a:ln>
          <a:effectLst/>
        </p:spPr>
        <p:txBody>
          <a:bodyPr>
            <a:spAutoFit/>
          </a:bodyPr>
          <a:lstStyle/>
          <a:p>
            <a:pPr algn="l">
              <a:spcBef>
                <a:spcPct val="50000"/>
              </a:spcBef>
            </a:pPr>
            <a:r>
              <a:rPr lang="en-US" sz="1800"/>
              <a:t>D</a:t>
            </a:r>
            <a:r>
              <a:rPr lang="en-US" sz="1800" baseline="-25000"/>
              <a:t>0</a:t>
            </a:r>
          </a:p>
        </p:txBody>
      </p:sp>
      <p:sp>
        <p:nvSpPr>
          <p:cNvPr id="119862" name="Text Box 54"/>
          <p:cNvSpPr txBox="1">
            <a:spLocks noChangeArrowheads="1"/>
          </p:cNvSpPr>
          <p:nvPr/>
        </p:nvSpPr>
        <p:spPr bwMode="auto">
          <a:xfrm>
            <a:off x="6934200" y="4724400"/>
            <a:ext cx="762000" cy="366713"/>
          </a:xfrm>
          <a:prstGeom prst="rect">
            <a:avLst/>
          </a:prstGeom>
          <a:noFill/>
          <a:ln w="9525">
            <a:noFill/>
            <a:miter lim="800000"/>
            <a:headEnd/>
            <a:tailEnd/>
          </a:ln>
          <a:effectLst/>
        </p:spPr>
        <p:txBody>
          <a:bodyPr>
            <a:spAutoFit/>
          </a:bodyPr>
          <a:lstStyle/>
          <a:p>
            <a:pPr algn="l">
              <a:spcBef>
                <a:spcPct val="50000"/>
              </a:spcBef>
            </a:pPr>
            <a:r>
              <a:rPr lang="en-US" sz="1800"/>
              <a:t>D</a:t>
            </a:r>
            <a:r>
              <a:rPr lang="en-US" sz="1800" baseline="-25000"/>
              <a:t>1</a:t>
            </a:r>
          </a:p>
        </p:txBody>
      </p:sp>
      <p:sp>
        <p:nvSpPr>
          <p:cNvPr id="119863" name="Text Box 55"/>
          <p:cNvSpPr txBox="1">
            <a:spLocks noChangeArrowheads="1"/>
          </p:cNvSpPr>
          <p:nvPr/>
        </p:nvSpPr>
        <p:spPr bwMode="auto">
          <a:xfrm>
            <a:off x="3657600" y="5791200"/>
            <a:ext cx="685800" cy="366713"/>
          </a:xfrm>
          <a:prstGeom prst="rect">
            <a:avLst/>
          </a:prstGeom>
          <a:noFill/>
          <a:ln w="9525">
            <a:noFill/>
            <a:miter lim="800000"/>
            <a:headEnd/>
            <a:tailEnd/>
          </a:ln>
          <a:effectLst/>
        </p:spPr>
        <p:txBody>
          <a:bodyPr>
            <a:spAutoFit/>
          </a:bodyPr>
          <a:lstStyle/>
          <a:p>
            <a:pPr algn="l">
              <a:spcBef>
                <a:spcPct val="50000"/>
              </a:spcBef>
            </a:pPr>
            <a:r>
              <a:rPr lang="en-US" sz="1800"/>
              <a:t>q</a:t>
            </a:r>
            <a:r>
              <a:rPr lang="en-US" sz="1800" baseline="-25000"/>
              <a:t>2</a:t>
            </a:r>
            <a:endParaRPr lang="en-US" sz="1800"/>
          </a:p>
        </p:txBody>
      </p:sp>
      <p:sp>
        <p:nvSpPr>
          <p:cNvPr id="119864" name="Line 56"/>
          <p:cNvSpPr>
            <a:spLocks noChangeShapeType="1"/>
          </p:cNvSpPr>
          <p:nvPr/>
        </p:nvSpPr>
        <p:spPr bwMode="auto">
          <a:xfrm>
            <a:off x="3886200" y="3124200"/>
            <a:ext cx="0" cy="2743200"/>
          </a:xfrm>
          <a:prstGeom prst="line">
            <a:avLst/>
          </a:prstGeom>
          <a:noFill/>
          <a:ln w="9525">
            <a:solidFill>
              <a:schemeClr val="tx1"/>
            </a:solidFill>
            <a:prstDash val="dash"/>
            <a:round/>
            <a:headEnd/>
            <a:tailEnd/>
          </a:ln>
          <a:effectLst/>
        </p:spPr>
        <p:txBody>
          <a:bodyPr/>
          <a:lstStyle/>
          <a:p>
            <a:endParaRPr lang="en-US"/>
          </a:p>
        </p:txBody>
      </p:sp>
      <p:sp>
        <p:nvSpPr>
          <p:cNvPr id="119865" name="Line 57"/>
          <p:cNvSpPr>
            <a:spLocks noChangeShapeType="1"/>
          </p:cNvSpPr>
          <p:nvPr/>
        </p:nvSpPr>
        <p:spPr bwMode="auto">
          <a:xfrm>
            <a:off x="4419600" y="3886200"/>
            <a:ext cx="533400" cy="0"/>
          </a:xfrm>
          <a:prstGeom prst="line">
            <a:avLst/>
          </a:prstGeom>
          <a:noFill/>
          <a:ln w="9525">
            <a:solidFill>
              <a:schemeClr val="tx1"/>
            </a:solidFill>
            <a:round/>
            <a:headEnd/>
            <a:tailEnd type="triangle" w="med" len="med"/>
          </a:ln>
          <a:effectLst/>
        </p:spPr>
        <p:txBody>
          <a:bodyPr/>
          <a:lstStyle/>
          <a:p>
            <a:endParaRPr lang="en-US"/>
          </a:p>
        </p:txBody>
      </p:sp>
      <p:sp>
        <p:nvSpPr>
          <p:cNvPr id="119866" name="Line 58"/>
          <p:cNvSpPr>
            <a:spLocks noChangeShapeType="1"/>
          </p:cNvSpPr>
          <p:nvPr/>
        </p:nvSpPr>
        <p:spPr bwMode="auto">
          <a:xfrm>
            <a:off x="3200400" y="3048000"/>
            <a:ext cx="685800" cy="0"/>
          </a:xfrm>
          <a:prstGeom prst="line">
            <a:avLst/>
          </a:prstGeom>
          <a:noFill/>
          <a:ln w="9525">
            <a:solidFill>
              <a:schemeClr val="tx1"/>
            </a:solidFill>
            <a:prstDash val="dash"/>
            <a:round/>
            <a:headEnd/>
            <a:tailEnd/>
          </a:ln>
          <a:effectLst/>
        </p:spPr>
        <p:txBody>
          <a:bodyPr/>
          <a:lstStyle/>
          <a:p>
            <a:endParaRPr lang="en-US"/>
          </a:p>
        </p:txBody>
      </p:sp>
      <p:sp>
        <p:nvSpPr>
          <p:cNvPr id="119867" name="Line 59"/>
          <p:cNvSpPr>
            <a:spLocks noChangeShapeType="1"/>
          </p:cNvSpPr>
          <p:nvPr/>
        </p:nvSpPr>
        <p:spPr bwMode="auto">
          <a:xfrm>
            <a:off x="2362200" y="2057400"/>
            <a:ext cx="4343400" cy="2971800"/>
          </a:xfrm>
          <a:prstGeom prst="line">
            <a:avLst/>
          </a:prstGeom>
          <a:noFill/>
          <a:ln w="25400">
            <a:solidFill>
              <a:srgbClr val="FFFF00"/>
            </a:solidFill>
            <a:round/>
            <a:headEnd/>
            <a:tailEnd/>
          </a:ln>
          <a:effectLst/>
        </p:spPr>
        <p:txBody>
          <a:bodyPr/>
          <a:lstStyle/>
          <a:p>
            <a:endParaRPr lang="en-US"/>
          </a:p>
        </p:txBody>
      </p:sp>
      <p:sp>
        <p:nvSpPr>
          <p:cNvPr id="119868" name="Line 60"/>
          <p:cNvSpPr>
            <a:spLocks noChangeShapeType="1"/>
          </p:cNvSpPr>
          <p:nvPr/>
        </p:nvSpPr>
        <p:spPr bwMode="auto">
          <a:xfrm>
            <a:off x="2514600" y="2590800"/>
            <a:ext cx="533400" cy="0"/>
          </a:xfrm>
          <a:prstGeom prst="line">
            <a:avLst/>
          </a:prstGeom>
          <a:noFill/>
          <a:ln w="9525">
            <a:solidFill>
              <a:schemeClr val="tx1"/>
            </a:solidFill>
            <a:round/>
            <a:headEnd/>
            <a:tailEnd type="triangle" w="med" len="med"/>
          </a:ln>
          <a:effectLst/>
        </p:spPr>
        <p:txBody>
          <a:bodyPr/>
          <a:lstStyle/>
          <a:p>
            <a:endParaRPr lang="en-US"/>
          </a:p>
        </p:txBody>
      </p:sp>
      <p:sp>
        <p:nvSpPr>
          <p:cNvPr id="119879" name="Text Box 71"/>
          <p:cNvSpPr txBox="1">
            <a:spLocks noChangeArrowheads="1"/>
          </p:cNvSpPr>
          <p:nvPr/>
        </p:nvSpPr>
        <p:spPr bwMode="auto">
          <a:xfrm>
            <a:off x="304800" y="4191000"/>
            <a:ext cx="1524000" cy="915988"/>
          </a:xfrm>
          <a:prstGeom prst="rect">
            <a:avLst/>
          </a:prstGeom>
          <a:noFill/>
          <a:ln w="9525">
            <a:noFill/>
            <a:miter lim="800000"/>
            <a:headEnd/>
            <a:tailEnd/>
          </a:ln>
          <a:effectLst/>
        </p:spPr>
        <p:txBody>
          <a:bodyPr>
            <a:spAutoFit/>
          </a:bodyPr>
          <a:lstStyle/>
          <a:p>
            <a:pPr algn="l">
              <a:spcBef>
                <a:spcPct val="50000"/>
              </a:spcBef>
            </a:pPr>
            <a:r>
              <a:rPr lang="en-US" sz="1800">
                <a:solidFill>
                  <a:schemeClr val="hlink"/>
                </a:solidFill>
              </a:rPr>
              <a:t>This is a decrease in demand</a:t>
            </a:r>
          </a:p>
        </p:txBody>
      </p:sp>
      <p:sp>
        <p:nvSpPr>
          <p:cNvPr id="119880" name="Text Box 72"/>
          <p:cNvSpPr txBox="1">
            <a:spLocks noChangeArrowheads="1"/>
          </p:cNvSpPr>
          <p:nvPr/>
        </p:nvSpPr>
        <p:spPr bwMode="auto">
          <a:xfrm>
            <a:off x="5181600" y="5410200"/>
            <a:ext cx="762000" cy="366713"/>
          </a:xfrm>
          <a:prstGeom prst="rect">
            <a:avLst/>
          </a:prstGeom>
          <a:noFill/>
          <a:ln w="9525">
            <a:noFill/>
            <a:miter lim="800000"/>
            <a:headEnd/>
            <a:tailEnd/>
          </a:ln>
          <a:effectLst/>
        </p:spPr>
        <p:txBody>
          <a:bodyPr>
            <a:spAutoFit/>
          </a:bodyPr>
          <a:lstStyle/>
          <a:p>
            <a:pPr algn="l">
              <a:spcBef>
                <a:spcPct val="50000"/>
              </a:spcBef>
            </a:pPr>
            <a:r>
              <a:rPr lang="en-US" sz="1800"/>
              <a:t>D</a:t>
            </a:r>
            <a:r>
              <a:rPr lang="en-US" sz="1800" baseline="-25000"/>
              <a:t>2</a:t>
            </a:r>
          </a:p>
        </p:txBody>
      </p:sp>
      <p:sp>
        <p:nvSpPr>
          <p:cNvPr id="119881" name="Line 73"/>
          <p:cNvSpPr>
            <a:spLocks noChangeShapeType="1"/>
          </p:cNvSpPr>
          <p:nvPr/>
        </p:nvSpPr>
        <p:spPr bwMode="auto">
          <a:xfrm flipH="1">
            <a:off x="4800600" y="4648200"/>
            <a:ext cx="381000" cy="0"/>
          </a:xfrm>
          <a:prstGeom prst="line">
            <a:avLst/>
          </a:prstGeom>
          <a:noFill/>
          <a:ln w="9525">
            <a:solidFill>
              <a:schemeClr val="tx1"/>
            </a:solidFill>
            <a:round/>
            <a:headEnd/>
            <a:tailEnd type="triangle" w="med" len="med"/>
          </a:ln>
          <a:effectLst/>
        </p:spPr>
        <p:txBody>
          <a:bodyPr/>
          <a:lstStyle/>
          <a:p>
            <a:endParaRPr lang="en-US"/>
          </a:p>
        </p:txBody>
      </p:sp>
      <p:sp>
        <p:nvSpPr>
          <p:cNvPr id="119882" name="Line 74"/>
          <p:cNvSpPr>
            <a:spLocks noChangeShapeType="1"/>
          </p:cNvSpPr>
          <p:nvPr/>
        </p:nvSpPr>
        <p:spPr bwMode="auto">
          <a:xfrm>
            <a:off x="1981200" y="2819400"/>
            <a:ext cx="4267200" cy="2895600"/>
          </a:xfrm>
          <a:prstGeom prst="line">
            <a:avLst/>
          </a:prstGeom>
          <a:noFill/>
          <a:ln w="25400">
            <a:solidFill>
              <a:srgbClr val="00FF00"/>
            </a:solidFill>
            <a:round/>
            <a:headEnd/>
            <a:tailEnd/>
          </a:ln>
          <a:effectLst/>
        </p:spPr>
        <p:txBody>
          <a:bodyPr/>
          <a:lstStyle/>
          <a:p>
            <a:endParaRPr lang="en-US"/>
          </a:p>
        </p:txBody>
      </p:sp>
      <p:sp>
        <p:nvSpPr>
          <p:cNvPr id="27" name="Slide Number Placeholder 26"/>
          <p:cNvSpPr>
            <a:spLocks noGrp="1"/>
          </p:cNvSpPr>
          <p:nvPr>
            <p:ph type="sldNum" sz="quarter" idx="11"/>
          </p:nvPr>
        </p:nvSpPr>
        <p:spPr/>
        <p:txBody>
          <a:bodyPr/>
          <a:lstStyle/>
          <a:p>
            <a:fld id="{5D8C0D95-B81A-45DB-B701-8AAA9905C101}" type="slidenum">
              <a:rPr lang="en-US" smtClean="0"/>
              <a:pPr/>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9868"/>
                                        </p:tgtEl>
                                        <p:attrNameLst>
                                          <p:attrName>style.visibility</p:attrName>
                                        </p:attrNameLst>
                                      </p:cBhvr>
                                      <p:to>
                                        <p:strVal val="visible"/>
                                      </p:to>
                                    </p:set>
                                    <p:anim calcmode="lin" valueType="num">
                                      <p:cBhvr additive="base">
                                        <p:cTn id="7" dur="500" fill="hold"/>
                                        <p:tgtEl>
                                          <p:spTgt spid="119868"/>
                                        </p:tgtEl>
                                        <p:attrNameLst>
                                          <p:attrName>ppt_x</p:attrName>
                                        </p:attrNameLst>
                                      </p:cBhvr>
                                      <p:tavLst>
                                        <p:tav tm="0">
                                          <p:val>
                                            <p:strVal val="#ppt_x"/>
                                          </p:val>
                                        </p:tav>
                                        <p:tav tm="100000">
                                          <p:val>
                                            <p:strVal val="#ppt_x"/>
                                          </p:val>
                                        </p:tav>
                                      </p:tavLst>
                                    </p:anim>
                                    <p:anim calcmode="lin" valueType="num">
                                      <p:cBhvr additive="base">
                                        <p:cTn id="8" dur="500" fill="hold"/>
                                        <p:tgtEl>
                                          <p:spTgt spid="11986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9867"/>
                                        </p:tgtEl>
                                        <p:attrNameLst>
                                          <p:attrName>style.visibility</p:attrName>
                                        </p:attrNameLst>
                                      </p:cBhvr>
                                      <p:to>
                                        <p:strVal val="visible"/>
                                      </p:to>
                                    </p:set>
                                    <p:anim calcmode="lin" valueType="num">
                                      <p:cBhvr additive="base">
                                        <p:cTn id="11" dur="500" fill="hold"/>
                                        <p:tgtEl>
                                          <p:spTgt spid="119867"/>
                                        </p:tgtEl>
                                        <p:attrNameLst>
                                          <p:attrName>ppt_x</p:attrName>
                                        </p:attrNameLst>
                                      </p:cBhvr>
                                      <p:tavLst>
                                        <p:tav tm="0">
                                          <p:val>
                                            <p:strVal val="#ppt_x"/>
                                          </p:val>
                                        </p:tav>
                                        <p:tav tm="100000">
                                          <p:val>
                                            <p:strVal val="#ppt_x"/>
                                          </p:val>
                                        </p:tav>
                                      </p:tavLst>
                                    </p:anim>
                                    <p:anim calcmode="lin" valueType="num">
                                      <p:cBhvr additive="base">
                                        <p:cTn id="12" dur="500" fill="hold"/>
                                        <p:tgtEl>
                                          <p:spTgt spid="11986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9866"/>
                                        </p:tgtEl>
                                        <p:attrNameLst>
                                          <p:attrName>style.visibility</p:attrName>
                                        </p:attrNameLst>
                                      </p:cBhvr>
                                      <p:to>
                                        <p:strVal val="visible"/>
                                      </p:to>
                                    </p:set>
                                    <p:anim calcmode="lin" valueType="num">
                                      <p:cBhvr additive="base">
                                        <p:cTn id="15" dur="500" fill="hold"/>
                                        <p:tgtEl>
                                          <p:spTgt spid="119866"/>
                                        </p:tgtEl>
                                        <p:attrNameLst>
                                          <p:attrName>ppt_x</p:attrName>
                                        </p:attrNameLst>
                                      </p:cBhvr>
                                      <p:tavLst>
                                        <p:tav tm="0">
                                          <p:val>
                                            <p:strVal val="#ppt_x"/>
                                          </p:val>
                                        </p:tav>
                                        <p:tav tm="100000">
                                          <p:val>
                                            <p:strVal val="#ppt_x"/>
                                          </p:val>
                                        </p:tav>
                                      </p:tavLst>
                                    </p:anim>
                                    <p:anim calcmode="lin" valueType="num">
                                      <p:cBhvr additive="base">
                                        <p:cTn id="16" dur="500" fill="hold"/>
                                        <p:tgtEl>
                                          <p:spTgt spid="11986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9865"/>
                                        </p:tgtEl>
                                        <p:attrNameLst>
                                          <p:attrName>style.visibility</p:attrName>
                                        </p:attrNameLst>
                                      </p:cBhvr>
                                      <p:to>
                                        <p:strVal val="visible"/>
                                      </p:to>
                                    </p:set>
                                    <p:anim calcmode="lin" valueType="num">
                                      <p:cBhvr additive="base">
                                        <p:cTn id="19" dur="500" fill="hold"/>
                                        <p:tgtEl>
                                          <p:spTgt spid="119865"/>
                                        </p:tgtEl>
                                        <p:attrNameLst>
                                          <p:attrName>ppt_x</p:attrName>
                                        </p:attrNameLst>
                                      </p:cBhvr>
                                      <p:tavLst>
                                        <p:tav tm="0">
                                          <p:val>
                                            <p:strVal val="#ppt_x"/>
                                          </p:val>
                                        </p:tav>
                                        <p:tav tm="100000">
                                          <p:val>
                                            <p:strVal val="#ppt_x"/>
                                          </p:val>
                                        </p:tav>
                                      </p:tavLst>
                                    </p:anim>
                                    <p:anim calcmode="lin" valueType="num">
                                      <p:cBhvr additive="base">
                                        <p:cTn id="20" dur="500" fill="hold"/>
                                        <p:tgtEl>
                                          <p:spTgt spid="11986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9864"/>
                                        </p:tgtEl>
                                        <p:attrNameLst>
                                          <p:attrName>style.visibility</p:attrName>
                                        </p:attrNameLst>
                                      </p:cBhvr>
                                      <p:to>
                                        <p:strVal val="visible"/>
                                      </p:to>
                                    </p:set>
                                    <p:anim calcmode="lin" valueType="num">
                                      <p:cBhvr additive="base">
                                        <p:cTn id="23" dur="500" fill="hold"/>
                                        <p:tgtEl>
                                          <p:spTgt spid="119864"/>
                                        </p:tgtEl>
                                        <p:attrNameLst>
                                          <p:attrName>ppt_x</p:attrName>
                                        </p:attrNameLst>
                                      </p:cBhvr>
                                      <p:tavLst>
                                        <p:tav tm="0">
                                          <p:val>
                                            <p:strVal val="#ppt_x"/>
                                          </p:val>
                                        </p:tav>
                                        <p:tav tm="100000">
                                          <p:val>
                                            <p:strVal val="#ppt_x"/>
                                          </p:val>
                                        </p:tav>
                                      </p:tavLst>
                                    </p:anim>
                                    <p:anim calcmode="lin" valueType="num">
                                      <p:cBhvr additive="base">
                                        <p:cTn id="24" dur="500" fill="hold"/>
                                        <p:tgtEl>
                                          <p:spTgt spid="119864"/>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19863"/>
                                        </p:tgtEl>
                                        <p:attrNameLst>
                                          <p:attrName>style.visibility</p:attrName>
                                        </p:attrNameLst>
                                      </p:cBhvr>
                                      <p:to>
                                        <p:strVal val="visible"/>
                                      </p:to>
                                    </p:set>
                                    <p:anim calcmode="lin" valueType="num">
                                      <p:cBhvr additive="base">
                                        <p:cTn id="27" dur="500" fill="hold"/>
                                        <p:tgtEl>
                                          <p:spTgt spid="119863"/>
                                        </p:tgtEl>
                                        <p:attrNameLst>
                                          <p:attrName>ppt_x</p:attrName>
                                        </p:attrNameLst>
                                      </p:cBhvr>
                                      <p:tavLst>
                                        <p:tav tm="0">
                                          <p:val>
                                            <p:strVal val="#ppt_x"/>
                                          </p:val>
                                        </p:tav>
                                        <p:tav tm="100000">
                                          <p:val>
                                            <p:strVal val="#ppt_x"/>
                                          </p:val>
                                        </p:tav>
                                      </p:tavLst>
                                    </p:anim>
                                    <p:anim calcmode="lin" valueType="num">
                                      <p:cBhvr additive="base">
                                        <p:cTn id="28" dur="500" fill="hold"/>
                                        <p:tgtEl>
                                          <p:spTgt spid="11986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19862"/>
                                        </p:tgtEl>
                                        <p:attrNameLst>
                                          <p:attrName>style.visibility</p:attrName>
                                        </p:attrNameLst>
                                      </p:cBhvr>
                                      <p:to>
                                        <p:strVal val="visible"/>
                                      </p:to>
                                    </p:set>
                                    <p:anim calcmode="lin" valueType="num">
                                      <p:cBhvr additive="base">
                                        <p:cTn id="31" dur="500" fill="hold"/>
                                        <p:tgtEl>
                                          <p:spTgt spid="119862"/>
                                        </p:tgtEl>
                                        <p:attrNameLst>
                                          <p:attrName>ppt_x</p:attrName>
                                        </p:attrNameLst>
                                      </p:cBhvr>
                                      <p:tavLst>
                                        <p:tav tm="0">
                                          <p:val>
                                            <p:strVal val="#ppt_x"/>
                                          </p:val>
                                        </p:tav>
                                        <p:tav tm="100000">
                                          <p:val>
                                            <p:strVal val="#ppt_x"/>
                                          </p:val>
                                        </p:tav>
                                      </p:tavLst>
                                    </p:anim>
                                    <p:anim calcmode="lin" valueType="num">
                                      <p:cBhvr additive="base">
                                        <p:cTn id="32" dur="500" fill="hold"/>
                                        <p:tgtEl>
                                          <p:spTgt spid="11986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19882"/>
                                        </p:tgtEl>
                                        <p:attrNameLst>
                                          <p:attrName>style.visibility</p:attrName>
                                        </p:attrNameLst>
                                      </p:cBhvr>
                                      <p:to>
                                        <p:strVal val="visible"/>
                                      </p:to>
                                    </p:set>
                                    <p:anim calcmode="lin" valueType="num">
                                      <p:cBhvr additive="base">
                                        <p:cTn id="37" dur="500" fill="hold"/>
                                        <p:tgtEl>
                                          <p:spTgt spid="119882"/>
                                        </p:tgtEl>
                                        <p:attrNameLst>
                                          <p:attrName>ppt_x</p:attrName>
                                        </p:attrNameLst>
                                      </p:cBhvr>
                                      <p:tavLst>
                                        <p:tav tm="0">
                                          <p:val>
                                            <p:strVal val="1+#ppt_w/2"/>
                                          </p:val>
                                        </p:tav>
                                        <p:tav tm="100000">
                                          <p:val>
                                            <p:strVal val="#ppt_x"/>
                                          </p:val>
                                        </p:tav>
                                      </p:tavLst>
                                    </p:anim>
                                    <p:anim calcmode="lin" valueType="num">
                                      <p:cBhvr additive="base">
                                        <p:cTn id="38" dur="500" fill="hold"/>
                                        <p:tgtEl>
                                          <p:spTgt spid="119882"/>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19881"/>
                                        </p:tgtEl>
                                        <p:attrNameLst>
                                          <p:attrName>style.visibility</p:attrName>
                                        </p:attrNameLst>
                                      </p:cBhvr>
                                      <p:to>
                                        <p:strVal val="visible"/>
                                      </p:to>
                                    </p:set>
                                    <p:anim calcmode="lin" valueType="num">
                                      <p:cBhvr additive="base">
                                        <p:cTn id="41" dur="500" fill="hold"/>
                                        <p:tgtEl>
                                          <p:spTgt spid="119881"/>
                                        </p:tgtEl>
                                        <p:attrNameLst>
                                          <p:attrName>ppt_x</p:attrName>
                                        </p:attrNameLst>
                                      </p:cBhvr>
                                      <p:tavLst>
                                        <p:tav tm="0">
                                          <p:val>
                                            <p:strVal val="1+#ppt_w/2"/>
                                          </p:val>
                                        </p:tav>
                                        <p:tav tm="100000">
                                          <p:val>
                                            <p:strVal val="#ppt_x"/>
                                          </p:val>
                                        </p:tav>
                                      </p:tavLst>
                                    </p:anim>
                                    <p:anim calcmode="lin" valueType="num">
                                      <p:cBhvr additive="base">
                                        <p:cTn id="42" dur="500" fill="hold"/>
                                        <p:tgtEl>
                                          <p:spTgt spid="119881"/>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19880"/>
                                        </p:tgtEl>
                                        <p:attrNameLst>
                                          <p:attrName>style.visibility</p:attrName>
                                        </p:attrNameLst>
                                      </p:cBhvr>
                                      <p:to>
                                        <p:strVal val="visible"/>
                                      </p:to>
                                    </p:set>
                                    <p:anim calcmode="lin" valueType="num">
                                      <p:cBhvr additive="base">
                                        <p:cTn id="45" dur="500" fill="hold"/>
                                        <p:tgtEl>
                                          <p:spTgt spid="119880"/>
                                        </p:tgtEl>
                                        <p:attrNameLst>
                                          <p:attrName>ppt_x</p:attrName>
                                        </p:attrNameLst>
                                      </p:cBhvr>
                                      <p:tavLst>
                                        <p:tav tm="0">
                                          <p:val>
                                            <p:strVal val="1+#ppt_w/2"/>
                                          </p:val>
                                        </p:tav>
                                        <p:tav tm="100000">
                                          <p:val>
                                            <p:strVal val="#ppt_x"/>
                                          </p:val>
                                        </p:tav>
                                      </p:tavLst>
                                    </p:anim>
                                    <p:anim calcmode="lin" valueType="num">
                                      <p:cBhvr additive="base">
                                        <p:cTn id="46" dur="500" fill="hold"/>
                                        <p:tgtEl>
                                          <p:spTgt spid="119880"/>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119879"/>
                                        </p:tgtEl>
                                        <p:attrNameLst>
                                          <p:attrName>style.visibility</p:attrName>
                                        </p:attrNameLst>
                                      </p:cBhvr>
                                      <p:to>
                                        <p:strVal val="visible"/>
                                      </p:to>
                                    </p:set>
                                    <p:anim calcmode="lin" valueType="num">
                                      <p:cBhvr additive="base">
                                        <p:cTn id="49" dur="500" fill="hold"/>
                                        <p:tgtEl>
                                          <p:spTgt spid="119879"/>
                                        </p:tgtEl>
                                        <p:attrNameLst>
                                          <p:attrName>ppt_x</p:attrName>
                                        </p:attrNameLst>
                                      </p:cBhvr>
                                      <p:tavLst>
                                        <p:tav tm="0">
                                          <p:val>
                                            <p:strVal val="1+#ppt_w/2"/>
                                          </p:val>
                                        </p:tav>
                                        <p:tav tm="100000">
                                          <p:val>
                                            <p:strVal val="#ppt_x"/>
                                          </p:val>
                                        </p:tav>
                                      </p:tavLst>
                                    </p:anim>
                                    <p:anim calcmode="lin" valueType="num">
                                      <p:cBhvr additive="base">
                                        <p:cTn id="50" dur="500" fill="hold"/>
                                        <p:tgtEl>
                                          <p:spTgt spid="1198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64" grpId="0" animBg="1"/>
      <p:bldP spid="119865" grpId="0" animBg="1"/>
      <p:bldP spid="119866" grpId="0" animBg="1"/>
      <p:bldP spid="119867" grpId="0" animBg="1"/>
      <p:bldP spid="119868" grpId="0" animBg="1"/>
      <p:bldP spid="119879" grpId="0"/>
      <p:bldP spid="119880" grpId="0"/>
      <p:bldP spid="119881" grpId="0" animBg="1"/>
      <p:bldP spid="11988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algn="l"/>
            <a:r>
              <a:rPr lang="en-US" u="sng" dirty="0"/>
              <a:t>Change in </a:t>
            </a:r>
            <a:r>
              <a:rPr lang="en-US" u="sng" dirty="0" smtClean="0"/>
              <a:t>Demand:</a:t>
            </a:r>
            <a:endParaRPr lang="en-US" u="sng" dirty="0"/>
          </a:p>
        </p:txBody>
      </p:sp>
      <p:sp>
        <p:nvSpPr>
          <p:cNvPr id="117764" name="Line 4"/>
          <p:cNvSpPr>
            <a:spLocks noChangeShapeType="1"/>
          </p:cNvSpPr>
          <p:nvPr/>
        </p:nvSpPr>
        <p:spPr bwMode="auto">
          <a:xfrm>
            <a:off x="838200" y="1981200"/>
            <a:ext cx="0" cy="2971800"/>
          </a:xfrm>
          <a:prstGeom prst="line">
            <a:avLst/>
          </a:prstGeom>
          <a:noFill/>
          <a:ln w="9525">
            <a:solidFill>
              <a:schemeClr val="tx1"/>
            </a:solidFill>
            <a:round/>
            <a:headEnd/>
            <a:tailEnd/>
          </a:ln>
          <a:effectLst/>
        </p:spPr>
        <p:txBody>
          <a:bodyPr/>
          <a:lstStyle/>
          <a:p>
            <a:endParaRPr lang="en-US"/>
          </a:p>
        </p:txBody>
      </p:sp>
      <p:sp>
        <p:nvSpPr>
          <p:cNvPr id="117765" name="Line 5"/>
          <p:cNvSpPr>
            <a:spLocks noChangeShapeType="1"/>
          </p:cNvSpPr>
          <p:nvPr/>
        </p:nvSpPr>
        <p:spPr bwMode="auto">
          <a:xfrm>
            <a:off x="838200" y="4953000"/>
            <a:ext cx="3124200" cy="0"/>
          </a:xfrm>
          <a:prstGeom prst="line">
            <a:avLst/>
          </a:prstGeom>
          <a:noFill/>
          <a:ln w="9525">
            <a:solidFill>
              <a:schemeClr val="tx1"/>
            </a:solidFill>
            <a:round/>
            <a:headEnd/>
            <a:tailEnd/>
          </a:ln>
          <a:effectLst/>
        </p:spPr>
        <p:txBody>
          <a:bodyPr/>
          <a:lstStyle/>
          <a:p>
            <a:endParaRPr lang="en-US"/>
          </a:p>
        </p:txBody>
      </p:sp>
      <p:sp>
        <p:nvSpPr>
          <p:cNvPr id="117766" name="Line 6"/>
          <p:cNvSpPr>
            <a:spLocks noChangeShapeType="1"/>
          </p:cNvSpPr>
          <p:nvPr/>
        </p:nvSpPr>
        <p:spPr bwMode="auto">
          <a:xfrm>
            <a:off x="990600" y="2743200"/>
            <a:ext cx="2209800" cy="1905000"/>
          </a:xfrm>
          <a:prstGeom prst="line">
            <a:avLst/>
          </a:prstGeom>
          <a:noFill/>
          <a:ln w="9525">
            <a:solidFill>
              <a:schemeClr val="tx1"/>
            </a:solidFill>
            <a:round/>
            <a:headEnd/>
            <a:tailEnd/>
          </a:ln>
          <a:effectLst/>
        </p:spPr>
        <p:txBody>
          <a:bodyPr/>
          <a:lstStyle/>
          <a:p>
            <a:endParaRPr lang="en-US"/>
          </a:p>
        </p:txBody>
      </p:sp>
      <p:sp>
        <p:nvSpPr>
          <p:cNvPr id="117767" name="Line 7"/>
          <p:cNvSpPr>
            <a:spLocks noChangeShapeType="1"/>
          </p:cNvSpPr>
          <p:nvPr/>
        </p:nvSpPr>
        <p:spPr bwMode="auto">
          <a:xfrm>
            <a:off x="1371600" y="2438400"/>
            <a:ext cx="2209800" cy="1905000"/>
          </a:xfrm>
          <a:prstGeom prst="line">
            <a:avLst/>
          </a:prstGeom>
          <a:noFill/>
          <a:ln w="9525">
            <a:solidFill>
              <a:schemeClr val="tx1"/>
            </a:solidFill>
            <a:round/>
            <a:headEnd/>
            <a:tailEnd/>
          </a:ln>
          <a:effectLst/>
        </p:spPr>
        <p:txBody>
          <a:bodyPr/>
          <a:lstStyle/>
          <a:p>
            <a:endParaRPr lang="en-US"/>
          </a:p>
        </p:txBody>
      </p:sp>
      <p:sp>
        <p:nvSpPr>
          <p:cNvPr id="117768" name="Line 8"/>
          <p:cNvSpPr>
            <a:spLocks noChangeShapeType="1"/>
          </p:cNvSpPr>
          <p:nvPr/>
        </p:nvSpPr>
        <p:spPr bwMode="auto">
          <a:xfrm>
            <a:off x="1981200" y="3505200"/>
            <a:ext cx="533400" cy="0"/>
          </a:xfrm>
          <a:prstGeom prst="line">
            <a:avLst/>
          </a:prstGeom>
          <a:noFill/>
          <a:ln w="9525">
            <a:solidFill>
              <a:schemeClr val="tx1"/>
            </a:solidFill>
            <a:round/>
            <a:headEnd/>
            <a:tailEnd type="triangle" w="med" len="med"/>
          </a:ln>
          <a:effectLst/>
        </p:spPr>
        <p:txBody>
          <a:bodyPr/>
          <a:lstStyle/>
          <a:p>
            <a:endParaRPr lang="en-US"/>
          </a:p>
        </p:txBody>
      </p:sp>
      <p:sp>
        <p:nvSpPr>
          <p:cNvPr id="117769" name="Text Box 9"/>
          <p:cNvSpPr txBox="1">
            <a:spLocks noChangeArrowheads="1"/>
          </p:cNvSpPr>
          <p:nvPr/>
        </p:nvSpPr>
        <p:spPr bwMode="auto">
          <a:xfrm>
            <a:off x="228600" y="1905000"/>
            <a:ext cx="304800" cy="366713"/>
          </a:xfrm>
          <a:prstGeom prst="rect">
            <a:avLst/>
          </a:prstGeom>
          <a:noFill/>
          <a:ln w="9525">
            <a:noFill/>
            <a:miter lim="800000"/>
            <a:headEnd/>
            <a:tailEnd/>
          </a:ln>
          <a:effectLst/>
        </p:spPr>
        <p:txBody>
          <a:bodyPr>
            <a:spAutoFit/>
          </a:bodyPr>
          <a:lstStyle/>
          <a:p>
            <a:pPr algn="l">
              <a:spcBef>
                <a:spcPct val="50000"/>
              </a:spcBef>
            </a:pPr>
            <a:r>
              <a:rPr lang="en-US" sz="1800"/>
              <a:t>P</a:t>
            </a:r>
          </a:p>
        </p:txBody>
      </p:sp>
      <p:sp>
        <p:nvSpPr>
          <p:cNvPr id="117770" name="Text Box 10"/>
          <p:cNvSpPr txBox="1">
            <a:spLocks noChangeArrowheads="1"/>
          </p:cNvSpPr>
          <p:nvPr/>
        </p:nvSpPr>
        <p:spPr bwMode="auto">
          <a:xfrm>
            <a:off x="3733800" y="5029200"/>
            <a:ext cx="457200" cy="366713"/>
          </a:xfrm>
          <a:prstGeom prst="rect">
            <a:avLst/>
          </a:prstGeom>
          <a:noFill/>
          <a:ln w="9525">
            <a:noFill/>
            <a:miter lim="800000"/>
            <a:headEnd/>
            <a:tailEnd/>
          </a:ln>
          <a:effectLst/>
        </p:spPr>
        <p:txBody>
          <a:bodyPr>
            <a:spAutoFit/>
          </a:bodyPr>
          <a:lstStyle/>
          <a:p>
            <a:pPr algn="l">
              <a:spcBef>
                <a:spcPct val="50000"/>
              </a:spcBef>
            </a:pPr>
            <a:r>
              <a:rPr lang="en-US" sz="1800"/>
              <a:t>Q</a:t>
            </a:r>
          </a:p>
        </p:txBody>
      </p:sp>
      <p:sp>
        <p:nvSpPr>
          <p:cNvPr id="117771" name="Text Box 11"/>
          <p:cNvSpPr txBox="1">
            <a:spLocks noChangeArrowheads="1"/>
          </p:cNvSpPr>
          <p:nvPr/>
        </p:nvSpPr>
        <p:spPr bwMode="auto">
          <a:xfrm>
            <a:off x="3276600" y="4572000"/>
            <a:ext cx="457200" cy="304800"/>
          </a:xfrm>
          <a:prstGeom prst="rect">
            <a:avLst/>
          </a:prstGeom>
          <a:noFill/>
          <a:ln w="9525">
            <a:noFill/>
            <a:miter lim="800000"/>
            <a:headEnd/>
            <a:tailEnd/>
          </a:ln>
          <a:effectLst/>
        </p:spPr>
        <p:txBody>
          <a:bodyPr>
            <a:spAutoFit/>
          </a:bodyPr>
          <a:lstStyle/>
          <a:p>
            <a:pPr algn="l">
              <a:spcBef>
                <a:spcPct val="50000"/>
              </a:spcBef>
            </a:pPr>
            <a:r>
              <a:rPr lang="en-US" sz="1400"/>
              <a:t>D</a:t>
            </a:r>
          </a:p>
        </p:txBody>
      </p:sp>
      <p:sp>
        <p:nvSpPr>
          <p:cNvPr id="117772" name="Text Box 12"/>
          <p:cNvSpPr txBox="1">
            <a:spLocks noChangeArrowheads="1"/>
          </p:cNvSpPr>
          <p:nvPr/>
        </p:nvSpPr>
        <p:spPr bwMode="auto">
          <a:xfrm>
            <a:off x="3733800" y="4267200"/>
            <a:ext cx="457200" cy="304800"/>
          </a:xfrm>
          <a:prstGeom prst="rect">
            <a:avLst/>
          </a:prstGeom>
          <a:noFill/>
          <a:ln w="9525">
            <a:noFill/>
            <a:miter lim="800000"/>
            <a:headEnd/>
            <a:tailEnd/>
          </a:ln>
          <a:effectLst/>
        </p:spPr>
        <p:txBody>
          <a:bodyPr>
            <a:spAutoFit/>
          </a:bodyPr>
          <a:lstStyle/>
          <a:p>
            <a:pPr algn="l">
              <a:spcBef>
                <a:spcPct val="50000"/>
              </a:spcBef>
            </a:pPr>
            <a:r>
              <a:rPr lang="en-US" sz="1400"/>
              <a:t>D’</a:t>
            </a:r>
          </a:p>
        </p:txBody>
      </p:sp>
      <p:sp>
        <p:nvSpPr>
          <p:cNvPr id="117773" name="Line 13"/>
          <p:cNvSpPr>
            <a:spLocks noChangeShapeType="1"/>
          </p:cNvSpPr>
          <p:nvPr/>
        </p:nvSpPr>
        <p:spPr bwMode="auto">
          <a:xfrm>
            <a:off x="990600" y="2743200"/>
            <a:ext cx="2209800" cy="1905000"/>
          </a:xfrm>
          <a:prstGeom prst="line">
            <a:avLst/>
          </a:prstGeom>
          <a:noFill/>
          <a:ln w="25400">
            <a:solidFill>
              <a:schemeClr val="tx1"/>
            </a:solidFill>
            <a:round/>
            <a:headEnd/>
            <a:tailEnd/>
          </a:ln>
          <a:effectLst/>
        </p:spPr>
        <p:txBody>
          <a:bodyPr/>
          <a:lstStyle/>
          <a:p>
            <a:endParaRPr lang="en-US"/>
          </a:p>
        </p:txBody>
      </p:sp>
      <p:sp>
        <p:nvSpPr>
          <p:cNvPr id="117774" name="Line 14"/>
          <p:cNvSpPr>
            <a:spLocks noChangeShapeType="1"/>
          </p:cNvSpPr>
          <p:nvPr/>
        </p:nvSpPr>
        <p:spPr bwMode="auto">
          <a:xfrm>
            <a:off x="1371600" y="2438400"/>
            <a:ext cx="2209800" cy="1905000"/>
          </a:xfrm>
          <a:prstGeom prst="line">
            <a:avLst/>
          </a:prstGeom>
          <a:noFill/>
          <a:ln w="25400">
            <a:solidFill>
              <a:schemeClr val="tx1"/>
            </a:solidFill>
            <a:round/>
            <a:headEnd/>
            <a:tailEnd/>
          </a:ln>
          <a:effectLst/>
        </p:spPr>
        <p:txBody>
          <a:bodyPr/>
          <a:lstStyle/>
          <a:p>
            <a:endParaRPr lang="en-US"/>
          </a:p>
        </p:txBody>
      </p:sp>
      <p:sp>
        <p:nvSpPr>
          <p:cNvPr id="117776" name="Text Box 16"/>
          <p:cNvSpPr txBox="1">
            <a:spLocks noChangeArrowheads="1"/>
          </p:cNvSpPr>
          <p:nvPr/>
        </p:nvSpPr>
        <p:spPr bwMode="auto">
          <a:xfrm>
            <a:off x="1143000" y="5562600"/>
            <a:ext cx="2362200" cy="366713"/>
          </a:xfrm>
          <a:prstGeom prst="rect">
            <a:avLst/>
          </a:prstGeom>
          <a:noFill/>
          <a:ln w="9525">
            <a:noFill/>
            <a:miter lim="800000"/>
            <a:headEnd/>
            <a:tailEnd/>
          </a:ln>
          <a:effectLst/>
        </p:spPr>
        <p:txBody>
          <a:bodyPr>
            <a:spAutoFit/>
          </a:bodyPr>
          <a:lstStyle/>
          <a:p>
            <a:pPr algn="l">
              <a:spcBef>
                <a:spcPct val="50000"/>
              </a:spcBef>
            </a:pPr>
            <a:r>
              <a:rPr lang="en-US" sz="1800"/>
              <a:t>Increase in Demand</a:t>
            </a:r>
          </a:p>
        </p:txBody>
      </p:sp>
      <p:sp>
        <p:nvSpPr>
          <p:cNvPr id="117777" name="Line 17"/>
          <p:cNvSpPr>
            <a:spLocks noChangeShapeType="1"/>
          </p:cNvSpPr>
          <p:nvPr/>
        </p:nvSpPr>
        <p:spPr bwMode="auto">
          <a:xfrm>
            <a:off x="4876800" y="1981200"/>
            <a:ext cx="0" cy="2971800"/>
          </a:xfrm>
          <a:prstGeom prst="line">
            <a:avLst/>
          </a:prstGeom>
          <a:noFill/>
          <a:ln w="9525">
            <a:solidFill>
              <a:schemeClr val="tx1"/>
            </a:solidFill>
            <a:round/>
            <a:headEnd/>
            <a:tailEnd/>
          </a:ln>
          <a:effectLst/>
        </p:spPr>
        <p:txBody>
          <a:bodyPr/>
          <a:lstStyle/>
          <a:p>
            <a:endParaRPr lang="en-US"/>
          </a:p>
        </p:txBody>
      </p:sp>
      <p:sp>
        <p:nvSpPr>
          <p:cNvPr id="117778" name="Line 18"/>
          <p:cNvSpPr>
            <a:spLocks noChangeShapeType="1"/>
          </p:cNvSpPr>
          <p:nvPr/>
        </p:nvSpPr>
        <p:spPr bwMode="auto">
          <a:xfrm>
            <a:off x="4876800" y="4953000"/>
            <a:ext cx="3124200" cy="0"/>
          </a:xfrm>
          <a:prstGeom prst="line">
            <a:avLst/>
          </a:prstGeom>
          <a:noFill/>
          <a:ln w="9525">
            <a:solidFill>
              <a:schemeClr val="tx1"/>
            </a:solidFill>
            <a:round/>
            <a:headEnd/>
            <a:tailEnd/>
          </a:ln>
          <a:effectLst/>
        </p:spPr>
        <p:txBody>
          <a:bodyPr/>
          <a:lstStyle/>
          <a:p>
            <a:endParaRPr lang="en-US"/>
          </a:p>
        </p:txBody>
      </p:sp>
      <p:sp>
        <p:nvSpPr>
          <p:cNvPr id="117779" name="Line 19"/>
          <p:cNvSpPr>
            <a:spLocks noChangeShapeType="1"/>
          </p:cNvSpPr>
          <p:nvPr/>
        </p:nvSpPr>
        <p:spPr bwMode="auto">
          <a:xfrm>
            <a:off x="5029200" y="2743200"/>
            <a:ext cx="2209800" cy="1905000"/>
          </a:xfrm>
          <a:prstGeom prst="line">
            <a:avLst/>
          </a:prstGeom>
          <a:noFill/>
          <a:ln w="9525">
            <a:solidFill>
              <a:schemeClr val="tx1"/>
            </a:solidFill>
            <a:round/>
            <a:headEnd/>
            <a:tailEnd/>
          </a:ln>
          <a:effectLst/>
        </p:spPr>
        <p:txBody>
          <a:bodyPr/>
          <a:lstStyle/>
          <a:p>
            <a:endParaRPr lang="en-US"/>
          </a:p>
        </p:txBody>
      </p:sp>
      <p:sp>
        <p:nvSpPr>
          <p:cNvPr id="117780" name="Line 20"/>
          <p:cNvSpPr>
            <a:spLocks noChangeShapeType="1"/>
          </p:cNvSpPr>
          <p:nvPr/>
        </p:nvSpPr>
        <p:spPr bwMode="auto">
          <a:xfrm>
            <a:off x="5410200" y="2438400"/>
            <a:ext cx="2209800" cy="1905000"/>
          </a:xfrm>
          <a:prstGeom prst="line">
            <a:avLst/>
          </a:prstGeom>
          <a:noFill/>
          <a:ln w="9525">
            <a:solidFill>
              <a:schemeClr val="tx1"/>
            </a:solidFill>
            <a:round/>
            <a:headEnd/>
            <a:tailEnd/>
          </a:ln>
          <a:effectLst/>
        </p:spPr>
        <p:txBody>
          <a:bodyPr/>
          <a:lstStyle/>
          <a:p>
            <a:endParaRPr lang="en-US"/>
          </a:p>
        </p:txBody>
      </p:sp>
      <p:sp>
        <p:nvSpPr>
          <p:cNvPr id="117782" name="Text Box 22"/>
          <p:cNvSpPr txBox="1">
            <a:spLocks noChangeArrowheads="1"/>
          </p:cNvSpPr>
          <p:nvPr/>
        </p:nvSpPr>
        <p:spPr bwMode="auto">
          <a:xfrm>
            <a:off x="4267200" y="1905000"/>
            <a:ext cx="304800" cy="366713"/>
          </a:xfrm>
          <a:prstGeom prst="rect">
            <a:avLst/>
          </a:prstGeom>
          <a:noFill/>
          <a:ln w="9525">
            <a:noFill/>
            <a:miter lim="800000"/>
            <a:headEnd/>
            <a:tailEnd/>
          </a:ln>
          <a:effectLst/>
        </p:spPr>
        <p:txBody>
          <a:bodyPr>
            <a:spAutoFit/>
          </a:bodyPr>
          <a:lstStyle/>
          <a:p>
            <a:pPr algn="l">
              <a:spcBef>
                <a:spcPct val="50000"/>
              </a:spcBef>
            </a:pPr>
            <a:r>
              <a:rPr lang="en-US" sz="1800"/>
              <a:t>P</a:t>
            </a:r>
          </a:p>
        </p:txBody>
      </p:sp>
      <p:sp>
        <p:nvSpPr>
          <p:cNvPr id="117783" name="Text Box 23"/>
          <p:cNvSpPr txBox="1">
            <a:spLocks noChangeArrowheads="1"/>
          </p:cNvSpPr>
          <p:nvPr/>
        </p:nvSpPr>
        <p:spPr bwMode="auto">
          <a:xfrm>
            <a:off x="7772400" y="5029200"/>
            <a:ext cx="457200" cy="366713"/>
          </a:xfrm>
          <a:prstGeom prst="rect">
            <a:avLst/>
          </a:prstGeom>
          <a:noFill/>
          <a:ln w="9525">
            <a:noFill/>
            <a:miter lim="800000"/>
            <a:headEnd/>
            <a:tailEnd/>
          </a:ln>
          <a:effectLst/>
        </p:spPr>
        <p:txBody>
          <a:bodyPr>
            <a:spAutoFit/>
          </a:bodyPr>
          <a:lstStyle/>
          <a:p>
            <a:pPr algn="l">
              <a:spcBef>
                <a:spcPct val="50000"/>
              </a:spcBef>
            </a:pPr>
            <a:r>
              <a:rPr lang="en-US" sz="1800"/>
              <a:t>Q</a:t>
            </a:r>
          </a:p>
        </p:txBody>
      </p:sp>
      <p:sp>
        <p:nvSpPr>
          <p:cNvPr id="117784" name="Text Box 24"/>
          <p:cNvSpPr txBox="1">
            <a:spLocks noChangeArrowheads="1"/>
          </p:cNvSpPr>
          <p:nvPr/>
        </p:nvSpPr>
        <p:spPr bwMode="auto">
          <a:xfrm>
            <a:off x="7696200" y="4343400"/>
            <a:ext cx="457200" cy="304800"/>
          </a:xfrm>
          <a:prstGeom prst="rect">
            <a:avLst/>
          </a:prstGeom>
          <a:noFill/>
          <a:ln w="9525">
            <a:noFill/>
            <a:miter lim="800000"/>
            <a:headEnd/>
            <a:tailEnd/>
          </a:ln>
          <a:effectLst/>
        </p:spPr>
        <p:txBody>
          <a:bodyPr>
            <a:spAutoFit/>
          </a:bodyPr>
          <a:lstStyle/>
          <a:p>
            <a:pPr algn="l">
              <a:spcBef>
                <a:spcPct val="50000"/>
              </a:spcBef>
            </a:pPr>
            <a:r>
              <a:rPr lang="en-US" sz="1400"/>
              <a:t>D</a:t>
            </a:r>
          </a:p>
        </p:txBody>
      </p:sp>
      <p:sp>
        <p:nvSpPr>
          <p:cNvPr id="117785" name="Text Box 25"/>
          <p:cNvSpPr txBox="1">
            <a:spLocks noChangeArrowheads="1"/>
          </p:cNvSpPr>
          <p:nvPr/>
        </p:nvSpPr>
        <p:spPr bwMode="auto">
          <a:xfrm>
            <a:off x="7162800" y="4419600"/>
            <a:ext cx="457200" cy="304800"/>
          </a:xfrm>
          <a:prstGeom prst="rect">
            <a:avLst/>
          </a:prstGeom>
          <a:noFill/>
          <a:ln w="9525">
            <a:noFill/>
            <a:miter lim="800000"/>
            <a:headEnd/>
            <a:tailEnd/>
          </a:ln>
          <a:effectLst/>
        </p:spPr>
        <p:txBody>
          <a:bodyPr>
            <a:spAutoFit/>
          </a:bodyPr>
          <a:lstStyle/>
          <a:p>
            <a:pPr algn="l">
              <a:spcBef>
                <a:spcPct val="50000"/>
              </a:spcBef>
            </a:pPr>
            <a:r>
              <a:rPr lang="en-US" sz="1400"/>
              <a:t>D’</a:t>
            </a:r>
          </a:p>
        </p:txBody>
      </p:sp>
      <p:sp>
        <p:nvSpPr>
          <p:cNvPr id="117786" name="Line 26"/>
          <p:cNvSpPr>
            <a:spLocks noChangeShapeType="1"/>
          </p:cNvSpPr>
          <p:nvPr/>
        </p:nvSpPr>
        <p:spPr bwMode="auto">
          <a:xfrm>
            <a:off x="5029200" y="2743200"/>
            <a:ext cx="2209800" cy="1905000"/>
          </a:xfrm>
          <a:prstGeom prst="line">
            <a:avLst/>
          </a:prstGeom>
          <a:noFill/>
          <a:ln w="25400">
            <a:solidFill>
              <a:schemeClr val="tx1"/>
            </a:solidFill>
            <a:round/>
            <a:headEnd/>
            <a:tailEnd/>
          </a:ln>
          <a:effectLst/>
        </p:spPr>
        <p:txBody>
          <a:bodyPr/>
          <a:lstStyle/>
          <a:p>
            <a:endParaRPr lang="en-US"/>
          </a:p>
        </p:txBody>
      </p:sp>
      <p:sp>
        <p:nvSpPr>
          <p:cNvPr id="117787" name="Line 27"/>
          <p:cNvSpPr>
            <a:spLocks noChangeShapeType="1"/>
          </p:cNvSpPr>
          <p:nvPr/>
        </p:nvSpPr>
        <p:spPr bwMode="auto">
          <a:xfrm>
            <a:off x="5410200" y="2438400"/>
            <a:ext cx="2209800" cy="1905000"/>
          </a:xfrm>
          <a:prstGeom prst="line">
            <a:avLst/>
          </a:prstGeom>
          <a:noFill/>
          <a:ln w="25400">
            <a:solidFill>
              <a:schemeClr val="tx1"/>
            </a:solidFill>
            <a:round/>
            <a:headEnd/>
            <a:tailEnd/>
          </a:ln>
          <a:effectLst/>
        </p:spPr>
        <p:txBody>
          <a:bodyPr/>
          <a:lstStyle/>
          <a:p>
            <a:endParaRPr lang="en-US"/>
          </a:p>
        </p:txBody>
      </p:sp>
      <p:sp>
        <p:nvSpPr>
          <p:cNvPr id="117788" name="Text Box 28"/>
          <p:cNvSpPr txBox="1">
            <a:spLocks noChangeArrowheads="1"/>
          </p:cNvSpPr>
          <p:nvPr/>
        </p:nvSpPr>
        <p:spPr bwMode="auto">
          <a:xfrm>
            <a:off x="5181600" y="5562600"/>
            <a:ext cx="2362200" cy="366713"/>
          </a:xfrm>
          <a:prstGeom prst="rect">
            <a:avLst/>
          </a:prstGeom>
          <a:noFill/>
          <a:ln w="9525">
            <a:noFill/>
            <a:miter lim="800000"/>
            <a:headEnd/>
            <a:tailEnd/>
          </a:ln>
          <a:effectLst/>
        </p:spPr>
        <p:txBody>
          <a:bodyPr>
            <a:spAutoFit/>
          </a:bodyPr>
          <a:lstStyle/>
          <a:p>
            <a:pPr algn="l">
              <a:spcBef>
                <a:spcPct val="50000"/>
              </a:spcBef>
            </a:pPr>
            <a:r>
              <a:rPr lang="en-US" sz="1800"/>
              <a:t>Decrease in Demand</a:t>
            </a:r>
          </a:p>
        </p:txBody>
      </p:sp>
      <p:sp>
        <p:nvSpPr>
          <p:cNvPr id="117789" name="Line 29"/>
          <p:cNvSpPr>
            <a:spLocks noChangeShapeType="1"/>
          </p:cNvSpPr>
          <p:nvPr/>
        </p:nvSpPr>
        <p:spPr bwMode="auto">
          <a:xfrm flipH="1">
            <a:off x="6019800" y="3429000"/>
            <a:ext cx="381000" cy="0"/>
          </a:xfrm>
          <a:prstGeom prst="line">
            <a:avLst/>
          </a:prstGeom>
          <a:noFill/>
          <a:ln w="9525">
            <a:solidFill>
              <a:schemeClr val="tx1"/>
            </a:solidFill>
            <a:round/>
            <a:headEnd/>
            <a:tailEnd type="triangle" w="med" len="med"/>
          </a:ln>
          <a:effectLst/>
        </p:spPr>
        <p:txBody>
          <a:bodyPr/>
          <a:lstStyle/>
          <a:p>
            <a:endParaRPr lang="en-US"/>
          </a:p>
        </p:txBody>
      </p:sp>
      <p:sp>
        <p:nvSpPr>
          <p:cNvPr id="28" name="Slide Number Placeholder 27"/>
          <p:cNvSpPr>
            <a:spLocks noGrp="1"/>
          </p:cNvSpPr>
          <p:nvPr>
            <p:ph type="sldNum" sz="quarter" idx="11"/>
          </p:nvPr>
        </p:nvSpPr>
        <p:spPr/>
        <p:txBody>
          <a:bodyPr/>
          <a:lstStyle/>
          <a:p>
            <a:fld id="{5D8C0D95-B81A-45DB-B701-8AAA9905C101}" type="slidenum">
              <a:rPr lang="en-US" smtClean="0"/>
              <a:pPr/>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17762"/>
                                        </p:tgtEl>
                                        <p:attrNameLst>
                                          <p:attrName>style.visibility</p:attrName>
                                        </p:attrNameLst>
                                      </p:cBhvr>
                                      <p:to>
                                        <p:strVal val="visible"/>
                                      </p:to>
                                    </p:set>
                                    <p:animEffect transition="in" filter="fade">
                                      <p:cBhvr>
                                        <p:cTn id="7" dur="800" decel="100000"/>
                                        <p:tgtEl>
                                          <p:spTgt spid="117762"/>
                                        </p:tgtEl>
                                      </p:cBhvr>
                                    </p:animEffect>
                                    <p:anim calcmode="lin" valueType="num">
                                      <p:cBhvr>
                                        <p:cTn id="8" dur="800" decel="100000" fill="hold"/>
                                        <p:tgtEl>
                                          <p:spTgt spid="117762"/>
                                        </p:tgtEl>
                                        <p:attrNameLst>
                                          <p:attrName>style.rotation</p:attrName>
                                        </p:attrNameLst>
                                      </p:cBhvr>
                                      <p:tavLst>
                                        <p:tav tm="0">
                                          <p:val>
                                            <p:fltVal val="-90"/>
                                          </p:val>
                                        </p:tav>
                                        <p:tav tm="100000">
                                          <p:val>
                                            <p:fltVal val="0"/>
                                          </p:val>
                                        </p:tav>
                                      </p:tavLst>
                                    </p:anim>
                                    <p:anim calcmode="lin" valueType="num">
                                      <p:cBhvr>
                                        <p:cTn id="9" dur="800" decel="100000" fill="hold"/>
                                        <p:tgtEl>
                                          <p:spTgt spid="117762"/>
                                        </p:tgtEl>
                                        <p:attrNameLst>
                                          <p:attrName>ppt_x</p:attrName>
                                        </p:attrNameLst>
                                      </p:cBhvr>
                                      <p:tavLst>
                                        <p:tav tm="0">
                                          <p:val>
                                            <p:strVal val="#ppt_x+0.4"/>
                                          </p:val>
                                        </p:tav>
                                        <p:tav tm="100000">
                                          <p:val>
                                            <p:strVal val="#ppt_x-0.05"/>
                                          </p:val>
                                        </p:tav>
                                      </p:tavLst>
                                    </p:anim>
                                    <p:anim calcmode="lin" valueType="num">
                                      <p:cBhvr>
                                        <p:cTn id="10" dur="800" decel="100000" fill="hold"/>
                                        <p:tgtEl>
                                          <p:spTgt spid="117762"/>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17762"/>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17762"/>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algn="l"/>
            <a:r>
              <a:rPr lang="en-US" u="sng" dirty="0"/>
              <a:t>The Concept of </a:t>
            </a:r>
            <a:r>
              <a:rPr lang="en-US" u="sng" dirty="0" smtClean="0"/>
              <a:t>SUPPLY:</a:t>
            </a:r>
            <a:endParaRPr lang="en-US" u="sng" dirty="0"/>
          </a:p>
        </p:txBody>
      </p:sp>
      <p:sp>
        <p:nvSpPr>
          <p:cNvPr id="121859" name="Rectangle 3"/>
          <p:cNvSpPr>
            <a:spLocks noGrp="1" noChangeArrowheads="1"/>
          </p:cNvSpPr>
          <p:nvPr>
            <p:ph idx="1"/>
          </p:nvPr>
        </p:nvSpPr>
        <p:spPr/>
        <p:txBody>
          <a:bodyPr/>
          <a:lstStyle/>
          <a:p>
            <a:r>
              <a:rPr lang="en-US" altLang="ko-KR" sz="2800" b="1" dirty="0">
                <a:solidFill>
                  <a:schemeClr val="hlink"/>
                </a:solidFill>
                <a:ea typeface="굴림" charset="-127"/>
              </a:rPr>
              <a:t>Supply </a:t>
            </a:r>
            <a:r>
              <a:rPr lang="en-US" altLang="ko-KR" sz="2800" i="1" dirty="0" smtClean="0">
                <a:ea typeface="굴림" charset="-127"/>
              </a:rPr>
              <a:t> </a:t>
            </a:r>
            <a:r>
              <a:rPr lang="en-US" altLang="ko-KR" sz="2800" dirty="0">
                <a:ea typeface="굴림" charset="-127"/>
              </a:rPr>
              <a:t>refers to the various quantities of a good or service that producers are willing to sell at alternative prices, </a:t>
            </a:r>
            <a:r>
              <a:rPr lang="en-US" altLang="ko-KR" sz="2800" i="1" dirty="0">
                <a:ea typeface="굴림" charset="-127"/>
              </a:rPr>
              <a:t>ceteris paribus</a:t>
            </a:r>
            <a:r>
              <a:rPr lang="en-US" altLang="ko-KR" sz="2800" dirty="0">
                <a:ea typeface="굴림" charset="-127"/>
              </a:rPr>
              <a:t>. </a:t>
            </a:r>
          </a:p>
          <a:p>
            <a:pPr lvl="1"/>
            <a:r>
              <a:rPr lang="en-US" sz="2400" dirty="0"/>
              <a:t>Obviously, firms are motivated to produce and sell more at higher prices</a:t>
            </a:r>
            <a:r>
              <a:rPr lang="en-US" sz="2400" dirty="0" smtClean="0"/>
              <a:t>.</a:t>
            </a:r>
            <a:endParaRPr lang="en-US" sz="2400" dirty="0"/>
          </a:p>
          <a:p>
            <a:pPr lvl="1"/>
            <a:r>
              <a:rPr lang="en-US" sz="2400" dirty="0" smtClean="0"/>
              <a:t>Supply emphasizes </a:t>
            </a:r>
            <a:r>
              <a:rPr lang="en-US" sz="2400" dirty="0"/>
              <a:t>the relationship between quantity sold of a commodity and its price.  However, there are other factors that determine how much a producer would like to produce and sell.</a:t>
            </a:r>
          </a:p>
        </p:txBody>
      </p:sp>
      <p:sp>
        <p:nvSpPr>
          <p:cNvPr id="5" name="Slide Number Placeholder 4"/>
          <p:cNvSpPr>
            <a:spLocks noGrp="1"/>
          </p:cNvSpPr>
          <p:nvPr>
            <p:ph type="sldNum" sz="quarter" idx="11"/>
          </p:nvPr>
        </p:nvSpPr>
        <p:spPr/>
        <p:txBody>
          <a:bodyPr/>
          <a:lstStyle/>
          <a:p>
            <a:fld id="{6D63C845-4982-41E6-901A-A3EC09BDD7BE}" type="slidenum">
              <a:rPr lang="en-US" smtClean="0"/>
              <a:pPr/>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21858"/>
                                        </p:tgtEl>
                                        <p:attrNameLst>
                                          <p:attrName>style.visibility</p:attrName>
                                        </p:attrNameLst>
                                      </p:cBhvr>
                                      <p:to>
                                        <p:strVal val="visible"/>
                                      </p:to>
                                    </p:set>
                                    <p:animEffect transition="in" filter="fade">
                                      <p:cBhvr>
                                        <p:cTn id="7" dur="800" decel="100000"/>
                                        <p:tgtEl>
                                          <p:spTgt spid="121858"/>
                                        </p:tgtEl>
                                      </p:cBhvr>
                                    </p:animEffect>
                                    <p:anim calcmode="lin" valueType="num">
                                      <p:cBhvr>
                                        <p:cTn id="8" dur="800" decel="100000" fill="hold"/>
                                        <p:tgtEl>
                                          <p:spTgt spid="121858"/>
                                        </p:tgtEl>
                                        <p:attrNameLst>
                                          <p:attrName>style.rotation</p:attrName>
                                        </p:attrNameLst>
                                      </p:cBhvr>
                                      <p:tavLst>
                                        <p:tav tm="0">
                                          <p:val>
                                            <p:fltVal val="-90"/>
                                          </p:val>
                                        </p:tav>
                                        <p:tav tm="100000">
                                          <p:val>
                                            <p:fltVal val="0"/>
                                          </p:val>
                                        </p:tav>
                                      </p:tavLst>
                                    </p:anim>
                                    <p:anim calcmode="lin" valueType="num">
                                      <p:cBhvr>
                                        <p:cTn id="9" dur="800" decel="100000" fill="hold"/>
                                        <p:tgtEl>
                                          <p:spTgt spid="121858"/>
                                        </p:tgtEl>
                                        <p:attrNameLst>
                                          <p:attrName>ppt_x</p:attrName>
                                        </p:attrNameLst>
                                      </p:cBhvr>
                                      <p:tavLst>
                                        <p:tav tm="0">
                                          <p:val>
                                            <p:strVal val="#ppt_x+0.4"/>
                                          </p:val>
                                        </p:tav>
                                        <p:tav tm="100000">
                                          <p:val>
                                            <p:strVal val="#ppt_x-0.05"/>
                                          </p:val>
                                        </p:tav>
                                      </p:tavLst>
                                    </p:anim>
                                    <p:anim calcmode="lin" valueType="num">
                                      <p:cBhvr>
                                        <p:cTn id="10" dur="800" decel="100000" fill="hold"/>
                                        <p:tgtEl>
                                          <p:spTgt spid="121858"/>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21858"/>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21858"/>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21859">
                                            <p:txEl>
                                              <p:pRg st="0" end="0"/>
                                            </p:txEl>
                                          </p:spTgt>
                                        </p:tgtEl>
                                        <p:attrNameLst>
                                          <p:attrName>style.visibility</p:attrName>
                                        </p:attrNameLst>
                                      </p:cBhvr>
                                      <p:to>
                                        <p:strVal val="visible"/>
                                      </p:to>
                                    </p:set>
                                    <p:animEffect transition="in" filter="fade">
                                      <p:cBhvr>
                                        <p:cTn id="17" dur="800" decel="100000"/>
                                        <p:tgtEl>
                                          <p:spTgt spid="121859">
                                            <p:txEl>
                                              <p:pRg st="0" end="0"/>
                                            </p:txEl>
                                          </p:spTgt>
                                        </p:tgtEl>
                                      </p:cBhvr>
                                    </p:animEffect>
                                    <p:anim calcmode="lin" valueType="num">
                                      <p:cBhvr>
                                        <p:cTn id="18" dur="800" decel="100000" fill="hold"/>
                                        <p:tgtEl>
                                          <p:spTgt spid="121859">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21859">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21859">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21859">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21859">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21859">
                                            <p:txEl>
                                              <p:pRg st="1" end="1"/>
                                            </p:txEl>
                                          </p:spTgt>
                                        </p:tgtEl>
                                        <p:attrNameLst>
                                          <p:attrName>style.visibility</p:attrName>
                                        </p:attrNameLst>
                                      </p:cBhvr>
                                      <p:to>
                                        <p:strVal val="visible"/>
                                      </p:to>
                                    </p:set>
                                    <p:animEffect transition="in" filter="fade">
                                      <p:cBhvr>
                                        <p:cTn id="27" dur="800" decel="100000"/>
                                        <p:tgtEl>
                                          <p:spTgt spid="121859">
                                            <p:txEl>
                                              <p:pRg st="1" end="1"/>
                                            </p:txEl>
                                          </p:spTgt>
                                        </p:tgtEl>
                                      </p:cBhvr>
                                    </p:animEffect>
                                    <p:anim calcmode="lin" valueType="num">
                                      <p:cBhvr>
                                        <p:cTn id="28" dur="800" decel="100000" fill="hold"/>
                                        <p:tgtEl>
                                          <p:spTgt spid="121859">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21859">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21859">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21859">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21859">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121859">
                                            <p:txEl>
                                              <p:pRg st="2" end="2"/>
                                            </p:txEl>
                                          </p:spTgt>
                                        </p:tgtEl>
                                        <p:attrNameLst>
                                          <p:attrName>style.visibility</p:attrName>
                                        </p:attrNameLst>
                                      </p:cBhvr>
                                      <p:to>
                                        <p:strVal val="visible"/>
                                      </p:to>
                                    </p:set>
                                    <p:animEffect transition="in" filter="fade">
                                      <p:cBhvr>
                                        <p:cTn id="37" dur="800" decel="100000"/>
                                        <p:tgtEl>
                                          <p:spTgt spid="121859">
                                            <p:txEl>
                                              <p:pRg st="2" end="2"/>
                                            </p:txEl>
                                          </p:spTgt>
                                        </p:tgtEl>
                                      </p:cBhvr>
                                    </p:animEffect>
                                    <p:anim calcmode="lin" valueType="num">
                                      <p:cBhvr>
                                        <p:cTn id="38" dur="800" decel="100000" fill="hold"/>
                                        <p:tgtEl>
                                          <p:spTgt spid="121859">
                                            <p:txEl>
                                              <p:pRg st="2" end="2"/>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21859">
                                            <p:txEl>
                                              <p:pRg st="2" end="2"/>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21859">
                                            <p:txEl>
                                              <p:pRg st="2" end="2"/>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21859">
                                            <p:txEl>
                                              <p:pRg st="2" end="2"/>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21859">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457200" y="304800"/>
            <a:ext cx="8229600" cy="1139825"/>
          </a:xfrm>
        </p:spPr>
        <p:txBody>
          <a:bodyPr/>
          <a:lstStyle/>
          <a:p>
            <a:pPr algn="l"/>
            <a:r>
              <a:rPr lang="en-US" u="sng" dirty="0"/>
              <a:t>The Law of </a:t>
            </a:r>
            <a:r>
              <a:rPr lang="en-US" u="sng" dirty="0" smtClean="0"/>
              <a:t>Supply:</a:t>
            </a:r>
            <a:endParaRPr lang="en-US" u="sng" dirty="0"/>
          </a:p>
        </p:txBody>
      </p:sp>
      <p:sp>
        <p:nvSpPr>
          <p:cNvPr id="123907" name="Rectangle 3"/>
          <p:cNvSpPr>
            <a:spLocks noGrp="1" noChangeArrowheads="1"/>
          </p:cNvSpPr>
          <p:nvPr>
            <p:ph idx="1"/>
          </p:nvPr>
        </p:nvSpPr>
        <p:spPr/>
        <p:txBody>
          <a:bodyPr/>
          <a:lstStyle/>
          <a:p>
            <a:r>
              <a:rPr lang="en-US" altLang="ko-KR" dirty="0" smtClean="0">
                <a:ea typeface="굴림" charset="-127"/>
              </a:rPr>
              <a:t>It states </a:t>
            </a:r>
            <a:r>
              <a:rPr lang="en-US" altLang="ko-KR" dirty="0">
                <a:ea typeface="굴림" charset="-127"/>
              </a:rPr>
              <a:t>that the quantity sold of a good or service is positively or directly related to its own price.</a:t>
            </a:r>
          </a:p>
          <a:p>
            <a:pPr lvl="1"/>
            <a:r>
              <a:rPr lang="en-US" dirty="0"/>
              <a:t>When the price increases, more of the good or service will be </a:t>
            </a:r>
            <a:r>
              <a:rPr lang="en-US" dirty="0" smtClean="0"/>
              <a:t>supplied.</a:t>
            </a:r>
            <a:endParaRPr lang="en-US" dirty="0"/>
          </a:p>
          <a:p>
            <a:pPr lvl="1"/>
            <a:r>
              <a:rPr lang="en-US" dirty="0"/>
              <a:t>When the price decreases, less of the commodity will be </a:t>
            </a:r>
            <a:r>
              <a:rPr lang="en-US" dirty="0" smtClean="0"/>
              <a:t>supplied.</a:t>
            </a:r>
            <a:endParaRPr lang="en-US" dirty="0"/>
          </a:p>
        </p:txBody>
      </p:sp>
      <p:sp>
        <p:nvSpPr>
          <p:cNvPr id="5" name="Slide Number Placeholder 4"/>
          <p:cNvSpPr>
            <a:spLocks noGrp="1"/>
          </p:cNvSpPr>
          <p:nvPr>
            <p:ph type="sldNum" sz="quarter" idx="11"/>
          </p:nvPr>
        </p:nvSpPr>
        <p:spPr/>
        <p:txBody>
          <a:bodyPr/>
          <a:lstStyle/>
          <a:p>
            <a:fld id="{6D63C845-4982-41E6-901A-A3EC09BDD7BE}" type="slidenum">
              <a:rPr lang="en-US" smtClean="0"/>
              <a:pPr/>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23906"/>
                                        </p:tgtEl>
                                        <p:attrNameLst>
                                          <p:attrName>style.visibility</p:attrName>
                                        </p:attrNameLst>
                                      </p:cBhvr>
                                      <p:to>
                                        <p:strVal val="visible"/>
                                      </p:to>
                                    </p:set>
                                    <p:animEffect transition="in" filter="fade">
                                      <p:cBhvr>
                                        <p:cTn id="7" dur="800" decel="100000"/>
                                        <p:tgtEl>
                                          <p:spTgt spid="123906"/>
                                        </p:tgtEl>
                                      </p:cBhvr>
                                    </p:animEffect>
                                    <p:anim calcmode="lin" valueType="num">
                                      <p:cBhvr>
                                        <p:cTn id="8" dur="800" decel="100000" fill="hold"/>
                                        <p:tgtEl>
                                          <p:spTgt spid="123906"/>
                                        </p:tgtEl>
                                        <p:attrNameLst>
                                          <p:attrName>style.rotation</p:attrName>
                                        </p:attrNameLst>
                                      </p:cBhvr>
                                      <p:tavLst>
                                        <p:tav tm="0">
                                          <p:val>
                                            <p:fltVal val="-90"/>
                                          </p:val>
                                        </p:tav>
                                        <p:tav tm="100000">
                                          <p:val>
                                            <p:fltVal val="0"/>
                                          </p:val>
                                        </p:tav>
                                      </p:tavLst>
                                    </p:anim>
                                    <p:anim calcmode="lin" valueType="num">
                                      <p:cBhvr>
                                        <p:cTn id="9" dur="800" decel="100000" fill="hold"/>
                                        <p:tgtEl>
                                          <p:spTgt spid="123906"/>
                                        </p:tgtEl>
                                        <p:attrNameLst>
                                          <p:attrName>ppt_x</p:attrName>
                                        </p:attrNameLst>
                                      </p:cBhvr>
                                      <p:tavLst>
                                        <p:tav tm="0">
                                          <p:val>
                                            <p:strVal val="#ppt_x+0.4"/>
                                          </p:val>
                                        </p:tav>
                                        <p:tav tm="100000">
                                          <p:val>
                                            <p:strVal val="#ppt_x-0.05"/>
                                          </p:val>
                                        </p:tav>
                                      </p:tavLst>
                                    </p:anim>
                                    <p:anim calcmode="lin" valueType="num">
                                      <p:cBhvr>
                                        <p:cTn id="10" dur="800" decel="100000" fill="hold"/>
                                        <p:tgtEl>
                                          <p:spTgt spid="12390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2390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23906"/>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23907">
                                            <p:txEl>
                                              <p:pRg st="0" end="0"/>
                                            </p:txEl>
                                          </p:spTgt>
                                        </p:tgtEl>
                                        <p:attrNameLst>
                                          <p:attrName>style.visibility</p:attrName>
                                        </p:attrNameLst>
                                      </p:cBhvr>
                                      <p:to>
                                        <p:strVal val="visible"/>
                                      </p:to>
                                    </p:set>
                                    <p:animEffect transition="in" filter="fade">
                                      <p:cBhvr>
                                        <p:cTn id="17" dur="800" decel="100000"/>
                                        <p:tgtEl>
                                          <p:spTgt spid="123907">
                                            <p:txEl>
                                              <p:pRg st="0" end="0"/>
                                            </p:txEl>
                                          </p:spTgt>
                                        </p:tgtEl>
                                      </p:cBhvr>
                                    </p:animEffect>
                                    <p:anim calcmode="lin" valueType="num">
                                      <p:cBhvr>
                                        <p:cTn id="18" dur="800" decel="100000" fill="hold"/>
                                        <p:tgtEl>
                                          <p:spTgt spid="123907">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23907">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23907">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23907">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23907">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23907">
                                            <p:txEl>
                                              <p:pRg st="1" end="1"/>
                                            </p:txEl>
                                          </p:spTgt>
                                        </p:tgtEl>
                                        <p:attrNameLst>
                                          <p:attrName>style.visibility</p:attrName>
                                        </p:attrNameLst>
                                      </p:cBhvr>
                                      <p:to>
                                        <p:strVal val="visible"/>
                                      </p:to>
                                    </p:set>
                                    <p:animEffect transition="in" filter="fade">
                                      <p:cBhvr>
                                        <p:cTn id="27" dur="800" decel="100000"/>
                                        <p:tgtEl>
                                          <p:spTgt spid="123907">
                                            <p:txEl>
                                              <p:pRg st="1" end="1"/>
                                            </p:txEl>
                                          </p:spTgt>
                                        </p:tgtEl>
                                      </p:cBhvr>
                                    </p:animEffect>
                                    <p:anim calcmode="lin" valueType="num">
                                      <p:cBhvr>
                                        <p:cTn id="28" dur="800" decel="100000" fill="hold"/>
                                        <p:tgtEl>
                                          <p:spTgt spid="123907">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23907">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23907">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23907">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23907">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123907">
                                            <p:txEl>
                                              <p:pRg st="2" end="2"/>
                                            </p:txEl>
                                          </p:spTgt>
                                        </p:tgtEl>
                                        <p:attrNameLst>
                                          <p:attrName>style.visibility</p:attrName>
                                        </p:attrNameLst>
                                      </p:cBhvr>
                                      <p:to>
                                        <p:strVal val="visible"/>
                                      </p:to>
                                    </p:set>
                                    <p:animEffect transition="in" filter="fade">
                                      <p:cBhvr>
                                        <p:cTn id="37" dur="800" decel="100000"/>
                                        <p:tgtEl>
                                          <p:spTgt spid="123907">
                                            <p:txEl>
                                              <p:pRg st="2" end="2"/>
                                            </p:txEl>
                                          </p:spTgt>
                                        </p:tgtEl>
                                      </p:cBhvr>
                                    </p:animEffect>
                                    <p:anim calcmode="lin" valueType="num">
                                      <p:cBhvr>
                                        <p:cTn id="38" dur="800" decel="100000" fill="hold"/>
                                        <p:tgtEl>
                                          <p:spTgt spid="123907">
                                            <p:txEl>
                                              <p:pRg st="2" end="2"/>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23907">
                                            <p:txEl>
                                              <p:pRg st="2" end="2"/>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23907">
                                            <p:txEl>
                                              <p:pRg st="2" end="2"/>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23907">
                                            <p:txEl>
                                              <p:pRg st="2" end="2"/>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23907">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pPr algn="l"/>
            <a:r>
              <a:rPr lang="en-US" sz="4000" u="sng" dirty="0" smtClean="0"/>
              <a:t>Presentation of the Supply Relationship:</a:t>
            </a:r>
            <a:endParaRPr lang="en-US" sz="4000" u="sng" dirty="0"/>
          </a:p>
        </p:txBody>
      </p:sp>
      <p:sp>
        <p:nvSpPr>
          <p:cNvPr id="130051" name="Rectangle 3"/>
          <p:cNvSpPr>
            <a:spLocks noGrp="1" noChangeArrowheads="1"/>
          </p:cNvSpPr>
          <p:nvPr>
            <p:ph idx="1"/>
          </p:nvPr>
        </p:nvSpPr>
        <p:spPr/>
        <p:txBody>
          <a:bodyPr/>
          <a:lstStyle/>
          <a:p>
            <a:pPr marL="609600" indent="-609600">
              <a:buFont typeface="Wingdings" pitchFamily="2" charset="2"/>
              <a:buNone/>
            </a:pPr>
            <a:r>
              <a:rPr lang="en-US" dirty="0" smtClean="0"/>
              <a:t>	The </a:t>
            </a:r>
            <a:r>
              <a:rPr lang="en-US" dirty="0"/>
              <a:t>relationship between </a:t>
            </a:r>
            <a:r>
              <a:rPr lang="en-US" b="1" dirty="0">
                <a:solidFill>
                  <a:srgbClr val="FFFF00"/>
                </a:solidFill>
              </a:rPr>
              <a:t>quantity supplied </a:t>
            </a:r>
            <a:r>
              <a:rPr lang="en-US" dirty="0"/>
              <a:t>and alternative </a:t>
            </a:r>
            <a:r>
              <a:rPr lang="en-US" b="1" dirty="0">
                <a:solidFill>
                  <a:srgbClr val="FFFF00"/>
                </a:solidFill>
              </a:rPr>
              <a:t>prices</a:t>
            </a:r>
            <a:r>
              <a:rPr lang="en-US" dirty="0"/>
              <a:t> may be presented in 3 ways:</a:t>
            </a:r>
          </a:p>
          <a:p>
            <a:pPr marL="609600" indent="-609600"/>
            <a:r>
              <a:rPr lang="en-US" dirty="0"/>
              <a:t>Supply schedule –in tabular form.</a:t>
            </a:r>
          </a:p>
          <a:p>
            <a:pPr marL="609600" indent="-609600"/>
            <a:r>
              <a:rPr lang="en-US" dirty="0"/>
              <a:t>Supply curve – in graphical form</a:t>
            </a:r>
          </a:p>
          <a:p>
            <a:pPr marL="609600" indent="-609600"/>
            <a:r>
              <a:rPr lang="en-US" dirty="0"/>
              <a:t>Supply function – in equation form</a:t>
            </a:r>
          </a:p>
        </p:txBody>
      </p:sp>
      <p:sp>
        <p:nvSpPr>
          <p:cNvPr id="5" name="Slide Number Placeholder 4"/>
          <p:cNvSpPr>
            <a:spLocks noGrp="1"/>
          </p:cNvSpPr>
          <p:nvPr>
            <p:ph type="sldNum" sz="quarter" idx="11"/>
          </p:nvPr>
        </p:nvSpPr>
        <p:spPr/>
        <p:txBody>
          <a:bodyPr/>
          <a:lstStyle/>
          <a:p>
            <a:fld id="{6D63C845-4982-41E6-901A-A3EC09BDD7BE}" type="slidenum">
              <a:rPr lang="en-US" smtClean="0"/>
              <a:pPr/>
              <a:t>23</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30050"/>
                                        </p:tgtEl>
                                        <p:attrNameLst>
                                          <p:attrName>style.visibility</p:attrName>
                                        </p:attrNameLst>
                                      </p:cBhvr>
                                      <p:to>
                                        <p:strVal val="visible"/>
                                      </p:to>
                                    </p:set>
                                    <p:animEffect transition="in" filter="fade">
                                      <p:cBhvr>
                                        <p:cTn id="7" dur="800" decel="100000"/>
                                        <p:tgtEl>
                                          <p:spTgt spid="130050"/>
                                        </p:tgtEl>
                                      </p:cBhvr>
                                    </p:animEffect>
                                    <p:anim calcmode="lin" valueType="num">
                                      <p:cBhvr>
                                        <p:cTn id="8" dur="800" decel="100000" fill="hold"/>
                                        <p:tgtEl>
                                          <p:spTgt spid="130050"/>
                                        </p:tgtEl>
                                        <p:attrNameLst>
                                          <p:attrName>style.rotation</p:attrName>
                                        </p:attrNameLst>
                                      </p:cBhvr>
                                      <p:tavLst>
                                        <p:tav tm="0">
                                          <p:val>
                                            <p:fltVal val="-90"/>
                                          </p:val>
                                        </p:tav>
                                        <p:tav tm="100000">
                                          <p:val>
                                            <p:fltVal val="0"/>
                                          </p:val>
                                        </p:tav>
                                      </p:tavLst>
                                    </p:anim>
                                    <p:anim calcmode="lin" valueType="num">
                                      <p:cBhvr>
                                        <p:cTn id="9" dur="800" decel="100000" fill="hold"/>
                                        <p:tgtEl>
                                          <p:spTgt spid="130050"/>
                                        </p:tgtEl>
                                        <p:attrNameLst>
                                          <p:attrName>ppt_x</p:attrName>
                                        </p:attrNameLst>
                                      </p:cBhvr>
                                      <p:tavLst>
                                        <p:tav tm="0">
                                          <p:val>
                                            <p:strVal val="#ppt_x+0.4"/>
                                          </p:val>
                                        </p:tav>
                                        <p:tav tm="100000">
                                          <p:val>
                                            <p:strVal val="#ppt_x-0.05"/>
                                          </p:val>
                                        </p:tav>
                                      </p:tavLst>
                                    </p:anim>
                                    <p:anim calcmode="lin" valueType="num">
                                      <p:cBhvr>
                                        <p:cTn id="10" dur="800" decel="100000" fill="hold"/>
                                        <p:tgtEl>
                                          <p:spTgt spid="130050"/>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30050"/>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30050"/>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30051">
                                            <p:txEl>
                                              <p:pRg st="0" end="0"/>
                                            </p:txEl>
                                          </p:spTgt>
                                        </p:tgtEl>
                                        <p:attrNameLst>
                                          <p:attrName>style.visibility</p:attrName>
                                        </p:attrNameLst>
                                      </p:cBhvr>
                                      <p:to>
                                        <p:strVal val="visible"/>
                                      </p:to>
                                    </p:set>
                                    <p:animEffect transition="in" filter="fade">
                                      <p:cBhvr>
                                        <p:cTn id="17" dur="800" decel="100000"/>
                                        <p:tgtEl>
                                          <p:spTgt spid="130051">
                                            <p:txEl>
                                              <p:pRg st="0" end="0"/>
                                            </p:txEl>
                                          </p:spTgt>
                                        </p:tgtEl>
                                      </p:cBhvr>
                                    </p:animEffect>
                                    <p:anim calcmode="lin" valueType="num">
                                      <p:cBhvr>
                                        <p:cTn id="18" dur="800" decel="100000" fill="hold"/>
                                        <p:tgtEl>
                                          <p:spTgt spid="130051">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30051">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30051">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30051">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3005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grpId="0" nodeType="clickEffect">
                                  <p:stCondLst>
                                    <p:cond delay="0"/>
                                  </p:stCondLst>
                                  <p:childTnLst>
                                    <p:set>
                                      <p:cBhvr>
                                        <p:cTn id="26" dur="1" fill="hold">
                                          <p:stCondLst>
                                            <p:cond delay="0"/>
                                          </p:stCondLst>
                                        </p:cTn>
                                        <p:tgtEl>
                                          <p:spTgt spid="130051">
                                            <p:txEl>
                                              <p:pRg st="1" end="1"/>
                                            </p:txEl>
                                          </p:spTgt>
                                        </p:tgtEl>
                                        <p:attrNameLst>
                                          <p:attrName>style.visibility</p:attrName>
                                        </p:attrNameLst>
                                      </p:cBhvr>
                                      <p:to>
                                        <p:strVal val="visible"/>
                                      </p:to>
                                    </p:set>
                                    <p:animEffect transition="in" filter="fade">
                                      <p:cBhvr>
                                        <p:cTn id="27" dur="800" decel="100000"/>
                                        <p:tgtEl>
                                          <p:spTgt spid="130051">
                                            <p:txEl>
                                              <p:pRg st="1" end="1"/>
                                            </p:txEl>
                                          </p:spTgt>
                                        </p:tgtEl>
                                      </p:cBhvr>
                                    </p:animEffect>
                                    <p:anim calcmode="lin" valueType="num">
                                      <p:cBhvr>
                                        <p:cTn id="28" dur="800" decel="100000" fill="hold"/>
                                        <p:tgtEl>
                                          <p:spTgt spid="130051">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30051">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30051">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30051">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30051">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grpId="0" nodeType="clickEffect">
                                  <p:stCondLst>
                                    <p:cond delay="0"/>
                                  </p:stCondLst>
                                  <p:childTnLst>
                                    <p:set>
                                      <p:cBhvr>
                                        <p:cTn id="36" dur="1" fill="hold">
                                          <p:stCondLst>
                                            <p:cond delay="0"/>
                                          </p:stCondLst>
                                        </p:cTn>
                                        <p:tgtEl>
                                          <p:spTgt spid="130051">
                                            <p:txEl>
                                              <p:pRg st="2" end="2"/>
                                            </p:txEl>
                                          </p:spTgt>
                                        </p:tgtEl>
                                        <p:attrNameLst>
                                          <p:attrName>style.visibility</p:attrName>
                                        </p:attrNameLst>
                                      </p:cBhvr>
                                      <p:to>
                                        <p:strVal val="visible"/>
                                      </p:to>
                                    </p:set>
                                    <p:animEffect transition="in" filter="fade">
                                      <p:cBhvr>
                                        <p:cTn id="37" dur="800" decel="100000"/>
                                        <p:tgtEl>
                                          <p:spTgt spid="130051">
                                            <p:txEl>
                                              <p:pRg st="2" end="2"/>
                                            </p:txEl>
                                          </p:spTgt>
                                        </p:tgtEl>
                                      </p:cBhvr>
                                    </p:animEffect>
                                    <p:anim calcmode="lin" valueType="num">
                                      <p:cBhvr>
                                        <p:cTn id="38" dur="800" decel="100000" fill="hold"/>
                                        <p:tgtEl>
                                          <p:spTgt spid="130051">
                                            <p:txEl>
                                              <p:pRg st="2" end="2"/>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30051">
                                            <p:txEl>
                                              <p:pRg st="2" end="2"/>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30051">
                                            <p:txEl>
                                              <p:pRg st="2" end="2"/>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30051">
                                            <p:txEl>
                                              <p:pRg st="2" end="2"/>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30051">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grpId="0" nodeType="clickEffect">
                                  <p:stCondLst>
                                    <p:cond delay="0"/>
                                  </p:stCondLst>
                                  <p:childTnLst>
                                    <p:set>
                                      <p:cBhvr>
                                        <p:cTn id="46" dur="1" fill="hold">
                                          <p:stCondLst>
                                            <p:cond delay="0"/>
                                          </p:stCondLst>
                                        </p:cTn>
                                        <p:tgtEl>
                                          <p:spTgt spid="130051">
                                            <p:txEl>
                                              <p:pRg st="3" end="3"/>
                                            </p:txEl>
                                          </p:spTgt>
                                        </p:tgtEl>
                                        <p:attrNameLst>
                                          <p:attrName>style.visibility</p:attrName>
                                        </p:attrNameLst>
                                      </p:cBhvr>
                                      <p:to>
                                        <p:strVal val="visible"/>
                                      </p:to>
                                    </p:set>
                                    <p:animEffect transition="in" filter="fade">
                                      <p:cBhvr>
                                        <p:cTn id="47" dur="800" decel="100000"/>
                                        <p:tgtEl>
                                          <p:spTgt spid="130051">
                                            <p:txEl>
                                              <p:pRg st="3" end="3"/>
                                            </p:txEl>
                                          </p:spTgt>
                                        </p:tgtEl>
                                      </p:cBhvr>
                                    </p:animEffect>
                                    <p:anim calcmode="lin" valueType="num">
                                      <p:cBhvr>
                                        <p:cTn id="48" dur="800" decel="100000" fill="hold"/>
                                        <p:tgtEl>
                                          <p:spTgt spid="130051">
                                            <p:txEl>
                                              <p:pRg st="3" end="3"/>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130051">
                                            <p:txEl>
                                              <p:pRg st="3" end="3"/>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130051">
                                            <p:txEl>
                                              <p:pRg st="3" end="3"/>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130051">
                                            <p:txEl>
                                              <p:pRg st="3" end="3"/>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130051">
                                            <p:txEl>
                                              <p:pRg st="3" end="3"/>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p:bldP spid="13005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pPr algn="l"/>
            <a:r>
              <a:rPr lang="en-US" u="sng" dirty="0"/>
              <a:t>Supply </a:t>
            </a:r>
            <a:r>
              <a:rPr lang="en-US" u="sng" dirty="0" smtClean="0"/>
              <a:t>Schedule:</a:t>
            </a:r>
            <a:endParaRPr lang="en-US" u="sng" dirty="0"/>
          </a:p>
        </p:txBody>
      </p:sp>
      <p:graphicFrame>
        <p:nvGraphicFramePr>
          <p:cNvPr id="132099" name="Group 3"/>
          <p:cNvGraphicFramePr>
            <a:graphicFrameLocks noGrp="1"/>
          </p:cNvGraphicFramePr>
          <p:nvPr>
            <p:ph type="tbl" idx="1"/>
          </p:nvPr>
        </p:nvGraphicFramePr>
        <p:xfrm>
          <a:off x="381000" y="1219200"/>
          <a:ext cx="8229600" cy="5071110"/>
        </p:xfrm>
        <a:graphic>
          <a:graphicData uri="http://schemas.openxmlformats.org/drawingml/2006/table">
            <a:tbl>
              <a:tblPr/>
              <a:tblGrid>
                <a:gridCol w="3760788">
                  <a:extLst>
                    <a:ext uri="{9D8B030D-6E8A-4147-A177-3AD203B41FA5}">
                      <a16:colId xmlns:a16="http://schemas.microsoft.com/office/drawing/2014/main" val="20000"/>
                    </a:ext>
                  </a:extLst>
                </a:gridCol>
                <a:gridCol w="4468812">
                  <a:extLst>
                    <a:ext uri="{9D8B030D-6E8A-4147-A177-3AD203B41FA5}">
                      <a16:colId xmlns:a16="http://schemas.microsoft.com/office/drawing/2014/main" val="20001"/>
                    </a:ext>
                  </a:extLst>
                </a:gridCol>
              </a:tblGrid>
              <a:tr h="542925">
                <a:tc gridSpan="2">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rgbClr val="FF0000"/>
                          </a:solidFill>
                          <a:effectLst/>
                          <a:latin typeface="Arial" charset="0"/>
                          <a:cs typeface="Arial" charset="0"/>
                        </a:rPr>
                        <a:t>Supply Schedule of Shoes</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96202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FFFF00"/>
                          </a:solidFill>
                          <a:effectLst/>
                          <a:latin typeface="Arial" charset="0"/>
                          <a:cs typeface="Arial" charset="0"/>
                        </a:rPr>
                        <a:t>Price of a pair of shoes</a:t>
                      </a:r>
                    </a:p>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FFFF00"/>
                          </a:solidFill>
                          <a:effectLst/>
                          <a:latin typeface="Arial" charset="0"/>
                          <a:cs typeface="Arial" charset="0"/>
                        </a:rPr>
                        <a:t>(in pounds)</a:t>
                      </a:r>
                      <a:endParaRPr kumimoji="0" lang="en-US" sz="3600" b="0" i="0" u="none" strike="noStrike" cap="none" normalizeH="0" baseline="0" dirty="0" smtClean="0">
                        <a:ln>
                          <a:noFill/>
                        </a:ln>
                        <a:solidFill>
                          <a:srgbClr val="FFFF00"/>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FFFF00"/>
                          </a:solidFill>
                          <a:effectLst/>
                          <a:latin typeface="Arial" charset="0"/>
                          <a:cs typeface="Arial" charset="0"/>
                        </a:rPr>
                        <a:t>Quantity supplied/year </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0</a:t>
                      </a:r>
                      <a:endParaRPr kumimoji="0" lang="en-US" sz="3600" b="0" i="0" u="none" strike="noStrike" cap="none" normalizeH="0" baseline="0" dirty="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6550">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50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charset="0"/>
                          <a:cs typeface="Arial" charset="0"/>
                        </a:rPr>
                        <a:t>1</a:t>
                      </a:r>
                      <a:endParaRPr kumimoji="0" lang="en-US" sz="3600" b="0" i="0" u="none" strike="noStrike" cap="none" normalizeH="0" baseline="0" dirty="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4963">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100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2</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550">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150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3</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4963">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200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4</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6550">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250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5</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963">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300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6</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6550">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350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7</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4963">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400</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Arial" charset="0"/>
                        </a:rPr>
                        <a:t>8</a:t>
                      </a:r>
                      <a:endParaRPr kumimoji="0" lang="en-US" sz="36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5" name="Slide Number Placeholder 4"/>
          <p:cNvSpPr>
            <a:spLocks noGrp="1"/>
          </p:cNvSpPr>
          <p:nvPr>
            <p:ph type="sldNum" sz="quarter" idx="11"/>
          </p:nvPr>
        </p:nvSpPr>
        <p:spPr/>
        <p:txBody>
          <a:bodyPr/>
          <a:lstStyle/>
          <a:p>
            <a:fld id="{4F0CC6FD-F329-4C89-BE2D-2A8E4FC45061}" type="slidenum">
              <a:rPr lang="en-US" smtClean="0"/>
              <a:pPr/>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32098"/>
                                        </p:tgtEl>
                                        <p:attrNameLst>
                                          <p:attrName>style.visibility</p:attrName>
                                        </p:attrNameLst>
                                      </p:cBhvr>
                                      <p:to>
                                        <p:strVal val="visible"/>
                                      </p:to>
                                    </p:set>
                                    <p:animEffect transition="in" filter="fade">
                                      <p:cBhvr>
                                        <p:cTn id="7" dur="800" decel="100000"/>
                                        <p:tgtEl>
                                          <p:spTgt spid="132098"/>
                                        </p:tgtEl>
                                      </p:cBhvr>
                                    </p:animEffect>
                                    <p:anim calcmode="lin" valueType="num">
                                      <p:cBhvr>
                                        <p:cTn id="8" dur="800" decel="100000" fill="hold"/>
                                        <p:tgtEl>
                                          <p:spTgt spid="132098"/>
                                        </p:tgtEl>
                                        <p:attrNameLst>
                                          <p:attrName>style.rotation</p:attrName>
                                        </p:attrNameLst>
                                      </p:cBhvr>
                                      <p:tavLst>
                                        <p:tav tm="0">
                                          <p:val>
                                            <p:fltVal val="-90"/>
                                          </p:val>
                                        </p:tav>
                                        <p:tav tm="100000">
                                          <p:val>
                                            <p:fltVal val="0"/>
                                          </p:val>
                                        </p:tav>
                                      </p:tavLst>
                                    </p:anim>
                                    <p:anim calcmode="lin" valueType="num">
                                      <p:cBhvr>
                                        <p:cTn id="9" dur="800" decel="100000" fill="hold"/>
                                        <p:tgtEl>
                                          <p:spTgt spid="132098"/>
                                        </p:tgtEl>
                                        <p:attrNameLst>
                                          <p:attrName>ppt_x</p:attrName>
                                        </p:attrNameLst>
                                      </p:cBhvr>
                                      <p:tavLst>
                                        <p:tav tm="0">
                                          <p:val>
                                            <p:strVal val="#ppt_x+0.4"/>
                                          </p:val>
                                        </p:tav>
                                        <p:tav tm="100000">
                                          <p:val>
                                            <p:strVal val="#ppt_x-0.05"/>
                                          </p:val>
                                        </p:tav>
                                      </p:tavLst>
                                    </p:anim>
                                    <p:anim calcmode="lin" valueType="num">
                                      <p:cBhvr>
                                        <p:cTn id="10" dur="800" decel="100000" fill="hold"/>
                                        <p:tgtEl>
                                          <p:spTgt spid="132098"/>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32098"/>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32098"/>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132099"/>
                                        </p:tgtEl>
                                        <p:attrNameLst>
                                          <p:attrName>style.visibility</p:attrName>
                                        </p:attrNameLst>
                                      </p:cBhvr>
                                      <p:to>
                                        <p:strVal val="visible"/>
                                      </p:to>
                                    </p:set>
                                    <p:animEffect transition="in" filter="diamond(in)">
                                      <p:cBhvr>
                                        <p:cTn id="17" dur="2000"/>
                                        <p:tgtEl>
                                          <p:spTgt spid="132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algn="l"/>
            <a:r>
              <a:rPr lang="en-US" u="sng" dirty="0"/>
              <a:t>Supply </a:t>
            </a:r>
            <a:r>
              <a:rPr lang="en-US" u="sng" dirty="0" smtClean="0"/>
              <a:t>Curve:</a:t>
            </a:r>
            <a:endParaRPr lang="en-US" u="sng" dirty="0"/>
          </a:p>
        </p:txBody>
      </p:sp>
      <p:sp>
        <p:nvSpPr>
          <p:cNvPr id="133125" name="Line 5"/>
          <p:cNvSpPr>
            <a:spLocks noChangeShapeType="1"/>
          </p:cNvSpPr>
          <p:nvPr/>
        </p:nvSpPr>
        <p:spPr bwMode="auto">
          <a:xfrm>
            <a:off x="2362200" y="1981200"/>
            <a:ext cx="0" cy="2438400"/>
          </a:xfrm>
          <a:prstGeom prst="line">
            <a:avLst/>
          </a:prstGeom>
          <a:noFill/>
          <a:ln w="22225">
            <a:solidFill>
              <a:schemeClr val="tx1"/>
            </a:solidFill>
            <a:round/>
            <a:headEnd/>
            <a:tailEnd/>
          </a:ln>
          <a:effectLst/>
        </p:spPr>
        <p:txBody>
          <a:bodyPr/>
          <a:lstStyle/>
          <a:p>
            <a:endParaRPr lang="en-US"/>
          </a:p>
        </p:txBody>
      </p:sp>
      <p:sp>
        <p:nvSpPr>
          <p:cNvPr id="133126" name="Line 6"/>
          <p:cNvSpPr>
            <a:spLocks noChangeShapeType="1"/>
          </p:cNvSpPr>
          <p:nvPr/>
        </p:nvSpPr>
        <p:spPr bwMode="auto">
          <a:xfrm>
            <a:off x="2362200" y="4419600"/>
            <a:ext cx="4953000" cy="0"/>
          </a:xfrm>
          <a:prstGeom prst="line">
            <a:avLst/>
          </a:prstGeom>
          <a:noFill/>
          <a:ln w="22225">
            <a:solidFill>
              <a:schemeClr val="tx1"/>
            </a:solidFill>
            <a:round/>
            <a:headEnd/>
            <a:tailEnd/>
          </a:ln>
          <a:effectLst/>
        </p:spPr>
        <p:txBody>
          <a:bodyPr/>
          <a:lstStyle/>
          <a:p>
            <a:endParaRPr lang="en-US"/>
          </a:p>
        </p:txBody>
      </p:sp>
      <p:sp>
        <p:nvSpPr>
          <p:cNvPr id="133127" name="Line 7"/>
          <p:cNvSpPr>
            <a:spLocks noChangeShapeType="1"/>
          </p:cNvSpPr>
          <p:nvPr/>
        </p:nvSpPr>
        <p:spPr bwMode="auto">
          <a:xfrm>
            <a:off x="2362200" y="3886200"/>
            <a:ext cx="1066800" cy="0"/>
          </a:xfrm>
          <a:prstGeom prst="line">
            <a:avLst/>
          </a:prstGeom>
          <a:noFill/>
          <a:ln w="9525">
            <a:solidFill>
              <a:schemeClr val="tx1"/>
            </a:solidFill>
            <a:prstDash val="dash"/>
            <a:round/>
            <a:headEnd/>
            <a:tailEnd/>
          </a:ln>
          <a:effectLst/>
        </p:spPr>
        <p:txBody>
          <a:bodyPr/>
          <a:lstStyle/>
          <a:p>
            <a:endParaRPr lang="en-US"/>
          </a:p>
        </p:txBody>
      </p:sp>
      <p:sp>
        <p:nvSpPr>
          <p:cNvPr id="133128" name="Line 8"/>
          <p:cNvSpPr>
            <a:spLocks noChangeShapeType="1"/>
          </p:cNvSpPr>
          <p:nvPr/>
        </p:nvSpPr>
        <p:spPr bwMode="auto">
          <a:xfrm>
            <a:off x="2362200" y="3352800"/>
            <a:ext cx="2133600" cy="0"/>
          </a:xfrm>
          <a:prstGeom prst="line">
            <a:avLst/>
          </a:prstGeom>
          <a:noFill/>
          <a:ln w="9525">
            <a:solidFill>
              <a:schemeClr val="tx1"/>
            </a:solidFill>
            <a:prstDash val="dash"/>
            <a:round/>
            <a:headEnd/>
            <a:tailEnd/>
          </a:ln>
          <a:effectLst/>
        </p:spPr>
        <p:txBody>
          <a:bodyPr/>
          <a:lstStyle/>
          <a:p>
            <a:endParaRPr lang="en-US"/>
          </a:p>
        </p:txBody>
      </p:sp>
      <p:sp>
        <p:nvSpPr>
          <p:cNvPr id="133129" name="Line 9"/>
          <p:cNvSpPr>
            <a:spLocks noChangeShapeType="1"/>
          </p:cNvSpPr>
          <p:nvPr/>
        </p:nvSpPr>
        <p:spPr bwMode="auto">
          <a:xfrm>
            <a:off x="2362200" y="2819400"/>
            <a:ext cx="3276600" cy="0"/>
          </a:xfrm>
          <a:prstGeom prst="line">
            <a:avLst/>
          </a:prstGeom>
          <a:noFill/>
          <a:ln w="9525">
            <a:solidFill>
              <a:schemeClr val="tx1"/>
            </a:solidFill>
            <a:prstDash val="dash"/>
            <a:round/>
            <a:headEnd/>
            <a:tailEnd/>
          </a:ln>
          <a:effectLst/>
        </p:spPr>
        <p:txBody>
          <a:bodyPr/>
          <a:lstStyle/>
          <a:p>
            <a:endParaRPr lang="en-US"/>
          </a:p>
        </p:txBody>
      </p:sp>
      <p:sp>
        <p:nvSpPr>
          <p:cNvPr id="133130" name="Line 10"/>
          <p:cNvSpPr>
            <a:spLocks noChangeShapeType="1"/>
          </p:cNvSpPr>
          <p:nvPr/>
        </p:nvSpPr>
        <p:spPr bwMode="auto">
          <a:xfrm>
            <a:off x="2362200" y="2286000"/>
            <a:ext cx="4343400" cy="0"/>
          </a:xfrm>
          <a:prstGeom prst="line">
            <a:avLst/>
          </a:prstGeom>
          <a:noFill/>
          <a:ln w="9525">
            <a:solidFill>
              <a:schemeClr val="tx1"/>
            </a:solidFill>
            <a:prstDash val="dash"/>
            <a:round/>
            <a:headEnd/>
            <a:tailEnd/>
          </a:ln>
          <a:effectLst/>
        </p:spPr>
        <p:txBody>
          <a:bodyPr/>
          <a:lstStyle/>
          <a:p>
            <a:endParaRPr lang="en-US"/>
          </a:p>
        </p:txBody>
      </p:sp>
      <p:sp>
        <p:nvSpPr>
          <p:cNvPr id="133131" name="Line 11"/>
          <p:cNvSpPr>
            <a:spLocks noChangeShapeType="1"/>
          </p:cNvSpPr>
          <p:nvPr/>
        </p:nvSpPr>
        <p:spPr bwMode="auto">
          <a:xfrm>
            <a:off x="3505200" y="3886200"/>
            <a:ext cx="0" cy="533400"/>
          </a:xfrm>
          <a:prstGeom prst="line">
            <a:avLst/>
          </a:prstGeom>
          <a:noFill/>
          <a:ln w="9525">
            <a:solidFill>
              <a:schemeClr val="tx1"/>
            </a:solidFill>
            <a:prstDash val="dash"/>
            <a:round/>
            <a:headEnd/>
            <a:tailEnd/>
          </a:ln>
          <a:effectLst/>
        </p:spPr>
        <p:txBody>
          <a:bodyPr/>
          <a:lstStyle/>
          <a:p>
            <a:endParaRPr lang="en-US"/>
          </a:p>
        </p:txBody>
      </p:sp>
      <p:sp>
        <p:nvSpPr>
          <p:cNvPr id="133132" name="Line 12"/>
          <p:cNvSpPr>
            <a:spLocks noChangeShapeType="1"/>
          </p:cNvSpPr>
          <p:nvPr/>
        </p:nvSpPr>
        <p:spPr bwMode="auto">
          <a:xfrm>
            <a:off x="4495800" y="3352800"/>
            <a:ext cx="0" cy="1066800"/>
          </a:xfrm>
          <a:prstGeom prst="line">
            <a:avLst/>
          </a:prstGeom>
          <a:noFill/>
          <a:ln w="9525">
            <a:solidFill>
              <a:schemeClr val="tx1"/>
            </a:solidFill>
            <a:prstDash val="dash"/>
            <a:round/>
            <a:headEnd/>
            <a:tailEnd/>
          </a:ln>
          <a:effectLst/>
        </p:spPr>
        <p:txBody>
          <a:bodyPr/>
          <a:lstStyle/>
          <a:p>
            <a:endParaRPr lang="en-US"/>
          </a:p>
        </p:txBody>
      </p:sp>
      <p:sp>
        <p:nvSpPr>
          <p:cNvPr id="133133" name="Line 13"/>
          <p:cNvSpPr>
            <a:spLocks noChangeShapeType="1"/>
          </p:cNvSpPr>
          <p:nvPr/>
        </p:nvSpPr>
        <p:spPr bwMode="auto">
          <a:xfrm>
            <a:off x="5638800" y="2819400"/>
            <a:ext cx="0" cy="1600200"/>
          </a:xfrm>
          <a:prstGeom prst="line">
            <a:avLst/>
          </a:prstGeom>
          <a:noFill/>
          <a:ln w="9525">
            <a:solidFill>
              <a:schemeClr val="tx1"/>
            </a:solidFill>
            <a:prstDash val="dash"/>
            <a:round/>
            <a:headEnd/>
            <a:tailEnd/>
          </a:ln>
          <a:effectLst/>
        </p:spPr>
        <p:txBody>
          <a:bodyPr/>
          <a:lstStyle/>
          <a:p>
            <a:endParaRPr lang="en-US"/>
          </a:p>
        </p:txBody>
      </p:sp>
      <p:sp>
        <p:nvSpPr>
          <p:cNvPr id="133134" name="Line 14"/>
          <p:cNvSpPr>
            <a:spLocks noChangeShapeType="1"/>
          </p:cNvSpPr>
          <p:nvPr/>
        </p:nvSpPr>
        <p:spPr bwMode="auto">
          <a:xfrm>
            <a:off x="6705600" y="2286000"/>
            <a:ext cx="0" cy="2133600"/>
          </a:xfrm>
          <a:prstGeom prst="line">
            <a:avLst/>
          </a:prstGeom>
          <a:noFill/>
          <a:ln w="9525">
            <a:solidFill>
              <a:schemeClr val="tx1"/>
            </a:solidFill>
            <a:prstDash val="dash"/>
            <a:round/>
            <a:headEnd/>
            <a:tailEnd/>
          </a:ln>
          <a:effectLst/>
        </p:spPr>
        <p:txBody>
          <a:bodyPr/>
          <a:lstStyle/>
          <a:p>
            <a:endParaRPr lang="en-US"/>
          </a:p>
        </p:txBody>
      </p:sp>
      <p:sp>
        <p:nvSpPr>
          <p:cNvPr id="133135" name="Text Box 15"/>
          <p:cNvSpPr txBox="1">
            <a:spLocks noChangeArrowheads="1"/>
          </p:cNvSpPr>
          <p:nvPr/>
        </p:nvSpPr>
        <p:spPr bwMode="auto">
          <a:xfrm>
            <a:off x="4419600" y="5105400"/>
            <a:ext cx="1219200" cy="366713"/>
          </a:xfrm>
          <a:prstGeom prst="rect">
            <a:avLst/>
          </a:prstGeom>
          <a:noFill/>
          <a:ln w="9525">
            <a:noFill/>
            <a:miter lim="800000"/>
            <a:headEnd/>
            <a:tailEnd/>
          </a:ln>
          <a:effectLst/>
        </p:spPr>
        <p:txBody>
          <a:bodyPr>
            <a:spAutoFit/>
          </a:bodyPr>
          <a:lstStyle/>
          <a:p>
            <a:pPr algn="l">
              <a:spcBef>
                <a:spcPct val="50000"/>
              </a:spcBef>
            </a:pPr>
            <a:r>
              <a:rPr lang="en-US" sz="1800"/>
              <a:t>Quantity</a:t>
            </a:r>
          </a:p>
        </p:txBody>
      </p:sp>
      <p:sp>
        <p:nvSpPr>
          <p:cNvPr id="133136" name="Text Box 16"/>
          <p:cNvSpPr txBox="1">
            <a:spLocks noChangeArrowheads="1"/>
          </p:cNvSpPr>
          <p:nvPr/>
        </p:nvSpPr>
        <p:spPr bwMode="auto">
          <a:xfrm rot="16200000">
            <a:off x="-121443" y="2712243"/>
            <a:ext cx="2895600" cy="366713"/>
          </a:xfrm>
          <a:prstGeom prst="rect">
            <a:avLst/>
          </a:prstGeom>
          <a:noFill/>
          <a:ln w="9525">
            <a:noFill/>
            <a:miter lim="800000"/>
            <a:headEnd/>
            <a:tailEnd/>
          </a:ln>
          <a:effectLst/>
        </p:spPr>
        <p:txBody>
          <a:bodyPr>
            <a:spAutoFit/>
          </a:bodyPr>
          <a:lstStyle/>
          <a:p>
            <a:pPr algn="l">
              <a:spcBef>
                <a:spcPct val="50000"/>
              </a:spcBef>
            </a:pPr>
            <a:r>
              <a:rPr lang="en-US" sz="1800"/>
              <a:t>Price (in pesos)</a:t>
            </a:r>
          </a:p>
        </p:txBody>
      </p:sp>
      <p:sp>
        <p:nvSpPr>
          <p:cNvPr id="133137" name="Line 17"/>
          <p:cNvSpPr>
            <a:spLocks noChangeShapeType="1"/>
          </p:cNvSpPr>
          <p:nvPr/>
        </p:nvSpPr>
        <p:spPr bwMode="auto">
          <a:xfrm flipV="1">
            <a:off x="2362200" y="2209800"/>
            <a:ext cx="4495800" cy="2209800"/>
          </a:xfrm>
          <a:prstGeom prst="line">
            <a:avLst/>
          </a:prstGeom>
          <a:noFill/>
          <a:ln w="31750">
            <a:solidFill>
              <a:schemeClr val="tx1"/>
            </a:solidFill>
            <a:round/>
            <a:headEnd/>
            <a:tailEnd/>
          </a:ln>
          <a:effectLst/>
        </p:spPr>
        <p:txBody>
          <a:bodyPr/>
          <a:lstStyle/>
          <a:p>
            <a:endParaRPr lang="en-US"/>
          </a:p>
        </p:txBody>
      </p:sp>
      <p:sp>
        <p:nvSpPr>
          <p:cNvPr id="133138" name="Text Box 18"/>
          <p:cNvSpPr txBox="1">
            <a:spLocks noChangeArrowheads="1"/>
          </p:cNvSpPr>
          <p:nvPr/>
        </p:nvSpPr>
        <p:spPr bwMode="auto">
          <a:xfrm>
            <a:off x="2057400" y="1600200"/>
            <a:ext cx="381000" cy="366713"/>
          </a:xfrm>
          <a:prstGeom prst="rect">
            <a:avLst/>
          </a:prstGeom>
          <a:noFill/>
          <a:ln w="9525">
            <a:noFill/>
            <a:miter lim="800000"/>
            <a:headEnd/>
            <a:tailEnd/>
          </a:ln>
          <a:effectLst/>
        </p:spPr>
        <p:txBody>
          <a:bodyPr>
            <a:spAutoFit/>
          </a:bodyPr>
          <a:lstStyle/>
          <a:p>
            <a:pPr algn="l">
              <a:spcBef>
                <a:spcPct val="50000"/>
              </a:spcBef>
            </a:pPr>
            <a:r>
              <a:rPr lang="en-US" sz="1800"/>
              <a:t>P</a:t>
            </a:r>
          </a:p>
        </p:txBody>
      </p:sp>
      <p:sp>
        <p:nvSpPr>
          <p:cNvPr id="133139" name="Text Box 19"/>
          <p:cNvSpPr txBox="1">
            <a:spLocks noChangeArrowheads="1"/>
          </p:cNvSpPr>
          <p:nvPr/>
        </p:nvSpPr>
        <p:spPr bwMode="auto">
          <a:xfrm>
            <a:off x="7543800" y="4267200"/>
            <a:ext cx="381000" cy="366713"/>
          </a:xfrm>
          <a:prstGeom prst="rect">
            <a:avLst/>
          </a:prstGeom>
          <a:noFill/>
          <a:ln w="9525">
            <a:noFill/>
            <a:miter lim="800000"/>
            <a:headEnd/>
            <a:tailEnd/>
          </a:ln>
          <a:effectLst/>
        </p:spPr>
        <p:txBody>
          <a:bodyPr>
            <a:spAutoFit/>
          </a:bodyPr>
          <a:lstStyle/>
          <a:p>
            <a:pPr algn="l">
              <a:spcBef>
                <a:spcPct val="50000"/>
              </a:spcBef>
            </a:pPr>
            <a:r>
              <a:rPr lang="en-US" sz="1800"/>
              <a:t>Q</a:t>
            </a:r>
          </a:p>
        </p:txBody>
      </p:sp>
      <p:sp>
        <p:nvSpPr>
          <p:cNvPr id="133140" name="Text Box 20"/>
          <p:cNvSpPr txBox="1">
            <a:spLocks noChangeArrowheads="1"/>
          </p:cNvSpPr>
          <p:nvPr/>
        </p:nvSpPr>
        <p:spPr bwMode="auto">
          <a:xfrm>
            <a:off x="2133600" y="4419600"/>
            <a:ext cx="304800" cy="274638"/>
          </a:xfrm>
          <a:prstGeom prst="rect">
            <a:avLst/>
          </a:prstGeom>
          <a:noFill/>
          <a:ln w="9525">
            <a:noFill/>
            <a:miter lim="800000"/>
            <a:headEnd/>
            <a:tailEnd/>
          </a:ln>
          <a:effectLst/>
        </p:spPr>
        <p:txBody>
          <a:bodyPr>
            <a:spAutoFit/>
          </a:bodyPr>
          <a:lstStyle/>
          <a:p>
            <a:pPr algn="l">
              <a:spcBef>
                <a:spcPct val="50000"/>
              </a:spcBef>
            </a:pPr>
            <a:r>
              <a:rPr lang="en-US" sz="1200"/>
              <a:t>0</a:t>
            </a:r>
          </a:p>
        </p:txBody>
      </p:sp>
      <p:sp>
        <p:nvSpPr>
          <p:cNvPr id="133141" name="Text Box 21"/>
          <p:cNvSpPr txBox="1">
            <a:spLocks noChangeArrowheads="1"/>
          </p:cNvSpPr>
          <p:nvPr/>
        </p:nvSpPr>
        <p:spPr bwMode="auto">
          <a:xfrm>
            <a:off x="3352800" y="4419600"/>
            <a:ext cx="304800" cy="274638"/>
          </a:xfrm>
          <a:prstGeom prst="rect">
            <a:avLst/>
          </a:prstGeom>
          <a:noFill/>
          <a:ln w="9525">
            <a:noFill/>
            <a:miter lim="800000"/>
            <a:headEnd/>
            <a:tailEnd/>
          </a:ln>
          <a:effectLst/>
        </p:spPr>
        <p:txBody>
          <a:bodyPr>
            <a:spAutoFit/>
          </a:bodyPr>
          <a:lstStyle/>
          <a:p>
            <a:pPr algn="l">
              <a:spcBef>
                <a:spcPct val="50000"/>
              </a:spcBef>
            </a:pPr>
            <a:r>
              <a:rPr lang="en-US" sz="1200"/>
              <a:t>2</a:t>
            </a:r>
          </a:p>
        </p:txBody>
      </p:sp>
      <p:sp>
        <p:nvSpPr>
          <p:cNvPr id="133142" name="Text Box 22"/>
          <p:cNvSpPr txBox="1">
            <a:spLocks noChangeArrowheads="1"/>
          </p:cNvSpPr>
          <p:nvPr/>
        </p:nvSpPr>
        <p:spPr bwMode="auto">
          <a:xfrm>
            <a:off x="4343400" y="4419600"/>
            <a:ext cx="304800" cy="274638"/>
          </a:xfrm>
          <a:prstGeom prst="rect">
            <a:avLst/>
          </a:prstGeom>
          <a:noFill/>
          <a:ln w="9525">
            <a:noFill/>
            <a:miter lim="800000"/>
            <a:headEnd/>
            <a:tailEnd/>
          </a:ln>
          <a:effectLst/>
        </p:spPr>
        <p:txBody>
          <a:bodyPr>
            <a:spAutoFit/>
          </a:bodyPr>
          <a:lstStyle/>
          <a:p>
            <a:pPr algn="l">
              <a:spcBef>
                <a:spcPct val="50000"/>
              </a:spcBef>
            </a:pPr>
            <a:r>
              <a:rPr lang="en-US" sz="1200"/>
              <a:t>4</a:t>
            </a:r>
          </a:p>
        </p:txBody>
      </p:sp>
      <p:sp>
        <p:nvSpPr>
          <p:cNvPr id="133143" name="Text Box 23"/>
          <p:cNvSpPr txBox="1">
            <a:spLocks noChangeArrowheads="1"/>
          </p:cNvSpPr>
          <p:nvPr/>
        </p:nvSpPr>
        <p:spPr bwMode="auto">
          <a:xfrm>
            <a:off x="5486400" y="4419600"/>
            <a:ext cx="304800" cy="274638"/>
          </a:xfrm>
          <a:prstGeom prst="rect">
            <a:avLst/>
          </a:prstGeom>
          <a:noFill/>
          <a:ln w="9525">
            <a:noFill/>
            <a:miter lim="800000"/>
            <a:headEnd/>
            <a:tailEnd/>
          </a:ln>
          <a:effectLst/>
        </p:spPr>
        <p:txBody>
          <a:bodyPr>
            <a:spAutoFit/>
          </a:bodyPr>
          <a:lstStyle/>
          <a:p>
            <a:pPr algn="l">
              <a:spcBef>
                <a:spcPct val="50000"/>
              </a:spcBef>
            </a:pPr>
            <a:r>
              <a:rPr lang="en-US" sz="1200"/>
              <a:t>6</a:t>
            </a:r>
          </a:p>
        </p:txBody>
      </p:sp>
      <p:sp>
        <p:nvSpPr>
          <p:cNvPr id="133144" name="Text Box 24"/>
          <p:cNvSpPr txBox="1">
            <a:spLocks noChangeArrowheads="1"/>
          </p:cNvSpPr>
          <p:nvPr/>
        </p:nvSpPr>
        <p:spPr bwMode="auto">
          <a:xfrm>
            <a:off x="6553200" y="4419600"/>
            <a:ext cx="304800" cy="274638"/>
          </a:xfrm>
          <a:prstGeom prst="rect">
            <a:avLst/>
          </a:prstGeom>
          <a:noFill/>
          <a:ln w="9525">
            <a:noFill/>
            <a:miter lim="800000"/>
            <a:headEnd/>
            <a:tailEnd/>
          </a:ln>
          <a:effectLst/>
        </p:spPr>
        <p:txBody>
          <a:bodyPr>
            <a:spAutoFit/>
          </a:bodyPr>
          <a:lstStyle/>
          <a:p>
            <a:pPr algn="l">
              <a:spcBef>
                <a:spcPct val="50000"/>
              </a:spcBef>
            </a:pPr>
            <a:r>
              <a:rPr lang="en-US" sz="1200"/>
              <a:t>8</a:t>
            </a:r>
          </a:p>
        </p:txBody>
      </p:sp>
      <p:sp>
        <p:nvSpPr>
          <p:cNvPr id="133145" name="Text Box 25"/>
          <p:cNvSpPr txBox="1">
            <a:spLocks noChangeArrowheads="1"/>
          </p:cNvSpPr>
          <p:nvPr/>
        </p:nvSpPr>
        <p:spPr bwMode="auto">
          <a:xfrm>
            <a:off x="1905000" y="3733800"/>
            <a:ext cx="457200" cy="274638"/>
          </a:xfrm>
          <a:prstGeom prst="rect">
            <a:avLst/>
          </a:prstGeom>
          <a:noFill/>
          <a:ln w="9525">
            <a:noFill/>
            <a:miter lim="800000"/>
            <a:headEnd/>
            <a:tailEnd/>
          </a:ln>
          <a:effectLst/>
        </p:spPr>
        <p:txBody>
          <a:bodyPr>
            <a:spAutoFit/>
          </a:bodyPr>
          <a:lstStyle/>
          <a:p>
            <a:pPr algn="l">
              <a:spcBef>
                <a:spcPct val="50000"/>
              </a:spcBef>
            </a:pPr>
            <a:r>
              <a:rPr lang="en-US" sz="1200"/>
              <a:t>100</a:t>
            </a:r>
          </a:p>
        </p:txBody>
      </p:sp>
      <p:sp>
        <p:nvSpPr>
          <p:cNvPr id="133146" name="Text Box 26"/>
          <p:cNvSpPr txBox="1">
            <a:spLocks noChangeArrowheads="1"/>
          </p:cNvSpPr>
          <p:nvPr/>
        </p:nvSpPr>
        <p:spPr bwMode="auto">
          <a:xfrm>
            <a:off x="1905000" y="3200400"/>
            <a:ext cx="457200" cy="274638"/>
          </a:xfrm>
          <a:prstGeom prst="rect">
            <a:avLst/>
          </a:prstGeom>
          <a:noFill/>
          <a:ln w="9525">
            <a:noFill/>
            <a:miter lim="800000"/>
            <a:headEnd/>
            <a:tailEnd/>
          </a:ln>
          <a:effectLst/>
        </p:spPr>
        <p:txBody>
          <a:bodyPr>
            <a:spAutoFit/>
          </a:bodyPr>
          <a:lstStyle/>
          <a:p>
            <a:pPr algn="l">
              <a:spcBef>
                <a:spcPct val="50000"/>
              </a:spcBef>
            </a:pPr>
            <a:r>
              <a:rPr lang="en-US" sz="1200"/>
              <a:t>200</a:t>
            </a:r>
          </a:p>
        </p:txBody>
      </p:sp>
      <p:sp>
        <p:nvSpPr>
          <p:cNvPr id="133147" name="Text Box 27"/>
          <p:cNvSpPr txBox="1">
            <a:spLocks noChangeArrowheads="1"/>
          </p:cNvSpPr>
          <p:nvPr/>
        </p:nvSpPr>
        <p:spPr bwMode="auto">
          <a:xfrm>
            <a:off x="1905000" y="2743200"/>
            <a:ext cx="457200" cy="274638"/>
          </a:xfrm>
          <a:prstGeom prst="rect">
            <a:avLst/>
          </a:prstGeom>
          <a:noFill/>
          <a:ln w="9525">
            <a:noFill/>
            <a:miter lim="800000"/>
            <a:headEnd/>
            <a:tailEnd/>
          </a:ln>
          <a:effectLst/>
        </p:spPr>
        <p:txBody>
          <a:bodyPr>
            <a:spAutoFit/>
          </a:bodyPr>
          <a:lstStyle/>
          <a:p>
            <a:pPr algn="l">
              <a:spcBef>
                <a:spcPct val="50000"/>
              </a:spcBef>
            </a:pPr>
            <a:r>
              <a:rPr lang="en-US" sz="1200"/>
              <a:t>300</a:t>
            </a:r>
          </a:p>
        </p:txBody>
      </p:sp>
      <p:sp>
        <p:nvSpPr>
          <p:cNvPr id="133148" name="Text Box 28"/>
          <p:cNvSpPr txBox="1">
            <a:spLocks noChangeArrowheads="1"/>
          </p:cNvSpPr>
          <p:nvPr/>
        </p:nvSpPr>
        <p:spPr bwMode="auto">
          <a:xfrm>
            <a:off x="1905000" y="2133600"/>
            <a:ext cx="457200" cy="274638"/>
          </a:xfrm>
          <a:prstGeom prst="rect">
            <a:avLst/>
          </a:prstGeom>
          <a:noFill/>
          <a:ln w="9525">
            <a:noFill/>
            <a:miter lim="800000"/>
            <a:headEnd/>
            <a:tailEnd/>
          </a:ln>
          <a:effectLst/>
        </p:spPr>
        <p:txBody>
          <a:bodyPr>
            <a:spAutoFit/>
          </a:bodyPr>
          <a:lstStyle/>
          <a:p>
            <a:pPr algn="l">
              <a:spcBef>
                <a:spcPct val="50000"/>
              </a:spcBef>
            </a:pPr>
            <a:r>
              <a:rPr lang="en-US" sz="1200"/>
              <a:t>400</a:t>
            </a:r>
          </a:p>
        </p:txBody>
      </p:sp>
      <p:sp>
        <p:nvSpPr>
          <p:cNvPr id="133149" name="Text Box 29"/>
          <p:cNvSpPr txBox="1">
            <a:spLocks noChangeArrowheads="1"/>
          </p:cNvSpPr>
          <p:nvPr/>
        </p:nvSpPr>
        <p:spPr bwMode="auto">
          <a:xfrm>
            <a:off x="6934200" y="1981200"/>
            <a:ext cx="381000" cy="366713"/>
          </a:xfrm>
          <a:prstGeom prst="rect">
            <a:avLst/>
          </a:prstGeom>
          <a:noFill/>
          <a:ln w="9525">
            <a:noFill/>
            <a:miter lim="800000"/>
            <a:headEnd/>
            <a:tailEnd/>
          </a:ln>
          <a:effectLst/>
        </p:spPr>
        <p:txBody>
          <a:bodyPr>
            <a:spAutoFit/>
          </a:bodyPr>
          <a:lstStyle/>
          <a:p>
            <a:pPr algn="l">
              <a:spcBef>
                <a:spcPct val="50000"/>
              </a:spcBef>
            </a:pPr>
            <a:r>
              <a:rPr lang="en-US" sz="1800"/>
              <a:t>S</a:t>
            </a:r>
          </a:p>
        </p:txBody>
      </p:sp>
      <p:sp>
        <p:nvSpPr>
          <p:cNvPr id="133152" name="Text Box 32"/>
          <p:cNvSpPr txBox="1">
            <a:spLocks noChangeArrowheads="1"/>
          </p:cNvSpPr>
          <p:nvPr/>
        </p:nvSpPr>
        <p:spPr bwMode="auto">
          <a:xfrm>
            <a:off x="1524000" y="5638800"/>
            <a:ext cx="6248400" cy="915988"/>
          </a:xfrm>
          <a:prstGeom prst="rect">
            <a:avLst/>
          </a:prstGeom>
          <a:noFill/>
          <a:ln w="9525">
            <a:noFill/>
            <a:miter lim="800000"/>
            <a:headEnd/>
            <a:tailEnd/>
          </a:ln>
          <a:effectLst/>
        </p:spPr>
        <p:txBody>
          <a:bodyPr>
            <a:spAutoFit/>
          </a:bodyPr>
          <a:lstStyle/>
          <a:p>
            <a:pPr algn="l">
              <a:spcBef>
                <a:spcPct val="50000"/>
              </a:spcBef>
            </a:pPr>
            <a:r>
              <a:rPr lang="en-US" sz="1800" dirty="0" smtClean="0"/>
              <a:t>Figure 2</a:t>
            </a:r>
            <a:r>
              <a:rPr lang="en-US" sz="1800" dirty="0"/>
              <a:t>:</a:t>
            </a:r>
            <a:r>
              <a:rPr lang="en-US" sz="1800" dirty="0" smtClean="0"/>
              <a:t>  </a:t>
            </a:r>
            <a:r>
              <a:rPr lang="en-US" sz="1800" u="sng" dirty="0"/>
              <a:t>Supply Curve</a:t>
            </a:r>
            <a:r>
              <a:rPr lang="en-US" sz="1800" dirty="0"/>
              <a:t>.  The positive slope of the supply curve depicts the direct relationship between price and quantity supplied.</a:t>
            </a:r>
          </a:p>
        </p:txBody>
      </p:sp>
      <p:sp>
        <p:nvSpPr>
          <p:cNvPr id="30" name="Slide Number Placeholder 29"/>
          <p:cNvSpPr>
            <a:spLocks noGrp="1"/>
          </p:cNvSpPr>
          <p:nvPr>
            <p:ph type="sldNum" sz="quarter" idx="11"/>
          </p:nvPr>
        </p:nvSpPr>
        <p:spPr/>
        <p:txBody>
          <a:bodyPr/>
          <a:lstStyle/>
          <a:p>
            <a:fld id="{5D8C0D95-B81A-45DB-B701-8AAA9905C101}" type="slidenum">
              <a:rPr lang="en-US" smtClean="0"/>
              <a:pPr/>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33122"/>
                                        </p:tgtEl>
                                        <p:attrNameLst>
                                          <p:attrName>style.visibility</p:attrName>
                                        </p:attrNameLst>
                                      </p:cBhvr>
                                      <p:to>
                                        <p:strVal val="visible"/>
                                      </p:to>
                                    </p:set>
                                    <p:animEffect transition="in" filter="fade">
                                      <p:cBhvr>
                                        <p:cTn id="7" dur="800" decel="100000"/>
                                        <p:tgtEl>
                                          <p:spTgt spid="133122"/>
                                        </p:tgtEl>
                                      </p:cBhvr>
                                    </p:animEffect>
                                    <p:anim calcmode="lin" valueType="num">
                                      <p:cBhvr>
                                        <p:cTn id="8" dur="800" decel="100000" fill="hold"/>
                                        <p:tgtEl>
                                          <p:spTgt spid="133122"/>
                                        </p:tgtEl>
                                        <p:attrNameLst>
                                          <p:attrName>style.rotation</p:attrName>
                                        </p:attrNameLst>
                                      </p:cBhvr>
                                      <p:tavLst>
                                        <p:tav tm="0">
                                          <p:val>
                                            <p:fltVal val="-90"/>
                                          </p:val>
                                        </p:tav>
                                        <p:tav tm="100000">
                                          <p:val>
                                            <p:fltVal val="0"/>
                                          </p:val>
                                        </p:tav>
                                      </p:tavLst>
                                    </p:anim>
                                    <p:anim calcmode="lin" valueType="num">
                                      <p:cBhvr>
                                        <p:cTn id="9" dur="800" decel="100000" fill="hold"/>
                                        <p:tgtEl>
                                          <p:spTgt spid="133122"/>
                                        </p:tgtEl>
                                        <p:attrNameLst>
                                          <p:attrName>ppt_x</p:attrName>
                                        </p:attrNameLst>
                                      </p:cBhvr>
                                      <p:tavLst>
                                        <p:tav tm="0">
                                          <p:val>
                                            <p:strVal val="#ppt_x+0.4"/>
                                          </p:val>
                                        </p:tav>
                                        <p:tav tm="100000">
                                          <p:val>
                                            <p:strVal val="#ppt_x-0.05"/>
                                          </p:val>
                                        </p:tav>
                                      </p:tavLst>
                                    </p:anim>
                                    <p:anim calcmode="lin" valueType="num">
                                      <p:cBhvr>
                                        <p:cTn id="10" dur="800" decel="100000" fill="hold"/>
                                        <p:tgtEl>
                                          <p:spTgt spid="133122"/>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33122"/>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33122"/>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33152"/>
                                        </p:tgtEl>
                                        <p:attrNameLst>
                                          <p:attrName>style.visibility</p:attrName>
                                        </p:attrNameLst>
                                      </p:cBhvr>
                                      <p:to>
                                        <p:strVal val="visible"/>
                                      </p:to>
                                    </p:set>
                                    <p:animEffect transition="in" filter="fade">
                                      <p:cBhvr>
                                        <p:cTn id="17" dur="800" decel="100000"/>
                                        <p:tgtEl>
                                          <p:spTgt spid="133152"/>
                                        </p:tgtEl>
                                      </p:cBhvr>
                                    </p:animEffect>
                                    <p:anim calcmode="lin" valueType="num">
                                      <p:cBhvr>
                                        <p:cTn id="18" dur="800" decel="100000" fill="hold"/>
                                        <p:tgtEl>
                                          <p:spTgt spid="133152"/>
                                        </p:tgtEl>
                                        <p:attrNameLst>
                                          <p:attrName>style.rotation</p:attrName>
                                        </p:attrNameLst>
                                      </p:cBhvr>
                                      <p:tavLst>
                                        <p:tav tm="0">
                                          <p:val>
                                            <p:fltVal val="-90"/>
                                          </p:val>
                                        </p:tav>
                                        <p:tav tm="100000">
                                          <p:val>
                                            <p:fltVal val="0"/>
                                          </p:val>
                                        </p:tav>
                                      </p:tavLst>
                                    </p:anim>
                                    <p:anim calcmode="lin" valueType="num">
                                      <p:cBhvr>
                                        <p:cTn id="19" dur="800" decel="100000" fill="hold"/>
                                        <p:tgtEl>
                                          <p:spTgt spid="133152"/>
                                        </p:tgtEl>
                                        <p:attrNameLst>
                                          <p:attrName>ppt_x</p:attrName>
                                        </p:attrNameLst>
                                      </p:cBhvr>
                                      <p:tavLst>
                                        <p:tav tm="0">
                                          <p:val>
                                            <p:strVal val="#ppt_x+0.4"/>
                                          </p:val>
                                        </p:tav>
                                        <p:tav tm="100000">
                                          <p:val>
                                            <p:strVal val="#ppt_x-0.05"/>
                                          </p:val>
                                        </p:tav>
                                      </p:tavLst>
                                    </p:anim>
                                    <p:anim calcmode="lin" valueType="num">
                                      <p:cBhvr>
                                        <p:cTn id="20" dur="800" decel="100000" fill="hold"/>
                                        <p:tgtEl>
                                          <p:spTgt spid="133152"/>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33152"/>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33152"/>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p:bldP spid="13315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pPr algn="l"/>
            <a:r>
              <a:rPr lang="en-US" u="sng" dirty="0"/>
              <a:t>Supply </a:t>
            </a:r>
            <a:r>
              <a:rPr lang="en-US" u="sng" dirty="0" smtClean="0"/>
              <a:t>Function:</a:t>
            </a:r>
            <a:endParaRPr lang="en-US" u="sng" dirty="0"/>
          </a:p>
        </p:txBody>
      </p:sp>
      <p:sp>
        <p:nvSpPr>
          <p:cNvPr id="134147" name="Rectangle 3"/>
          <p:cNvSpPr>
            <a:spLocks noGrp="1" noChangeArrowheads="1"/>
          </p:cNvSpPr>
          <p:nvPr>
            <p:ph idx="1"/>
          </p:nvPr>
        </p:nvSpPr>
        <p:spPr/>
        <p:txBody>
          <a:bodyPr/>
          <a:lstStyle/>
          <a:p>
            <a:r>
              <a:rPr lang="en-US" sz="2800" dirty="0"/>
              <a:t>Quantity supplied </a:t>
            </a:r>
            <a:r>
              <a:rPr lang="en-US" sz="2800" i="1" dirty="0"/>
              <a:t>(Qs) </a:t>
            </a:r>
            <a:r>
              <a:rPr lang="en-US" sz="2800" dirty="0"/>
              <a:t>is expressed as a mathematical function of price </a:t>
            </a:r>
            <a:r>
              <a:rPr lang="en-US" sz="2800" i="1" dirty="0"/>
              <a:t>(P). </a:t>
            </a:r>
            <a:r>
              <a:rPr lang="en-US" sz="2800" dirty="0"/>
              <a:t>The supply function may thus be written as:</a:t>
            </a:r>
            <a:br>
              <a:rPr lang="en-US" sz="2800" dirty="0"/>
            </a:br>
            <a:r>
              <a:rPr lang="en-US" sz="2800" dirty="0"/>
              <a:t/>
            </a:r>
            <a:br>
              <a:rPr lang="en-US" sz="2800" dirty="0"/>
            </a:br>
            <a:r>
              <a:rPr lang="en-US" sz="2800" dirty="0"/>
              <a:t> 			</a:t>
            </a:r>
            <a:r>
              <a:rPr lang="en-US" sz="2800" dirty="0">
                <a:solidFill>
                  <a:srgbClr val="FFFF00"/>
                </a:solidFill>
              </a:rPr>
              <a:t>Q</a:t>
            </a:r>
            <a:r>
              <a:rPr lang="en-US" sz="2800" baseline="-25000" dirty="0">
                <a:solidFill>
                  <a:srgbClr val="FFFF00"/>
                </a:solidFill>
              </a:rPr>
              <a:t>s</a:t>
            </a:r>
            <a:r>
              <a:rPr lang="en-US" sz="2800" dirty="0">
                <a:solidFill>
                  <a:srgbClr val="FFFF00"/>
                </a:solidFill>
              </a:rPr>
              <a:t> = c + </a:t>
            </a:r>
            <a:r>
              <a:rPr lang="en-US" sz="2800" dirty="0" err="1">
                <a:solidFill>
                  <a:srgbClr val="FFFF00"/>
                </a:solidFill>
              </a:rPr>
              <a:t>dP</a:t>
            </a:r>
            <a:endParaRPr lang="en-US" sz="2800" dirty="0">
              <a:solidFill>
                <a:srgbClr val="FFFF00"/>
              </a:solidFill>
            </a:endParaRPr>
          </a:p>
          <a:p>
            <a:pPr>
              <a:buFont typeface="Wingdings" pitchFamily="2" charset="2"/>
              <a:buNone/>
            </a:pPr>
            <a:r>
              <a:rPr lang="en-US" altLang="ko-KR" sz="2800" dirty="0">
                <a:ea typeface="굴림" charset="-127"/>
              </a:rPr>
              <a:t>	where </a:t>
            </a:r>
          </a:p>
          <a:p>
            <a:pPr lvl="1"/>
            <a:r>
              <a:rPr lang="en-US" altLang="ko-KR" sz="2400" i="1" dirty="0">
                <a:ea typeface="굴림" charset="-127"/>
              </a:rPr>
              <a:t>c </a:t>
            </a:r>
            <a:r>
              <a:rPr lang="en-US" altLang="ko-KR" sz="2400" dirty="0">
                <a:ea typeface="굴림" charset="-127"/>
              </a:rPr>
              <a:t>is the horizontal intercept of the equation or the quantity </a:t>
            </a:r>
            <a:r>
              <a:rPr lang="en-US" altLang="ko-KR" sz="2400" dirty="0" smtClean="0">
                <a:ea typeface="굴림" charset="-127"/>
              </a:rPr>
              <a:t>supplied when </a:t>
            </a:r>
            <a:r>
              <a:rPr lang="en-US" altLang="ko-KR" sz="2400" dirty="0">
                <a:ea typeface="굴림" charset="-127"/>
              </a:rPr>
              <a:t>price is zero </a:t>
            </a:r>
          </a:p>
          <a:p>
            <a:pPr lvl="1"/>
            <a:r>
              <a:rPr lang="en-US" altLang="ko-KR" sz="2400" i="1" dirty="0">
                <a:ea typeface="굴림" charset="-127"/>
              </a:rPr>
              <a:t>d  </a:t>
            </a:r>
            <a:r>
              <a:rPr lang="en-US" altLang="ko-KR" sz="2400" dirty="0">
                <a:ea typeface="굴림" charset="-127"/>
              </a:rPr>
              <a:t>is the slope of the function. </a:t>
            </a:r>
          </a:p>
          <a:p>
            <a:r>
              <a:rPr lang="en-US" sz="2800" dirty="0"/>
              <a:t>Example:  	</a:t>
            </a:r>
            <a:r>
              <a:rPr lang="en-US" altLang="ko-KR" sz="2800" dirty="0">
                <a:solidFill>
                  <a:srgbClr val="FFFF00"/>
                </a:solidFill>
                <a:ea typeface="굴림" charset="-127"/>
              </a:rPr>
              <a:t>Q</a:t>
            </a:r>
            <a:r>
              <a:rPr lang="en-US" altLang="ko-KR" sz="2800" baseline="-25000" dirty="0">
                <a:solidFill>
                  <a:srgbClr val="FFFF00"/>
                </a:solidFill>
                <a:ea typeface="굴림" charset="-127"/>
              </a:rPr>
              <a:t>s</a:t>
            </a:r>
            <a:r>
              <a:rPr lang="en-US" altLang="ko-KR" sz="2800" dirty="0">
                <a:solidFill>
                  <a:srgbClr val="FFFF00"/>
                </a:solidFill>
                <a:ea typeface="굴림" charset="-127"/>
              </a:rPr>
              <a:t> = 0 + 0.02P</a:t>
            </a:r>
            <a:r>
              <a:rPr lang="en-US" altLang="ko-KR" sz="2800" dirty="0">
                <a:ea typeface="굴림" charset="-127"/>
              </a:rPr>
              <a:t> </a:t>
            </a:r>
            <a:endParaRPr lang="en-US" sz="2800" dirty="0"/>
          </a:p>
        </p:txBody>
      </p:sp>
      <p:sp>
        <p:nvSpPr>
          <p:cNvPr id="5" name="Slide Number Placeholder 4"/>
          <p:cNvSpPr>
            <a:spLocks noGrp="1"/>
          </p:cNvSpPr>
          <p:nvPr>
            <p:ph type="sldNum" sz="quarter" idx="11"/>
          </p:nvPr>
        </p:nvSpPr>
        <p:spPr/>
        <p:txBody>
          <a:bodyPr/>
          <a:lstStyle/>
          <a:p>
            <a:fld id="{6D63C845-4982-41E6-901A-A3EC09BDD7BE}" type="slidenum">
              <a:rPr lang="en-US" smtClean="0"/>
              <a:pPr/>
              <a:t>26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34146"/>
                                        </p:tgtEl>
                                        <p:attrNameLst>
                                          <p:attrName>style.visibility</p:attrName>
                                        </p:attrNameLst>
                                      </p:cBhvr>
                                      <p:to>
                                        <p:strVal val="visible"/>
                                      </p:to>
                                    </p:set>
                                    <p:animEffect transition="in" filter="fade">
                                      <p:cBhvr>
                                        <p:cTn id="7" dur="800" decel="100000"/>
                                        <p:tgtEl>
                                          <p:spTgt spid="134146"/>
                                        </p:tgtEl>
                                      </p:cBhvr>
                                    </p:animEffect>
                                    <p:anim calcmode="lin" valueType="num">
                                      <p:cBhvr>
                                        <p:cTn id="8" dur="800" decel="100000" fill="hold"/>
                                        <p:tgtEl>
                                          <p:spTgt spid="134146"/>
                                        </p:tgtEl>
                                        <p:attrNameLst>
                                          <p:attrName>style.rotation</p:attrName>
                                        </p:attrNameLst>
                                      </p:cBhvr>
                                      <p:tavLst>
                                        <p:tav tm="0">
                                          <p:val>
                                            <p:fltVal val="-90"/>
                                          </p:val>
                                        </p:tav>
                                        <p:tav tm="100000">
                                          <p:val>
                                            <p:fltVal val="0"/>
                                          </p:val>
                                        </p:tav>
                                      </p:tavLst>
                                    </p:anim>
                                    <p:anim calcmode="lin" valueType="num">
                                      <p:cBhvr>
                                        <p:cTn id="9" dur="800" decel="100000" fill="hold"/>
                                        <p:tgtEl>
                                          <p:spTgt spid="134146"/>
                                        </p:tgtEl>
                                        <p:attrNameLst>
                                          <p:attrName>ppt_x</p:attrName>
                                        </p:attrNameLst>
                                      </p:cBhvr>
                                      <p:tavLst>
                                        <p:tav tm="0">
                                          <p:val>
                                            <p:strVal val="#ppt_x+0.4"/>
                                          </p:val>
                                        </p:tav>
                                        <p:tav tm="100000">
                                          <p:val>
                                            <p:strVal val="#ppt_x-0.05"/>
                                          </p:val>
                                        </p:tav>
                                      </p:tavLst>
                                    </p:anim>
                                    <p:anim calcmode="lin" valueType="num">
                                      <p:cBhvr>
                                        <p:cTn id="10" dur="800" decel="100000" fill="hold"/>
                                        <p:tgtEl>
                                          <p:spTgt spid="13414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3414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34146"/>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34147">
                                            <p:txEl>
                                              <p:pRg st="0" end="0"/>
                                            </p:txEl>
                                          </p:spTgt>
                                        </p:tgtEl>
                                        <p:attrNameLst>
                                          <p:attrName>style.visibility</p:attrName>
                                        </p:attrNameLst>
                                      </p:cBhvr>
                                      <p:to>
                                        <p:strVal val="visible"/>
                                      </p:to>
                                    </p:set>
                                    <p:animEffect transition="in" filter="fade">
                                      <p:cBhvr>
                                        <p:cTn id="17" dur="800" decel="100000"/>
                                        <p:tgtEl>
                                          <p:spTgt spid="134147">
                                            <p:txEl>
                                              <p:pRg st="0" end="0"/>
                                            </p:txEl>
                                          </p:spTgt>
                                        </p:tgtEl>
                                      </p:cBhvr>
                                    </p:animEffect>
                                    <p:anim calcmode="lin" valueType="num">
                                      <p:cBhvr>
                                        <p:cTn id="18" dur="800" decel="100000" fill="hold"/>
                                        <p:tgtEl>
                                          <p:spTgt spid="134147">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34147">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34147">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34147">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34147">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34147">
                                            <p:txEl>
                                              <p:pRg st="1" end="1"/>
                                            </p:txEl>
                                          </p:spTgt>
                                        </p:tgtEl>
                                        <p:attrNameLst>
                                          <p:attrName>style.visibility</p:attrName>
                                        </p:attrNameLst>
                                      </p:cBhvr>
                                      <p:to>
                                        <p:strVal val="visible"/>
                                      </p:to>
                                    </p:set>
                                    <p:animEffect transition="in" filter="fade">
                                      <p:cBhvr>
                                        <p:cTn id="27" dur="800" decel="100000"/>
                                        <p:tgtEl>
                                          <p:spTgt spid="134147">
                                            <p:txEl>
                                              <p:pRg st="1" end="1"/>
                                            </p:txEl>
                                          </p:spTgt>
                                        </p:tgtEl>
                                      </p:cBhvr>
                                    </p:animEffect>
                                    <p:anim calcmode="lin" valueType="num">
                                      <p:cBhvr>
                                        <p:cTn id="28" dur="800" decel="100000" fill="hold"/>
                                        <p:tgtEl>
                                          <p:spTgt spid="134147">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34147">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34147">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34147">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34147">
                                            <p:txEl>
                                              <p:pRg st="1" end="1"/>
                                            </p:txEl>
                                          </p:spTgt>
                                        </p:tgtEl>
                                        <p:attrNameLst>
                                          <p:attrName>ppt_y</p:attrName>
                                        </p:attrNameLst>
                                      </p:cBhvr>
                                      <p:tavLst>
                                        <p:tav tm="0">
                                          <p:val>
                                            <p:strVal val="#ppt_y+0.1"/>
                                          </p:val>
                                        </p:tav>
                                        <p:tav tm="100000">
                                          <p:val>
                                            <p:strVal val="#ppt_y"/>
                                          </p:val>
                                        </p:tav>
                                      </p:tavLst>
                                    </p:anim>
                                  </p:childTnLst>
                                </p:cTn>
                              </p:par>
                              <p:par>
                                <p:cTn id="33" presetID="30" presetClass="entr" presetSubtype="0" fill="hold" nodeType="withEffect">
                                  <p:stCondLst>
                                    <p:cond delay="0"/>
                                  </p:stCondLst>
                                  <p:childTnLst>
                                    <p:set>
                                      <p:cBhvr>
                                        <p:cTn id="34" dur="1" fill="hold">
                                          <p:stCondLst>
                                            <p:cond delay="0"/>
                                          </p:stCondLst>
                                        </p:cTn>
                                        <p:tgtEl>
                                          <p:spTgt spid="134147">
                                            <p:txEl>
                                              <p:pRg st="2" end="2"/>
                                            </p:txEl>
                                          </p:spTgt>
                                        </p:tgtEl>
                                        <p:attrNameLst>
                                          <p:attrName>style.visibility</p:attrName>
                                        </p:attrNameLst>
                                      </p:cBhvr>
                                      <p:to>
                                        <p:strVal val="visible"/>
                                      </p:to>
                                    </p:set>
                                    <p:animEffect transition="in" filter="fade">
                                      <p:cBhvr>
                                        <p:cTn id="35" dur="800" decel="100000"/>
                                        <p:tgtEl>
                                          <p:spTgt spid="134147">
                                            <p:txEl>
                                              <p:pRg st="2" end="2"/>
                                            </p:txEl>
                                          </p:spTgt>
                                        </p:tgtEl>
                                      </p:cBhvr>
                                    </p:animEffect>
                                    <p:anim calcmode="lin" valueType="num">
                                      <p:cBhvr>
                                        <p:cTn id="36" dur="800" decel="100000" fill="hold"/>
                                        <p:tgtEl>
                                          <p:spTgt spid="134147">
                                            <p:txEl>
                                              <p:pRg st="2" end="2"/>
                                            </p:txEl>
                                          </p:spTgt>
                                        </p:tgtEl>
                                        <p:attrNameLst>
                                          <p:attrName>style.rotation</p:attrName>
                                        </p:attrNameLst>
                                      </p:cBhvr>
                                      <p:tavLst>
                                        <p:tav tm="0">
                                          <p:val>
                                            <p:fltVal val="-90"/>
                                          </p:val>
                                        </p:tav>
                                        <p:tav tm="100000">
                                          <p:val>
                                            <p:fltVal val="0"/>
                                          </p:val>
                                        </p:tav>
                                      </p:tavLst>
                                    </p:anim>
                                    <p:anim calcmode="lin" valueType="num">
                                      <p:cBhvr>
                                        <p:cTn id="37" dur="800" decel="100000" fill="hold"/>
                                        <p:tgtEl>
                                          <p:spTgt spid="134147">
                                            <p:txEl>
                                              <p:pRg st="2" end="2"/>
                                            </p:txEl>
                                          </p:spTgt>
                                        </p:tgtEl>
                                        <p:attrNameLst>
                                          <p:attrName>ppt_x</p:attrName>
                                        </p:attrNameLst>
                                      </p:cBhvr>
                                      <p:tavLst>
                                        <p:tav tm="0">
                                          <p:val>
                                            <p:strVal val="#ppt_x+0.4"/>
                                          </p:val>
                                        </p:tav>
                                        <p:tav tm="100000">
                                          <p:val>
                                            <p:strVal val="#ppt_x-0.05"/>
                                          </p:val>
                                        </p:tav>
                                      </p:tavLst>
                                    </p:anim>
                                    <p:anim calcmode="lin" valueType="num">
                                      <p:cBhvr>
                                        <p:cTn id="38" dur="800" decel="100000" fill="hold"/>
                                        <p:tgtEl>
                                          <p:spTgt spid="134147">
                                            <p:txEl>
                                              <p:pRg st="2" end="2"/>
                                            </p:txEl>
                                          </p:spTgt>
                                        </p:tgtEl>
                                        <p:attrNameLst>
                                          <p:attrName>ppt_y</p:attrName>
                                        </p:attrNameLst>
                                      </p:cBhvr>
                                      <p:tavLst>
                                        <p:tav tm="0">
                                          <p:val>
                                            <p:strVal val="#ppt_y-0.4"/>
                                          </p:val>
                                        </p:tav>
                                        <p:tav tm="100000">
                                          <p:val>
                                            <p:strVal val="#ppt_y+0.1"/>
                                          </p:val>
                                        </p:tav>
                                      </p:tavLst>
                                    </p:anim>
                                    <p:anim calcmode="lin" valueType="num">
                                      <p:cBhvr>
                                        <p:cTn id="39" dur="200" accel="100000" fill="hold">
                                          <p:stCondLst>
                                            <p:cond delay="800"/>
                                          </p:stCondLst>
                                        </p:cTn>
                                        <p:tgtEl>
                                          <p:spTgt spid="134147">
                                            <p:txEl>
                                              <p:pRg st="2" end="2"/>
                                            </p:txEl>
                                          </p:spTgt>
                                        </p:tgtEl>
                                        <p:attrNameLst>
                                          <p:attrName>ppt_x</p:attrName>
                                        </p:attrNameLst>
                                      </p:cBhvr>
                                      <p:tavLst>
                                        <p:tav tm="0">
                                          <p:val>
                                            <p:strVal val="#ppt_x-0.05"/>
                                          </p:val>
                                        </p:tav>
                                        <p:tav tm="100000">
                                          <p:val>
                                            <p:strVal val="#ppt_x"/>
                                          </p:val>
                                        </p:tav>
                                      </p:tavLst>
                                    </p:anim>
                                    <p:anim calcmode="lin" valueType="num">
                                      <p:cBhvr>
                                        <p:cTn id="40" dur="200" accel="100000" fill="hold">
                                          <p:stCondLst>
                                            <p:cond delay="800"/>
                                          </p:stCondLst>
                                        </p:cTn>
                                        <p:tgtEl>
                                          <p:spTgt spid="134147">
                                            <p:txEl>
                                              <p:pRg st="2" end="2"/>
                                            </p:txEl>
                                          </p:spTgt>
                                        </p:tgtEl>
                                        <p:attrNameLst>
                                          <p:attrName>ppt_y</p:attrName>
                                        </p:attrNameLst>
                                      </p:cBhvr>
                                      <p:tavLst>
                                        <p:tav tm="0">
                                          <p:val>
                                            <p:strVal val="#ppt_y+0.1"/>
                                          </p:val>
                                        </p:tav>
                                        <p:tav tm="100000">
                                          <p:val>
                                            <p:strVal val="#ppt_y"/>
                                          </p:val>
                                        </p:tav>
                                      </p:tavLst>
                                    </p:anim>
                                  </p:childTnLst>
                                </p:cTn>
                              </p:par>
                              <p:par>
                                <p:cTn id="41" presetID="30" presetClass="entr" presetSubtype="0" fill="hold" nodeType="withEffect">
                                  <p:stCondLst>
                                    <p:cond delay="0"/>
                                  </p:stCondLst>
                                  <p:childTnLst>
                                    <p:set>
                                      <p:cBhvr>
                                        <p:cTn id="42" dur="1" fill="hold">
                                          <p:stCondLst>
                                            <p:cond delay="0"/>
                                          </p:stCondLst>
                                        </p:cTn>
                                        <p:tgtEl>
                                          <p:spTgt spid="134147">
                                            <p:txEl>
                                              <p:pRg st="3" end="3"/>
                                            </p:txEl>
                                          </p:spTgt>
                                        </p:tgtEl>
                                        <p:attrNameLst>
                                          <p:attrName>style.visibility</p:attrName>
                                        </p:attrNameLst>
                                      </p:cBhvr>
                                      <p:to>
                                        <p:strVal val="visible"/>
                                      </p:to>
                                    </p:set>
                                    <p:animEffect transition="in" filter="fade">
                                      <p:cBhvr>
                                        <p:cTn id="43" dur="800" decel="100000"/>
                                        <p:tgtEl>
                                          <p:spTgt spid="134147">
                                            <p:txEl>
                                              <p:pRg st="3" end="3"/>
                                            </p:txEl>
                                          </p:spTgt>
                                        </p:tgtEl>
                                      </p:cBhvr>
                                    </p:animEffect>
                                    <p:anim calcmode="lin" valueType="num">
                                      <p:cBhvr>
                                        <p:cTn id="44" dur="800" decel="100000" fill="hold"/>
                                        <p:tgtEl>
                                          <p:spTgt spid="134147">
                                            <p:txEl>
                                              <p:pRg st="3" end="3"/>
                                            </p:txEl>
                                          </p:spTgt>
                                        </p:tgtEl>
                                        <p:attrNameLst>
                                          <p:attrName>style.rotation</p:attrName>
                                        </p:attrNameLst>
                                      </p:cBhvr>
                                      <p:tavLst>
                                        <p:tav tm="0">
                                          <p:val>
                                            <p:fltVal val="-90"/>
                                          </p:val>
                                        </p:tav>
                                        <p:tav tm="100000">
                                          <p:val>
                                            <p:fltVal val="0"/>
                                          </p:val>
                                        </p:tav>
                                      </p:tavLst>
                                    </p:anim>
                                    <p:anim calcmode="lin" valueType="num">
                                      <p:cBhvr>
                                        <p:cTn id="45" dur="800" decel="100000" fill="hold"/>
                                        <p:tgtEl>
                                          <p:spTgt spid="134147">
                                            <p:txEl>
                                              <p:pRg st="3" end="3"/>
                                            </p:txEl>
                                          </p:spTgt>
                                        </p:tgtEl>
                                        <p:attrNameLst>
                                          <p:attrName>ppt_x</p:attrName>
                                        </p:attrNameLst>
                                      </p:cBhvr>
                                      <p:tavLst>
                                        <p:tav tm="0">
                                          <p:val>
                                            <p:strVal val="#ppt_x+0.4"/>
                                          </p:val>
                                        </p:tav>
                                        <p:tav tm="100000">
                                          <p:val>
                                            <p:strVal val="#ppt_x-0.05"/>
                                          </p:val>
                                        </p:tav>
                                      </p:tavLst>
                                    </p:anim>
                                    <p:anim calcmode="lin" valueType="num">
                                      <p:cBhvr>
                                        <p:cTn id="46" dur="800" decel="100000" fill="hold"/>
                                        <p:tgtEl>
                                          <p:spTgt spid="134147">
                                            <p:txEl>
                                              <p:pRg st="3" end="3"/>
                                            </p:txEl>
                                          </p:spTgt>
                                        </p:tgtEl>
                                        <p:attrNameLst>
                                          <p:attrName>ppt_y</p:attrName>
                                        </p:attrNameLst>
                                      </p:cBhvr>
                                      <p:tavLst>
                                        <p:tav tm="0">
                                          <p:val>
                                            <p:strVal val="#ppt_y-0.4"/>
                                          </p:val>
                                        </p:tav>
                                        <p:tav tm="100000">
                                          <p:val>
                                            <p:strVal val="#ppt_y+0.1"/>
                                          </p:val>
                                        </p:tav>
                                      </p:tavLst>
                                    </p:anim>
                                    <p:anim calcmode="lin" valueType="num">
                                      <p:cBhvr>
                                        <p:cTn id="47" dur="200" accel="100000" fill="hold">
                                          <p:stCondLst>
                                            <p:cond delay="800"/>
                                          </p:stCondLst>
                                        </p:cTn>
                                        <p:tgtEl>
                                          <p:spTgt spid="134147">
                                            <p:txEl>
                                              <p:pRg st="3" end="3"/>
                                            </p:txEl>
                                          </p:spTgt>
                                        </p:tgtEl>
                                        <p:attrNameLst>
                                          <p:attrName>ppt_x</p:attrName>
                                        </p:attrNameLst>
                                      </p:cBhvr>
                                      <p:tavLst>
                                        <p:tav tm="0">
                                          <p:val>
                                            <p:strVal val="#ppt_x-0.05"/>
                                          </p:val>
                                        </p:tav>
                                        <p:tav tm="100000">
                                          <p:val>
                                            <p:strVal val="#ppt_x"/>
                                          </p:val>
                                        </p:tav>
                                      </p:tavLst>
                                    </p:anim>
                                    <p:anim calcmode="lin" valueType="num">
                                      <p:cBhvr>
                                        <p:cTn id="48" dur="200" accel="100000" fill="hold">
                                          <p:stCondLst>
                                            <p:cond delay="800"/>
                                          </p:stCondLst>
                                        </p:cTn>
                                        <p:tgtEl>
                                          <p:spTgt spid="134147">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30" presetClass="entr" presetSubtype="0" fill="hold" nodeType="clickEffect">
                                  <p:stCondLst>
                                    <p:cond delay="0"/>
                                  </p:stCondLst>
                                  <p:childTnLst>
                                    <p:set>
                                      <p:cBhvr>
                                        <p:cTn id="52" dur="1" fill="hold">
                                          <p:stCondLst>
                                            <p:cond delay="0"/>
                                          </p:stCondLst>
                                        </p:cTn>
                                        <p:tgtEl>
                                          <p:spTgt spid="134147">
                                            <p:txEl>
                                              <p:pRg st="4" end="4"/>
                                            </p:txEl>
                                          </p:spTgt>
                                        </p:tgtEl>
                                        <p:attrNameLst>
                                          <p:attrName>style.visibility</p:attrName>
                                        </p:attrNameLst>
                                      </p:cBhvr>
                                      <p:to>
                                        <p:strVal val="visible"/>
                                      </p:to>
                                    </p:set>
                                    <p:animEffect transition="in" filter="fade">
                                      <p:cBhvr>
                                        <p:cTn id="53" dur="800" decel="100000"/>
                                        <p:tgtEl>
                                          <p:spTgt spid="134147">
                                            <p:txEl>
                                              <p:pRg st="4" end="4"/>
                                            </p:txEl>
                                          </p:spTgt>
                                        </p:tgtEl>
                                      </p:cBhvr>
                                    </p:animEffect>
                                    <p:anim calcmode="lin" valueType="num">
                                      <p:cBhvr>
                                        <p:cTn id="54" dur="800" decel="100000" fill="hold"/>
                                        <p:tgtEl>
                                          <p:spTgt spid="134147">
                                            <p:txEl>
                                              <p:pRg st="4" end="4"/>
                                            </p:txEl>
                                          </p:spTgt>
                                        </p:tgtEl>
                                        <p:attrNameLst>
                                          <p:attrName>style.rotation</p:attrName>
                                        </p:attrNameLst>
                                      </p:cBhvr>
                                      <p:tavLst>
                                        <p:tav tm="0">
                                          <p:val>
                                            <p:fltVal val="-90"/>
                                          </p:val>
                                        </p:tav>
                                        <p:tav tm="100000">
                                          <p:val>
                                            <p:fltVal val="0"/>
                                          </p:val>
                                        </p:tav>
                                      </p:tavLst>
                                    </p:anim>
                                    <p:anim calcmode="lin" valueType="num">
                                      <p:cBhvr>
                                        <p:cTn id="55" dur="800" decel="100000" fill="hold"/>
                                        <p:tgtEl>
                                          <p:spTgt spid="134147">
                                            <p:txEl>
                                              <p:pRg st="4" end="4"/>
                                            </p:txEl>
                                          </p:spTgt>
                                        </p:tgtEl>
                                        <p:attrNameLst>
                                          <p:attrName>ppt_x</p:attrName>
                                        </p:attrNameLst>
                                      </p:cBhvr>
                                      <p:tavLst>
                                        <p:tav tm="0">
                                          <p:val>
                                            <p:strVal val="#ppt_x+0.4"/>
                                          </p:val>
                                        </p:tav>
                                        <p:tav tm="100000">
                                          <p:val>
                                            <p:strVal val="#ppt_x-0.05"/>
                                          </p:val>
                                        </p:tav>
                                      </p:tavLst>
                                    </p:anim>
                                    <p:anim calcmode="lin" valueType="num">
                                      <p:cBhvr>
                                        <p:cTn id="56" dur="800" decel="100000" fill="hold"/>
                                        <p:tgtEl>
                                          <p:spTgt spid="134147">
                                            <p:txEl>
                                              <p:pRg st="4" end="4"/>
                                            </p:txEl>
                                          </p:spTgt>
                                        </p:tgtEl>
                                        <p:attrNameLst>
                                          <p:attrName>ppt_y</p:attrName>
                                        </p:attrNameLst>
                                      </p:cBhvr>
                                      <p:tavLst>
                                        <p:tav tm="0">
                                          <p:val>
                                            <p:strVal val="#ppt_y-0.4"/>
                                          </p:val>
                                        </p:tav>
                                        <p:tav tm="100000">
                                          <p:val>
                                            <p:strVal val="#ppt_y+0.1"/>
                                          </p:val>
                                        </p:tav>
                                      </p:tavLst>
                                    </p:anim>
                                    <p:anim calcmode="lin" valueType="num">
                                      <p:cBhvr>
                                        <p:cTn id="57" dur="200" accel="100000" fill="hold">
                                          <p:stCondLst>
                                            <p:cond delay="800"/>
                                          </p:stCondLst>
                                        </p:cTn>
                                        <p:tgtEl>
                                          <p:spTgt spid="134147">
                                            <p:txEl>
                                              <p:pRg st="4" end="4"/>
                                            </p:txEl>
                                          </p:spTgt>
                                        </p:tgtEl>
                                        <p:attrNameLst>
                                          <p:attrName>ppt_x</p:attrName>
                                        </p:attrNameLst>
                                      </p:cBhvr>
                                      <p:tavLst>
                                        <p:tav tm="0">
                                          <p:val>
                                            <p:strVal val="#ppt_x-0.05"/>
                                          </p:val>
                                        </p:tav>
                                        <p:tav tm="100000">
                                          <p:val>
                                            <p:strVal val="#ppt_x"/>
                                          </p:val>
                                        </p:tav>
                                      </p:tavLst>
                                    </p:anim>
                                    <p:anim calcmode="lin" valueType="num">
                                      <p:cBhvr>
                                        <p:cTn id="58" dur="200" accel="100000" fill="hold">
                                          <p:stCondLst>
                                            <p:cond delay="800"/>
                                          </p:stCondLst>
                                        </p:cTn>
                                        <p:tgtEl>
                                          <p:spTgt spid="134147">
                                            <p:txEl>
                                              <p:pRg st="4" end="4"/>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pPr algn="l"/>
            <a:r>
              <a:rPr lang="en-US" u="sng" dirty="0" smtClean="0"/>
              <a:t>Factors </a:t>
            </a:r>
            <a:r>
              <a:rPr lang="en-US" u="sng" dirty="0"/>
              <a:t>A</a:t>
            </a:r>
            <a:r>
              <a:rPr lang="en-US" u="sng" dirty="0" smtClean="0"/>
              <a:t>ffecting Supply:</a:t>
            </a:r>
            <a:endParaRPr lang="en-US" u="sng" dirty="0"/>
          </a:p>
        </p:txBody>
      </p:sp>
      <p:sp>
        <p:nvSpPr>
          <p:cNvPr id="174083" name="Rectangle 3"/>
          <p:cNvSpPr>
            <a:spLocks noGrp="1" noChangeArrowheads="1"/>
          </p:cNvSpPr>
          <p:nvPr>
            <p:ph idx="1"/>
          </p:nvPr>
        </p:nvSpPr>
        <p:spPr/>
        <p:txBody>
          <a:bodyPr/>
          <a:lstStyle/>
          <a:p>
            <a:pPr marL="609600" indent="-609600"/>
            <a:r>
              <a:rPr lang="en-US" dirty="0" smtClean="0"/>
              <a:t>There are other factors aside from price that affect the supply schedule. Some of the most important of these factors include:</a:t>
            </a:r>
            <a:endParaRPr lang="en-US" dirty="0"/>
          </a:p>
          <a:p>
            <a:pPr marL="990600" lvl="1" indent="-533400">
              <a:buFont typeface="Wingdings" pitchFamily="2" charset="2"/>
              <a:buAutoNum type="arabicPeriod"/>
            </a:pPr>
            <a:r>
              <a:rPr lang="en-US" dirty="0"/>
              <a:t>R</a:t>
            </a:r>
            <a:r>
              <a:rPr lang="en-US" dirty="0" smtClean="0"/>
              <a:t>esource prices.</a:t>
            </a:r>
            <a:endParaRPr lang="en-US" dirty="0"/>
          </a:p>
          <a:p>
            <a:pPr marL="990600" lvl="1" indent="-533400">
              <a:buFont typeface="Wingdings" pitchFamily="2" charset="2"/>
              <a:buAutoNum type="arabicPeriod"/>
            </a:pPr>
            <a:r>
              <a:rPr lang="en-US" dirty="0"/>
              <a:t>P</a:t>
            </a:r>
            <a:r>
              <a:rPr lang="en-US" dirty="0" smtClean="0"/>
              <a:t>rices </a:t>
            </a:r>
            <a:r>
              <a:rPr lang="en-US" dirty="0"/>
              <a:t>of related goods in </a:t>
            </a:r>
            <a:r>
              <a:rPr lang="en-US" dirty="0" smtClean="0"/>
              <a:t>production.</a:t>
            </a:r>
            <a:endParaRPr lang="en-US" dirty="0"/>
          </a:p>
          <a:p>
            <a:pPr marL="990600" lvl="1" indent="-533400">
              <a:buFont typeface="Wingdings" pitchFamily="2" charset="2"/>
              <a:buAutoNum type="arabicPeriod"/>
            </a:pPr>
            <a:r>
              <a:rPr lang="en-US" dirty="0" smtClean="0"/>
              <a:t>Technology.</a:t>
            </a:r>
            <a:endParaRPr lang="en-US" dirty="0"/>
          </a:p>
          <a:p>
            <a:pPr marL="990600" lvl="1" indent="-533400">
              <a:buFont typeface="Wingdings" pitchFamily="2" charset="2"/>
              <a:buAutoNum type="arabicPeriod"/>
            </a:pPr>
            <a:r>
              <a:rPr lang="en-US" dirty="0" smtClean="0"/>
              <a:t>Expectations.</a:t>
            </a:r>
            <a:endParaRPr lang="en-US" dirty="0"/>
          </a:p>
          <a:p>
            <a:pPr marL="990600" lvl="1" indent="-533400">
              <a:buFont typeface="Wingdings" pitchFamily="2" charset="2"/>
              <a:buAutoNum type="arabicPeriod"/>
            </a:pPr>
            <a:r>
              <a:rPr lang="en-US" dirty="0"/>
              <a:t>N</a:t>
            </a:r>
            <a:r>
              <a:rPr lang="en-US" dirty="0" smtClean="0"/>
              <a:t>umber </a:t>
            </a:r>
            <a:r>
              <a:rPr lang="en-US" dirty="0"/>
              <a:t>of sellers.</a:t>
            </a:r>
          </a:p>
        </p:txBody>
      </p:sp>
      <p:sp>
        <p:nvSpPr>
          <p:cNvPr id="5" name="Slide Number Placeholder 4"/>
          <p:cNvSpPr>
            <a:spLocks noGrp="1"/>
          </p:cNvSpPr>
          <p:nvPr>
            <p:ph type="sldNum" sz="quarter" idx="11"/>
          </p:nvPr>
        </p:nvSpPr>
        <p:spPr/>
        <p:txBody>
          <a:bodyPr/>
          <a:lstStyle/>
          <a:p>
            <a:fld id="{6D63C845-4982-41E6-901A-A3EC09BDD7BE}" type="slidenum">
              <a:rPr lang="en-US" smtClean="0"/>
              <a:pPr/>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74082"/>
                                        </p:tgtEl>
                                        <p:attrNameLst>
                                          <p:attrName>style.visibility</p:attrName>
                                        </p:attrNameLst>
                                      </p:cBhvr>
                                      <p:to>
                                        <p:strVal val="visible"/>
                                      </p:to>
                                    </p:set>
                                    <p:animEffect transition="in" filter="fade">
                                      <p:cBhvr>
                                        <p:cTn id="7" dur="800" decel="100000"/>
                                        <p:tgtEl>
                                          <p:spTgt spid="174082"/>
                                        </p:tgtEl>
                                      </p:cBhvr>
                                    </p:animEffect>
                                    <p:anim calcmode="lin" valueType="num">
                                      <p:cBhvr>
                                        <p:cTn id="8" dur="800" decel="100000" fill="hold"/>
                                        <p:tgtEl>
                                          <p:spTgt spid="174082"/>
                                        </p:tgtEl>
                                        <p:attrNameLst>
                                          <p:attrName>style.rotation</p:attrName>
                                        </p:attrNameLst>
                                      </p:cBhvr>
                                      <p:tavLst>
                                        <p:tav tm="0">
                                          <p:val>
                                            <p:fltVal val="-90"/>
                                          </p:val>
                                        </p:tav>
                                        <p:tav tm="100000">
                                          <p:val>
                                            <p:fltVal val="0"/>
                                          </p:val>
                                        </p:tav>
                                      </p:tavLst>
                                    </p:anim>
                                    <p:anim calcmode="lin" valueType="num">
                                      <p:cBhvr>
                                        <p:cTn id="9" dur="800" decel="100000" fill="hold"/>
                                        <p:tgtEl>
                                          <p:spTgt spid="174082"/>
                                        </p:tgtEl>
                                        <p:attrNameLst>
                                          <p:attrName>ppt_x</p:attrName>
                                        </p:attrNameLst>
                                      </p:cBhvr>
                                      <p:tavLst>
                                        <p:tav tm="0">
                                          <p:val>
                                            <p:strVal val="#ppt_x+0.4"/>
                                          </p:val>
                                        </p:tav>
                                        <p:tav tm="100000">
                                          <p:val>
                                            <p:strVal val="#ppt_x-0.05"/>
                                          </p:val>
                                        </p:tav>
                                      </p:tavLst>
                                    </p:anim>
                                    <p:anim calcmode="lin" valueType="num">
                                      <p:cBhvr>
                                        <p:cTn id="10" dur="800" decel="100000" fill="hold"/>
                                        <p:tgtEl>
                                          <p:spTgt spid="174082"/>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74082"/>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74082"/>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74083">
                                            <p:txEl>
                                              <p:pRg st="0" end="0"/>
                                            </p:txEl>
                                          </p:spTgt>
                                        </p:tgtEl>
                                        <p:attrNameLst>
                                          <p:attrName>style.visibility</p:attrName>
                                        </p:attrNameLst>
                                      </p:cBhvr>
                                      <p:to>
                                        <p:strVal val="visible"/>
                                      </p:to>
                                    </p:set>
                                    <p:animEffect transition="in" filter="fade">
                                      <p:cBhvr>
                                        <p:cTn id="17" dur="800" decel="100000"/>
                                        <p:tgtEl>
                                          <p:spTgt spid="174083">
                                            <p:txEl>
                                              <p:pRg st="0" end="0"/>
                                            </p:txEl>
                                          </p:spTgt>
                                        </p:tgtEl>
                                      </p:cBhvr>
                                    </p:animEffect>
                                    <p:anim calcmode="lin" valueType="num">
                                      <p:cBhvr>
                                        <p:cTn id="18" dur="800" decel="100000" fill="hold"/>
                                        <p:tgtEl>
                                          <p:spTgt spid="174083">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74083">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74083">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74083">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74083">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74083">
                                            <p:txEl>
                                              <p:pRg st="1" end="1"/>
                                            </p:txEl>
                                          </p:spTgt>
                                        </p:tgtEl>
                                        <p:attrNameLst>
                                          <p:attrName>style.visibility</p:attrName>
                                        </p:attrNameLst>
                                      </p:cBhvr>
                                      <p:to>
                                        <p:strVal val="visible"/>
                                      </p:to>
                                    </p:set>
                                    <p:animEffect transition="in" filter="fade">
                                      <p:cBhvr>
                                        <p:cTn id="27" dur="800" decel="100000"/>
                                        <p:tgtEl>
                                          <p:spTgt spid="174083">
                                            <p:txEl>
                                              <p:pRg st="1" end="1"/>
                                            </p:txEl>
                                          </p:spTgt>
                                        </p:tgtEl>
                                      </p:cBhvr>
                                    </p:animEffect>
                                    <p:anim calcmode="lin" valueType="num">
                                      <p:cBhvr>
                                        <p:cTn id="28" dur="800" decel="100000" fill="hold"/>
                                        <p:tgtEl>
                                          <p:spTgt spid="174083">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74083">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74083">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74083">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7408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174083">
                                            <p:txEl>
                                              <p:pRg st="2" end="2"/>
                                            </p:txEl>
                                          </p:spTgt>
                                        </p:tgtEl>
                                        <p:attrNameLst>
                                          <p:attrName>style.visibility</p:attrName>
                                        </p:attrNameLst>
                                      </p:cBhvr>
                                      <p:to>
                                        <p:strVal val="visible"/>
                                      </p:to>
                                    </p:set>
                                    <p:animEffect transition="in" filter="fade">
                                      <p:cBhvr>
                                        <p:cTn id="37" dur="800" decel="100000"/>
                                        <p:tgtEl>
                                          <p:spTgt spid="174083">
                                            <p:txEl>
                                              <p:pRg st="2" end="2"/>
                                            </p:txEl>
                                          </p:spTgt>
                                        </p:tgtEl>
                                      </p:cBhvr>
                                    </p:animEffect>
                                    <p:anim calcmode="lin" valueType="num">
                                      <p:cBhvr>
                                        <p:cTn id="38" dur="800" decel="100000" fill="hold"/>
                                        <p:tgtEl>
                                          <p:spTgt spid="174083">
                                            <p:txEl>
                                              <p:pRg st="2" end="2"/>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74083">
                                            <p:txEl>
                                              <p:pRg st="2" end="2"/>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74083">
                                            <p:txEl>
                                              <p:pRg st="2" end="2"/>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74083">
                                            <p:txEl>
                                              <p:pRg st="2" end="2"/>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74083">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nodeType="clickEffect">
                                  <p:stCondLst>
                                    <p:cond delay="0"/>
                                  </p:stCondLst>
                                  <p:childTnLst>
                                    <p:set>
                                      <p:cBhvr>
                                        <p:cTn id="46" dur="1" fill="hold">
                                          <p:stCondLst>
                                            <p:cond delay="0"/>
                                          </p:stCondLst>
                                        </p:cTn>
                                        <p:tgtEl>
                                          <p:spTgt spid="174083">
                                            <p:txEl>
                                              <p:pRg st="3" end="3"/>
                                            </p:txEl>
                                          </p:spTgt>
                                        </p:tgtEl>
                                        <p:attrNameLst>
                                          <p:attrName>style.visibility</p:attrName>
                                        </p:attrNameLst>
                                      </p:cBhvr>
                                      <p:to>
                                        <p:strVal val="visible"/>
                                      </p:to>
                                    </p:set>
                                    <p:animEffect transition="in" filter="fade">
                                      <p:cBhvr>
                                        <p:cTn id="47" dur="800" decel="100000"/>
                                        <p:tgtEl>
                                          <p:spTgt spid="174083">
                                            <p:txEl>
                                              <p:pRg st="3" end="3"/>
                                            </p:txEl>
                                          </p:spTgt>
                                        </p:tgtEl>
                                      </p:cBhvr>
                                    </p:animEffect>
                                    <p:anim calcmode="lin" valueType="num">
                                      <p:cBhvr>
                                        <p:cTn id="48" dur="800" decel="100000" fill="hold"/>
                                        <p:tgtEl>
                                          <p:spTgt spid="174083">
                                            <p:txEl>
                                              <p:pRg st="3" end="3"/>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174083">
                                            <p:txEl>
                                              <p:pRg st="3" end="3"/>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174083">
                                            <p:txEl>
                                              <p:pRg st="3" end="3"/>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174083">
                                            <p:txEl>
                                              <p:pRg st="3" end="3"/>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174083">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0" presetClass="entr" presetSubtype="0" fill="hold" nodeType="clickEffect">
                                  <p:stCondLst>
                                    <p:cond delay="0"/>
                                  </p:stCondLst>
                                  <p:childTnLst>
                                    <p:set>
                                      <p:cBhvr>
                                        <p:cTn id="56" dur="1" fill="hold">
                                          <p:stCondLst>
                                            <p:cond delay="0"/>
                                          </p:stCondLst>
                                        </p:cTn>
                                        <p:tgtEl>
                                          <p:spTgt spid="174083">
                                            <p:txEl>
                                              <p:pRg st="4" end="4"/>
                                            </p:txEl>
                                          </p:spTgt>
                                        </p:tgtEl>
                                        <p:attrNameLst>
                                          <p:attrName>style.visibility</p:attrName>
                                        </p:attrNameLst>
                                      </p:cBhvr>
                                      <p:to>
                                        <p:strVal val="visible"/>
                                      </p:to>
                                    </p:set>
                                    <p:animEffect transition="in" filter="fade">
                                      <p:cBhvr>
                                        <p:cTn id="57" dur="800" decel="100000"/>
                                        <p:tgtEl>
                                          <p:spTgt spid="174083">
                                            <p:txEl>
                                              <p:pRg st="4" end="4"/>
                                            </p:txEl>
                                          </p:spTgt>
                                        </p:tgtEl>
                                      </p:cBhvr>
                                    </p:animEffect>
                                    <p:anim calcmode="lin" valueType="num">
                                      <p:cBhvr>
                                        <p:cTn id="58" dur="800" decel="100000" fill="hold"/>
                                        <p:tgtEl>
                                          <p:spTgt spid="174083">
                                            <p:txEl>
                                              <p:pRg st="4" end="4"/>
                                            </p:txEl>
                                          </p:spTgt>
                                        </p:tgtEl>
                                        <p:attrNameLst>
                                          <p:attrName>style.rotation</p:attrName>
                                        </p:attrNameLst>
                                      </p:cBhvr>
                                      <p:tavLst>
                                        <p:tav tm="0">
                                          <p:val>
                                            <p:fltVal val="-90"/>
                                          </p:val>
                                        </p:tav>
                                        <p:tav tm="100000">
                                          <p:val>
                                            <p:fltVal val="0"/>
                                          </p:val>
                                        </p:tav>
                                      </p:tavLst>
                                    </p:anim>
                                    <p:anim calcmode="lin" valueType="num">
                                      <p:cBhvr>
                                        <p:cTn id="59" dur="800" decel="100000" fill="hold"/>
                                        <p:tgtEl>
                                          <p:spTgt spid="174083">
                                            <p:txEl>
                                              <p:pRg st="4" end="4"/>
                                            </p:txEl>
                                          </p:spTgt>
                                        </p:tgtEl>
                                        <p:attrNameLst>
                                          <p:attrName>ppt_x</p:attrName>
                                        </p:attrNameLst>
                                      </p:cBhvr>
                                      <p:tavLst>
                                        <p:tav tm="0">
                                          <p:val>
                                            <p:strVal val="#ppt_x+0.4"/>
                                          </p:val>
                                        </p:tav>
                                        <p:tav tm="100000">
                                          <p:val>
                                            <p:strVal val="#ppt_x-0.05"/>
                                          </p:val>
                                        </p:tav>
                                      </p:tavLst>
                                    </p:anim>
                                    <p:anim calcmode="lin" valueType="num">
                                      <p:cBhvr>
                                        <p:cTn id="60" dur="800" decel="100000" fill="hold"/>
                                        <p:tgtEl>
                                          <p:spTgt spid="174083">
                                            <p:txEl>
                                              <p:pRg st="4" end="4"/>
                                            </p:txEl>
                                          </p:spTgt>
                                        </p:tgtEl>
                                        <p:attrNameLst>
                                          <p:attrName>ppt_y</p:attrName>
                                        </p:attrNameLst>
                                      </p:cBhvr>
                                      <p:tavLst>
                                        <p:tav tm="0">
                                          <p:val>
                                            <p:strVal val="#ppt_y-0.4"/>
                                          </p:val>
                                        </p:tav>
                                        <p:tav tm="100000">
                                          <p:val>
                                            <p:strVal val="#ppt_y+0.1"/>
                                          </p:val>
                                        </p:tav>
                                      </p:tavLst>
                                    </p:anim>
                                    <p:anim calcmode="lin" valueType="num">
                                      <p:cBhvr>
                                        <p:cTn id="61" dur="200" accel="100000" fill="hold">
                                          <p:stCondLst>
                                            <p:cond delay="800"/>
                                          </p:stCondLst>
                                        </p:cTn>
                                        <p:tgtEl>
                                          <p:spTgt spid="174083">
                                            <p:txEl>
                                              <p:pRg st="4" end="4"/>
                                            </p:txEl>
                                          </p:spTgt>
                                        </p:tgtEl>
                                        <p:attrNameLst>
                                          <p:attrName>ppt_x</p:attrName>
                                        </p:attrNameLst>
                                      </p:cBhvr>
                                      <p:tavLst>
                                        <p:tav tm="0">
                                          <p:val>
                                            <p:strVal val="#ppt_x-0.05"/>
                                          </p:val>
                                        </p:tav>
                                        <p:tav tm="100000">
                                          <p:val>
                                            <p:strVal val="#ppt_x"/>
                                          </p:val>
                                        </p:tav>
                                      </p:tavLst>
                                    </p:anim>
                                    <p:anim calcmode="lin" valueType="num">
                                      <p:cBhvr>
                                        <p:cTn id="62" dur="200" accel="100000" fill="hold">
                                          <p:stCondLst>
                                            <p:cond delay="800"/>
                                          </p:stCondLst>
                                        </p:cTn>
                                        <p:tgtEl>
                                          <p:spTgt spid="174083">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0" presetClass="entr" presetSubtype="0" fill="hold" nodeType="clickEffect">
                                  <p:stCondLst>
                                    <p:cond delay="0"/>
                                  </p:stCondLst>
                                  <p:childTnLst>
                                    <p:set>
                                      <p:cBhvr>
                                        <p:cTn id="66" dur="1" fill="hold">
                                          <p:stCondLst>
                                            <p:cond delay="0"/>
                                          </p:stCondLst>
                                        </p:cTn>
                                        <p:tgtEl>
                                          <p:spTgt spid="174083">
                                            <p:txEl>
                                              <p:pRg st="5" end="5"/>
                                            </p:txEl>
                                          </p:spTgt>
                                        </p:tgtEl>
                                        <p:attrNameLst>
                                          <p:attrName>style.visibility</p:attrName>
                                        </p:attrNameLst>
                                      </p:cBhvr>
                                      <p:to>
                                        <p:strVal val="visible"/>
                                      </p:to>
                                    </p:set>
                                    <p:animEffect transition="in" filter="fade">
                                      <p:cBhvr>
                                        <p:cTn id="67" dur="800" decel="100000"/>
                                        <p:tgtEl>
                                          <p:spTgt spid="174083">
                                            <p:txEl>
                                              <p:pRg st="5" end="5"/>
                                            </p:txEl>
                                          </p:spTgt>
                                        </p:tgtEl>
                                      </p:cBhvr>
                                    </p:animEffect>
                                    <p:anim calcmode="lin" valueType="num">
                                      <p:cBhvr>
                                        <p:cTn id="68" dur="800" decel="100000" fill="hold"/>
                                        <p:tgtEl>
                                          <p:spTgt spid="174083">
                                            <p:txEl>
                                              <p:pRg st="5" end="5"/>
                                            </p:txEl>
                                          </p:spTgt>
                                        </p:tgtEl>
                                        <p:attrNameLst>
                                          <p:attrName>style.rotation</p:attrName>
                                        </p:attrNameLst>
                                      </p:cBhvr>
                                      <p:tavLst>
                                        <p:tav tm="0">
                                          <p:val>
                                            <p:fltVal val="-90"/>
                                          </p:val>
                                        </p:tav>
                                        <p:tav tm="100000">
                                          <p:val>
                                            <p:fltVal val="0"/>
                                          </p:val>
                                        </p:tav>
                                      </p:tavLst>
                                    </p:anim>
                                    <p:anim calcmode="lin" valueType="num">
                                      <p:cBhvr>
                                        <p:cTn id="69" dur="800" decel="100000" fill="hold"/>
                                        <p:tgtEl>
                                          <p:spTgt spid="174083">
                                            <p:txEl>
                                              <p:pRg st="5" end="5"/>
                                            </p:txEl>
                                          </p:spTgt>
                                        </p:tgtEl>
                                        <p:attrNameLst>
                                          <p:attrName>ppt_x</p:attrName>
                                        </p:attrNameLst>
                                      </p:cBhvr>
                                      <p:tavLst>
                                        <p:tav tm="0">
                                          <p:val>
                                            <p:strVal val="#ppt_x+0.4"/>
                                          </p:val>
                                        </p:tav>
                                        <p:tav tm="100000">
                                          <p:val>
                                            <p:strVal val="#ppt_x-0.05"/>
                                          </p:val>
                                        </p:tav>
                                      </p:tavLst>
                                    </p:anim>
                                    <p:anim calcmode="lin" valueType="num">
                                      <p:cBhvr>
                                        <p:cTn id="70" dur="800" decel="100000" fill="hold"/>
                                        <p:tgtEl>
                                          <p:spTgt spid="174083">
                                            <p:txEl>
                                              <p:pRg st="5" end="5"/>
                                            </p:txEl>
                                          </p:spTgt>
                                        </p:tgtEl>
                                        <p:attrNameLst>
                                          <p:attrName>ppt_y</p:attrName>
                                        </p:attrNameLst>
                                      </p:cBhvr>
                                      <p:tavLst>
                                        <p:tav tm="0">
                                          <p:val>
                                            <p:strVal val="#ppt_y-0.4"/>
                                          </p:val>
                                        </p:tav>
                                        <p:tav tm="100000">
                                          <p:val>
                                            <p:strVal val="#ppt_y+0.1"/>
                                          </p:val>
                                        </p:tav>
                                      </p:tavLst>
                                    </p:anim>
                                    <p:anim calcmode="lin" valueType="num">
                                      <p:cBhvr>
                                        <p:cTn id="71" dur="200" accel="100000" fill="hold">
                                          <p:stCondLst>
                                            <p:cond delay="800"/>
                                          </p:stCondLst>
                                        </p:cTn>
                                        <p:tgtEl>
                                          <p:spTgt spid="174083">
                                            <p:txEl>
                                              <p:pRg st="5" end="5"/>
                                            </p:txEl>
                                          </p:spTgt>
                                        </p:tgtEl>
                                        <p:attrNameLst>
                                          <p:attrName>ppt_x</p:attrName>
                                        </p:attrNameLst>
                                      </p:cBhvr>
                                      <p:tavLst>
                                        <p:tav tm="0">
                                          <p:val>
                                            <p:strVal val="#ppt_x-0.05"/>
                                          </p:val>
                                        </p:tav>
                                        <p:tav tm="100000">
                                          <p:val>
                                            <p:strVal val="#ppt_x"/>
                                          </p:val>
                                        </p:tav>
                                      </p:tavLst>
                                    </p:anim>
                                    <p:anim calcmode="lin" valueType="num">
                                      <p:cBhvr>
                                        <p:cTn id="72" dur="200" accel="100000" fill="hold">
                                          <p:stCondLst>
                                            <p:cond delay="800"/>
                                          </p:stCondLst>
                                        </p:cTn>
                                        <p:tgtEl>
                                          <p:spTgt spid="174083">
                                            <p:txEl>
                                              <p:pRg st="5" end="5"/>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algn="l"/>
            <a:r>
              <a:rPr lang="en-US" dirty="0" smtClean="0"/>
              <a:t>(Cont.)</a:t>
            </a:r>
            <a:endParaRPr lang="en-US" dirty="0"/>
          </a:p>
        </p:txBody>
      </p:sp>
      <p:sp>
        <p:nvSpPr>
          <p:cNvPr id="175107" name="Rectangle 3"/>
          <p:cNvSpPr>
            <a:spLocks noGrp="1" noChangeArrowheads="1"/>
          </p:cNvSpPr>
          <p:nvPr>
            <p:ph idx="1"/>
          </p:nvPr>
        </p:nvSpPr>
        <p:spPr/>
        <p:txBody>
          <a:bodyPr/>
          <a:lstStyle/>
          <a:p>
            <a:pPr marL="609600" indent="-609600"/>
            <a:r>
              <a:rPr lang="en-US" dirty="0">
                <a:solidFill>
                  <a:srgbClr val="FFFF00"/>
                </a:solidFill>
              </a:rPr>
              <a:t>Resource </a:t>
            </a:r>
            <a:r>
              <a:rPr lang="en-US" dirty="0" smtClean="0">
                <a:solidFill>
                  <a:srgbClr val="FFFF00"/>
                </a:solidFill>
              </a:rPr>
              <a:t>Prices</a:t>
            </a:r>
            <a:r>
              <a:rPr lang="en-US" dirty="0">
                <a:solidFill>
                  <a:srgbClr val="FFFF00"/>
                </a:solidFill>
              </a:rPr>
              <a:t>: </a:t>
            </a:r>
          </a:p>
          <a:p>
            <a:pPr marL="990600" lvl="1" indent="-533400"/>
            <a:r>
              <a:rPr lang="en-US" dirty="0"/>
              <a:t>When prices of inputs to production increase, the supply of the firm's product decreases. </a:t>
            </a:r>
          </a:p>
          <a:p>
            <a:pPr marL="990600" lvl="1" indent="-533400"/>
            <a:r>
              <a:rPr lang="en-US" dirty="0"/>
              <a:t>Decreases in resource prices, however, translate </a:t>
            </a:r>
            <a:r>
              <a:rPr lang="en-US" dirty="0" smtClean="0"/>
              <a:t>into </a:t>
            </a:r>
            <a:r>
              <a:rPr lang="en-US" dirty="0"/>
              <a:t>an increase in supply. The entire supply curve shifts to the right. </a:t>
            </a:r>
          </a:p>
          <a:p>
            <a:pPr marL="990600" lvl="1" indent="-533400"/>
            <a:endParaRPr lang="en-US" dirty="0"/>
          </a:p>
        </p:txBody>
      </p:sp>
      <p:sp>
        <p:nvSpPr>
          <p:cNvPr id="5" name="Slide Number Placeholder 4"/>
          <p:cNvSpPr>
            <a:spLocks noGrp="1"/>
          </p:cNvSpPr>
          <p:nvPr>
            <p:ph type="sldNum" sz="quarter" idx="11"/>
          </p:nvPr>
        </p:nvSpPr>
        <p:spPr/>
        <p:txBody>
          <a:bodyPr/>
          <a:lstStyle/>
          <a:p>
            <a:fld id="{6D63C845-4982-41E6-901A-A3EC09BDD7BE}" type="slidenum">
              <a:rPr lang="en-US" smtClean="0"/>
              <a:pPr/>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175107">
                                            <p:txEl>
                                              <p:pRg st="0" end="0"/>
                                            </p:txEl>
                                          </p:spTgt>
                                        </p:tgtEl>
                                        <p:attrNameLst>
                                          <p:attrName>style.visibility</p:attrName>
                                        </p:attrNameLst>
                                      </p:cBhvr>
                                      <p:to>
                                        <p:strVal val="visible"/>
                                      </p:to>
                                    </p:set>
                                    <p:animEffect transition="in" filter="fade">
                                      <p:cBhvr>
                                        <p:cTn id="7" dur="800" decel="100000"/>
                                        <p:tgtEl>
                                          <p:spTgt spid="175107">
                                            <p:txEl>
                                              <p:pRg st="0" end="0"/>
                                            </p:txEl>
                                          </p:spTgt>
                                        </p:tgtEl>
                                      </p:cBhvr>
                                    </p:animEffect>
                                    <p:anim calcmode="lin" valueType="num">
                                      <p:cBhvr>
                                        <p:cTn id="8" dur="800" decel="100000" fill="hold"/>
                                        <p:tgtEl>
                                          <p:spTgt spid="175107">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75107">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75107">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75107">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75107">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75107">
                                            <p:txEl>
                                              <p:pRg st="1" end="1"/>
                                            </p:txEl>
                                          </p:spTgt>
                                        </p:tgtEl>
                                        <p:attrNameLst>
                                          <p:attrName>style.visibility</p:attrName>
                                        </p:attrNameLst>
                                      </p:cBhvr>
                                      <p:to>
                                        <p:strVal val="visible"/>
                                      </p:to>
                                    </p:set>
                                    <p:animEffect transition="in" filter="fade">
                                      <p:cBhvr>
                                        <p:cTn id="17" dur="800" decel="100000"/>
                                        <p:tgtEl>
                                          <p:spTgt spid="175107">
                                            <p:txEl>
                                              <p:pRg st="1" end="1"/>
                                            </p:txEl>
                                          </p:spTgt>
                                        </p:tgtEl>
                                      </p:cBhvr>
                                    </p:animEffect>
                                    <p:anim calcmode="lin" valueType="num">
                                      <p:cBhvr>
                                        <p:cTn id="18" dur="800" decel="100000" fill="hold"/>
                                        <p:tgtEl>
                                          <p:spTgt spid="175107">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75107">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75107">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75107">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75107">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75107">
                                            <p:txEl>
                                              <p:pRg st="2" end="2"/>
                                            </p:txEl>
                                          </p:spTgt>
                                        </p:tgtEl>
                                        <p:attrNameLst>
                                          <p:attrName>style.visibility</p:attrName>
                                        </p:attrNameLst>
                                      </p:cBhvr>
                                      <p:to>
                                        <p:strVal val="visible"/>
                                      </p:to>
                                    </p:set>
                                    <p:animEffect transition="in" filter="fade">
                                      <p:cBhvr>
                                        <p:cTn id="27" dur="800" decel="100000"/>
                                        <p:tgtEl>
                                          <p:spTgt spid="175107">
                                            <p:txEl>
                                              <p:pRg st="2" end="2"/>
                                            </p:txEl>
                                          </p:spTgt>
                                        </p:tgtEl>
                                      </p:cBhvr>
                                    </p:animEffect>
                                    <p:anim calcmode="lin" valueType="num">
                                      <p:cBhvr>
                                        <p:cTn id="28" dur="800" decel="100000" fill="hold"/>
                                        <p:tgtEl>
                                          <p:spTgt spid="175107">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75107">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75107">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75107">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75107">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algn="l"/>
            <a:r>
              <a:rPr lang="en-US" dirty="0" smtClean="0"/>
              <a:t>(Cont.)</a:t>
            </a:r>
            <a:endParaRPr lang="en-US" dirty="0"/>
          </a:p>
        </p:txBody>
      </p:sp>
      <p:sp>
        <p:nvSpPr>
          <p:cNvPr id="176131" name="Rectangle 3"/>
          <p:cNvSpPr>
            <a:spLocks noGrp="1" noChangeArrowheads="1"/>
          </p:cNvSpPr>
          <p:nvPr>
            <p:ph idx="1"/>
          </p:nvPr>
        </p:nvSpPr>
        <p:spPr/>
        <p:txBody>
          <a:bodyPr/>
          <a:lstStyle/>
          <a:p>
            <a:pPr marL="609600" indent="-609600"/>
            <a:r>
              <a:rPr lang="en-US" dirty="0">
                <a:solidFill>
                  <a:srgbClr val="FFFF00"/>
                </a:solidFill>
              </a:rPr>
              <a:t>Prices of </a:t>
            </a:r>
            <a:r>
              <a:rPr lang="en-US" dirty="0" smtClean="0">
                <a:solidFill>
                  <a:srgbClr val="FFFF00"/>
                </a:solidFill>
              </a:rPr>
              <a:t>Related </a:t>
            </a:r>
            <a:r>
              <a:rPr lang="en-US" dirty="0">
                <a:solidFill>
                  <a:srgbClr val="FFFF00"/>
                </a:solidFill>
              </a:rPr>
              <a:t>G</a:t>
            </a:r>
            <a:r>
              <a:rPr lang="en-US" dirty="0" smtClean="0">
                <a:solidFill>
                  <a:srgbClr val="FFFF00"/>
                </a:solidFill>
              </a:rPr>
              <a:t>oods </a:t>
            </a:r>
            <a:r>
              <a:rPr lang="en-US" dirty="0">
                <a:solidFill>
                  <a:srgbClr val="FFFF00"/>
                </a:solidFill>
              </a:rPr>
              <a:t>in </a:t>
            </a:r>
            <a:r>
              <a:rPr lang="en-US" dirty="0" smtClean="0">
                <a:solidFill>
                  <a:srgbClr val="FFFF00"/>
                </a:solidFill>
              </a:rPr>
              <a:t>Production</a:t>
            </a:r>
            <a:r>
              <a:rPr lang="en-US" dirty="0">
                <a:solidFill>
                  <a:srgbClr val="FFFF00"/>
                </a:solidFill>
              </a:rPr>
              <a:t>: </a:t>
            </a:r>
          </a:p>
          <a:p>
            <a:pPr marL="990600" lvl="1" indent="-533400"/>
            <a:r>
              <a:rPr lang="en-US" sz="2400" dirty="0"/>
              <a:t>Resources can be employed to produce several alternative goods and services.</a:t>
            </a:r>
          </a:p>
          <a:p>
            <a:pPr marL="990600" lvl="1" indent="-533400"/>
            <a:r>
              <a:rPr lang="en-US" sz="2400" dirty="0"/>
              <a:t>Examples from </a:t>
            </a:r>
            <a:r>
              <a:rPr lang="en-US" sz="2400" dirty="0" smtClean="0"/>
              <a:t>agriculture and industry:</a:t>
            </a:r>
            <a:endParaRPr lang="en-US" sz="2400" dirty="0"/>
          </a:p>
          <a:p>
            <a:pPr marL="1371600" lvl="2" indent="-457200"/>
            <a:r>
              <a:rPr lang="en-US" sz="2000" dirty="0"/>
              <a:t>a piece of farmland can be </a:t>
            </a:r>
            <a:r>
              <a:rPr lang="en-US" sz="2000" dirty="0" smtClean="0"/>
              <a:t>used </a:t>
            </a:r>
            <a:r>
              <a:rPr lang="en-US" sz="2000" dirty="0"/>
              <a:t>to grow </a:t>
            </a:r>
            <a:r>
              <a:rPr lang="en-US" sz="2000" dirty="0" smtClean="0"/>
              <a:t> cotton,  corn</a:t>
            </a:r>
            <a:r>
              <a:rPr lang="en-US" sz="2000" dirty="0"/>
              <a:t>, </a:t>
            </a:r>
            <a:r>
              <a:rPr lang="en-US" sz="2000" dirty="0" smtClean="0"/>
              <a:t>or </a:t>
            </a:r>
            <a:r>
              <a:rPr lang="en-US" sz="2000" dirty="0"/>
              <a:t>sugarcane. An increase in price of sugarcane may result in decreased supply of </a:t>
            </a:r>
            <a:r>
              <a:rPr lang="en-US" sz="2000" dirty="0" smtClean="0"/>
              <a:t>cotton and </a:t>
            </a:r>
            <a:r>
              <a:rPr lang="en-US" sz="2000" dirty="0"/>
              <a:t>corn. </a:t>
            </a:r>
          </a:p>
          <a:p>
            <a:pPr marL="1371600" lvl="2" indent="-457200"/>
            <a:r>
              <a:rPr lang="en-US" sz="2000" dirty="0" smtClean="0"/>
              <a:t> farmers can use their land and labor to produce ornamental flowers instead of vegetables.  If vegetable prices decrease, the supply of ornamental flowers may increase.</a:t>
            </a:r>
          </a:p>
          <a:p>
            <a:pPr marL="1371600" lvl="2" indent="-457200"/>
            <a:r>
              <a:rPr lang="en-US" sz="2000" dirty="0" smtClean="0"/>
              <a:t>An increase in the price of cement will increase supply of steel.</a:t>
            </a:r>
          </a:p>
          <a:p>
            <a:pPr marL="974725" lvl="2" indent="-509588">
              <a:buClr>
                <a:schemeClr val="accent2"/>
              </a:buClr>
              <a:buSzPct val="95000"/>
            </a:pPr>
            <a:endParaRPr lang="en-US" sz="2000" dirty="0"/>
          </a:p>
        </p:txBody>
      </p:sp>
      <p:sp>
        <p:nvSpPr>
          <p:cNvPr id="5" name="Slide Number Placeholder 4"/>
          <p:cNvSpPr>
            <a:spLocks noGrp="1"/>
          </p:cNvSpPr>
          <p:nvPr>
            <p:ph type="sldNum" sz="quarter" idx="11"/>
          </p:nvPr>
        </p:nvSpPr>
        <p:spPr/>
        <p:txBody>
          <a:bodyPr/>
          <a:lstStyle/>
          <a:p>
            <a:fld id="{6D63C845-4982-41E6-901A-A3EC09BDD7BE}" type="slidenum">
              <a:rPr lang="en-US" smtClean="0"/>
              <a:pPr/>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176131">
                                            <p:txEl>
                                              <p:pRg st="0" end="0"/>
                                            </p:txEl>
                                          </p:spTgt>
                                        </p:tgtEl>
                                        <p:attrNameLst>
                                          <p:attrName>style.visibility</p:attrName>
                                        </p:attrNameLst>
                                      </p:cBhvr>
                                      <p:to>
                                        <p:strVal val="visible"/>
                                      </p:to>
                                    </p:set>
                                    <p:animEffect transition="in" filter="fade">
                                      <p:cBhvr>
                                        <p:cTn id="7" dur="800" decel="100000"/>
                                        <p:tgtEl>
                                          <p:spTgt spid="176131">
                                            <p:txEl>
                                              <p:pRg st="0" end="0"/>
                                            </p:txEl>
                                          </p:spTgt>
                                        </p:tgtEl>
                                      </p:cBhvr>
                                    </p:animEffect>
                                    <p:anim calcmode="lin" valueType="num">
                                      <p:cBhvr>
                                        <p:cTn id="8" dur="800" decel="100000" fill="hold"/>
                                        <p:tgtEl>
                                          <p:spTgt spid="176131">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76131">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76131">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76131">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7613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76131">
                                            <p:txEl>
                                              <p:pRg st="1" end="1"/>
                                            </p:txEl>
                                          </p:spTgt>
                                        </p:tgtEl>
                                        <p:attrNameLst>
                                          <p:attrName>style.visibility</p:attrName>
                                        </p:attrNameLst>
                                      </p:cBhvr>
                                      <p:to>
                                        <p:strVal val="visible"/>
                                      </p:to>
                                    </p:set>
                                    <p:animEffect transition="in" filter="fade">
                                      <p:cBhvr>
                                        <p:cTn id="17" dur="800" decel="100000"/>
                                        <p:tgtEl>
                                          <p:spTgt spid="176131">
                                            <p:txEl>
                                              <p:pRg st="1" end="1"/>
                                            </p:txEl>
                                          </p:spTgt>
                                        </p:tgtEl>
                                      </p:cBhvr>
                                    </p:animEffect>
                                    <p:anim calcmode="lin" valueType="num">
                                      <p:cBhvr>
                                        <p:cTn id="18" dur="800" decel="100000" fill="hold"/>
                                        <p:tgtEl>
                                          <p:spTgt spid="176131">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76131">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76131">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76131">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76131">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76131">
                                            <p:txEl>
                                              <p:pRg st="2" end="2"/>
                                            </p:txEl>
                                          </p:spTgt>
                                        </p:tgtEl>
                                        <p:attrNameLst>
                                          <p:attrName>style.visibility</p:attrName>
                                        </p:attrNameLst>
                                      </p:cBhvr>
                                      <p:to>
                                        <p:strVal val="visible"/>
                                      </p:to>
                                    </p:set>
                                    <p:animEffect transition="in" filter="fade">
                                      <p:cBhvr>
                                        <p:cTn id="27" dur="800" decel="100000"/>
                                        <p:tgtEl>
                                          <p:spTgt spid="176131">
                                            <p:txEl>
                                              <p:pRg st="2" end="2"/>
                                            </p:txEl>
                                          </p:spTgt>
                                        </p:tgtEl>
                                      </p:cBhvr>
                                    </p:animEffect>
                                    <p:anim calcmode="lin" valueType="num">
                                      <p:cBhvr>
                                        <p:cTn id="28" dur="800" decel="100000" fill="hold"/>
                                        <p:tgtEl>
                                          <p:spTgt spid="176131">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76131">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76131">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76131">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76131">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176131">
                                            <p:txEl>
                                              <p:pRg st="3" end="3"/>
                                            </p:txEl>
                                          </p:spTgt>
                                        </p:tgtEl>
                                        <p:attrNameLst>
                                          <p:attrName>style.visibility</p:attrName>
                                        </p:attrNameLst>
                                      </p:cBhvr>
                                      <p:to>
                                        <p:strVal val="visible"/>
                                      </p:to>
                                    </p:set>
                                    <p:animEffect transition="in" filter="fade">
                                      <p:cBhvr>
                                        <p:cTn id="37" dur="800" decel="100000"/>
                                        <p:tgtEl>
                                          <p:spTgt spid="176131">
                                            <p:txEl>
                                              <p:pRg st="3" end="3"/>
                                            </p:txEl>
                                          </p:spTgt>
                                        </p:tgtEl>
                                      </p:cBhvr>
                                    </p:animEffect>
                                    <p:anim calcmode="lin" valueType="num">
                                      <p:cBhvr>
                                        <p:cTn id="38" dur="800" decel="100000" fill="hold"/>
                                        <p:tgtEl>
                                          <p:spTgt spid="176131">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76131">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76131">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76131">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76131">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nodeType="clickEffect">
                                  <p:stCondLst>
                                    <p:cond delay="0"/>
                                  </p:stCondLst>
                                  <p:childTnLst>
                                    <p:set>
                                      <p:cBhvr>
                                        <p:cTn id="46" dur="1" fill="hold">
                                          <p:stCondLst>
                                            <p:cond delay="0"/>
                                          </p:stCondLst>
                                        </p:cTn>
                                        <p:tgtEl>
                                          <p:spTgt spid="176131">
                                            <p:txEl>
                                              <p:pRg st="4" end="4"/>
                                            </p:txEl>
                                          </p:spTgt>
                                        </p:tgtEl>
                                        <p:attrNameLst>
                                          <p:attrName>style.visibility</p:attrName>
                                        </p:attrNameLst>
                                      </p:cBhvr>
                                      <p:to>
                                        <p:strVal val="visible"/>
                                      </p:to>
                                    </p:set>
                                    <p:animEffect transition="in" filter="fade">
                                      <p:cBhvr>
                                        <p:cTn id="47" dur="800" decel="100000"/>
                                        <p:tgtEl>
                                          <p:spTgt spid="176131">
                                            <p:txEl>
                                              <p:pRg st="4" end="4"/>
                                            </p:txEl>
                                          </p:spTgt>
                                        </p:tgtEl>
                                      </p:cBhvr>
                                    </p:animEffect>
                                    <p:anim calcmode="lin" valueType="num">
                                      <p:cBhvr>
                                        <p:cTn id="48" dur="800" decel="100000" fill="hold"/>
                                        <p:tgtEl>
                                          <p:spTgt spid="176131">
                                            <p:txEl>
                                              <p:pRg st="4" end="4"/>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176131">
                                            <p:txEl>
                                              <p:pRg st="4" end="4"/>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176131">
                                            <p:txEl>
                                              <p:pRg st="4" end="4"/>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176131">
                                            <p:txEl>
                                              <p:pRg st="4" end="4"/>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176131">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0" presetClass="entr" presetSubtype="0" fill="hold" nodeType="clickEffect">
                                  <p:stCondLst>
                                    <p:cond delay="0"/>
                                  </p:stCondLst>
                                  <p:childTnLst>
                                    <p:set>
                                      <p:cBhvr>
                                        <p:cTn id="56" dur="1" fill="hold">
                                          <p:stCondLst>
                                            <p:cond delay="0"/>
                                          </p:stCondLst>
                                        </p:cTn>
                                        <p:tgtEl>
                                          <p:spTgt spid="176131">
                                            <p:txEl>
                                              <p:pRg st="5" end="5"/>
                                            </p:txEl>
                                          </p:spTgt>
                                        </p:tgtEl>
                                        <p:attrNameLst>
                                          <p:attrName>style.visibility</p:attrName>
                                        </p:attrNameLst>
                                      </p:cBhvr>
                                      <p:to>
                                        <p:strVal val="visible"/>
                                      </p:to>
                                    </p:set>
                                    <p:animEffect transition="in" filter="fade">
                                      <p:cBhvr>
                                        <p:cTn id="57" dur="800" decel="100000"/>
                                        <p:tgtEl>
                                          <p:spTgt spid="176131">
                                            <p:txEl>
                                              <p:pRg st="5" end="5"/>
                                            </p:txEl>
                                          </p:spTgt>
                                        </p:tgtEl>
                                      </p:cBhvr>
                                    </p:animEffect>
                                    <p:anim calcmode="lin" valueType="num">
                                      <p:cBhvr>
                                        <p:cTn id="58" dur="800" decel="100000" fill="hold"/>
                                        <p:tgtEl>
                                          <p:spTgt spid="176131">
                                            <p:txEl>
                                              <p:pRg st="5" end="5"/>
                                            </p:txEl>
                                          </p:spTgt>
                                        </p:tgtEl>
                                        <p:attrNameLst>
                                          <p:attrName>style.rotation</p:attrName>
                                        </p:attrNameLst>
                                      </p:cBhvr>
                                      <p:tavLst>
                                        <p:tav tm="0">
                                          <p:val>
                                            <p:fltVal val="-90"/>
                                          </p:val>
                                        </p:tav>
                                        <p:tav tm="100000">
                                          <p:val>
                                            <p:fltVal val="0"/>
                                          </p:val>
                                        </p:tav>
                                      </p:tavLst>
                                    </p:anim>
                                    <p:anim calcmode="lin" valueType="num">
                                      <p:cBhvr>
                                        <p:cTn id="59" dur="800" decel="100000" fill="hold"/>
                                        <p:tgtEl>
                                          <p:spTgt spid="176131">
                                            <p:txEl>
                                              <p:pRg st="5" end="5"/>
                                            </p:txEl>
                                          </p:spTgt>
                                        </p:tgtEl>
                                        <p:attrNameLst>
                                          <p:attrName>ppt_x</p:attrName>
                                        </p:attrNameLst>
                                      </p:cBhvr>
                                      <p:tavLst>
                                        <p:tav tm="0">
                                          <p:val>
                                            <p:strVal val="#ppt_x+0.4"/>
                                          </p:val>
                                        </p:tav>
                                        <p:tav tm="100000">
                                          <p:val>
                                            <p:strVal val="#ppt_x-0.05"/>
                                          </p:val>
                                        </p:tav>
                                      </p:tavLst>
                                    </p:anim>
                                    <p:anim calcmode="lin" valueType="num">
                                      <p:cBhvr>
                                        <p:cTn id="60" dur="800" decel="100000" fill="hold"/>
                                        <p:tgtEl>
                                          <p:spTgt spid="176131">
                                            <p:txEl>
                                              <p:pRg st="5" end="5"/>
                                            </p:txEl>
                                          </p:spTgt>
                                        </p:tgtEl>
                                        <p:attrNameLst>
                                          <p:attrName>ppt_y</p:attrName>
                                        </p:attrNameLst>
                                      </p:cBhvr>
                                      <p:tavLst>
                                        <p:tav tm="0">
                                          <p:val>
                                            <p:strVal val="#ppt_y-0.4"/>
                                          </p:val>
                                        </p:tav>
                                        <p:tav tm="100000">
                                          <p:val>
                                            <p:strVal val="#ppt_y+0.1"/>
                                          </p:val>
                                        </p:tav>
                                      </p:tavLst>
                                    </p:anim>
                                    <p:anim calcmode="lin" valueType="num">
                                      <p:cBhvr>
                                        <p:cTn id="61" dur="200" accel="100000" fill="hold">
                                          <p:stCondLst>
                                            <p:cond delay="800"/>
                                          </p:stCondLst>
                                        </p:cTn>
                                        <p:tgtEl>
                                          <p:spTgt spid="176131">
                                            <p:txEl>
                                              <p:pRg st="5" end="5"/>
                                            </p:txEl>
                                          </p:spTgt>
                                        </p:tgtEl>
                                        <p:attrNameLst>
                                          <p:attrName>ppt_x</p:attrName>
                                        </p:attrNameLst>
                                      </p:cBhvr>
                                      <p:tavLst>
                                        <p:tav tm="0">
                                          <p:val>
                                            <p:strVal val="#ppt_x-0.05"/>
                                          </p:val>
                                        </p:tav>
                                        <p:tav tm="100000">
                                          <p:val>
                                            <p:strVal val="#ppt_x"/>
                                          </p:val>
                                        </p:tav>
                                      </p:tavLst>
                                    </p:anim>
                                    <p:anim calcmode="lin" valueType="num">
                                      <p:cBhvr>
                                        <p:cTn id="62" dur="200" accel="100000" fill="hold">
                                          <p:stCondLst>
                                            <p:cond delay="800"/>
                                          </p:stCondLst>
                                        </p:cTn>
                                        <p:tgtEl>
                                          <p:spTgt spid="176131">
                                            <p:txEl>
                                              <p:pRg st="5" end="5"/>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algn="l"/>
            <a:r>
              <a:rPr lang="en-US" dirty="0" smtClean="0"/>
              <a:t>(Cont.)</a:t>
            </a:r>
            <a:endParaRPr lang="en-US" dirty="0"/>
          </a:p>
        </p:txBody>
      </p:sp>
      <p:sp>
        <p:nvSpPr>
          <p:cNvPr id="177155" name="Rectangle 3"/>
          <p:cNvSpPr>
            <a:spLocks noGrp="1" noChangeArrowheads="1"/>
          </p:cNvSpPr>
          <p:nvPr>
            <p:ph idx="1"/>
          </p:nvPr>
        </p:nvSpPr>
        <p:spPr/>
        <p:txBody>
          <a:bodyPr/>
          <a:lstStyle/>
          <a:p>
            <a:pPr marL="609600" indent="-609600">
              <a:lnSpc>
                <a:spcPct val="90000"/>
              </a:lnSpc>
            </a:pPr>
            <a:r>
              <a:rPr lang="en-US" dirty="0">
                <a:solidFill>
                  <a:srgbClr val="FFFF00"/>
                </a:solidFill>
              </a:rPr>
              <a:t>Technology: </a:t>
            </a:r>
            <a:endParaRPr lang="en-US" dirty="0" smtClean="0">
              <a:solidFill>
                <a:srgbClr val="FFFF00"/>
              </a:solidFill>
            </a:endParaRPr>
          </a:p>
          <a:p>
            <a:pPr marL="609600" indent="-609600">
              <a:lnSpc>
                <a:spcPct val="90000"/>
              </a:lnSpc>
              <a:buNone/>
            </a:pPr>
            <a:r>
              <a:rPr lang="en-US" sz="2800" dirty="0" smtClean="0">
                <a:solidFill>
                  <a:srgbClr val="FFFF00"/>
                </a:solidFill>
              </a:rPr>
              <a:t>	</a:t>
            </a:r>
            <a:r>
              <a:rPr lang="en-US" sz="2800" dirty="0" smtClean="0"/>
              <a:t>A </a:t>
            </a:r>
            <a:r>
              <a:rPr lang="en-US" sz="2800" dirty="0"/>
              <a:t>change in production techniques can lower or raise production costs and affect supply. </a:t>
            </a:r>
          </a:p>
          <a:p>
            <a:pPr marL="609600" indent="-609600">
              <a:lnSpc>
                <a:spcPct val="90000"/>
              </a:lnSpc>
            </a:pPr>
            <a:r>
              <a:rPr lang="en-US" sz="2800" dirty="0"/>
              <a:t>Improvements in technology shift the supply curve to the right.</a:t>
            </a:r>
          </a:p>
          <a:p>
            <a:pPr marL="990600" lvl="1" indent="-533400">
              <a:lnSpc>
                <a:spcPct val="90000"/>
              </a:lnSpc>
            </a:pPr>
            <a:r>
              <a:rPr lang="en-US" sz="2400" dirty="0"/>
              <a:t>A cost-saving invention will enable firms to produce and sell more goods than before at any given price. </a:t>
            </a:r>
          </a:p>
          <a:p>
            <a:pPr marL="990600" lvl="1" indent="-533400">
              <a:lnSpc>
                <a:spcPct val="90000"/>
              </a:lnSpc>
            </a:pPr>
            <a:r>
              <a:rPr lang="en-US" sz="2400" dirty="0"/>
              <a:t>New high yielding crop varieties will increase production on the same amount of land.</a:t>
            </a:r>
          </a:p>
        </p:txBody>
      </p:sp>
      <p:sp>
        <p:nvSpPr>
          <p:cNvPr id="5" name="Slide Number Placeholder 4"/>
          <p:cNvSpPr>
            <a:spLocks noGrp="1"/>
          </p:cNvSpPr>
          <p:nvPr>
            <p:ph type="sldNum" sz="quarter" idx="11"/>
          </p:nvPr>
        </p:nvSpPr>
        <p:spPr/>
        <p:txBody>
          <a:bodyPr/>
          <a:lstStyle/>
          <a:p>
            <a:fld id="{6D63C845-4982-41E6-901A-A3EC09BDD7BE}" type="slidenum">
              <a:rPr lang="en-US" smtClean="0"/>
              <a:pPr/>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177155">
                                            <p:txEl>
                                              <p:pRg st="0" end="0"/>
                                            </p:txEl>
                                          </p:spTgt>
                                        </p:tgtEl>
                                        <p:attrNameLst>
                                          <p:attrName>style.visibility</p:attrName>
                                        </p:attrNameLst>
                                      </p:cBhvr>
                                      <p:to>
                                        <p:strVal val="visible"/>
                                      </p:to>
                                    </p:set>
                                    <p:animEffect transition="in" filter="fade">
                                      <p:cBhvr>
                                        <p:cTn id="7" dur="800" decel="100000"/>
                                        <p:tgtEl>
                                          <p:spTgt spid="177155">
                                            <p:txEl>
                                              <p:pRg st="0" end="0"/>
                                            </p:txEl>
                                          </p:spTgt>
                                        </p:tgtEl>
                                      </p:cBhvr>
                                    </p:animEffect>
                                    <p:anim calcmode="lin" valueType="num">
                                      <p:cBhvr>
                                        <p:cTn id="8" dur="800" decel="100000" fill="hold"/>
                                        <p:tgtEl>
                                          <p:spTgt spid="177155">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77155">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77155">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77155">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77155">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77155">
                                            <p:txEl>
                                              <p:pRg st="1" end="1"/>
                                            </p:txEl>
                                          </p:spTgt>
                                        </p:tgtEl>
                                        <p:attrNameLst>
                                          <p:attrName>style.visibility</p:attrName>
                                        </p:attrNameLst>
                                      </p:cBhvr>
                                      <p:to>
                                        <p:strVal val="visible"/>
                                      </p:to>
                                    </p:set>
                                    <p:animEffect transition="in" filter="fade">
                                      <p:cBhvr>
                                        <p:cTn id="17" dur="800" decel="100000"/>
                                        <p:tgtEl>
                                          <p:spTgt spid="177155">
                                            <p:txEl>
                                              <p:pRg st="1" end="1"/>
                                            </p:txEl>
                                          </p:spTgt>
                                        </p:tgtEl>
                                      </p:cBhvr>
                                    </p:animEffect>
                                    <p:anim calcmode="lin" valueType="num">
                                      <p:cBhvr>
                                        <p:cTn id="18" dur="800" decel="100000" fill="hold"/>
                                        <p:tgtEl>
                                          <p:spTgt spid="177155">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77155">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77155">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77155">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77155">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77155">
                                            <p:txEl>
                                              <p:pRg st="2" end="2"/>
                                            </p:txEl>
                                          </p:spTgt>
                                        </p:tgtEl>
                                        <p:attrNameLst>
                                          <p:attrName>style.visibility</p:attrName>
                                        </p:attrNameLst>
                                      </p:cBhvr>
                                      <p:to>
                                        <p:strVal val="visible"/>
                                      </p:to>
                                    </p:set>
                                    <p:animEffect transition="in" filter="fade">
                                      <p:cBhvr>
                                        <p:cTn id="27" dur="800" decel="100000"/>
                                        <p:tgtEl>
                                          <p:spTgt spid="177155">
                                            <p:txEl>
                                              <p:pRg st="2" end="2"/>
                                            </p:txEl>
                                          </p:spTgt>
                                        </p:tgtEl>
                                      </p:cBhvr>
                                    </p:animEffect>
                                    <p:anim calcmode="lin" valueType="num">
                                      <p:cBhvr>
                                        <p:cTn id="28" dur="800" decel="100000" fill="hold"/>
                                        <p:tgtEl>
                                          <p:spTgt spid="177155">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77155">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77155">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77155">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77155">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177155">
                                            <p:txEl>
                                              <p:pRg st="3" end="3"/>
                                            </p:txEl>
                                          </p:spTgt>
                                        </p:tgtEl>
                                        <p:attrNameLst>
                                          <p:attrName>style.visibility</p:attrName>
                                        </p:attrNameLst>
                                      </p:cBhvr>
                                      <p:to>
                                        <p:strVal val="visible"/>
                                      </p:to>
                                    </p:set>
                                    <p:animEffect transition="in" filter="fade">
                                      <p:cBhvr>
                                        <p:cTn id="37" dur="800" decel="100000"/>
                                        <p:tgtEl>
                                          <p:spTgt spid="177155">
                                            <p:txEl>
                                              <p:pRg st="3" end="3"/>
                                            </p:txEl>
                                          </p:spTgt>
                                        </p:tgtEl>
                                      </p:cBhvr>
                                    </p:animEffect>
                                    <p:anim calcmode="lin" valueType="num">
                                      <p:cBhvr>
                                        <p:cTn id="38" dur="800" decel="100000" fill="hold"/>
                                        <p:tgtEl>
                                          <p:spTgt spid="177155">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77155">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77155">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77155">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77155">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nodeType="clickEffect">
                                  <p:stCondLst>
                                    <p:cond delay="0"/>
                                  </p:stCondLst>
                                  <p:childTnLst>
                                    <p:set>
                                      <p:cBhvr>
                                        <p:cTn id="46" dur="1" fill="hold">
                                          <p:stCondLst>
                                            <p:cond delay="0"/>
                                          </p:stCondLst>
                                        </p:cTn>
                                        <p:tgtEl>
                                          <p:spTgt spid="177155">
                                            <p:txEl>
                                              <p:pRg st="4" end="4"/>
                                            </p:txEl>
                                          </p:spTgt>
                                        </p:tgtEl>
                                        <p:attrNameLst>
                                          <p:attrName>style.visibility</p:attrName>
                                        </p:attrNameLst>
                                      </p:cBhvr>
                                      <p:to>
                                        <p:strVal val="visible"/>
                                      </p:to>
                                    </p:set>
                                    <p:animEffect transition="in" filter="fade">
                                      <p:cBhvr>
                                        <p:cTn id="47" dur="800" decel="100000"/>
                                        <p:tgtEl>
                                          <p:spTgt spid="177155">
                                            <p:txEl>
                                              <p:pRg st="4" end="4"/>
                                            </p:txEl>
                                          </p:spTgt>
                                        </p:tgtEl>
                                      </p:cBhvr>
                                    </p:animEffect>
                                    <p:anim calcmode="lin" valueType="num">
                                      <p:cBhvr>
                                        <p:cTn id="48" dur="800" decel="100000" fill="hold"/>
                                        <p:tgtEl>
                                          <p:spTgt spid="177155">
                                            <p:txEl>
                                              <p:pRg st="4" end="4"/>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177155">
                                            <p:txEl>
                                              <p:pRg st="4" end="4"/>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177155">
                                            <p:txEl>
                                              <p:pRg st="4" end="4"/>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177155">
                                            <p:txEl>
                                              <p:pRg st="4" end="4"/>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177155">
                                            <p:txEl>
                                              <p:pRg st="4" end="4"/>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pPr algn="l"/>
            <a:r>
              <a:rPr lang="en-US" dirty="0" smtClean="0"/>
              <a:t>(Cont.)</a:t>
            </a:r>
            <a:endParaRPr lang="en-US" dirty="0"/>
          </a:p>
        </p:txBody>
      </p:sp>
      <p:sp>
        <p:nvSpPr>
          <p:cNvPr id="178179" name="Rectangle 3"/>
          <p:cNvSpPr>
            <a:spLocks noGrp="1" noChangeArrowheads="1"/>
          </p:cNvSpPr>
          <p:nvPr>
            <p:ph idx="1"/>
          </p:nvPr>
        </p:nvSpPr>
        <p:spPr/>
        <p:txBody>
          <a:bodyPr/>
          <a:lstStyle/>
          <a:p>
            <a:pPr marL="609600" indent="-609600"/>
            <a:r>
              <a:rPr lang="en-US" dirty="0">
                <a:solidFill>
                  <a:srgbClr val="FFFF00"/>
                </a:solidFill>
              </a:rPr>
              <a:t>Producer </a:t>
            </a:r>
            <a:r>
              <a:rPr lang="en-US" dirty="0" smtClean="0">
                <a:solidFill>
                  <a:srgbClr val="FFFF00"/>
                </a:solidFill>
              </a:rPr>
              <a:t>Expectations</a:t>
            </a:r>
            <a:r>
              <a:rPr lang="en-US" dirty="0">
                <a:solidFill>
                  <a:srgbClr val="FFFF00"/>
                </a:solidFill>
              </a:rPr>
              <a:t>:</a:t>
            </a:r>
          </a:p>
          <a:p>
            <a:pPr marL="990600" lvl="1" indent="-533400"/>
            <a:r>
              <a:rPr lang="en-US" sz="2400" dirty="0"/>
              <a:t>When producers expect the price of their product to increase in the future, they may hoard their output for later sale, thus reducing supply in the present period. Thus the supply curve shifts to the left. </a:t>
            </a:r>
          </a:p>
          <a:p>
            <a:pPr marL="990600" lvl="1" indent="-533400"/>
            <a:r>
              <a:rPr lang="en-US" sz="2400" dirty="0"/>
              <a:t>If firms expect that the price of their product will fall in the near future, supply may increase in the current period as firms try to increase production as well as to dispose of their inventory.</a:t>
            </a:r>
          </a:p>
        </p:txBody>
      </p:sp>
      <p:sp>
        <p:nvSpPr>
          <p:cNvPr id="5" name="Slide Number Placeholder 4"/>
          <p:cNvSpPr>
            <a:spLocks noGrp="1"/>
          </p:cNvSpPr>
          <p:nvPr>
            <p:ph type="sldNum" sz="quarter" idx="11"/>
          </p:nvPr>
        </p:nvSpPr>
        <p:spPr/>
        <p:txBody>
          <a:bodyPr/>
          <a:lstStyle/>
          <a:p>
            <a:fld id="{6D63C845-4982-41E6-901A-A3EC09BDD7BE}" type="slidenum">
              <a:rPr lang="en-US" smtClean="0"/>
              <a:pPr/>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178179">
                                            <p:txEl>
                                              <p:pRg st="0" end="0"/>
                                            </p:txEl>
                                          </p:spTgt>
                                        </p:tgtEl>
                                        <p:attrNameLst>
                                          <p:attrName>style.visibility</p:attrName>
                                        </p:attrNameLst>
                                      </p:cBhvr>
                                      <p:to>
                                        <p:strVal val="visible"/>
                                      </p:to>
                                    </p:set>
                                    <p:animEffect transition="in" filter="fade">
                                      <p:cBhvr>
                                        <p:cTn id="7" dur="800" decel="100000"/>
                                        <p:tgtEl>
                                          <p:spTgt spid="178179">
                                            <p:txEl>
                                              <p:pRg st="0" end="0"/>
                                            </p:txEl>
                                          </p:spTgt>
                                        </p:tgtEl>
                                      </p:cBhvr>
                                    </p:animEffect>
                                    <p:anim calcmode="lin" valueType="num">
                                      <p:cBhvr>
                                        <p:cTn id="8" dur="800" decel="100000" fill="hold"/>
                                        <p:tgtEl>
                                          <p:spTgt spid="178179">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78179">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78179">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78179">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78179">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78179">
                                            <p:txEl>
                                              <p:pRg st="1" end="1"/>
                                            </p:txEl>
                                          </p:spTgt>
                                        </p:tgtEl>
                                        <p:attrNameLst>
                                          <p:attrName>style.visibility</p:attrName>
                                        </p:attrNameLst>
                                      </p:cBhvr>
                                      <p:to>
                                        <p:strVal val="visible"/>
                                      </p:to>
                                    </p:set>
                                    <p:animEffect transition="in" filter="fade">
                                      <p:cBhvr>
                                        <p:cTn id="17" dur="800" decel="100000"/>
                                        <p:tgtEl>
                                          <p:spTgt spid="178179">
                                            <p:txEl>
                                              <p:pRg st="1" end="1"/>
                                            </p:txEl>
                                          </p:spTgt>
                                        </p:tgtEl>
                                      </p:cBhvr>
                                    </p:animEffect>
                                    <p:anim calcmode="lin" valueType="num">
                                      <p:cBhvr>
                                        <p:cTn id="18" dur="800" decel="100000" fill="hold"/>
                                        <p:tgtEl>
                                          <p:spTgt spid="178179">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78179">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78179">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78179">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78179">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78179">
                                            <p:txEl>
                                              <p:pRg st="2" end="2"/>
                                            </p:txEl>
                                          </p:spTgt>
                                        </p:tgtEl>
                                        <p:attrNameLst>
                                          <p:attrName>style.visibility</p:attrName>
                                        </p:attrNameLst>
                                      </p:cBhvr>
                                      <p:to>
                                        <p:strVal val="visible"/>
                                      </p:to>
                                    </p:set>
                                    <p:animEffect transition="in" filter="fade">
                                      <p:cBhvr>
                                        <p:cTn id="27" dur="800" decel="100000"/>
                                        <p:tgtEl>
                                          <p:spTgt spid="178179">
                                            <p:txEl>
                                              <p:pRg st="2" end="2"/>
                                            </p:txEl>
                                          </p:spTgt>
                                        </p:tgtEl>
                                      </p:cBhvr>
                                    </p:animEffect>
                                    <p:anim calcmode="lin" valueType="num">
                                      <p:cBhvr>
                                        <p:cTn id="28" dur="800" decel="100000" fill="hold"/>
                                        <p:tgtEl>
                                          <p:spTgt spid="178179">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78179">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78179">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78179">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78179">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pPr algn="l"/>
            <a:r>
              <a:rPr lang="en-US" dirty="0" smtClean="0"/>
              <a:t>(Cont.)</a:t>
            </a:r>
            <a:endParaRPr lang="en-US" dirty="0"/>
          </a:p>
        </p:txBody>
      </p:sp>
      <p:sp>
        <p:nvSpPr>
          <p:cNvPr id="179203" name="Rectangle 3"/>
          <p:cNvSpPr>
            <a:spLocks noGrp="1" noChangeArrowheads="1"/>
          </p:cNvSpPr>
          <p:nvPr>
            <p:ph idx="1"/>
          </p:nvPr>
        </p:nvSpPr>
        <p:spPr/>
        <p:txBody>
          <a:bodyPr/>
          <a:lstStyle/>
          <a:p>
            <a:pPr marL="609600" indent="-609600"/>
            <a:r>
              <a:rPr lang="en-US" dirty="0">
                <a:solidFill>
                  <a:srgbClr val="FFFF00"/>
                </a:solidFill>
              </a:rPr>
              <a:t>Number of </a:t>
            </a:r>
            <a:r>
              <a:rPr lang="en-US" dirty="0" smtClean="0">
                <a:solidFill>
                  <a:srgbClr val="FFFF00"/>
                </a:solidFill>
              </a:rPr>
              <a:t>Sellers</a:t>
            </a:r>
            <a:r>
              <a:rPr lang="en-US" dirty="0">
                <a:solidFill>
                  <a:srgbClr val="FFFF00"/>
                </a:solidFill>
              </a:rPr>
              <a:t>:</a:t>
            </a:r>
            <a:r>
              <a:rPr lang="en-US" dirty="0"/>
              <a:t>  </a:t>
            </a:r>
            <a:endParaRPr lang="en-US" dirty="0" smtClean="0"/>
          </a:p>
          <a:p>
            <a:pPr marL="609600" indent="-609600">
              <a:buNone/>
            </a:pPr>
            <a:r>
              <a:rPr lang="en-US" dirty="0" smtClean="0"/>
              <a:t>	As </a:t>
            </a:r>
            <a:r>
              <a:rPr lang="en-US" dirty="0"/>
              <a:t>the number of sellers increases, so will total supply.</a:t>
            </a:r>
            <a:endParaRPr lang="en-US" dirty="0">
              <a:solidFill>
                <a:srgbClr val="FFFF00"/>
              </a:solidFill>
            </a:endParaRPr>
          </a:p>
          <a:p>
            <a:pPr marL="990600" lvl="1" indent="-533400"/>
            <a:r>
              <a:rPr lang="en-US" sz="2400" dirty="0"/>
              <a:t>The market supply is the horizontal summation of the supply schedules of individual producers. </a:t>
            </a:r>
          </a:p>
          <a:p>
            <a:pPr marL="990600" lvl="1" indent="-533400"/>
            <a:r>
              <a:rPr lang="en-US" sz="2400" dirty="0"/>
              <a:t>As more firms enter the market, more will </a:t>
            </a:r>
            <a:r>
              <a:rPr lang="en-US" sz="2400" dirty="0" smtClean="0"/>
              <a:t>be offered </a:t>
            </a:r>
            <a:r>
              <a:rPr lang="en-US" sz="2400" dirty="0"/>
              <a:t>for sale at each possible price, thus shifting the supply curve to the right. </a:t>
            </a:r>
          </a:p>
          <a:p>
            <a:pPr marL="990600" lvl="1" indent="-533400"/>
            <a:r>
              <a:rPr lang="en-US" sz="2400" dirty="0"/>
              <a:t>Similarly, the supply curve shifts to the left when firms exit the market.</a:t>
            </a:r>
          </a:p>
        </p:txBody>
      </p:sp>
      <p:sp>
        <p:nvSpPr>
          <p:cNvPr id="5" name="Slide Number Placeholder 4"/>
          <p:cNvSpPr>
            <a:spLocks noGrp="1"/>
          </p:cNvSpPr>
          <p:nvPr>
            <p:ph type="sldNum" sz="quarter" idx="11"/>
          </p:nvPr>
        </p:nvSpPr>
        <p:spPr/>
        <p:txBody>
          <a:bodyPr/>
          <a:lstStyle/>
          <a:p>
            <a:fld id="{6D63C845-4982-41E6-901A-A3EC09BDD7BE}" type="slidenum">
              <a:rPr lang="en-US" smtClean="0"/>
              <a:pPr/>
              <a:t>32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179203">
                                            <p:txEl>
                                              <p:pRg st="0" end="0"/>
                                            </p:txEl>
                                          </p:spTgt>
                                        </p:tgtEl>
                                        <p:attrNameLst>
                                          <p:attrName>style.visibility</p:attrName>
                                        </p:attrNameLst>
                                      </p:cBhvr>
                                      <p:to>
                                        <p:strVal val="visible"/>
                                      </p:to>
                                    </p:set>
                                    <p:animEffect transition="in" filter="fade">
                                      <p:cBhvr>
                                        <p:cTn id="7" dur="800" decel="100000"/>
                                        <p:tgtEl>
                                          <p:spTgt spid="179203">
                                            <p:txEl>
                                              <p:pRg st="0" end="0"/>
                                            </p:txEl>
                                          </p:spTgt>
                                        </p:tgtEl>
                                      </p:cBhvr>
                                    </p:animEffect>
                                    <p:anim calcmode="lin" valueType="num">
                                      <p:cBhvr>
                                        <p:cTn id="8" dur="800" decel="100000" fill="hold"/>
                                        <p:tgtEl>
                                          <p:spTgt spid="179203">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79203">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79203">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79203">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79203">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79203">
                                            <p:txEl>
                                              <p:pRg st="1" end="1"/>
                                            </p:txEl>
                                          </p:spTgt>
                                        </p:tgtEl>
                                        <p:attrNameLst>
                                          <p:attrName>style.visibility</p:attrName>
                                        </p:attrNameLst>
                                      </p:cBhvr>
                                      <p:to>
                                        <p:strVal val="visible"/>
                                      </p:to>
                                    </p:set>
                                    <p:animEffect transition="in" filter="fade">
                                      <p:cBhvr>
                                        <p:cTn id="17" dur="800" decel="100000"/>
                                        <p:tgtEl>
                                          <p:spTgt spid="179203">
                                            <p:txEl>
                                              <p:pRg st="1" end="1"/>
                                            </p:txEl>
                                          </p:spTgt>
                                        </p:tgtEl>
                                      </p:cBhvr>
                                    </p:animEffect>
                                    <p:anim calcmode="lin" valueType="num">
                                      <p:cBhvr>
                                        <p:cTn id="18" dur="800" decel="100000" fill="hold"/>
                                        <p:tgtEl>
                                          <p:spTgt spid="179203">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79203">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79203">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79203">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7920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79203">
                                            <p:txEl>
                                              <p:pRg st="2" end="2"/>
                                            </p:txEl>
                                          </p:spTgt>
                                        </p:tgtEl>
                                        <p:attrNameLst>
                                          <p:attrName>style.visibility</p:attrName>
                                        </p:attrNameLst>
                                      </p:cBhvr>
                                      <p:to>
                                        <p:strVal val="visible"/>
                                      </p:to>
                                    </p:set>
                                    <p:animEffect transition="in" filter="fade">
                                      <p:cBhvr>
                                        <p:cTn id="27" dur="800" decel="100000"/>
                                        <p:tgtEl>
                                          <p:spTgt spid="179203">
                                            <p:txEl>
                                              <p:pRg st="2" end="2"/>
                                            </p:txEl>
                                          </p:spTgt>
                                        </p:tgtEl>
                                      </p:cBhvr>
                                    </p:animEffect>
                                    <p:anim calcmode="lin" valueType="num">
                                      <p:cBhvr>
                                        <p:cTn id="28" dur="800" decel="100000" fill="hold"/>
                                        <p:tgtEl>
                                          <p:spTgt spid="179203">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79203">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79203">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79203">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79203">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179203">
                                            <p:txEl>
                                              <p:pRg st="3" end="3"/>
                                            </p:txEl>
                                          </p:spTgt>
                                        </p:tgtEl>
                                        <p:attrNameLst>
                                          <p:attrName>style.visibility</p:attrName>
                                        </p:attrNameLst>
                                      </p:cBhvr>
                                      <p:to>
                                        <p:strVal val="visible"/>
                                      </p:to>
                                    </p:set>
                                    <p:animEffect transition="in" filter="fade">
                                      <p:cBhvr>
                                        <p:cTn id="37" dur="800" decel="100000"/>
                                        <p:tgtEl>
                                          <p:spTgt spid="179203">
                                            <p:txEl>
                                              <p:pRg st="3" end="3"/>
                                            </p:txEl>
                                          </p:spTgt>
                                        </p:tgtEl>
                                      </p:cBhvr>
                                    </p:animEffect>
                                    <p:anim calcmode="lin" valueType="num">
                                      <p:cBhvr>
                                        <p:cTn id="38" dur="800" decel="100000" fill="hold"/>
                                        <p:tgtEl>
                                          <p:spTgt spid="179203">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79203">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79203">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79203">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79203">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nodeType="clickEffect">
                                  <p:stCondLst>
                                    <p:cond delay="0"/>
                                  </p:stCondLst>
                                  <p:childTnLst>
                                    <p:set>
                                      <p:cBhvr>
                                        <p:cTn id="46" dur="1" fill="hold">
                                          <p:stCondLst>
                                            <p:cond delay="0"/>
                                          </p:stCondLst>
                                        </p:cTn>
                                        <p:tgtEl>
                                          <p:spTgt spid="179203">
                                            <p:txEl>
                                              <p:pRg st="4" end="4"/>
                                            </p:txEl>
                                          </p:spTgt>
                                        </p:tgtEl>
                                        <p:attrNameLst>
                                          <p:attrName>style.visibility</p:attrName>
                                        </p:attrNameLst>
                                      </p:cBhvr>
                                      <p:to>
                                        <p:strVal val="visible"/>
                                      </p:to>
                                    </p:set>
                                    <p:animEffect transition="in" filter="fade">
                                      <p:cBhvr>
                                        <p:cTn id="47" dur="800" decel="100000"/>
                                        <p:tgtEl>
                                          <p:spTgt spid="179203">
                                            <p:txEl>
                                              <p:pRg st="4" end="4"/>
                                            </p:txEl>
                                          </p:spTgt>
                                        </p:tgtEl>
                                      </p:cBhvr>
                                    </p:animEffect>
                                    <p:anim calcmode="lin" valueType="num">
                                      <p:cBhvr>
                                        <p:cTn id="48" dur="800" decel="100000" fill="hold"/>
                                        <p:tgtEl>
                                          <p:spTgt spid="179203">
                                            <p:txEl>
                                              <p:pRg st="4" end="4"/>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179203">
                                            <p:txEl>
                                              <p:pRg st="4" end="4"/>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179203">
                                            <p:txEl>
                                              <p:pRg st="4" end="4"/>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179203">
                                            <p:txEl>
                                              <p:pRg st="4" end="4"/>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179203">
                                            <p:txEl>
                                              <p:pRg st="4" end="4"/>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pPr algn="l"/>
            <a:r>
              <a:rPr lang="en-US" sz="4000" u="sng" dirty="0"/>
              <a:t>Change in Quantity Supplied vs.</a:t>
            </a:r>
            <a:br>
              <a:rPr lang="en-US" sz="4000" u="sng" dirty="0"/>
            </a:br>
            <a:r>
              <a:rPr lang="en-US" sz="4000" u="sng" dirty="0"/>
              <a:t>Change in </a:t>
            </a:r>
            <a:r>
              <a:rPr lang="en-US" sz="4000" u="sng" dirty="0" smtClean="0"/>
              <a:t>Supply:</a:t>
            </a:r>
            <a:endParaRPr lang="en-US" sz="4000" u="sng" dirty="0"/>
          </a:p>
        </p:txBody>
      </p:sp>
      <p:sp>
        <p:nvSpPr>
          <p:cNvPr id="136195" name="Rectangle 3"/>
          <p:cNvSpPr>
            <a:spLocks noGrp="1" noChangeArrowheads="1"/>
          </p:cNvSpPr>
          <p:nvPr>
            <p:ph idx="1"/>
          </p:nvPr>
        </p:nvSpPr>
        <p:spPr/>
        <p:txBody>
          <a:bodyPr/>
          <a:lstStyle/>
          <a:p>
            <a:r>
              <a:rPr lang="en-US" dirty="0">
                <a:solidFill>
                  <a:srgbClr val="FFFF00"/>
                </a:solidFill>
              </a:rPr>
              <a:t>Change in quantity supplied</a:t>
            </a:r>
            <a:r>
              <a:rPr lang="en-US" dirty="0"/>
              <a:t> – is a movement along the same supply curve, due solely to a change in </a:t>
            </a:r>
            <a:r>
              <a:rPr lang="en-US" dirty="0" smtClean="0"/>
              <a:t>own price</a:t>
            </a:r>
            <a:r>
              <a:rPr lang="en-US" dirty="0"/>
              <a:t>, i.e., all other factors held constant.</a:t>
            </a:r>
          </a:p>
          <a:p>
            <a:r>
              <a:rPr lang="en-US" dirty="0">
                <a:solidFill>
                  <a:srgbClr val="FFFF00"/>
                </a:solidFill>
              </a:rPr>
              <a:t>Change in supply</a:t>
            </a:r>
            <a:r>
              <a:rPr lang="en-US" dirty="0"/>
              <a:t> – is a shift in the entire supply curve (either to the left or to the right) as a result of changes in other factors affecting supply.</a:t>
            </a:r>
          </a:p>
        </p:txBody>
      </p:sp>
      <p:sp>
        <p:nvSpPr>
          <p:cNvPr id="5" name="Slide Number Placeholder 4"/>
          <p:cNvSpPr>
            <a:spLocks noGrp="1"/>
          </p:cNvSpPr>
          <p:nvPr>
            <p:ph type="sldNum" sz="quarter" idx="11"/>
          </p:nvPr>
        </p:nvSpPr>
        <p:spPr/>
        <p:txBody>
          <a:bodyPr/>
          <a:lstStyle/>
          <a:p>
            <a:fld id="{6D63C845-4982-41E6-901A-A3EC09BDD7BE}" type="slidenum">
              <a:rPr lang="en-US" smtClean="0"/>
              <a:pPr/>
              <a:t>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36194"/>
                                        </p:tgtEl>
                                        <p:attrNameLst>
                                          <p:attrName>style.visibility</p:attrName>
                                        </p:attrNameLst>
                                      </p:cBhvr>
                                      <p:to>
                                        <p:strVal val="visible"/>
                                      </p:to>
                                    </p:set>
                                    <p:animEffect transition="in" filter="fade">
                                      <p:cBhvr>
                                        <p:cTn id="7" dur="800" decel="100000"/>
                                        <p:tgtEl>
                                          <p:spTgt spid="136194"/>
                                        </p:tgtEl>
                                      </p:cBhvr>
                                    </p:animEffect>
                                    <p:anim calcmode="lin" valueType="num">
                                      <p:cBhvr>
                                        <p:cTn id="8" dur="800" decel="100000" fill="hold"/>
                                        <p:tgtEl>
                                          <p:spTgt spid="136194"/>
                                        </p:tgtEl>
                                        <p:attrNameLst>
                                          <p:attrName>style.rotation</p:attrName>
                                        </p:attrNameLst>
                                      </p:cBhvr>
                                      <p:tavLst>
                                        <p:tav tm="0">
                                          <p:val>
                                            <p:fltVal val="-90"/>
                                          </p:val>
                                        </p:tav>
                                        <p:tav tm="100000">
                                          <p:val>
                                            <p:fltVal val="0"/>
                                          </p:val>
                                        </p:tav>
                                      </p:tavLst>
                                    </p:anim>
                                    <p:anim calcmode="lin" valueType="num">
                                      <p:cBhvr>
                                        <p:cTn id="9" dur="800" decel="100000" fill="hold"/>
                                        <p:tgtEl>
                                          <p:spTgt spid="136194"/>
                                        </p:tgtEl>
                                        <p:attrNameLst>
                                          <p:attrName>ppt_x</p:attrName>
                                        </p:attrNameLst>
                                      </p:cBhvr>
                                      <p:tavLst>
                                        <p:tav tm="0">
                                          <p:val>
                                            <p:strVal val="#ppt_x+0.4"/>
                                          </p:val>
                                        </p:tav>
                                        <p:tav tm="100000">
                                          <p:val>
                                            <p:strVal val="#ppt_x-0.05"/>
                                          </p:val>
                                        </p:tav>
                                      </p:tavLst>
                                    </p:anim>
                                    <p:anim calcmode="lin" valueType="num">
                                      <p:cBhvr>
                                        <p:cTn id="10" dur="800" decel="100000" fill="hold"/>
                                        <p:tgtEl>
                                          <p:spTgt spid="136194"/>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36194"/>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36194"/>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36195">
                                            <p:txEl>
                                              <p:pRg st="0" end="0"/>
                                            </p:txEl>
                                          </p:spTgt>
                                        </p:tgtEl>
                                        <p:attrNameLst>
                                          <p:attrName>style.visibility</p:attrName>
                                        </p:attrNameLst>
                                      </p:cBhvr>
                                      <p:to>
                                        <p:strVal val="visible"/>
                                      </p:to>
                                    </p:set>
                                    <p:animEffect transition="in" filter="fade">
                                      <p:cBhvr>
                                        <p:cTn id="17" dur="800" decel="100000"/>
                                        <p:tgtEl>
                                          <p:spTgt spid="136195">
                                            <p:txEl>
                                              <p:pRg st="0" end="0"/>
                                            </p:txEl>
                                          </p:spTgt>
                                        </p:tgtEl>
                                      </p:cBhvr>
                                    </p:animEffect>
                                    <p:anim calcmode="lin" valueType="num">
                                      <p:cBhvr>
                                        <p:cTn id="18" dur="800" decel="100000" fill="hold"/>
                                        <p:tgtEl>
                                          <p:spTgt spid="136195">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36195">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36195">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36195">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36195">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grpId="0" nodeType="clickEffect">
                                  <p:stCondLst>
                                    <p:cond delay="0"/>
                                  </p:stCondLst>
                                  <p:childTnLst>
                                    <p:set>
                                      <p:cBhvr>
                                        <p:cTn id="26" dur="1" fill="hold">
                                          <p:stCondLst>
                                            <p:cond delay="0"/>
                                          </p:stCondLst>
                                        </p:cTn>
                                        <p:tgtEl>
                                          <p:spTgt spid="136195">
                                            <p:txEl>
                                              <p:pRg st="1" end="1"/>
                                            </p:txEl>
                                          </p:spTgt>
                                        </p:tgtEl>
                                        <p:attrNameLst>
                                          <p:attrName>style.visibility</p:attrName>
                                        </p:attrNameLst>
                                      </p:cBhvr>
                                      <p:to>
                                        <p:strVal val="visible"/>
                                      </p:to>
                                    </p:set>
                                    <p:animEffect transition="in" filter="fade">
                                      <p:cBhvr>
                                        <p:cTn id="27" dur="800" decel="100000"/>
                                        <p:tgtEl>
                                          <p:spTgt spid="136195">
                                            <p:txEl>
                                              <p:pRg st="1" end="1"/>
                                            </p:txEl>
                                          </p:spTgt>
                                        </p:tgtEl>
                                      </p:cBhvr>
                                    </p:animEffect>
                                    <p:anim calcmode="lin" valueType="num">
                                      <p:cBhvr>
                                        <p:cTn id="28" dur="800" decel="100000" fill="hold"/>
                                        <p:tgtEl>
                                          <p:spTgt spid="136195">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36195">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36195">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36195">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36195">
                                            <p:txEl>
                                              <p:pRg st="1" end="1"/>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p:bldP spid="13619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pPr algn="l"/>
            <a:r>
              <a:rPr lang="en-US" u="sng" dirty="0"/>
              <a:t>Change in </a:t>
            </a:r>
            <a:r>
              <a:rPr lang="en-US" u="sng" dirty="0" smtClean="0"/>
              <a:t>Quantity Supplied:</a:t>
            </a:r>
            <a:endParaRPr lang="en-US" u="sng" dirty="0"/>
          </a:p>
        </p:txBody>
      </p:sp>
      <p:sp>
        <p:nvSpPr>
          <p:cNvPr id="137219" name="Line 3"/>
          <p:cNvSpPr>
            <a:spLocks noChangeShapeType="1"/>
          </p:cNvSpPr>
          <p:nvPr/>
        </p:nvSpPr>
        <p:spPr bwMode="auto">
          <a:xfrm>
            <a:off x="1981200" y="1524000"/>
            <a:ext cx="0" cy="4267200"/>
          </a:xfrm>
          <a:prstGeom prst="line">
            <a:avLst/>
          </a:prstGeom>
          <a:noFill/>
          <a:ln w="25400">
            <a:solidFill>
              <a:schemeClr val="tx1"/>
            </a:solidFill>
            <a:round/>
            <a:headEnd/>
            <a:tailEnd/>
          </a:ln>
          <a:effectLst/>
        </p:spPr>
        <p:txBody>
          <a:bodyPr/>
          <a:lstStyle/>
          <a:p>
            <a:endParaRPr lang="en-US"/>
          </a:p>
        </p:txBody>
      </p:sp>
      <p:sp>
        <p:nvSpPr>
          <p:cNvPr id="137220" name="Line 4"/>
          <p:cNvSpPr>
            <a:spLocks noChangeShapeType="1"/>
          </p:cNvSpPr>
          <p:nvPr/>
        </p:nvSpPr>
        <p:spPr bwMode="auto">
          <a:xfrm>
            <a:off x="1981200" y="5791200"/>
            <a:ext cx="5562600" cy="0"/>
          </a:xfrm>
          <a:prstGeom prst="line">
            <a:avLst/>
          </a:prstGeom>
          <a:noFill/>
          <a:ln w="25400">
            <a:solidFill>
              <a:schemeClr val="tx1"/>
            </a:solidFill>
            <a:round/>
            <a:headEnd/>
            <a:tailEnd/>
          </a:ln>
          <a:effectLst/>
        </p:spPr>
        <p:txBody>
          <a:bodyPr/>
          <a:lstStyle/>
          <a:p>
            <a:endParaRPr lang="en-US"/>
          </a:p>
        </p:txBody>
      </p:sp>
      <p:sp>
        <p:nvSpPr>
          <p:cNvPr id="137221" name="Text Box 5"/>
          <p:cNvSpPr txBox="1">
            <a:spLocks noChangeArrowheads="1"/>
          </p:cNvSpPr>
          <p:nvPr/>
        </p:nvSpPr>
        <p:spPr bwMode="auto">
          <a:xfrm>
            <a:off x="762000" y="1752600"/>
            <a:ext cx="914400" cy="366713"/>
          </a:xfrm>
          <a:prstGeom prst="rect">
            <a:avLst/>
          </a:prstGeom>
          <a:noFill/>
          <a:ln w="9525">
            <a:noFill/>
            <a:miter lim="800000"/>
            <a:headEnd/>
            <a:tailEnd/>
          </a:ln>
          <a:effectLst/>
        </p:spPr>
        <p:txBody>
          <a:bodyPr>
            <a:spAutoFit/>
          </a:bodyPr>
          <a:lstStyle/>
          <a:p>
            <a:pPr algn="l">
              <a:spcBef>
                <a:spcPct val="50000"/>
              </a:spcBef>
            </a:pPr>
            <a:r>
              <a:rPr lang="en-US" sz="1800"/>
              <a:t>Price</a:t>
            </a:r>
          </a:p>
        </p:txBody>
      </p:sp>
      <p:sp>
        <p:nvSpPr>
          <p:cNvPr id="137222" name="Text Box 6"/>
          <p:cNvSpPr txBox="1">
            <a:spLocks noChangeArrowheads="1"/>
          </p:cNvSpPr>
          <p:nvPr/>
        </p:nvSpPr>
        <p:spPr bwMode="auto">
          <a:xfrm>
            <a:off x="7772400" y="5638800"/>
            <a:ext cx="1219200" cy="366713"/>
          </a:xfrm>
          <a:prstGeom prst="rect">
            <a:avLst/>
          </a:prstGeom>
          <a:noFill/>
          <a:ln w="9525">
            <a:noFill/>
            <a:miter lim="800000"/>
            <a:headEnd/>
            <a:tailEnd/>
          </a:ln>
          <a:effectLst/>
        </p:spPr>
        <p:txBody>
          <a:bodyPr>
            <a:spAutoFit/>
          </a:bodyPr>
          <a:lstStyle/>
          <a:p>
            <a:pPr algn="l">
              <a:spcBef>
                <a:spcPct val="50000"/>
              </a:spcBef>
            </a:pPr>
            <a:r>
              <a:rPr lang="en-US" sz="1800"/>
              <a:t>Quantity</a:t>
            </a:r>
          </a:p>
        </p:txBody>
      </p:sp>
      <p:sp>
        <p:nvSpPr>
          <p:cNvPr id="137224" name="Text Box 8"/>
          <p:cNvSpPr txBox="1">
            <a:spLocks noChangeArrowheads="1"/>
          </p:cNvSpPr>
          <p:nvPr/>
        </p:nvSpPr>
        <p:spPr bwMode="auto">
          <a:xfrm>
            <a:off x="1295400" y="3810000"/>
            <a:ext cx="685800" cy="366713"/>
          </a:xfrm>
          <a:prstGeom prst="rect">
            <a:avLst/>
          </a:prstGeom>
          <a:noFill/>
          <a:ln w="9525">
            <a:noFill/>
            <a:miter lim="800000"/>
            <a:headEnd/>
            <a:tailEnd/>
          </a:ln>
          <a:effectLst/>
        </p:spPr>
        <p:txBody>
          <a:bodyPr>
            <a:spAutoFit/>
          </a:bodyPr>
          <a:lstStyle/>
          <a:p>
            <a:pPr algn="l">
              <a:spcBef>
                <a:spcPct val="50000"/>
              </a:spcBef>
            </a:pPr>
            <a:r>
              <a:rPr lang="en-US" sz="1800"/>
              <a:t>p</a:t>
            </a:r>
            <a:r>
              <a:rPr lang="en-US" sz="1800" baseline="-25000"/>
              <a:t>1</a:t>
            </a:r>
          </a:p>
        </p:txBody>
      </p:sp>
      <p:sp>
        <p:nvSpPr>
          <p:cNvPr id="137225" name="Text Box 9"/>
          <p:cNvSpPr txBox="1">
            <a:spLocks noChangeArrowheads="1"/>
          </p:cNvSpPr>
          <p:nvPr/>
        </p:nvSpPr>
        <p:spPr bwMode="auto">
          <a:xfrm>
            <a:off x="1219200" y="2819400"/>
            <a:ext cx="685800" cy="366713"/>
          </a:xfrm>
          <a:prstGeom prst="rect">
            <a:avLst/>
          </a:prstGeom>
          <a:noFill/>
          <a:ln w="9525">
            <a:noFill/>
            <a:miter lim="800000"/>
            <a:headEnd/>
            <a:tailEnd/>
          </a:ln>
          <a:effectLst/>
        </p:spPr>
        <p:txBody>
          <a:bodyPr>
            <a:spAutoFit/>
          </a:bodyPr>
          <a:lstStyle/>
          <a:p>
            <a:pPr algn="l">
              <a:spcBef>
                <a:spcPct val="50000"/>
              </a:spcBef>
            </a:pPr>
            <a:r>
              <a:rPr lang="en-US" sz="1800"/>
              <a:t>p</a:t>
            </a:r>
            <a:r>
              <a:rPr lang="en-US" sz="1800" baseline="-25000"/>
              <a:t>2</a:t>
            </a:r>
            <a:endParaRPr lang="en-US" sz="1800"/>
          </a:p>
        </p:txBody>
      </p:sp>
      <p:sp>
        <p:nvSpPr>
          <p:cNvPr id="137226" name="Line 10"/>
          <p:cNvSpPr>
            <a:spLocks noChangeShapeType="1"/>
          </p:cNvSpPr>
          <p:nvPr/>
        </p:nvSpPr>
        <p:spPr bwMode="auto">
          <a:xfrm>
            <a:off x="1981200" y="3962400"/>
            <a:ext cx="1143000" cy="0"/>
          </a:xfrm>
          <a:prstGeom prst="line">
            <a:avLst/>
          </a:prstGeom>
          <a:noFill/>
          <a:ln w="9525">
            <a:solidFill>
              <a:schemeClr val="tx1"/>
            </a:solidFill>
            <a:prstDash val="dash"/>
            <a:round/>
            <a:headEnd/>
            <a:tailEnd/>
          </a:ln>
          <a:effectLst/>
        </p:spPr>
        <p:txBody>
          <a:bodyPr/>
          <a:lstStyle/>
          <a:p>
            <a:endParaRPr lang="en-US"/>
          </a:p>
        </p:txBody>
      </p:sp>
      <p:sp>
        <p:nvSpPr>
          <p:cNvPr id="137227" name="Line 11"/>
          <p:cNvSpPr>
            <a:spLocks noChangeShapeType="1"/>
          </p:cNvSpPr>
          <p:nvPr/>
        </p:nvSpPr>
        <p:spPr bwMode="auto">
          <a:xfrm>
            <a:off x="4267200" y="3048000"/>
            <a:ext cx="0" cy="2743200"/>
          </a:xfrm>
          <a:prstGeom prst="line">
            <a:avLst/>
          </a:prstGeom>
          <a:noFill/>
          <a:ln w="9525">
            <a:solidFill>
              <a:schemeClr val="tx1"/>
            </a:solidFill>
            <a:prstDash val="dash"/>
            <a:round/>
            <a:headEnd/>
            <a:tailEnd/>
          </a:ln>
          <a:effectLst/>
        </p:spPr>
        <p:txBody>
          <a:bodyPr/>
          <a:lstStyle/>
          <a:p>
            <a:endParaRPr lang="en-US"/>
          </a:p>
        </p:txBody>
      </p:sp>
      <p:sp>
        <p:nvSpPr>
          <p:cNvPr id="137228" name="Line 12"/>
          <p:cNvSpPr>
            <a:spLocks noChangeShapeType="1"/>
          </p:cNvSpPr>
          <p:nvPr/>
        </p:nvSpPr>
        <p:spPr bwMode="auto">
          <a:xfrm>
            <a:off x="1981200" y="3048000"/>
            <a:ext cx="2209800" cy="0"/>
          </a:xfrm>
          <a:prstGeom prst="line">
            <a:avLst/>
          </a:prstGeom>
          <a:noFill/>
          <a:ln w="9525">
            <a:solidFill>
              <a:schemeClr val="tx1"/>
            </a:solidFill>
            <a:prstDash val="dash"/>
            <a:round/>
            <a:headEnd/>
            <a:tailEnd/>
          </a:ln>
          <a:effectLst/>
        </p:spPr>
        <p:txBody>
          <a:bodyPr/>
          <a:lstStyle/>
          <a:p>
            <a:endParaRPr lang="en-US"/>
          </a:p>
        </p:txBody>
      </p:sp>
      <p:sp>
        <p:nvSpPr>
          <p:cNvPr id="137229" name="Line 13"/>
          <p:cNvSpPr>
            <a:spLocks noChangeShapeType="1"/>
          </p:cNvSpPr>
          <p:nvPr/>
        </p:nvSpPr>
        <p:spPr bwMode="auto">
          <a:xfrm>
            <a:off x="3200400" y="4038600"/>
            <a:ext cx="0" cy="1752600"/>
          </a:xfrm>
          <a:prstGeom prst="line">
            <a:avLst/>
          </a:prstGeom>
          <a:noFill/>
          <a:ln w="9525">
            <a:solidFill>
              <a:schemeClr val="tx1"/>
            </a:solidFill>
            <a:prstDash val="dash"/>
            <a:round/>
            <a:headEnd/>
            <a:tailEnd/>
          </a:ln>
          <a:effectLst/>
        </p:spPr>
        <p:txBody>
          <a:bodyPr/>
          <a:lstStyle/>
          <a:p>
            <a:endParaRPr lang="en-US"/>
          </a:p>
        </p:txBody>
      </p:sp>
      <p:sp>
        <p:nvSpPr>
          <p:cNvPr id="137230" name="Text Box 14"/>
          <p:cNvSpPr txBox="1">
            <a:spLocks noChangeArrowheads="1"/>
          </p:cNvSpPr>
          <p:nvPr/>
        </p:nvSpPr>
        <p:spPr bwMode="auto">
          <a:xfrm>
            <a:off x="2895600" y="5791200"/>
            <a:ext cx="685800" cy="366713"/>
          </a:xfrm>
          <a:prstGeom prst="rect">
            <a:avLst/>
          </a:prstGeom>
          <a:noFill/>
          <a:ln w="9525">
            <a:noFill/>
            <a:miter lim="800000"/>
            <a:headEnd/>
            <a:tailEnd/>
          </a:ln>
          <a:effectLst/>
        </p:spPr>
        <p:txBody>
          <a:bodyPr>
            <a:spAutoFit/>
          </a:bodyPr>
          <a:lstStyle/>
          <a:p>
            <a:pPr algn="l">
              <a:spcBef>
                <a:spcPct val="50000"/>
              </a:spcBef>
            </a:pPr>
            <a:r>
              <a:rPr lang="en-US" sz="1800"/>
              <a:t>q</a:t>
            </a:r>
            <a:r>
              <a:rPr lang="en-US" sz="1800" baseline="-25000"/>
              <a:t>1</a:t>
            </a:r>
          </a:p>
        </p:txBody>
      </p:sp>
      <p:sp>
        <p:nvSpPr>
          <p:cNvPr id="137231" name="Text Box 15"/>
          <p:cNvSpPr txBox="1">
            <a:spLocks noChangeArrowheads="1"/>
          </p:cNvSpPr>
          <p:nvPr/>
        </p:nvSpPr>
        <p:spPr bwMode="auto">
          <a:xfrm>
            <a:off x="4191000" y="5791200"/>
            <a:ext cx="685800" cy="366713"/>
          </a:xfrm>
          <a:prstGeom prst="rect">
            <a:avLst/>
          </a:prstGeom>
          <a:noFill/>
          <a:ln w="9525">
            <a:noFill/>
            <a:miter lim="800000"/>
            <a:headEnd/>
            <a:tailEnd/>
          </a:ln>
          <a:effectLst/>
        </p:spPr>
        <p:txBody>
          <a:bodyPr>
            <a:spAutoFit/>
          </a:bodyPr>
          <a:lstStyle/>
          <a:p>
            <a:pPr algn="l">
              <a:spcBef>
                <a:spcPct val="50000"/>
              </a:spcBef>
            </a:pPr>
            <a:r>
              <a:rPr lang="en-US" sz="1800"/>
              <a:t>q</a:t>
            </a:r>
            <a:r>
              <a:rPr lang="en-US" sz="1800" baseline="-25000"/>
              <a:t>2</a:t>
            </a:r>
            <a:endParaRPr lang="en-US" sz="1800"/>
          </a:p>
        </p:txBody>
      </p:sp>
      <p:sp>
        <p:nvSpPr>
          <p:cNvPr id="137232" name="Line 16"/>
          <p:cNvSpPr>
            <a:spLocks noChangeShapeType="1"/>
          </p:cNvSpPr>
          <p:nvPr/>
        </p:nvSpPr>
        <p:spPr bwMode="auto">
          <a:xfrm flipV="1">
            <a:off x="3200400" y="3429000"/>
            <a:ext cx="1066800" cy="1066800"/>
          </a:xfrm>
          <a:prstGeom prst="line">
            <a:avLst/>
          </a:prstGeom>
          <a:noFill/>
          <a:ln w="47625">
            <a:solidFill>
              <a:srgbClr val="FFFF00"/>
            </a:solidFill>
            <a:round/>
            <a:headEnd/>
            <a:tailEnd type="triangle" w="med" len="med"/>
          </a:ln>
          <a:effectLst/>
        </p:spPr>
        <p:txBody>
          <a:bodyPr/>
          <a:lstStyle/>
          <a:p>
            <a:endParaRPr lang="en-US"/>
          </a:p>
        </p:txBody>
      </p:sp>
      <p:sp>
        <p:nvSpPr>
          <p:cNvPr id="137233" name="AutoShape 17"/>
          <p:cNvSpPr>
            <a:spLocks noChangeArrowheads="1"/>
          </p:cNvSpPr>
          <p:nvPr/>
        </p:nvSpPr>
        <p:spPr bwMode="auto">
          <a:xfrm>
            <a:off x="4191000" y="3048000"/>
            <a:ext cx="76200" cy="76200"/>
          </a:xfrm>
          <a:prstGeom prst="flowChartConnector">
            <a:avLst/>
          </a:prstGeom>
          <a:solidFill>
            <a:schemeClr val="accent1"/>
          </a:solidFill>
          <a:ln w="9525">
            <a:solidFill>
              <a:schemeClr val="tx1"/>
            </a:solidFill>
            <a:round/>
            <a:headEnd/>
            <a:tailEnd/>
          </a:ln>
          <a:effectLst/>
        </p:spPr>
        <p:txBody>
          <a:bodyPr wrap="none" anchor="ctr"/>
          <a:lstStyle/>
          <a:p>
            <a:endParaRPr lang="en-US"/>
          </a:p>
        </p:txBody>
      </p:sp>
      <p:sp>
        <p:nvSpPr>
          <p:cNvPr id="137234" name="AutoShape 18"/>
          <p:cNvSpPr>
            <a:spLocks noChangeArrowheads="1"/>
          </p:cNvSpPr>
          <p:nvPr/>
        </p:nvSpPr>
        <p:spPr bwMode="auto">
          <a:xfrm>
            <a:off x="3124200" y="3962400"/>
            <a:ext cx="76200" cy="76200"/>
          </a:xfrm>
          <a:prstGeom prst="flowChartConnector">
            <a:avLst/>
          </a:prstGeom>
          <a:solidFill>
            <a:schemeClr val="accent1"/>
          </a:solidFill>
          <a:ln w="9525">
            <a:solidFill>
              <a:schemeClr val="tx1"/>
            </a:solidFill>
            <a:round/>
            <a:headEnd/>
            <a:tailEnd/>
          </a:ln>
          <a:effectLst/>
        </p:spPr>
        <p:txBody>
          <a:bodyPr wrap="none" anchor="ctr"/>
          <a:lstStyle/>
          <a:p>
            <a:endParaRPr lang="en-US"/>
          </a:p>
        </p:txBody>
      </p:sp>
      <p:sp>
        <p:nvSpPr>
          <p:cNvPr id="137235" name="Text Box 19"/>
          <p:cNvSpPr txBox="1">
            <a:spLocks noChangeArrowheads="1"/>
          </p:cNvSpPr>
          <p:nvPr/>
        </p:nvSpPr>
        <p:spPr bwMode="auto">
          <a:xfrm>
            <a:off x="5105400" y="1524000"/>
            <a:ext cx="762000" cy="366713"/>
          </a:xfrm>
          <a:prstGeom prst="rect">
            <a:avLst/>
          </a:prstGeom>
          <a:noFill/>
          <a:ln w="9525">
            <a:noFill/>
            <a:miter lim="800000"/>
            <a:headEnd/>
            <a:tailEnd/>
          </a:ln>
          <a:effectLst/>
        </p:spPr>
        <p:txBody>
          <a:bodyPr>
            <a:spAutoFit/>
          </a:bodyPr>
          <a:lstStyle/>
          <a:p>
            <a:pPr algn="l">
              <a:spcBef>
                <a:spcPct val="50000"/>
              </a:spcBef>
            </a:pPr>
            <a:r>
              <a:rPr lang="en-US" sz="1800"/>
              <a:t>S</a:t>
            </a:r>
          </a:p>
        </p:txBody>
      </p:sp>
      <p:sp>
        <p:nvSpPr>
          <p:cNvPr id="137236" name="Text Box 20"/>
          <p:cNvSpPr txBox="1">
            <a:spLocks noChangeArrowheads="1"/>
          </p:cNvSpPr>
          <p:nvPr/>
        </p:nvSpPr>
        <p:spPr bwMode="auto">
          <a:xfrm>
            <a:off x="5410200" y="2133600"/>
            <a:ext cx="3124200" cy="2585323"/>
          </a:xfrm>
          <a:prstGeom prst="rect">
            <a:avLst/>
          </a:prstGeom>
          <a:noFill/>
          <a:ln w="9525">
            <a:noFill/>
            <a:miter lim="800000"/>
            <a:headEnd/>
            <a:tailEnd/>
          </a:ln>
          <a:effectLst/>
        </p:spPr>
        <p:txBody>
          <a:bodyPr>
            <a:spAutoFit/>
          </a:bodyPr>
          <a:lstStyle/>
          <a:p>
            <a:pPr algn="l">
              <a:spcBef>
                <a:spcPct val="50000"/>
              </a:spcBef>
              <a:buFontTx/>
              <a:buChar char="•"/>
            </a:pPr>
            <a:r>
              <a:rPr lang="en-US" sz="1800" dirty="0" smtClean="0"/>
              <a:t> An </a:t>
            </a:r>
            <a:r>
              <a:rPr lang="en-US" sz="1800" dirty="0"/>
              <a:t>increase in price from p</a:t>
            </a:r>
            <a:r>
              <a:rPr lang="en-US" sz="1800" baseline="-25000" dirty="0"/>
              <a:t>1</a:t>
            </a:r>
            <a:r>
              <a:rPr lang="en-US" sz="1800" dirty="0"/>
              <a:t> to p</a:t>
            </a:r>
            <a:r>
              <a:rPr lang="en-US" sz="1800" baseline="-25000" dirty="0"/>
              <a:t>2</a:t>
            </a:r>
            <a:r>
              <a:rPr lang="en-US" sz="1800" dirty="0"/>
              <a:t> results in an increase in quantity supplied from q</a:t>
            </a:r>
            <a:r>
              <a:rPr lang="en-US" sz="1800" baseline="-25000" dirty="0"/>
              <a:t>1</a:t>
            </a:r>
            <a:r>
              <a:rPr lang="en-US" sz="1800" dirty="0"/>
              <a:t> to </a:t>
            </a:r>
            <a:r>
              <a:rPr lang="en-US" sz="1800" dirty="0" smtClean="0"/>
              <a:t>q</a:t>
            </a:r>
            <a:r>
              <a:rPr lang="en-US" sz="1800" baseline="-25000" dirty="0" smtClean="0"/>
              <a:t>2</a:t>
            </a:r>
            <a:r>
              <a:rPr lang="en-US" sz="1800" dirty="0" smtClean="0"/>
              <a:t>.</a:t>
            </a:r>
            <a:endParaRPr lang="en-US" sz="1800" baseline="-25000" dirty="0"/>
          </a:p>
          <a:p>
            <a:pPr algn="l">
              <a:spcBef>
                <a:spcPct val="50000"/>
              </a:spcBef>
              <a:buFontTx/>
              <a:buChar char="•"/>
            </a:pPr>
            <a:r>
              <a:rPr lang="en-US" sz="1800" dirty="0" smtClean="0"/>
              <a:t> It </a:t>
            </a:r>
            <a:r>
              <a:rPr lang="en-US" sz="1800" dirty="0"/>
              <a:t>is shown as a movement along the same supply </a:t>
            </a:r>
            <a:r>
              <a:rPr lang="en-US" sz="1800" dirty="0" smtClean="0"/>
              <a:t>curve from  A to B.</a:t>
            </a:r>
            <a:endParaRPr lang="en-US" sz="1800" dirty="0"/>
          </a:p>
          <a:p>
            <a:pPr algn="l">
              <a:spcBef>
                <a:spcPct val="50000"/>
              </a:spcBef>
            </a:pPr>
            <a:endParaRPr lang="en-US" sz="1800" dirty="0"/>
          </a:p>
        </p:txBody>
      </p:sp>
      <p:sp>
        <p:nvSpPr>
          <p:cNvPr id="137237" name="Line 21"/>
          <p:cNvSpPr>
            <a:spLocks noChangeShapeType="1"/>
          </p:cNvSpPr>
          <p:nvPr/>
        </p:nvSpPr>
        <p:spPr bwMode="auto">
          <a:xfrm flipV="1">
            <a:off x="1143000" y="3048000"/>
            <a:ext cx="0" cy="914400"/>
          </a:xfrm>
          <a:prstGeom prst="line">
            <a:avLst/>
          </a:prstGeom>
          <a:noFill/>
          <a:ln w="25400">
            <a:solidFill>
              <a:srgbClr val="FFFF00"/>
            </a:solidFill>
            <a:round/>
            <a:headEnd/>
            <a:tailEnd type="triangle" w="med" len="med"/>
          </a:ln>
          <a:effectLst/>
        </p:spPr>
        <p:txBody>
          <a:bodyPr/>
          <a:lstStyle/>
          <a:p>
            <a:endParaRPr lang="en-US"/>
          </a:p>
        </p:txBody>
      </p:sp>
      <p:sp>
        <p:nvSpPr>
          <p:cNvPr id="137238" name="Line 22"/>
          <p:cNvSpPr>
            <a:spLocks noChangeShapeType="1"/>
          </p:cNvSpPr>
          <p:nvPr/>
        </p:nvSpPr>
        <p:spPr bwMode="auto">
          <a:xfrm>
            <a:off x="3276600" y="6019800"/>
            <a:ext cx="838200" cy="0"/>
          </a:xfrm>
          <a:prstGeom prst="line">
            <a:avLst/>
          </a:prstGeom>
          <a:noFill/>
          <a:ln w="25400">
            <a:solidFill>
              <a:srgbClr val="FFFF00"/>
            </a:solidFill>
            <a:round/>
            <a:headEnd/>
            <a:tailEnd type="triangle" w="med" len="med"/>
          </a:ln>
          <a:effectLst/>
        </p:spPr>
        <p:txBody>
          <a:bodyPr/>
          <a:lstStyle/>
          <a:p>
            <a:endParaRPr lang="en-US"/>
          </a:p>
        </p:txBody>
      </p:sp>
      <p:sp>
        <p:nvSpPr>
          <p:cNvPr id="137240" name="Line 24"/>
          <p:cNvSpPr>
            <a:spLocks noChangeShapeType="1"/>
          </p:cNvSpPr>
          <p:nvPr/>
        </p:nvSpPr>
        <p:spPr bwMode="auto">
          <a:xfrm flipV="1">
            <a:off x="2209800" y="1905000"/>
            <a:ext cx="3276600" cy="3048000"/>
          </a:xfrm>
          <a:prstGeom prst="line">
            <a:avLst/>
          </a:prstGeom>
          <a:noFill/>
          <a:ln w="25400">
            <a:solidFill>
              <a:schemeClr val="tx1"/>
            </a:solidFill>
            <a:round/>
            <a:headEnd/>
            <a:tailEnd/>
          </a:ln>
          <a:effectLst/>
        </p:spPr>
        <p:txBody>
          <a:bodyPr/>
          <a:lstStyle/>
          <a:p>
            <a:endParaRPr lang="en-US"/>
          </a:p>
        </p:txBody>
      </p:sp>
      <p:sp>
        <p:nvSpPr>
          <p:cNvPr id="24" name="Slide Number Placeholder 23"/>
          <p:cNvSpPr>
            <a:spLocks noGrp="1"/>
          </p:cNvSpPr>
          <p:nvPr>
            <p:ph type="sldNum" sz="quarter" idx="11"/>
          </p:nvPr>
        </p:nvSpPr>
        <p:spPr/>
        <p:txBody>
          <a:bodyPr/>
          <a:lstStyle/>
          <a:p>
            <a:fld id="{5D8C0D95-B81A-45DB-B701-8AAA9905C101}" type="slidenum">
              <a:rPr lang="en-US" smtClean="0"/>
              <a:pPr/>
              <a:t>34</a:t>
            </a:fld>
            <a:endParaRPr lang="en-US"/>
          </a:p>
        </p:txBody>
      </p:sp>
      <p:sp>
        <p:nvSpPr>
          <p:cNvPr id="25" name="TextBox 24"/>
          <p:cNvSpPr txBox="1"/>
          <p:nvPr/>
        </p:nvSpPr>
        <p:spPr>
          <a:xfrm>
            <a:off x="2971800" y="3581400"/>
            <a:ext cx="381000" cy="338554"/>
          </a:xfrm>
          <a:prstGeom prst="rect">
            <a:avLst/>
          </a:prstGeom>
          <a:noFill/>
        </p:spPr>
        <p:txBody>
          <a:bodyPr wrap="square" rtlCol="0">
            <a:spAutoFit/>
          </a:bodyPr>
          <a:lstStyle/>
          <a:p>
            <a:r>
              <a:rPr lang="en-US" dirty="0" smtClean="0"/>
              <a:t>A</a:t>
            </a:r>
            <a:endParaRPr lang="en-US" dirty="0"/>
          </a:p>
        </p:txBody>
      </p:sp>
      <p:sp>
        <p:nvSpPr>
          <p:cNvPr id="26" name="TextBox 25"/>
          <p:cNvSpPr txBox="1"/>
          <p:nvPr/>
        </p:nvSpPr>
        <p:spPr>
          <a:xfrm>
            <a:off x="4038600" y="2590800"/>
            <a:ext cx="381000" cy="338554"/>
          </a:xfrm>
          <a:prstGeom prst="rect">
            <a:avLst/>
          </a:prstGeom>
          <a:noFill/>
        </p:spPr>
        <p:txBody>
          <a:bodyPr wrap="square" rtlCol="0">
            <a:spAutoFit/>
          </a:bodyPr>
          <a:lstStyle/>
          <a:p>
            <a:r>
              <a:rPr lang="en-US" dirty="0" smtClean="0"/>
              <a:t>B</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237"/>
                                        </p:tgtEl>
                                        <p:attrNameLst>
                                          <p:attrName>style.visibility</p:attrName>
                                        </p:attrNameLst>
                                      </p:cBhvr>
                                      <p:to>
                                        <p:strVal val="visible"/>
                                      </p:to>
                                    </p:set>
                                    <p:anim calcmode="lin" valueType="num">
                                      <p:cBhvr additive="base">
                                        <p:cTn id="7" dur="500" fill="hold"/>
                                        <p:tgtEl>
                                          <p:spTgt spid="137237"/>
                                        </p:tgtEl>
                                        <p:attrNameLst>
                                          <p:attrName>ppt_x</p:attrName>
                                        </p:attrNameLst>
                                      </p:cBhvr>
                                      <p:tavLst>
                                        <p:tav tm="0">
                                          <p:val>
                                            <p:strVal val="#ppt_x"/>
                                          </p:val>
                                        </p:tav>
                                        <p:tav tm="100000">
                                          <p:val>
                                            <p:strVal val="#ppt_x"/>
                                          </p:val>
                                        </p:tav>
                                      </p:tavLst>
                                    </p:anim>
                                    <p:anim calcmode="lin" valueType="num">
                                      <p:cBhvr additive="base">
                                        <p:cTn id="8" dur="500" fill="hold"/>
                                        <p:tgtEl>
                                          <p:spTgt spid="1372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7238"/>
                                        </p:tgtEl>
                                        <p:attrNameLst>
                                          <p:attrName>style.visibility</p:attrName>
                                        </p:attrNameLst>
                                      </p:cBhvr>
                                      <p:to>
                                        <p:strVal val="visible"/>
                                      </p:to>
                                    </p:set>
                                    <p:anim calcmode="lin" valueType="num">
                                      <p:cBhvr additive="base">
                                        <p:cTn id="13" dur="500" fill="hold"/>
                                        <p:tgtEl>
                                          <p:spTgt spid="137238"/>
                                        </p:tgtEl>
                                        <p:attrNameLst>
                                          <p:attrName>ppt_x</p:attrName>
                                        </p:attrNameLst>
                                      </p:cBhvr>
                                      <p:tavLst>
                                        <p:tav tm="0">
                                          <p:val>
                                            <p:strVal val="0-#ppt_w/2"/>
                                          </p:val>
                                        </p:tav>
                                        <p:tav tm="100000">
                                          <p:val>
                                            <p:strVal val="#ppt_x"/>
                                          </p:val>
                                        </p:tav>
                                      </p:tavLst>
                                    </p:anim>
                                    <p:anim calcmode="lin" valueType="num">
                                      <p:cBhvr additive="base">
                                        <p:cTn id="14" dur="500" fill="hold"/>
                                        <p:tgtEl>
                                          <p:spTgt spid="13723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137236">
                                            <p:txEl>
                                              <p:pRg st="0" end="0"/>
                                            </p:txEl>
                                          </p:spTgt>
                                        </p:tgtEl>
                                        <p:attrNameLst>
                                          <p:attrName>style.visibility</p:attrName>
                                        </p:attrNameLst>
                                      </p:cBhvr>
                                      <p:to>
                                        <p:strVal val="visible"/>
                                      </p:to>
                                    </p:set>
                                    <p:animEffect transition="in" filter="checkerboard(across)">
                                      <p:cBhvr>
                                        <p:cTn id="19" dur="500"/>
                                        <p:tgtEl>
                                          <p:spTgt spid="137236">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137236">
                                            <p:txEl>
                                              <p:pRg st="1" end="1"/>
                                            </p:txEl>
                                          </p:spTgt>
                                        </p:tgtEl>
                                        <p:attrNameLst>
                                          <p:attrName>style.visibility</p:attrName>
                                        </p:attrNameLst>
                                      </p:cBhvr>
                                      <p:to>
                                        <p:strVal val="visible"/>
                                      </p:to>
                                    </p:set>
                                    <p:animEffect transition="in" filter="checkerboard(across)">
                                      <p:cBhvr>
                                        <p:cTn id="24" dur="500"/>
                                        <p:tgtEl>
                                          <p:spTgt spid="13723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12" fill="hold" grpId="0" nodeType="clickEffect">
                                  <p:stCondLst>
                                    <p:cond delay="0"/>
                                  </p:stCondLst>
                                  <p:childTnLst>
                                    <p:set>
                                      <p:cBhvr>
                                        <p:cTn id="28" dur="1" fill="hold">
                                          <p:stCondLst>
                                            <p:cond delay="0"/>
                                          </p:stCondLst>
                                        </p:cTn>
                                        <p:tgtEl>
                                          <p:spTgt spid="137232"/>
                                        </p:tgtEl>
                                        <p:attrNameLst>
                                          <p:attrName>style.visibility</p:attrName>
                                        </p:attrNameLst>
                                      </p:cBhvr>
                                      <p:to>
                                        <p:strVal val="visible"/>
                                      </p:to>
                                    </p:set>
                                    <p:anim calcmode="lin" valueType="num">
                                      <p:cBhvr additive="base">
                                        <p:cTn id="29" dur="1000" fill="hold"/>
                                        <p:tgtEl>
                                          <p:spTgt spid="137232"/>
                                        </p:tgtEl>
                                        <p:attrNameLst>
                                          <p:attrName>ppt_x</p:attrName>
                                        </p:attrNameLst>
                                      </p:cBhvr>
                                      <p:tavLst>
                                        <p:tav tm="0">
                                          <p:val>
                                            <p:strVal val="0-#ppt_w/2"/>
                                          </p:val>
                                        </p:tav>
                                        <p:tav tm="100000">
                                          <p:val>
                                            <p:strVal val="#ppt_x"/>
                                          </p:val>
                                        </p:tav>
                                      </p:tavLst>
                                    </p:anim>
                                    <p:anim calcmode="lin" valueType="num">
                                      <p:cBhvr additive="base">
                                        <p:cTn id="30" dur="1000" fill="hold"/>
                                        <p:tgtEl>
                                          <p:spTgt spid="1372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32" grpId="0" animBg="1"/>
      <p:bldP spid="137237" grpId="0" animBg="1"/>
      <p:bldP spid="13723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pPr algn="l"/>
            <a:r>
              <a:rPr lang="en-US" u="sng" dirty="0"/>
              <a:t>Change in </a:t>
            </a:r>
            <a:r>
              <a:rPr lang="en-US" u="sng" dirty="0" smtClean="0"/>
              <a:t>Supply:</a:t>
            </a:r>
            <a:endParaRPr lang="en-US" u="sng" dirty="0"/>
          </a:p>
        </p:txBody>
      </p:sp>
      <p:sp>
        <p:nvSpPr>
          <p:cNvPr id="138243" name="Line 3"/>
          <p:cNvSpPr>
            <a:spLocks noChangeShapeType="1"/>
          </p:cNvSpPr>
          <p:nvPr/>
        </p:nvSpPr>
        <p:spPr bwMode="auto">
          <a:xfrm>
            <a:off x="1981200" y="1524000"/>
            <a:ext cx="0" cy="4267200"/>
          </a:xfrm>
          <a:prstGeom prst="line">
            <a:avLst/>
          </a:prstGeom>
          <a:noFill/>
          <a:ln w="25400">
            <a:solidFill>
              <a:schemeClr val="tx1"/>
            </a:solidFill>
            <a:round/>
            <a:headEnd/>
            <a:tailEnd/>
          </a:ln>
          <a:effectLst/>
        </p:spPr>
        <p:txBody>
          <a:bodyPr/>
          <a:lstStyle/>
          <a:p>
            <a:endParaRPr lang="en-US"/>
          </a:p>
        </p:txBody>
      </p:sp>
      <p:sp>
        <p:nvSpPr>
          <p:cNvPr id="138244" name="Line 4"/>
          <p:cNvSpPr>
            <a:spLocks noChangeShapeType="1"/>
          </p:cNvSpPr>
          <p:nvPr/>
        </p:nvSpPr>
        <p:spPr bwMode="auto">
          <a:xfrm>
            <a:off x="1981200" y="5791200"/>
            <a:ext cx="5562600" cy="0"/>
          </a:xfrm>
          <a:prstGeom prst="line">
            <a:avLst/>
          </a:prstGeom>
          <a:noFill/>
          <a:ln w="25400">
            <a:solidFill>
              <a:schemeClr val="tx1"/>
            </a:solidFill>
            <a:round/>
            <a:headEnd/>
            <a:tailEnd/>
          </a:ln>
          <a:effectLst/>
        </p:spPr>
        <p:txBody>
          <a:bodyPr/>
          <a:lstStyle/>
          <a:p>
            <a:endParaRPr lang="en-US"/>
          </a:p>
        </p:txBody>
      </p:sp>
      <p:sp>
        <p:nvSpPr>
          <p:cNvPr id="138245" name="Text Box 5"/>
          <p:cNvSpPr txBox="1">
            <a:spLocks noChangeArrowheads="1"/>
          </p:cNvSpPr>
          <p:nvPr/>
        </p:nvSpPr>
        <p:spPr bwMode="auto">
          <a:xfrm>
            <a:off x="762000" y="1752600"/>
            <a:ext cx="914400" cy="366713"/>
          </a:xfrm>
          <a:prstGeom prst="rect">
            <a:avLst/>
          </a:prstGeom>
          <a:noFill/>
          <a:ln w="9525">
            <a:noFill/>
            <a:miter lim="800000"/>
            <a:headEnd/>
            <a:tailEnd/>
          </a:ln>
          <a:effectLst/>
        </p:spPr>
        <p:txBody>
          <a:bodyPr>
            <a:spAutoFit/>
          </a:bodyPr>
          <a:lstStyle/>
          <a:p>
            <a:pPr algn="l">
              <a:spcBef>
                <a:spcPct val="50000"/>
              </a:spcBef>
            </a:pPr>
            <a:r>
              <a:rPr lang="en-US" sz="1800"/>
              <a:t>Price</a:t>
            </a:r>
          </a:p>
        </p:txBody>
      </p:sp>
      <p:sp>
        <p:nvSpPr>
          <p:cNvPr id="138246" name="Text Box 6"/>
          <p:cNvSpPr txBox="1">
            <a:spLocks noChangeArrowheads="1"/>
          </p:cNvSpPr>
          <p:nvPr/>
        </p:nvSpPr>
        <p:spPr bwMode="auto">
          <a:xfrm>
            <a:off x="7772400" y="5638800"/>
            <a:ext cx="1219200" cy="366713"/>
          </a:xfrm>
          <a:prstGeom prst="rect">
            <a:avLst/>
          </a:prstGeom>
          <a:noFill/>
          <a:ln w="9525">
            <a:noFill/>
            <a:miter lim="800000"/>
            <a:headEnd/>
            <a:tailEnd/>
          </a:ln>
          <a:effectLst/>
        </p:spPr>
        <p:txBody>
          <a:bodyPr>
            <a:spAutoFit/>
          </a:bodyPr>
          <a:lstStyle/>
          <a:p>
            <a:pPr algn="l">
              <a:spcBef>
                <a:spcPct val="50000"/>
              </a:spcBef>
            </a:pPr>
            <a:r>
              <a:rPr lang="en-US" sz="1800"/>
              <a:t>Quantity</a:t>
            </a:r>
          </a:p>
        </p:txBody>
      </p:sp>
      <p:sp>
        <p:nvSpPr>
          <p:cNvPr id="138247" name="Line 7"/>
          <p:cNvSpPr>
            <a:spLocks noChangeShapeType="1"/>
          </p:cNvSpPr>
          <p:nvPr/>
        </p:nvSpPr>
        <p:spPr bwMode="auto">
          <a:xfrm flipH="1">
            <a:off x="2514600" y="1447800"/>
            <a:ext cx="2590800" cy="3733800"/>
          </a:xfrm>
          <a:prstGeom prst="line">
            <a:avLst/>
          </a:prstGeom>
          <a:noFill/>
          <a:ln w="25400">
            <a:solidFill>
              <a:schemeClr val="tx1"/>
            </a:solidFill>
            <a:round/>
            <a:headEnd/>
            <a:tailEnd/>
          </a:ln>
          <a:effectLst/>
        </p:spPr>
        <p:txBody>
          <a:bodyPr/>
          <a:lstStyle/>
          <a:p>
            <a:endParaRPr lang="en-US"/>
          </a:p>
        </p:txBody>
      </p:sp>
      <p:sp>
        <p:nvSpPr>
          <p:cNvPr id="138248" name="Text Box 8"/>
          <p:cNvSpPr txBox="1">
            <a:spLocks noChangeArrowheads="1"/>
          </p:cNvSpPr>
          <p:nvPr/>
        </p:nvSpPr>
        <p:spPr bwMode="auto">
          <a:xfrm>
            <a:off x="1219200" y="2743200"/>
            <a:ext cx="685800" cy="366713"/>
          </a:xfrm>
          <a:prstGeom prst="rect">
            <a:avLst/>
          </a:prstGeom>
          <a:noFill/>
          <a:ln w="9525">
            <a:noFill/>
            <a:miter lim="800000"/>
            <a:headEnd/>
            <a:tailEnd/>
          </a:ln>
          <a:effectLst/>
        </p:spPr>
        <p:txBody>
          <a:bodyPr>
            <a:spAutoFit/>
          </a:bodyPr>
          <a:lstStyle/>
          <a:p>
            <a:pPr algn="l">
              <a:spcBef>
                <a:spcPct val="50000"/>
              </a:spcBef>
            </a:pPr>
            <a:r>
              <a:rPr lang="en-US" sz="1800"/>
              <a:t>p</a:t>
            </a:r>
            <a:r>
              <a:rPr lang="en-US" sz="1800" baseline="-25000"/>
              <a:t>1</a:t>
            </a:r>
          </a:p>
        </p:txBody>
      </p:sp>
      <p:sp>
        <p:nvSpPr>
          <p:cNvPr id="138249" name="Line 9"/>
          <p:cNvSpPr>
            <a:spLocks noChangeShapeType="1"/>
          </p:cNvSpPr>
          <p:nvPr/>
        </p:nvSpPr>
        <p:spPr bwMode="auto">
          <a:xfrm>
            <a:off x="1981200" y="3048000"/>
            <a:ext cx="1981200" cy="0"/>
          </a:xfrm>
          <a:prstGeom prst="line">
            <a:avLst/>
          </a:prstGeom>
          <a:noFill/>
          <a:ln w="9525">
            <a:solidFill>
              <a:schemeClr val="tx1"/>
            </a:solidFill>
            <a:prstDash val="dash"/>
            <a:round/>
            <a:headEnd/>
            <a:tailEnd/>
          </a:ln>
          <a:effectLst/>
        </p:spPr>
        <p:txBody>
          <a:bodyPr/>
          <a:lstStyle/>
          <a:p>
            <a:endParaRPr lang="en-US"/>
          </a:p>
        </p:txBody>
      </p:sp>
      <p:sp>
        <p:nvSpPr>
          <p:cNvPr id="138250" name="Line 10"/>
          <p:cNvSpPr>
            <a:spLocks noChangeShapeType="1"/>
          </p:cNvSpPr>
          <p:nvPr/>
        </p:nvSpPr>
        <p:spPr bwMode="auto">
          <a:xfrm>
            <a:off x="3962400" y="3048000"/>
            <a:ext cx="0" cy="2743200"/>
          </a:xfrm>
          <a:prstGeom prst="line">
            <a:avLst/>
          </a:prstGeom>
          <a:noFill/>
          <a:ln w="9525">
            <a:solidFill>
              <a:schemeClr val="tx1"/>
            </a:solidFill>
            <a:prstDash val="dash"/>
            <a:round/>
            <a:headEnd/>
            <a:tailEnd/>
          </a:ln>
          <a:effectLst/>
        </p:spPr>
        <p:txBody>
          <a:bodyPr/>
          <a:lstStyle/>
          <a:p>
            <a:endParaRPr lang="en-US"/>
          </a:p>
        </p:txBody>
      </p:sp>
      <p:sp>
        <p:nvSpPr>
          <p:cNvPr id="138251" name="Text Box 11"/>
          <p:cNvSpPr txBox="1">
            <a:spLocks noChangeArrowheads="1"/>
          </p:cNvSpPr>
          <p:nvPr/>
        </p:nvSpPr>
        <p:spPr bwMode="auto">
          <a:xfrm>
            <a:off x="3657600" y="5791200"/>
            <a:ext cx="685800" cy="366713"/>
          </a:xfrm>
          <a:prstGeom prst="rect">
            <a:avLst/>
          </a:prstGeom>
          <a:noFill/>
          <a:ln w="9525">
            <a:noFill/>
            <a:miter lim="800000"/>
            <a:headEnd/>
            <a:tailEnd/>
          </a:ln>
          <a:effectLst/>
        </p:spPr>
        <p:txBody>
          <a:bodyPr>
            <a:spAutoFit/>
          </a:bodyPr>
          <a:lstStyle/>
          <a:p>
            <a:pPr algn="l">
              <a:spcBef>
                <a:spcPct val="50000"/>
              </a:spcBef>
            </a:pPr>
            <a:r>
              <a:rPr lang="en-US" sz="1800"/>
              <a:t>q</a:t>
            </a:r>
            <a:r>
              <a:rPr lang="en-US" sz="1800" baseline="-25000"/>
              <a:t>1</a:t>
            </a:r>
          </a:p>
        </p:txBody>
      </p:sp>
      <p:sp>
        <p:nvSpPr>
          <p:cNvPr id="138252" name="AutoShape 12"/>
          <p:cNvSpPr>
            <a:spLocks noChangeArrowheads="1"/>
          </p:cNvSpPr>
          <p:nvPr/>
        </p:nvSpPr>
        <p:spPr bwMode="auto">
          <a:xfrm>
            <a:off x="3962400" y="3048000"/>
            <a:ext cx="76200" cy="76200"/>
          </a:xfrm>
          <a:prstGeom prst="flowChartConnector">
            <a:avLst/>
          </a:prstGeom>
          <a:solidFill>
            <a:schemeClr val="accent1"/>
          </a:solidFill>
          <a:ln w="9525">
            <a:solidFill>
              <a:schemeClr val="tx1"/>
            </a:solidFill>
            <a:round/>
            <a:headEnd/>
            <a:tailEnd/>
          </a:ln>
          <a:effectLst/>
        </p:spPr>
        <p:txBody>
          <a:bodyPr wrap="none" anchor="ctr"/>
          <a:lstStyle/>
          <a:p>
            <a:endParaRPr lang="en-US"/>
          </a:p>
        </p:txBody>
      </p:sp>
      <p:sp>
        <p:nvSpPr>
          <p:cNvPr id="138253" name="Text Box 13"/>
          <p:cNvSpPr txBox="1">
            <a:spLocks noChangeArrowheads="1"/>
          </p:cNvSpPr>
          <p:nvPr/>
        </p:nvSpPr>
        <p:spPr bwMode="auto">
          <a:xfrm>
            <a:off x="5715000" y="2362200"/>
            <a:ext cx="3124200" cy="3114675"/>
          </a:xfrm>
          <a:prstGeom prst="rect">
            <a:avLst/>
          </a:prstGeom>
          <a:noFill/>
          <a:ln w="9525">
            <a:noFill/>
            <a:miter lim="800000"/>
            <a:headEnd/>
            <a:tailEnd/>
          </a:ln>
          <a:effectLst/>
        </p:spPr>
        <p:txBody>
          <a:bodyPr>
            <a:spAutoFit/>
          </a:bodyPr>
          <a:lstStyle/>
          <a:p>
            <a:pPr algn="l">
              <a:spcBef>
                <a:spcPct val="50000"/>
              </a:spcBef>
              <a:buFontTx/>
              <a:buChar char="•"/>
            </a:pPr>
            <a:r>
              <a:rPr lang="en-US" sz="1800" dirty="0" smtClean="0"/>
              <a:t> An </a:t>
            </a:r>
            <a:r>
              <a:rPr lang="en-US" sz="1800" dirty="0"/>
              <a:t>increase in supply means that at the same price such as </a:t>
            </a:r>
            <a:r>
              <a:rPr lang="en-US" sz="1800" dirty="0" smtClean="0"/>
              <a:t>p</a:t>
            </a:r>
            <a:r>
              <a:rPr lang="en-US" sz="1800" baseline="-25000" dirty="0" smtClean="0"/>
              <a:t>1</a:t>
            </a:r>
            <a:r>
              <a:rPr lang="en-US" sz="1800" dirty="0" smtClean="0"/>
              <a:t> </a:t>
            </a:r>
            <a:r>
              <a:rPr lang="en-US" sz="1800" dirty="0"/>
              <a:t>more will be </a:t>
            </a:r>
            <a:r>
              <a:rPr lang="en-US" sz="1800" dirty="0" smtClean="0"/>
              <a:t>supplied, </a:t>
            </a:r>
            <a:r>
              <a:rPr lang="en-US" sz="1800" dirty="0"/>
              <a:t>due to other factors such as improvement in technology, increase in number of producers, etc.</a:t>
            </a:r>
          </a:p>
          <a:p>
            <a:pPr algn="l">
              <a:spcBef>
                <a:spcPct val="50000"/>
              </a:spcBef>
              <a:buFontTx/>
              <a:buChar char="•"/>
            </a:pPr>
            <a:r>
              <a:rPr lang="en-US" sz="1800" dirty="0" smtClean="0"/>
              <a:t> It </a:t>
            </a:r>
            <a:r>
              <a:rPr lang="en-US" sz="1800" dirty="0"/>
              <a:t>is shown as a shift in the entire supply </a:t>
            </a:r>
            <a:r>
              <a:rPr lang="en-US" sz="1800" dirty="0" smtClean="0"/>
              <a:t>curve.</a:t>
            </a:r>
            <a:endParaRPr lang="en-US" sz="1800" dirty="0"/>
          </a:p>
          <a:p>
            <a:pPr algn="l">
              <a:spcBef>
                <a:spcPct val="50000"/>
              </a:spcBef>
            </a:pPr>
            <a:endParaRPr lang="en-US" sz="1800" dirty="0"/>
          </a:p>
        </p:txBody>
      </p:sp>
      <p:sp>
        <p:nvSpPr>
          <p:cNvPr id="138254" name="Text Box 14"/>
          <p:cNvSpPr txBox="1">
            <a:spLocks noChangeArrowheads="1"/>
          </p:cNvSpPr>
          <p:nvPr/>
        </p:nvSpPr>
        <p:spPr bwMode="auto">
          <a:xfrm>
            <a:off x="4953000" y="1143000"/>
            <a:ext cx="762000" cy="366713"/>
          </a:xfrm>
          <a:prstGeom prst="rect">
            <a:avLst/>
          </a:prstGeom>
          <a:noFill/>
          <a:ln w="9525">
            <a:noFill/>
            <a:miter lim="800000"/>
            <a:headEnd/>
            <a:tailEnd/>
          </a:ln>
          <a:effectLst/>
        </p:spPr>
        <p:txBody>
          <a:bodyPr>
            <a:spAutoFit/>
          </a:bodyPr>
          <a:lstStyle/>
          <a:p>
            <a:pPr algn="l">
              <a:spcBef>
                <a:spcPct val="50000"/>
              </a:spcBef>
            </a:pPr>
            <a:r>
              <a:rPr lang="en-US" sz="1800"/>
              <a:t>S</a:t>
            </a:r>
            <a:r>
              <a:rPr lang="en-US" sz="1800" baseline="-25000"/>
              <a:t>0</a:t>
            </a:r>
          </a:p>
        </p:txBody>
      </p:sp>
      <p:sp>
        <p:nvSpPr>
          <p:cNvPr id="138255" name="Text Box 15"/>
          <p:cNvSpPr txBox="1">
            <a:spLocks noChangeArrowheads="1"/>
          </p:cNvSpPr>
          <p:nvPr/>
        </p:nvSpPr>
        <p:spPr bwMode="auto">
          <a:xfrm>
            <a:off x="5562600" y="1524000"/>
            <a:ext cx="762000" cy="366713"/>
          </a:xfrm>
          <a:prstGeom prst="rect">
            <a:avLst/>
          </a:prstGeom>
          <a:noFill/>
          <a:ln w="9525">
            <a:noFill/>
            <a:miter lim="800000"/>
            <a:headEnd/>
            <a:tailEnd/>
          </a:ln>
          <a:effectLst/>
        </p:spPr>
        <p:txBody>
          <a:bodyPr>
            <a:spAutoFit/>
          </a:bodyPr>
          <a:lstStyle/>
          <a:p>
            <a:pPr algn="l">
              <a:spcBef>
                <a:spcPct val="50000"/>
              </a:spcBef>
            </a:pPr>
            <a:r>
              <a:rPr lang="en-US" sz="1800"/>
              <a:t>S</a:t>
            </a:r>
            <a:r>
              <a:rPr lang="en-US" sz="1800" baseline="-25000"/>
              <a:t>1</a:t>
            </a:r>
          </a:p>
        </p:txBody>
      </p:sp>
      <p:sp>
        <p:nvSpPr>
          <p:cNvPr id="138256" name="Text Box 16"/>
          <p:cNvSpPr txBox="1">
            <a:spLocks noChangeArrowheads="1"/>
          </p:cNvSpPr>
          <p:nvPr/>
        </p:nvSpPr>
        <p:spPr bwMode="auto">
          <a:xfrm>
            <a:off x="4343400" y="5791200"/>
            <a:ext cx="685800" cy="366713"/>
          </a:xfrm>
          <a:prstGeom prst="rect">
            <a:avLst/>
          </a:prstGeom>
          <a:noFill/>
          <a:ln w="9525">
            <a:noFill/>
            <a:miter lim="800000"/>
            <a:headEnd/>
            <a:tailEnd/>
          </a:ln>
          <a:effectLst/>
        </p:spPr>
        <p:txBody>
          <a:bodyPr>
            <a:spAutoFit/>
          </a:bodyPr>
          <a:lstStyle/>
          <a:p>
            <a:pPr algn="l">
              <a:spcBef>
                <a:spcPct val="50000"/>
              </a:spcBef>
            </a:pPr>
            <a:r>
              <a:rPr lang="en-US" sz="1800"/>
              <a:t>q</a:t>
            </a:r>
            <a:r>
              <a:rPr lang="en-US" sz="1800" baseline="-25000"/>
              <a:t>2</a:t>
            </a:r>
            <a:endParaRPr lang="en-US" sz="1800"/>
          </a:p>
        </p:txBody>
      </p:sp>
      <p:sp>
        <p:nvSpPr>
          <p:cNvPr id="138257" name="Line 17"/>
          <p:cNvSpPr>
            <a:spLocks noChangeShapeType="1"/>
          </p:cNvSpPr>
          <p:nvPr/>
        </p:nvSpPr>
        <p:spPr bwMode="auto">
          <a:xfrm>
            <a:off x="4648200" y="3124200"/>
            <a:ext cx="0" cy="2743200"/>
          </a:xfrm>
          <a:prstGeom prst="line">
            <a:avLst/>
          </a:prstGeom>
          <a:noFill/>
          <a:ln w="9525">
            <a:solidFill>
              <a:schemeClr val="tx1"/>
            </a:solidFill>
            <a:prstDash val="dash"/>
            <a:round/>
            <a:headEnd/>
            <a:tailEnd/>
          </a:ln>
          <a:effectLst/>
        </p:spPr>
        <p:txBody>
          <a:bodyPr/>
          <a:lstStyle/>
          <a:p>
            <a:endParaRPr lang="en-US"/>
          </a:p>
        </p:txBody>
      </p:sp>
      <p:sp>
        <p:nvSpPr>
          <p:cNvPr id="138258" name="Line 18"/>
          <p:cNvSpPr>
            <a:spLocks noChangeShapeType="1"/>
          </p:cNvSpPr>
          <p:nvPr/>
        </p:nvSpPr>
        <p:spPr bwMode="auto">
          <a:xfrm>
            <a:off x="3352800" y="4114800"/>
            <a:ext cx="533400" cy="0"/>
          </a:xfrm>
          <a:prstGeom prst="line">
            <a:avLst/>
          </a:prstGeom>
          <a:noFill/>
          <a:ln w="9525">
            <a:solidFill>
              <a:schemeClr val="tx1"/>
            </a:solidFill>
            <a:round/>
            <a:headEnd/>
            <a:tailEnd type="triangle" w="med" len="med"/>
          </a:ln>
          <a:effectLst/>
        </p:spPr>
        <p:txBody>
          <a:bodyPr/>
          <a:lstStyle/>
          <a:p>
            <a:endParaRPr lang="en-US"/>
          </a:p>
        </p:txBody>
      </p:sp>
      <p:sp>
        <p:nvSpPr>
          <p:cNvPr id="138259" name="Line 19"/>
          <p:cNvSpPr>
            <a:spLocks noChangeShapeType="1"/>
          </p:cNvSpPr>
          <p:nvPr/>
        </p:nvSpPr>
        <p:spPr bwMode="auto">
          <a:xfrm>
            <a:off x="3962400" y="3048000"/>
            <a:ext cx="685800" cy="0"/>
          </a:xfrm>
          <a:prstGeom prst="line">
            <a:avLst/>
          </a:prstGeom>
          <a:noFill/>
          <a:ln w="9525">
            <a:solidFill>
              <a:schemeClr val="tx1"/>
            </a:solidFill>
            <a:prstDash val="dash"/>
            <a:round/>
            <a:headEnd/>
            <a:tailEnd/>
          </a:ln>
          <a:effectLst/>
        </p:spPr>
        <p:txBody>
          <a:bodyPr/>
          <a:lstStyle/>
          <a:p>
            <a:endParaRPr lang="en-US"/>
          </a:p>
        </p:txBody>
      </p:sp>
      <p:sp>
        <p:nvSpPr>
          <p:cNvPr id="138260" name="Line 20"/>
          <p:cNvSpPr>
            <a:spLocks noChangeShapeType="1"/>
          </p:cNvSpPr>
          <p:nvPr/>
        </p:nvSpPr>
        <p:spPr bwMode="auto">
          <a:xfrm flipH="1">
            <a:off x="3048000" y="1524000"/>
            <a:ext cx="2590800" cy="3962400"/>
          </a:xfrm>
          <a:prstGeom prst="line">
            <a:avLst/>
          </a:prstGeom>
          <a:noFill/>
          <a:ln w="25400">
            <a:solidFill>
              <a:srgbClr val="FFFF00"/>
            </a:solidFill>
            <a:round/>
            <a:headEnd/>
            <a:tailEnd/>
          </a:ln>
          <a:effectLst/>
        </p:spPr>
        <p:txBody>
          <a:bodyPr/>
          <a:lstStyle/>
          <a:p>
            <a:endParaRPr lang="en-US"/>
          </a:p>
        </p:txBody>
      </p:sp>
      <p:sp>
        <p:nvSpPr>
          <p:cNvPr id="138261" name="Line 21"/>
          <p:cNvSpPr>
            <a:spLocks noChangeShapeType="1"/>
          </p:cNvSpPr>
          <p:nvPr/>
        </p:nvSpPr>
        <p:spPr bwMode="auto">
          <a:xfrm>
            <a:off x="4572000" y="2286000"/>
            <a:ext cx="533400" cy="0"/>
          </a:xfrm>
          <a:prstGeom prst="line">
            <a:avLst/>
          </a:prstGeom>
          <a:noFill/>
          <a:ln w="9525">
            <a:solidFill>
              <a:schemeClr val="tx1"/>
            </a:solidFill>
            <a:round/>
            <a:headEnd/>
            <a:tailEnd type="triangle" w="med" len="med"/>
          </a:ln>
          <a:effectLst/>
        </p:spPr>
        <p:txBody>
          <a:bodyPr/>
          <a:lstStyle/>
          <a:p>
            <a:endParaRPr lang="en-US"/>
          </a:p>
        </p:txBody>
      </p:sp>
      <p:sp>
        <p:nvSpPr>
          <p:cNvPr id="138262" name="Text Box 22"/>
          <p:cNvSpPr txBox="1">
            <a:spLocks noChangeArrowheads="1"/>
          </p:cNvSpPr>
          <p:nvPr/>
        </p:nvSpPr>
        <p:spPr bwMode="auto">
          <a:xfrm>
            <a:off x="304800" y="4191000"/>
            <a:ext cx="1524000" cy="915988"/>
          </a:xfrm>
          <a:prstGeom prst="rect">
            <a:avLst/>
          </a:prstGeom>
          <a:noFill/>
          <a:ln w="9525">
            <a:noFill/>
            <a:miter lim="800000"/>
            <a:headEnd/>
            <a:tailEnd/>
          </a:ln>
          <a:effectLst/>
        </p:spPr>
        <p:txBody>
          <a:bodyPr>
            <a:spAutoFit/>
          </a:bodyPr>
          <a:lstStyle/>
          <a:p>
            <a:pPr algn="l">
              <a:spcBef>
                <a:spcPct val="50000"/>
              </a:spcBef>
            </a:pPr>
            <a:r>
              <a:rPr lang="en-US" sz="1800">
                <a:solidFill>
                  <a:schemeClr val="hlink"/>
                </a:solidFill>
              </a:rPr>
              <a:t>This is a decrease in supply</a:t>
            </a:r>
          </a:p>
        </p:txBody>
      </p:sp>
      <p:sp>
        <p:nvSpPr>
          <p:cNvPr id="138263" name="Text Box 23"/>
          <p:cNvSpPr txBox="1">
            <a:spLocks noChangeArrowheads="1"/>
          </p:cNvSpPr>
          <p:nvPr/>
        </p:nvSpPr>
        <p:spPr bwMode="auto">
          <a:xfrm>
            <a:off x="3657600" y="1219200"/>
            <a:ext cx="762000" cy="366713"/>
          </a:xfrm>
          <a:prstGeom prst="rect">
            <a:avLst/>
          </a:prstGeom>
          <a:noFill/>
          <a:ln w="9525">
            <a:noFill/>
            <a:miter lim="800000"/>
            <a:headEnd/>
            <a:tailEnd/>
          </a:ln>
          <a:effectLst/>
        </p:spPr>
        <p:txBody>
          <a:bodyPr>
            <a:spAutoFit/>
          </a:bodyPr>
          <a:lstStyle/>
          <a:p>
            <a:pPr algn="l">
              <a:spcBef>
                <a:spcPct val="50000"/>
              </a:spcBef>
            </a:pPr>
            <a:r>
              <a:rPr lang="en-US" sz="1800"/>
              <a:t>S</a:t>
            </a:r>
            <a:r>
              <a:rPr lang="en-US" sz="1800" baseline="-25000"/>
              <a:t>2</a:t>
            </a:r>
          </a:p>
        </p:txBody>
      </p:sp>
      <p:sp>
        <p:nvSpPr>
          <p:cNvPr id="138264" name="Line 24"/>
          <p:cNvSpPr>
            <a:spLocks noChangeShapeType="1"/>
          </p:cNvSpPr>
          <p:nvPr/>
        </p:nvSpPr>
        <p:spPr bwMode="auto">
          <a:xfrm flipH="1">
            <a:off x="4343400" y="1752600"/>
            <a:ext cx="381000" cy="0"/>
          </a:xfrm>
          <a:prstGeom prst="line">
            <a:avLst/>
          </a:prstGeom>
          <a:noFill/>
          <a:ln w="9525">
            <a:solidFill>
              <a:schemeClr val="tx1"/>
            </a:solidFill>
            <a:round/>
            <a:headEnd/>
            <a:tailEnd type="triangle" w="med" len="med"/>
          </a:ln>
          <a:effectLst/>
        </p:spPr>
        <p:txBody>
          <a:bodyPr/>
          <a:lstStyle/>
          <a:p>
            <a:endParaRPr lang="en-US"/>
          </a:p>
        </p:txBody>
      </p:sp>
      <p:sp>
        <p:nvSpPr>
          <p:cNvPr id="138265" name="Line 25"/>
          <p:cNvSpPr>
            <a:spLocks noChangeShapeType="1"/>
          </p:cNvSpPr>
          <p:nvPr/>
        </p:nvSpPr>
        <p:spPr bwMode="auto">
          <a:xfrm flipH="1">
            <a:off x="2209800" y="1371600"/>
            <a:ext cx="2286000" cy="3352800"/>
          </a:xfrm>
          <a:prstGeom prst="line">
            <a:avLst/>
          </a:prstGeom>
          <a:noFill/>
          <a:ln w="25400">
            <a:solidFill>
              <a:srgbClr val="00FF00"/>
            </a:solidFill>
            <a:round/>
            <a:headEnd/>
            <a:tailEnd/>
          </a:ln>
          <a:effectLst/>
        </p:spPr>
        <p:txBody>
          <a:bodyPr/>
          <a:lstStyle/>
          <a:p>
            <a:endParaRPr lang="en-US"/>
          </a:p>
        </p:txBody>
      </p:sp>
      <p:sp>
        <p:nvSpPr>
          <p:cNvPr id="27" name="Slide Number Placeholder 26"/>
          <p:cNvSpPr>
            <a:spLocks noGrp="1"/>
          </p:cNvSpPr>
          <p:nvPr>
            <p:ph type="sldNum" sz="quarter" idx="11"/>
          </p:nvPr>
        </p:nvSpPr>
        <p:spPr/>
        <p:txBody>
          <a:bodyPr/>
          <a:lstStyle/>
          <a:p>
            <a:fld id="{5D8C0D95-B81A-45DB-B701-8AAA9905C101}" type="slidenum">
              <a:rPr lang="en-US" smtClean="0"/>
              <a:pPr/>
              <a:t>35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38253">
                                            <p:txEl>
                                              <p:pRg st="0" end="0"/>
                                            </p:txEl>
                                          </p:spTgt>
                                        </p:tgtEl>
                                        <p:attrNameLst>
                                          <p:attrName>style.visibility</p:attrName>
                                        </p:attrNameLst>
                                      </p:cBhvr>
                                      <p:to>
                                        <p:strVal val="visible"/>
                                      </p:to>
                                    </p:set>
                                    <p:animEffect transition="in" filter="diamond(in)">
                                      <p:cBhvr>
                                        <p:cTn id="7" dur="2000"/>
                                        <p:tgtEl>
                                          <p:spTgt spid="1382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38261"/>
                                        </p:tgtEl>
                                        <p:attrNameLst>
                                          <p:attrName>style.visibility</p:attrName>
                                        </p:attrNameLst>
                                      </p:cBhvr>
                                      <p:to>
                                        <p:strVal val="visible"/>
                                      </p:to>
                                    </p:set>
                                    <p:anim calcmode="lin" valueType="num">
                                      <p:cBhvr additive="base">
                                        <p:cTn id="12" dur="500" fill="hold"/>
                                        <p:tgtEl>
                                          <p:spTgt spid="138261"/>
                                        </p:tgtEl>
                                        <p:attrNameLst>
                                          <p:attrName>ppt_x</p:attrName>
                                        </p:attrNameLst>
                                      </p:cBhvr>
                                      <p:tavLst>
                                        <p:tav tm="0">
                                          <p:val>
                                            <p:strVal val="#ppt_x"/>
                                          </p:val>
                                        </p:tav>
                                        <p:tav tm="100000">
                                          <p:val>
                                            <p:strVal val="#ppt_x"/>
                                          </p:val>
                                        </p:tav>
                                      </p:tavLst>
                                    </p:anim>
                                    <p:anim calcmode="lin" valueType="num">
                                      <p:cBhvr additive="base">
                                        <p:cTn id="13" dur="500" fill="hold"/>
                                        <p:tgtEl>
                                          <p:spTgt spid="138261"/>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38260"/>
                                        </p:tgtEl>
                                        <p:attrNameLst>
                                          <p:attrName>style.visibility</p:attrName>
                                        </p:attrNameLst>
                                      </p:cBhvr>
                                      <p:to>
                                        <p:strVal val="visible"/>
                                      </p:to>
                                    </p:set>
                                    <p:anim calcmode="lin" valueType="num">
                                      <p:cBhvr additive="base">
                                        <p:cTn id="16" dur="500" fill="hold"/>
                                        <p:tgtEl>
                                          <p:spTgt spid="138260"/>
                                        </p:tgtEl>
                                        <p:attrNameLst>
                                          <p:attrName>ppt_x</p:attrName>
                                        </p:attrNameLst>
                                      </p:cBhvr>
                                      <p:tavLst>
                                        <p:tav tm="0">
                                          <p:val>
                                            <p:strVal val="#ppt_x"/>
                                          </p:val>
                                        </p:tav>
                                        <p:tav tm="100000">
                                          <p:val>
                                            <p:strVal val="#ppt_x"/>
                                          </p:val>
                                        </p:tav>
                                      </p:tavLst>
                                    </p:anim>
                                    <p:anim calcmode="lin" valueType="num">
                                      <p:cBhvr additive="base">
                                        <p:cTn id="17" dur="500" fill="hold"/>
                                        <p:tgtEl>
                                          <p:spTgt spid="138260"/>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138259"/>
                                        </p:tgtEl>
                                        <p:attrNameLst>
                                          <p:attrName>style.visibility</p:attrName>
                                        </p:attrNameLst>
                                      </p:cBhvr>
                                      <p:to>
                                        <p:strVal val="visible"/>
                                      </p:to>
                                    </p:set>
                                    <p:anim calcmode="lin" valueType="num">
                                      <p:cBhvr additive="base">
                                        <p:cTn id="20" dur="500" fill="hold"/>
                                        <p:tgtEl>
                                          <p:spTgt spid="138259"/>
                                        </p:tgtEl>
                                        <p:attrNameLst>
                                          <p:attrName>ppt_x</p:attrName>
                                        </p:attrNameLst>
                                      </p:cBhvr>
                                      <p:tavLst>
                                        <p:tav tm="0">
                                          <p:val>
                                            <p:strVal val="#ppt_x"/>
                                          </p:val>
                                        </p:tav>
                                        <p:tav tm="100000">
                                          <p:val>
                                            <p:strVal val="#ppt_x"/>
                                          </p:val>
                                        </p:tav>
                                      </p:tavLst>
                                    </p:anim>
                                    <p:anim calcmode="lin" valueType="num">
                                      <p:cBhvr additive="base">
                                        <p:cTn id="21" dur="500" fill="hold"/>
                                        <p:tgtEl>
                                          <p:spTgt spid="138259"/>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38258"/>
                                        </p:tgtEl>
                                        <p:attrNameLst>
                                          <p:attrName>style.visibility</p:attrName>
                                        </p:attrNameLst>
                                      </p:cBhvr>
                                      <p:to>
                                        <p:strVal val="visible"/>
                                      </p:to>
                                    </p:set>
                                    <p:anim calcmode="lin" valueType="num">
                                      <p:cBhvr additive="base">
                                        <p:cTn id="24" dur="500" fill="hold"/>
                                        <p:tgtEl>
                                          <p:spTgt spid="138258"/>
                                        </p:tgtEl>
                                        <p:attrNameLst>
                                          <p:attrName>ppt_x</p:attrName>
                                        </p:attrNameLst>
                                      </p:cBhvr>
                                      <p:tavLst>
                                        <p:tav tm="0">
                                          <p:val>
                                            <p:strVal val="#ppt_x"/>
                                          </p:val>
                                        </p:tav>
                                        <p:tav tm="100000">
                                          <p:val>
                                            <p:strVal val="#ppt_x"/>
                                          </p:val>
                                        </p:tav>
                                      </p:tavLst>
                                    </p:anim>
                                    <p:anim calcmode="lin" valueType="num">
                                      <p:cBhvr additive="base">
                                        <p:cTn id="25" dur="500" fill="hold"/>
                                        <p:tgtEl>
                                          <p:spTgt spid="13825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38257"/>
                                        </p:tgtEl>
                                        <p:attrNameLst>
                                          <p:attrName>style.visibility</p:attrName>
                                        </p:attrNameLst>
                                      </p:cBhvr>
                                      <p:to>
                                        <p:strVal val="visible"/>
                                      </p:to>
                                    </p:set>
                                    <p:anim calcmode="lin" valueType="num">
                                      <p:cBhvr additive="base">
                                        <p:cTn id="28" dur="500" fill="hold"/>
                                        <p:tgtEl>
                                          <p:spTgt spid="138257"/>
                                        </p:tgtEl>
                                        <p:attrNameLst>
                                          <p:attrName>ppt_x</p:attrName>
                                        </p:attrNameLst>
                                      </p:cBhvr>
                                      <p:tavLst>
                                        <p:tav tm="0">
                                          <p:val>
                                            <p:strVal val="#ppt_x"/>
                                          </p:val>
                                        </p:tav>
                                        <p:tav tm="100000">
                                          <p:val>
                                            <p:strVal val="#ppt_x"/>
                                          </p:val>
                                        </p:tav>
                                      </p:tavLst>
                                    </p:anim>
                                    <p:anim calcmode="lin" valueType="num">
                                      <p:cBhvr additive="base">
                                        <p:cTn id="29" dur="500" fill="hold"/>
                                        <p:tgtEl>
                                          <p:spTgt spid="138257"/>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38256"/>
                                        </p:tgtEl>
                                        <p:attrNameLst>
                                          <p:attrName>style.visibility</p:attrName>
                                        </p:attrNameLst>
                                      </p:cBhvr>
                                      <p:to>
                                        <p:strVal val="visible"/>
                                      </p:to>
                                    </p:set>
                                    <p:anim calcmode="lin" valueType="num">
                                      <p:cBhvr additive="base">
                                        <p:cTn id="32" dur="500" fill="hold"/>
                                        <p:tgtEl>
                                          <p:spTgt spid="138256"/>
                                        </p:tgtEl>
                                        <p:attrNameLst>
                                          <p:attrName>ppt_x</p:attrName>
                                        </p:attrNameLst>
                                      </p:cBhvr>
                                      <p:tavLst>
                                        <p:tav tm="0">
                                          <p:val>
                                            <p:strVal val="#ppt_x"/>
                                          </p:val>
                                        </p:tav>
                                        <p:tav tm="100000">
                                          <p:val>
                                            <p:strVal val="#ppt_x"/>
                                          </p:val>
                                        </p:tav>
                                      </p:tavLst>
                                    </p:anim>
                                    <p:anim calcmode="lin" valueType="num">
                                      <p:cBhvr additive="base">
                                        <p:cTn id="33" dur="500" fill="hold"/>
                                        <p:tgtEl>
                                          <p:spTgt spid="138256"/>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138255"/>
                                        </p:tgtEl>
                                        <p:attrNameLst>
                                          <p:attrName>style.visibility</p:attrName>
                                        </p:attrNameLst>
                                      </p:cBhvr>
                                      <p:to>
                                        <p:strVal val="visible"/>
                                      </p:to>
                                    </p:set>
                                    <p:anim calcmode="lin" valueType="num">
                                      <p:cBhvr additive="base">
                                        <p:cTn id="36" dur="500" fill="hold"/>
                                        <p:tgtEl>
                                          <p:spTgt spid="138255"/>
                                        </p:tgtEl>
                                        <p:attrNameLst>
                                          <p:attrName>ppt_x</p:attrName>
                                        </p:attrNameLst>
                                      </p:cBhvr>
                                      <p:tavLst>
                                        <p:tav tm="0">
                                          <p:val>
                                            <p:strVal val="#ppt_x"/>
                                          </p:val>
                                        </p:tav>
                                        <p:tav tm="100000">
                                          <p:val>
                                            <p:strVal val="#ppt_x"/>
                                          </p:val>
                                        </p:tav>
                                      </p:tavLst>
                                    </p:anim>
                                    <p:anim calcmode="lin" valueType="num">
                                      <p:cBhvr additive="base">
                                        <p:cTn id="37" dur="500" fill="hold"/>
                                        <p:tgtEl>
                                          <p:spTgt spid="13825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138253">
                                            <p:txEl>
                                              <p:pRg st="1" end="1"/>
                                            </p:txEl>
                                          </p:spTgt>
                                        </p:tgtEl>
                                        <p:attrNameLst>
                                          <p:attrName>style.visibility</p:attrName>
                                        </p:attrNameLst>
                                      </p:cBhvr>
                                      <p:to>
                                        <p:strVal val="visible"/>
                                      </p:to>
                                    </p:set>
                                    <p:animEffect transition="in" filter="checkerboard(across)">
                                      <p:cBhvr>
                                        <p:cTn id="42" dur="500"/>
                                        <p:tgtEl>
                                          <p:spTgt spid="138253">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138265"/>
                                        </p:tgtEl>
                                        <p:attrNameLst>
                                          <p:attrName>style.visibility</p:attrName>
                                        </p:attrNameLst>
                                      </p:cBhvr>
                                      <p:to>
                                        <p:strVal val="visible"/>
                                      </p:to>
                                    </p:set>
                                    <p:anim calcmode="lin" valueType="num">
                                      <p:cBhvr additive="base">
                                        <p:cTn id="47" dur="500" fill="hold"/>
                                        <p:tgtEl>
                                          <p:spTgt spid="138265"/>
                                        </p:tgtEl>
                                        <p:attrNameLst>
                                          <p:attrName>ppt_x</p:attrName>
                                        </p:attrNameLst>
                                      </p:cBhvr>
                                      <p:tavLst>
                                        <p:tav tm="0">
                                          <p:val>
                                            <p:strVal val="1+#ppt_w/2"/>
                                          </p:val>
                                        </p:tav>
                                        <p:tav tm="100000">
                                          <p:val>
                                            <p:strVal val="#ppt_x"/>
                                          </p:val>
                                        </p:tav>
                                      </p:tavLst>
                                    </p:anim>
                                    <p:anim calcmode="lin" valueType="num">
                                      <p:cBhvr additive="base">
                                        <p:cTn id="48" dur="500" fill="hold"/>
                                        <p:tgtEl>
                                          <p:spTgt spid="138265"/>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38264"/>
                                        </p:tgtEl>
                                        <p:attrNameLst>
                                          <p:attrName>style.visibility</p:attrName>
                                        </p:attrNameLst>
                                      </p:cBhvr>
                                      <p:to>
                                        <p:strVal val="visible"/>
                                      </p:to>
                                    </p:set>
                                    <p:anim calcmode="lin" valueType="num">
                                      <p:cBhvr additive="base">
                                        <p:cTn id="51" dur="500" fill="hold"/>
                                        <p:tgtEl>
                                          <p:spTgt spid="138264"/>
                                        </p:tgtEl>
                                        <p:attrNameLst>
                                          <p:attrName>ppt_x</p:attrName>
                                        </p:attrNameLst>
                                      </p:cBhvr>
                                      <p:tavLst>
                                        <p:tav tm="0">
                                          <p:val>
                                            <p:strVal val="1+#ppt_w/2"/>
                                          </p:val>
                                        </p:tav>
                                        <p:tav tm="100000">
                                          <p:val>
                                            <p:strVal val="#ppt_x"/>
                                          </p:val>
                                        </p:tav>
                                      </p:tavLst>
                                    </p:anim>
                                    <p:anim calcmode="lin" valueType="num">
                                      <p:cBhvr additive="base">
                                        <p:cTn id="52" dur="500" fill="hold"/>
                                        <p:tgtEl>
                                          <p:spTgt spid="138264"/>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38263"/>
                                        </p:tgtEl>
                                        <p:attrNameLst>
                                          <p:attrName>style.visibility</p:attrName>
                                        </p:attrNameLst>
                                      </p:cBhvr>
                                      <p:to>
                                        <p:strVal val="visible"/>
                                      </p:to>
                                    </p:set>
                                    <p:anim calcmode="lin" valueType="num">
                                      <p:cBhvr additive="base">
                                        <p:cTn id="55" dur="500" fill="hold"/>
                                        <p:tgtEl>
                                          <p:spTgt spid="138263"/>
                                        </p:tgtEl>
                                        <p:attrNameLst>
                                          <p:attrName>ppt_x</p:attrName>
                                        </p:attrNameLst>
                                      </p:cBhvr>
                                      <p:tavLst>
                                        <p:tav tm="0">
                                          <p:val>
                                            <p:strVal val="1+#ppt_w/2"/>
                                          </p:val>
                                        </p:tav>
                                        <p:tav tm="100000">
                                          <p:val>
                                            <p:strVal val="#ppt_x"/>
                                          </p:val>
                                        </p:tav>
                                      </p:tavLst>
                                    </p:anim>
                                    <p:anim calcmode="lin" valueType="num">
                                      <p:cBhvr additive="base">
                                        <p:cTn id="56" dur="500" fill="hold"/>
                                        <p:tgtEl>
                                          <p:spTgt spid="138263"/>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138262"/>
                                        </p:tgtEl>
                                        <p:attrNameLst>
                                          <p:attrName>style.visibility</p:attrName>
                                        </p:attrNameLst>
                                      </p:cBhvr>
                                      <p:to>
                                        <p:strVal val="visible"/>
                                      </p:to>
                                    </p:set>
                                    <p:anim calcmode="lin" valueType="num">
                                      <p:cBhvr additive="base">
                                        <p:cTn id="59" dur="500" fill="hold"/>
                                        <p:tgtEl>
                                          <p:spTgt spid="138262"/>
                                        </p:tgtEl>
                                        <p:attrNameLst>
                                          <p:attrName>ppt_x</p:attrName>
                                        </p:attrNameLst>
                                      </p:cBhvr>
                                      <p:tavLst>
                                        <p:tav tm="0">
                                          <p:val>
                                            <p:strVal val="1+#ppt_w/2"/>
                                          </p:val>
                                        </p:tav>
                                        <p:tav tm="100000">
                                          <p:val>
                                            <p:strVal val="#ppt_x"/>
                                          </p:val>
                                        </p:tav>
                                      </p:tavLst>
                                    </p:anim>
                                    <p:anim calcmode="lin" valueType="num">
                                      <p:cBhvr additive="base">
                                        <p:cTn id="60" dur="500" fill="hold"/>
                                        <p:tgtEl>
                                          <p:spTgt spid="1382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57" grpId="0" animBg="1"/>
      <p:bldP spid="138258" grpId="0" animBg="1"/>
      <p:bldP spid="138259" grpId="0" animBg="1"/>
      <p:bldP spid="138260" grpId="0" animBg="1"/>
      <p:bldP spid="138261" grpId="0" animBg="1"/>
      <p:bldP spid="138262" grpId="0"/>
      <p:bldP spid="138263" grpId="0"/>
      <p:bldP spid="138264" grpId="0" animBg="1"/>
      <p:bldP spid="13826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algn="l"/>
            <a:r>
              <a:rPr lang="en-US" dirty="0" smtClean="0"/>
              <a:t>(Cont.)</a:t>
            </a:r>
            <a:endParaRPr lang="en-US" dirty="0"/>
          </a:p>
        </p:txBody>
      </p:sp>
      <p:sp>
        <p:nvSpPr>
          <p:cNvPr id="139267" name="Line 3"/>
          <p:cNvSpPr>
            <a:spLocks noChangeShapeType="1"/>
          </p:cNvSpPr>
          <p:nvPr/>
        </p:nvSpPr>
        <p:spPr bwMode="auto">
          <a:xfrm>
            <a:off x="838200" y="1981200"/>
            <a:ext cx="0" cy="2971800"/>
          </a:xfrm>
          <a:prstGeom prst="line">
            <a:avLst/>
          </a:prstGeom>
          <a:noFill/>
          <a:ln w="9525">
            <a:solidFill>
              <a:schemeClr val="tx1"/>
            </a:solidFill>
            <a:round/>
            <a:headEnd/>
            <a:tailEnd/>
          </a:ln>
          <a:effectLst/>
        </p:spPr>
        <p:txBody>
          <a:bodyPr/>
          <a:lstStyle/>
          <a:p>
            <a:endParaRPr lang="en-US"/>
          </a:p>
        </p:txBody>
      </p:sp>
      <p:sp>
        <p:nvSpPr>
          <p:cNvPr id="139268" name="Line 4"/>
          <p:cNvSpPr>
            <a:spLocks noChangeShapeType="1"/>
          </p:cNvSpPr>
          <p:nvPr/>
        </p:nvSpPr>
        <p:spPr bwMode="auto">
          <a:xfrm>
            <a:off x="838200" y="4953000"/>
            <a:ext cx="3124200" cy="0"/>
          </a:xfrm>
          <a:prstGeom prst="line">
            <a:avLst/>
          </a:prstGeom>
          <a:noFill/>
          <a:ln w="9525">
            <a:solidFill>
              <a:schemeClr val="tx1"/>
            </a:solidFill>
            <a:round/>
            <a:headEnd/>
            <a:tailEnd/>
          </a:ln>
          <a:effectLst/>
        </p:spPr>
        <p:txBody>
          <a:bodyPr/>
          <a:lstStyle/>
          <a:p>
            <a:endParaRPr lang="en-US"/>
          </a:p>
        </p:txBody>
      </p:sp>
      <p:sp>
        <p:nvSpPr>
          <p:cNvPr id="139271" name="Line 7"/>
          <p:cNvSpPr>
            <a:spLocks noChangeShapeType="1"/>
          </p:cNvSpPr>
          <p:nvPr/>
        </p:nvSpPr>
        <p:spPr bwMode="auto">
          <a:xfrm>
            <a:off x="2286000" y="3505200"/>
            <a:ext cx="533400" cy="0"/>
          </a:xfrm>
          <a:prstGeom prst="line">
            <a:avLst/>
          </a:prstGeom>
          <a:noFill/>
          <a:ln w="9525">
            <a:solidFill>
              <a:schemeClr val="tx1"/>
            </a:solidFill>
            <a:round/>
            <a:headEnd/>
            <a:tailEnd type="triangle" w="med" len="med"/>
          </a:ln>
          <a:effectLst/>
        </p:spPr>
        <p:txBody>
          <a:bodyPr/>
          <a:lstStyle/>
          <a:p>
            <a:endParaRPr lang="en-US"/>
          </a:p>
        </p:txBody>
      </p:sp>
      <p:sp>
        <p:nvSpPr>
          <p:cNvPr id="139272" name="Text Box 8"/>
          <p:cNvSpPr txBox="1">
            <a:spLocks noChangeArrowheads="1"/>
          </p:cNvSpPr>
          <p:nvPr/>
        </p:nvSpPr>
        <p:spPr bwMode="auto">
          <a:xfrm>
            <a:off x="228600" y="1905000"/>
            <a:ext cx="304800" cy="366713"/>
          </a:xfrm>
          <a:prstGeom prst="rect">
            <a:avLst/>
          </a:prstGeom>
          <a:noFill/>
          <a:ln w="9525">
            <a:noFill/>
            <a:miter lim="800000"/>
            <a:headEnd/>
            <a:tailEnd/>
          </a:ln>
          <a:effectLst/>
        </p:spPr>
        <p:txBody>
          <a:bodyPr>
            <a:spAutoFit/>
          </a:bodyPr>
          <a:lstStyle/>
          <a:p>
            <a:pPr algn="l">
              <a:spcBef>
                <a:spcPct val="50000"/>
              </a:spcBef>
            </a:pPr>
            <a:r>
              <a:rPr lang="en-US" sz="1800"/>
              <a:t>P</a:t>
            </a:r>
          </a:p>
        </p:txBody>
      </p:sp>
      <p:sp>
        <p:nvSpPr>
          <p:cNvPr id="139273" name="Text Box 9"/>
          <p:cNvSpPr txBox="1">
            <a:spLocks noChangeArrowheads="1"/>
          </p:cNvSpPr>
          <p:nvPr/>
        </p:nvSpPr>
        <p:spPr bwMode="auto">
          <a:xfrm>
            <a:off x="3733800" y="5029200"/>
            <a:ext cx="457200" cy="366713"/>
          </a:xfrm>
          <a:prstGeom prst="rect">
            <a:avLst/>
          </a:prstGeom>
          <a:noFill/>
          <a:ln w="9525">
            <a:noFill/>
            <a:miter lim="800000"/>
            <a:headEnd/>
            <a:tailEnd/>
          </a:ln>
          <a:effectLst/>
        </p:spPr>
        <p:txBody>
          <a:bodyPr>
            <a:spAutoFit/>
          </a:bodyPr>
          <a:lstStyle/>
          <a:p>
            <a:pPr algn="l">
              <a:spcBef>
                <a:spcPct val="50000"/>
              </a:spcBef>
            </a:pPr>
            <a:r>
              <a:rPr lang="en-US" sz="1800"/>
              <a:t>Q</a:t>
            </a:r>
          </a:p>
        </p:txBody>
      </p:sp>
      <p:sp>
        <p:nvSpPr>
          <p:cNvPr id="139274" name="Text Box 10"/>
          <p:cNvSpPr txBox="1">
            <a:spLocks noChangeArrowheads="1"/>
          </p:cNvSpPr>
          <p:nvPr/>
        </p:nvSpPr>
        <p:spPr bwMode="auto">
          <a:xfrm>
            <a:off x="2895600" y="1981200"/>
            <a:ext cx="457200" cy="304800"/>
          </a:xfrm>
          <a:prstGeom prst="rect">
            <a:avLst/>
          </a:prstGeom>
          <a:noFill/>
          <a:ln w="9525">
            <a:noFill/>
            <a:miter lim="800000"/>
            <a:headEnd/>
            <a:tailEnd/>
          </a:ln>
          <a:effectLst/>
        </p:spPr>
        <p:txBody>
          <a:bodyPr>
            <a:spAutoFit/>
          </a:bodyPr>
          <a:lstStyle/>
          <a:p>
            <a:pPr algn="l">
              <a:spcBef>
                <a:spcPct val="50000"/>
              </a:spcBef>
            </a:pPr>
            <a:r>
              <a:rPr lang="en-US" sz="1400"/>
              <a:t>S</a:t>
            </a:r>
          </a:p>
        </p:txBody>
      </p:sp>
      <p:sp>
        <p:nvSpPr>
          <p:cNvPr id="139275" name="Text Box 11"/>
          <p:cNvSpPr txBox="1">
            <a:spLocks noChangeArrowheads="1"/>
          </p:cNvSpPr>
          <p:nvPr/>
        </p:nvSpPr>
        <p:spPr bwMode="auto">
          <a:xfrm>
            <a:off x="3581400" y="2514600"/>
            <a:ext cx="457200" cy="304800"/>
          </a:xfrm>
          <a:prstGeom prst="rect">
            <a:avLst/>
          </a:prstGeom>
          <a:noFill/>
          <a:ln w="9525">
            <a:noFill/>
            <a:miter lim="800000"/>
            <a:headEnd/>
            <a:tailEnd/>
          </a:ln>
          <a:effectLst/>
        </p:spPr>
        <p:txBody>
          <a:bodyPr>
            <a:spAutoFit/>
          </a:bodyPr>
          <a:lstStyle/>
          <a:p>
            <a:pPr algn="l">
              <a:spcBef>
                <a:spcPct val="50000"/>
              </a:spcBef>
            </a:pPr>
            <a:r>
              <a:rPr lang="en-US" sz="1400"/>
              <a:t>S’</a:t>
            </a:r>
          </a:p>
        </p:txBody>
      </p:sp>
      <p:sp>
        <p:nvSpPr>
          <p:cNvPr id="139276" name="Line 12"/>
          <p:cNvSpPr>
            <a:spLocks noChangeShapeType="1"/>
          </p:cNvSpPr>
          <p:nvPr/>
        </p:nvSpPr>
        <p:spPr bwMode="auto">
          <a:xfrm flipV="1">
            <a:off x="1295400" y="2286000"/>
            <a:ext cx="1828800" cy="2209800"/>
          </a:xfrm>
          <a:prstGeom prst="line">
            <a:avLst/>
          </a:prstGeom>
          <a:noFill/>
          <a:ln w="25400">
            <a:solidFill>
              <a:schemeClr val="tx1"/>
            </a:solidFill>
            <a:round/>
            <a:headEnd/>
            <a:tailEnd/>
          </a:ln>
          <a:effectLst/>
        </p:spPr>
        <p:txBody>
          <a:bodyPr/>
          <a:lstStyle/>
          <a:p>
            <a:endParaRPr lang="en-US"/>
          </a:p>
        </p:txBody>
      </p:sp>
      <p:sp>
        <p:nvSpPr>
          <p:cNvPr id="139277" name="Line 13"/>
          <p:cNvSpPr>
            <a:spLocks noChangeShapeType="1"/>
          </p:cNvSpPr>
          <p:nvPr/>
        </p:nvSpPr>
        <p:spPr bwMode="auto">
          <a:xfrm flipV="1">
            <a:off x="5715000" y="2514600"/>
            <a:ext cx="1676400" cy="2133600"/>
          </a:xfrm>
          <a:prstGeom prst="line">
            <a:avLst/>
          </a:prstGeom>
          <a:noFill/>
          <a:ln w="25400">
            <a:solidFill>
              <a:schemeClr val="tx1"/>
            </a:solidFill>
            <a:round/>
            <a:headEnd/>
            <a:tailEnd/>
          </a:ln>
          <a:effectLst/>
        </p:spPr>
        <p:txBody>
          <a:bodyPr/>
          <a:lstStyle/>
          <a:p>
            <a:endParaRPr lang="en-US"/>
          </a:p>
        </p:txBody>
      </p:sp>
      <p:sp>
        <p:nvSpPr>
          <p:cNvPr id="139278" name="Text Box 14"/>
          <p:cNvSpPr txBox="1">
            <a:spLocks noChangeArrowheads="1"/>
          </p:cNvSpPr>
          <p:nvPr/>
        </p:nvSpPr>
        <p:spPr bwMode="auto">
          <a:xfrm>
            <a:off x="1143000" y="5562600"/>
            <a:ext cx="2362200" cy="366713"/>
          </a:xfrm>
          <a:prstGeom prst="rect">
            <a:avLst/>
          </a:prstGeom>
          <a:noFill/>
          <a:ln w="9525">
            <a:noFill/>
            <a:miter lim="800000"/>
            <a:headEnd/>
            <a:tailEnd/>
          </a:ln>
          <a:effectLst/>
        </p:spPr>
        <p:txBody>
          <a:bodyPr>
            <a:spAutoFit/>
          </a:bodyPr>
          <a:lstStyle/>
          <a:p>
            <a:pPr algn="l">
              <a:spcBef>
                <a:spcPct val="50000"/>
              </a:spcBef>
            </a:pPr>
            <a:r>
              <a:rPr lang="en-US" sz="1800"/>
              <a:t>Increase in Supply</a:t>
            </a:r>
          </a:p>
        </p:txBody>
      </p:sp>
      <p:sp>
        <p:nvSpPr>
          <p:cNvPr id="139279" name="Line 15"/>
          <p:cNvSpPr>
            <a:spLocks noChangeShapeType="1"/>
          </p:cNvSpPr>
          <p:nvPr/>
        </p:nvSpPr>
        <p:spPr bwMode="auto">
          <a:xfrm>
            <a:off x="4876800" y="1981200"/>
            <a:ext cx="0" cy="2971800"/>
          </a:xfrm>
          <a:prstGeom prst="line">
            <a:avLst/>
          </a:prstGeom>
          <a:noFill/>
          <a:ln w="9525">
            <a:solidFill>
              <a:schemeClr val="tx1"/>
            </a:solidFill>
            <a:round/>
            <a:headEnd/>
            <a:tailEnd/>
          </a:ln>
          <a:effectLst/>
        </p:spPr>
        <p:txBody>
          <a:bodyPr/>
          <a:lstStyle/>
          <a:p>
            <a:endParaRPr lang="en-US"/>
          </a:p>
        </p:txBody>
      </p:sp>
      <p:sp>
        <p:nvSpPr>
          <p:cNvPr id="139280" name="Line 16"/>
          <p:cNvSpPr>
            <a:spLocks noChangeShapeType="1"/>
          </p:cNvSpPr>
          <p:nvPr/>
        </p:nvSpPr>
        <p:spPr bwMode="auto">
          <a:xfrm>
            <a:off x="4876800" y="4953000"/>
            <a:ext cx="3124200" cy="0"/>
          </a:xfrm>
          <a:prstGeom prst="line">
            <a:avLst/>
          </a:prstGeom>
          <a:noFill/>
          <a:ln w="9525">
            <a:solidFill>
              <a:schemeClr val="tx1"/>
            </a:solidFill>
            <a:round/>
            <a:headEnd/>
            <a:tailEnd/>
          </a:ln>
          <a:effectLst/>
        </p:spPr>
        <p:txBody>
          <a:bodyPr/>
          <a:lstStyle/>
          <a:p>
            <a:endParaRPr lang="en-US"/>
          </a:p>
        </p:txBody>
      </p:sp>
      <p:sp>
        <p:nvSpPr>
          <p:cNvPr id="139283" name="Text Box 19"/>
          <p:cNvSpPr txBox="1">
            <a:spLocks noChangeArrowheads="1"/>
          </p:cNvSpPr>
          <p:nvPr/>
        </p:nvSpPr>
        <p:spPr bwMode="auto">
          <a:xfrm>
            <a:off x="4267200" y="1905000"/>
            <a:ext cx="304800" cy="366713"/>
          </a:xfrm>
          <a:prstGeom prst="rect">
            <a:avLst/>
          </a:prstGeom>
          <a:noFill/>
          <a:ln w="9525">
            <a:noFill/>
            <a:miter lim="800000"/>
            <a:headEnd/>
            <a:tailEnd/>
          </a:ln>
          <a:effectLst/>
        </p:spPr>
        <p:txBody>
          <a:bodyPr>
            <a:spAutoFit/>
          </a:bodyPr>
          <a:lstStyle/>
          <a:p>
            <a:pPr algn="l">
              <a:spcBef>
                <a:spcPct val="50000"/>
              </a:spcBef>
            </a:pPr>
            <a:r>
              <a:rPr lang="en-US" sz="1800"/>
              <a:t>P</a:t>
            </a:r>
          </a:p>
        </p:txBody>
      </p:sp>
      <p:sp>
        <p:nvSpPr>
          <p:cNvPr id="139284" name="Text Box 20"/>
          <p:cNvSpPr txBox="1">
            <a:spLocks noChangeArrowheads="1"/>
          </p:cNvSpPr>
          <p:nvPr/>
        </p:nvSpPr>
        <p:spPr bwMode="auto">
          <a:xfrm>
            <a:off x="7772400" y="5029200"/>
            <a:ext cx="457200" cy="366713"/>
          </a:xfrm>
          <a:prstGeom prst="rect">
            <a:avLst/>
          </a:prstGeom>
          <a:noFill/>
          <a:ln w="9525">
            <a:noFill/>
            <a:miter lim="800000"/>
            <a:headEnd/>
            <a:tailEnd/>
          </a:ln>
          <a:effectLst/>
        </p:spPr>
        <p:txBody>
          <a:bodyPr>
            <a:spAutoFit/>
          </a:bodyPr>
          <a:lstStyle/>
          <a:p>
            <a:pPr algn="l">
              <a:spcBef>
                <a:spcPct val="50000"/>
              </a:spcBef>
            </a:pPr>
            <a:r>
              <a:rPr lang="en-US" sz="1800"/>
              <a:t>Q</a:t>
            </a:r>
          </a:p>
        </p:txBody>
      </p:sp>
      <p:sp>
        <p:nvSpPr>
          <p:cNvPr id="139289" name="Text Box 25"/>
          <p:cNvSpPr txBox="1">
            <a:spLocks noChangeArrowheads="1"/>
          </p:cNvSpPr>
          <p:nvPr/>
        </p:nvSpPr>
        <p:spPr bwMode="auto">
          <a:xfrm>
            <a:off x="5181600" y="5562600"/>
            <a:ext cx="2362200" cy="366713"/>
          </a:xfrm>
          <a:prstGeom prst="rect">
            <a:avLst/>
          </a:prstGeom>
          <a:noFill/>
          <a:ln w="9525">
            <a:noFill/>
            <a:miter lim="800000"/>
            <a:headEnd/>
            <a:tailEnd/>
          </a:ln>
          <a:effectLst/>
        </p:spPr>
        <p:txBody>
          <a:bodyPr>
            <a:spAutoFit/>
          </a:bodyPr>
          <a:lstStyle/>
          <a:p>
            <a:pPr algn="l">
              <a:spcBef>
                <a:spcPct val="50000"/>
              </a:spcBef>
            </a:pPr>
            <a:r>
              <a:rPr lang="en-US" sz="1800"/>
              <a:t>Decrease in Supply</a:t>
            </a:r>
          </a:p>
        </p:txBody>
      </p:sp>
      <p:sp>
        <p:nvSpPr>
          <p:cNvPr id="139290" name="Line 26"/>
          <p:cNvSpPr>
            <a:spLocks noChangeShapeType="1"/>
          </p:cNvSpPr>
          <p:nvPr/>
        </p:nvSpPr>
        <p:spPr bwMode="auto">
          <a:xfrm flipH="1">
            <a:off x="6019800" y="3429000"/>
            <a:ext cx="381000" cy="0"/>
          </a:xfrm>
          <a:prstGeom prst="line">
            <a:avLst/>
          </a:prstGeom>
          <a:noFill/>
          <a:ln w="9525">
            <a:solidFill>
              <a:schemeClr val="tx1"/>
            </a:solidFill>
            <a:round/>
            <a:headEnd/>
            <a:tailEnd type="triangle" w="med" len="med"/>
          </a:ln>
          <a:effectLst/>
        </p:spPr>
        <p:txBody>
          <a:bodyPr/>
          <a:lstStyle/>
          <a:p>
            <a:endParaRPr lang="en-US"/>
          </a:p>
        </p:txBody>
      </p:sp>
      <p:sp>
        <p:nvSpPr>
          <p:cNvPr id="139292" name="Line 28"/>
          <p:cNvSpPr>
            <a:spLocks noChangeShapeType="1"/>
          </p:cNvSpPr>
          <p:nvPr/>
        </p:nvSpPr>
        <p:spPr bwMode="auto">
          <a:xfrm flipV="1">
            <a:off x="1981200" y="2590800"/>
            <a:ext cx="1676400" cy="2133600"/>
          </a:xfrm>
          <a:prstGeom prst="line">
            <a:avLst/>
          </a:prstGeom>
          <a:noFill/>
          <a:ln w="25400">
            <a:solidFill>
              <a:schemeClr val="tx1"/>
            </a:solidFill>
            <a:round/>
            <a:headEnd/>
            <a:tailEnd/>
          </a:ln>
          <a:effectLst/>
        </p:spPr>
        <p:txBody>
          <a:bodyPr/>
          <a:lstStyle/>
          <a:p>
            <a:endParaRPr lang="en-US"/>
          </a:p>
        </p:txBody>
      </p:sp>
      <p:sp>
        <p:nvSpPr>
          <p:cNvPr id="139293" name="Line 29"/>
          <p:cNvSpPr>
            <a:spLocks noChangeShapeType="1"/>
          </p:cNvSpPr>
          <p:nvPr/>
        </p:nvSpPr>
        <p:spPr bwMode="auto">
          <a:xfrm flipV="1">
            <a:off x="5029200" y="2209800"/>
            <a:ext cx="1828800" cy="2209800"/>
          </a:xfrm>
          <a:prstGeom prst="line">
            <a:avLst/>
          </a:prstGeom>
          <a:noFill/>
          <a:ln w="25400">
            <a:solidFill>
              <a:schemeClr val="tx1"/>
            </a:solidFill>
            <a:round/>
            <a:headEnd/>
            <a:tailEnd/>
          </a:ln>
          <a:effectLst/>
        </p:spPr>
        <p:txBody>
          <a:bodyPr/>
          <a:lstStyle/>
          <a:p>
            <a:endParaRPr lang="en-US"/>
          </a:p>
        </p:txBody>
      </p:sp>
      <p:sp>
        <p:nvSpPr>
          <p:cNvPr id="139294" name="Text Box 30"/>
          <p:cNvSpPr txBox="1">
            <a:spLocks noChangeArrowheads="1"/>
          </p:cNvSpPr>
          <p:nvPr/>
        </p:nvSpPr>
        <p:spPr bwMode="auto">
          <a:xfrm>
            <a:off x="7467600" y="2286000"/>
            <a:ext cx="457200" cy="304800"/>
          </a:xfrm>
          <a:prstGeom prst="rect">
            <a:avLst/>
          </a:prstGeom>
          <a:noFill/>
          <a:ln w="9525">
            <a:noFill/>
            <a:miter lim="800000"/>
            <a:headEnd/>
            <a:tailEnd/>
          </a:ln>
          <a:effectLst/>
        </p:spPr>
        <p:txBody>
          <a:bodyPr>
            <a:spAutoFit/>
          </a:bodyPr>
          <a:lstStyle/>
          <a:p>
            <a:pPr algn="l">
              <a:spcBef>
                <a:spcPct val="50000"/>
              </a:spcBef>
            </a:pPr>
            <a:r>
              <a:rPr lang="en-US" sz="1400"/>
              <a:t>S</a:t>
            </a:r>
          </a:p>
        </p:txBody>
      </p:sp>
      <p:sp>
        <p:nvSpPr>
          <p:cNvPr id="139295" name="Text Box 31"/>
          <p:cNvSpPr txBox="1">
            <a:spLocks noChangeArrowheads="1"/>
          </p:cNvSpPr>
          <p:nvPr/>
        </p:nvSpPr>
        <p:spPr bwMode="auto">
          <a:xfrm>
            <a:off x="6705600" y="1828800"/>
            <a:ext cx="457200" cy="304800"/>
          </a:xfrm>
          <a:prstGeom prst="rect">
            <a:avLst/>
          </a:prstGeom>
          <a:noFill/>
          <a:ln w="9525">
            <a:noFill/>
            <a:miter lim="800000"/>
            <a:headEnd/>
            <a:tailEnd/>
          </a:ln>
          <a:effectLst/>
        </p:spPr>
        <p:txBody>
          <a:bodyPr>
            <a:spAutoFit/>
          </a:bodyPr>
          <a:lstStyle/>
          <a:p>
            <a:pPr algn="l">
              <a:spcBef>
                <a:spcPct val="50000"/>
              </a:spcBef>
            </a:pPr>
            <a:r>
              <a:rPr lang="en-US" sz="1400"/>
              <a:t>S’</a:t>
            </a:r>
          </a:p>
        </p:txBody>
      </p:sp>
      <p:sp>
        <p:nvSpPr>
          <p:cNvPr id="26" name="Slide Number Placeholder 25"/>
          <p:cNvSpPr>
            <a:spLocks noGrp="1"/>
          </p:cNvSpPr>
          <p:nvPr>
            <p:ph type="sldNum" sz="quarter" idx="11"/>
          </p:nvPr>
        </p:nvSpPr>
        <p:spPr/>
        <p:txBody>
          <a:bodyPr/>
          <a:lstStyle/>
          <a:p>
            <a:fld id="{5D8C0D95-B81A-45DB-B701-8AAA9905C101}" type="slidenum">
              <a:rPr lang="en-US" smtClean="0"/>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r>
              <a:rPr lang="en-US" u="sng" dirty="0"/>
              <a:t>Market Equilibrium</a:t>
            </a:r>
          </a:p>
        </p:txBody>
      </p:sp>
      <p:sp>
        <p:nvSpPr>
          <p:cNvPr id="197635" name="Rectangle 3"/>
          <p:cNvSpPr>
            <a:spLocks noGrp="1" noChangeArrowheads="1"/>
          </p:cNvSpPr>
          <p:nvPr>
            <p:ph idx="1"/>
          </p:nvPr>
        </p:nvSpPr>
        <p:spPr/>
        <p:txBody>
          <a:bodyPr/>
          <a:lstStyle/>
          <a:p>
            <a:r>
              <a:rPr lang="en-US" sz="2800" dirty="0">
                <a:solidFill>
                  <a:srgbClr val="FFFF00"/>
                </a:solidFill>
              </a:rPr>
              <a:t>Market equilibrium</a:t>
            </a:r>
            <a:r>
              <a:rPr lang="en-US" sz="2800" dirty="0"/>
              <a:t> is that state in which the quantity that firms want to supply equals the quantity that consumers want to buy. </a:t>
            </a:r>
          </a:p>
          <a:p>
            <a:pPr lvl="1"/>
            <a:r>
              <a:rPr lang="en-US" sz="2400" dirty="0"/>
              <a:t>The price that clears the market is called the </a:t>
            </a:r>
            <a:r>
              <a:rPr lang="en-US" sz="2400" b="1" i="1" dirty="0">
                <a:solidFill>
                  <a:srgbClr val="FFFF00"/>
                </a:solidFill>
              </a:rPr>
              <a:t>equilibrium price</a:t>
            </a:r>
            <a:r>
              <a:rPr lang="en-US" sz="2400" i="1" dirty="0"/>
              <a:t> </a:t>
            </a:r>
            <a:r>
              <a:rPr lang="en-US" sz="2400" dirty="0"/>
              <a:t>and the quantity (sold and bought) is called the </a:t>
            </a:r>
            <a:r>
              <a:rPr lang="en-US" sz="2400" b="1" i="1" dirty="0">
                <a:solidFill>
                  <a:srgbClr val="FFFF00"/>
                </a:solidFill>
              </a:rPr>
              <a:t>equilibrium quantity</a:t>
            </a:r>
            <a:r>
              <a:rPr lang="en-US" sz="2400" b="1" i="1" dirty="0"/>
              <a:t>. </a:t>
            </a:r>
          </a:p>
          <a:p>
            <a:pPr lvl="1"/>
            <a:r>
              <a:rPr lang="en-US" sz="2400" dirty="0"/>
              <a:t>The market is said to be "at rest" since the equilibrium price and equilibrium quantity will stay at those levels until either demand or supply changes.</a:t>
            </a:r>
          </a:p>
        </p:txBody>
      </p:sp>
      <p:sp>
        <p:nvSpPr>
          <p:cNvPr id="5" name="Slide Number Placeholder 4"/>
          <p:cNvSpPr>
            <a:spLocks noGrp="1"/>
          </p:cNvSpPr>
          <p:nvPr>
            <p:ph type="sldNum" sz="quarter" idx="11"/>
          </p:nvPr>
        </p:nvSpPr>
        <p:spPr/>
        <p:txBody>
          <a:bodyPr/>
          <a:lstStyle/>
          <a:p>
            <a:fld id="{6D63C845-4982-41E6-901A-A3EC09BDD7BE}" type="slidenum">
              <a:rPr lang="en-US" smtClean="0"/>
              <a:pPr/>
              <a:t>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97634"/>
                                        </p:tgtEl>
                                        <p:attrNameLst>
                                          <p:attrName>style.visibility</p:attrName>
                                        </p:attrNameLst>
                                      </p:cBhvr>
                                      <p:to>
                                        <p:strVal val="visible"/>
                                      </p:to>
                                    </p:set>
                                    <p:animEffect transition="in" filter="fade">
                                      <p:cBhvr>
                                        <p:cTn id="7" dur="800" decel="100000"/>
                                        <p:tgtEl>
                                          <p:spTgt spid="197634"/>
                                        </p:tgtEl>
                                      </p:cBhvr>
                                    </p:animEffect>
                                    <p:anim calcmode="lin" valueType="num">
                                      <p:cBhvr>
                                        <p:cTn id="8" dur="800" decel="100000" fill="hold"/>
                                        <p:tgtEl>
                                          <p:spTgt spid="197634"/>
                                        </p:tgtEl>
                                        <p:attrNameLst>
                                          <p:attrName>style.rotation</p:attrName>
                                        </p:attrNameLst>
                                      </p:cBhvr>
                                      <p:tavLst>
                                        <p:tav tm="0">
                                          <p:val>
                                            <p:fltVal val="-90"/>
                                          </p:val>
                                        </p:tav>
                                        <p:tav tm="100000">
                                          <p:val>
                                            <p:fltVal val="0"/>
                                          </p:val>
                                        </p:tav>
                                      </p:tavLst>
                                    </p:anim>
                                    <p:anim calcmode="lin" valueType="num">
                                      <p:cBhvr>
                                        <p:cTn id="9" dur="800" decel="100000" fill="hold"/>
                                        <p:tgtEl>
                                          <p:spTgt spid="197634"/>
                                        </p:tgtEl>
                                        <p:attrNameLst>
                                          <p:attrName>ppt_x</p:attrName>
                                        </p:attrNameLst>
                                      </p:cBhvr>
                                      <p:tavLst>
                                        <p:tav tm="0">
                                          <p:val>
                                            <p:strVal val="#ppt_x+0.4"/>
                                          </p:val>
                                        </p:tav>
                                        <p:tav tm="100000">
                                          <p:val>
                                            <p:strVal val="#ppt_x-0.05"/>
                                          </p:val>
                                        </p:tav>
                                      </p:tavLst>
                                    </p:anim>
                                    <p:anim calcmode="lin" valueType="num">
                                      <p:cBhvr>
                                        <p:cTn id="10" dur="800" decel="100000" fill="hold"/>
                                        <p:tgtEl>
                                          <p:spTgt spid="197634"/>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97634"/>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97634"/>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97635">
                                            <p:txEl>
                                              <p:pRg st="0" end="0"/>
                                            </p:txEl>
                                          </p:spTgt>
                                        </p:tgtEl>
                                        <p:attrNameLst>
                                          <p:attrName>style.visibility</p:attrName>
                                        </p:attrNameLst>
                                      </p:cBhvr>
                                      <p:to>
                                        <p:strVal val="visible"/>
                                      </p:to>
                                    </p:set>
                                    <p:animEffect transition="in" filter="fade">
                                      <p:cBhvr>
                                        <p:cTn id="17" dur="800" decel="100000"/>
                                        <p:tgtEl>
                                          <p:spTgt spid="197635">
                                            <p:txEl>
                                              <p:pRg st="0" end="0"/>
                                            </p:txEl>
                                          </p:spTgt>
                                        </p:tgtEl>
                                      </p:cBhvr>
                                    </p:animEffect>
                                    <p:anim calcmode="lin" valueType="num">
                                      <p:cBhvr>
                                        <p:cTn id="18" dur="800" decel="100000" fill="hold"/>
                                        <p:tgtEl>
                                          <p:spTgt spid="197635">
                                            <p:txEl>
                                              <p:pRg st="0" end="0"/>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97635">
                                            <p:txEl>
                                              <p:pRg st="0" end="0"/>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97635">
                                            <p:txEl>
                                              <p:pRg st="0" end="0"/>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97635">
                                            <p:txEl>
                                              <p:pRg st="0" end="0"/>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97635">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97635">
                                            <p:txEl>
                                              <p:pRg st="1" end="1"/>
                                            </p:txEl>
                                          </p:spTgt>
                                        </p:tgtEl>
                                        <p:attrNameLst>
                                          <p:attrName>style.visibility</p:attrName>
                                        </p:attrNameLst>
                                      </p:cBhvr>
                                      <p:to>
                                        <p:strVal val="visible"/>
                                      </p:to>
                                    </p:set>
                                    <p:animEffect transition="in" filter="fade">
                                      <p:cBhvr>
                                        <p:cTn id="27" dur="800" decel="100000"/>
                                        <p:tgtEl>
                                          <p:spTgt spid="197635">
                                            <p:txEl>
                                              <p:pRg st="1" end="1"/>
                                            </p:txEl>
                                          </p:spTgt>
                                        </p:tgtEl>
                                      </p:cBhvr>
                                    </p:animEffect>
                                    <p:anim calcmode="lin" valueType="num">
                                      <p:cBhvr>
                                        <p:cTn id="28" dur="800" decel="100000" fill="hold"/>
                                        <p:tgtEl>
                                          <p:spTgt spid="197635">
                                            <p:txEl>
                                              <p:pRg st="1" end="1"/>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97635">
                                            <p:txEl>
                                              <p:pRg st="1" end="1"/>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97635">
                                            <p:txEl>
                                              <p:pRg st="1" end="1"/>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97635">
                                            <p:txEl>
                                              <p:pRg st="1" end="1"/>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97635">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197635">
                                            <p:txEl>
                                              <p:pRg st="2" end="2"/>
                                            </p:txEl>
                                          </p:spTgt>
                                        </p:tgtEl>
                                        <p:attrNameLst>
                                          <p:attrName>style.visibility</p:attrName>
                                        </p:attrNameLst>
                                      </p:cBhvr>
                                      <p:to>
                                        <p:strVal val="visible"/>
                                      </p:to>
                                    </p:set>
                                    <p:animEffect transition="in" filter="fade">
                                      <p:cBhvr>
                                        <p:cTn id="37" dur="800" decel="100000"/>
                                        <p:tgtEl>
                                          <p:spTgt spid="197635">
                                            <p:txEl>
                                              <p:pRg st="2" end="2"/>
                                            </p:txEl>
                                          </p:spTgt>
                                        </p:tgtEl>
                                      </p:cBhvr>
                                    </p:animEffect>
                                    <p:anim calcmode="lin" valueType="num">
                                      <p:cBhvr>
                                        <p:cTn id="38" dur="800" decel="100000" fill="hold"/>
                                        <p:tgtEl>
                                          <p:spTgt spid="197635">
                                            <p:txEl>
                                              <p:pRg st="2" end="2"/>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97635">
                                            <p:txEl>
                                              <p:pRg st="2" end="2"/>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97635">
                                            <p:txEl>
                                              <p:pRg st="2" end="2"/>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97635">
                                            <p:txEl>
                                              <p:pRg st="2" end="2"/>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97635">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p:bldP spid="197635"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algn="l"/>
            <a:r>
              <a:rPr lang="en-US" dirty="0" smtClean="0"/>
              <a:t>(Cont.)</a:t>
            </a:r>
            <a:endParaRPr lang="en-US" dirty="0"/>
          </a:p>
        </p:txBody>
      </p:sp>
      <p:graphicFrame>
        <p:nvGraphicFramePr>
          <p:cNvPr id="190879" name="Group 415"/>
          <p:cNvGraphicFramePr>
            <a:graphicFrameLocks noGrp="1"/>
          </p:cNvGraphicFramePr>
          <p:nvPr>
            <p:ph sz="half" idx="1"/>
          </p:nvPr>
        </p:nvGraphicFramePr>
        <p:xfrm>
          <a:off x="1295400" y="1371600"/>
          <a:ext cx="7086600" cy="4529777"/>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tblGrid>
              <a:tr h="514350">
                <a:tc gridSpan="3">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rgbClr val="FF0000"/>
                          </a:solidFill>
                          <a:effectLst/>
                          <a:latin typeface="Arial" charset="0"/>
                          <a:cs typeface="Arial" charset="0"/>
                        </a:rPr>
                        <a:t>  Market for Shoes</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968375">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Arial" charset="0"/>
                          <a:cs typeface="Arial" charset="0"/>
                        </a:rPr>
                        <a:t>Price of a Pair of Shoes</a:t>
                      </a:r>
                      <a:br>
                        <a:rPr kumimoji="0" lang="en-US" sz="1600" b="0" i="0" u="none" strike="noStrike" cap="none" normalizeH="0" baseline="0" dirty="0" smtClean="0">
                          <a:ln>
                            <a:noFill/>
                          </a:ln>
                          <a:solidFill>
                            <a:schemeClr val="tx1"/>
                          </a:solidFill>
                          <a:effectLst/>
                          <a:latin typeface="Arial" charset="0"/>
                          <a:cs typeface="Arial" charset="0"/>
                        </a:rPr>
                      </a:br>
                      <a:r>
                        <a:rPr kumimoji="0" lang="en-US" sz="1600" b="0" i="0" u="none" strike="noStrike" cap="none" normalizeH="0" baseline="0" dirty="0" smtClean="0">
                          <a:ln>
                            <a:noFill/>
                          </a:ln>
                          <a:solidFill>
                            <a:schemeClr val="tx1"/>
                          </a:solidFill>
                          <a:effectLst/>
                          <a:latin typeface="Arial" charset="0"/>
                          <a:cs typeface="Arial" charset="0"/>
                        </a:rPr>
                        <a:t>(in pounds)</a:t>
                      </a:r>
                      <a:endParaRPr kumimoji="0" lang="en-US" sz="2800" b="0" i="0" u="none" strike="noStrike" cap="none" normalizeH="0" baseline="0" dirty="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Arial" charset="0"/>
                          <a:cs typeface="Arial" charset="0"/>
                        </a:rPr>
                        <a:t>Quantity Demanded per Year</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Arial" charset="0"/>
                          <a:cs typeface="Arial" charset="0"/>
                        </a:rPr>
                        <a:t>Quantity Supplied </a:t>
                      </a:r>
                    </a:p>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Arial" charset="0"/>
                          <a:cs typeface="Arial" charset="0"/>
                        </a:rPr>
                        <a:t>per Year</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13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Arial" charset="0"/>
                          <a:cs typeface="Arial" charset="0"/>
                        </a:rPr>
                        <a:t>0</a:t>
                      </a:r>
                      <a:endParaRPr kumimoji="0" lang="en-US" sz="2800" b="0" i="0" u="none" strike="noStrike" cap="none" normalizeH="0" baseline="0" dirty="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8</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0</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813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50</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7</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1</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3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100</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6</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2</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813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150</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5</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3</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3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FFFF00"/>
                          </a:solidFill>
                          <a:effectLst/>
                          <a:latin typeface="Arial" charset="0"/>
                          <a:cs typeface="Arial" charset="0"/>
                        </a:rPr>
                        <a:t>200</a:t>
                      </a:r>
                      <a:endParaRPr kumimoji="0" lang="en-US" sz="2800" b="1" i="0" u="none" strike="noStrike" cap="none" normalizeH="0" baseline="0" smtClean="0">
                        <a:ln>
                          <a:noFill/>
                        </a:ln>
                        <a:solidFill>
                          <a:srgbClr val="FFFF00"/>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FFFF00"/>
                          </a:solidFill>
                          <a:effectLst/>
                          <a:latin typeface="Arial" charset="0"/>
                          <a:cs typeface="Arial" charset="0"/>
                        </a:rPr>
                        <a:t>4</a:t>
                      </a:r>
                      <a:endParaRPr kumimoji="0" lang="en-US" sz="2800" b="1" i="0" u="none" strike="noStrike" cap="none" normalizeH="0" baseline="0" smtClean="0">
                        <a:ln>
                          <a:noFill/>
                        </a:ln>
                        <a:solidFill>
                          <a:srgbClr val="FFFF00"/>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FFFF00"/>
                          </a:solidFill>
                          <a:effectLst/>
                          <a:latin typeface="Arial" charset="0"/>
                          <a:cs typeface="Arial" charset="0"/>
                        </a:rPr>
                        <a:t>4</a:t>
                      </a:r>
                      <a:endParaRPr kumimoji="0" lang="en-US" sz="2800" b="1" i="0" u="none" strike="noStrike" cap="none" normalizeH="0" baseline="0" smtClean="0">
                        <a:ln>
                          <a:noFill/>
                        </a:ln>
                        <a:solidFill>
                          <a:srgbClr val="FFFF00"/>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33813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250</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3</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5</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813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300</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2</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6</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813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350</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1</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7</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8138">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400</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0</a:t>
                      </a:r>
                      <a:endParaRPr kumimoji="0" lang="en-US" sz="2800" b="0" i="0" u="none" strike="noStrike" cap="none" normalizeH="0" baseline="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Arial" charset="0"/>
                          <a:cs typeface="Arial" charset="0"/>
                        </a:rPr>
                        <a:t>8</a:t>
                      </a:r>
                      <a:endParaRPr kumimoji="0" lang="en-US" sz="2800" b="0" i="0" u="none" strike="noStrike" cap="none" normalizeH="0" baseline="0" dirty="0" smtClean="0">
                        <a:ln>
                          <a:noFill/>
                        </a:ln>
                        <a:solidFill>
                          <a:schemeClr val="tx1"/>
                        </a:solidFill>
                        <a:effectLst/>
                        <a:latin typeface="Arial" charset="0"/>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190883" name="AutoShape 419"/>
          <p:cNvSpPr>
            <a:spLocks/>
          </p:cNvSpPr>
          <p:nvPr/>
        </p:nvSpPr>
        <p:spPr bwMode="auto">
          <a:xfrm>
            <a:off x="5715000" y="6248400"/>
            <a:ext cx="2362200" cy="381000"/>
          </a:xfrm>
          <a:prstGeom prst="borderCallout1">
            <a:avLst>
              <a:gd name="adj1" fmla="val 30000"/>
              <a:gd name="adj2" fmla="val -3227"/>
              <a:gd name="adj3" fmla="val -494167"/>
              <a:gd name="adj4" fmla="val -9208"/>
            </a:avLst>
          </a:prstGeom>
          <a:solidFill>
            <a:schemeClr val="accent1"/>
          </a:solidFill>
          <a:ln w="9525">
            <a:solidFill>
              <a:schemeClr val="tx1"/>
            </a:solidFill>
            <a:miter lim="800000"/>
            <a:headEnd/>
            <a:tailEnd/>
          </a:ln>
          <a:effectLst/>
        </p:spPr>
        <p:txBody>
          <a:bodyPr/>
          <a:lstStyle/>
          <a:p>
            <a:r>
              <a:rPr lang="en-US"/>
              <a:t>Equilibrium Quantity=4</a:t>
            </a:r>
          </a:p>
        </p:txBody>
      </p:sp>
      <p:sp>
        <p:nvSpPr>
          <p:cNvPr id="190884" name="AutoShape 420"/>
          <p:cNvSpPr>
            <a:spLocks/>
          </p:cNvSpPr>
          <p:nvPr/>
        </p:nvSpPr>
        <p:spPr bwMode="auto">
          <a:xfrm>
            <a:off x="228600" y="3200400"/>
            <a:ext cx="1600200" cy="533400"/>
          </a:xfrm>
          <a:prstGeom prst="borderCallout1">
            <a:avLst>
              <a:gd name="adj1" fmla="val 21431"/>
              <a:gd name="adj2" fmla="val 104764"/>
              <a:gd name="adj3" fmla="val 207144"/>
              <a:gd name="adj4" fmla="val 190477"/>
            </a:avLst>
          </a:prstGeom>
          <a:solidFill>
            <a:schemeClr val="accent1"/>
          </a:solidFill>
          <a:ln w="9525">
            <a:solidFill>
              <a:schemeClr val="tx1"/>
            </a:solidFill>
            <a:miter lim="800000"/>
            <a:headEnd/>
            <a:tailEnd/>
          </a:ln>
          <a:effectLst/>
        </p:spPr>
        <p:txBody>
          <a:bodyPr/>
          <a:lstStyle/>
          <a:p>
            <a:r>
              <a:rPr lang="en-US"/>
              <a:t>Equilibrium Price=200</a:t>
            </a:r>
          </a:p>
        </p:txBody>
      </p:sp>
      <p:sp>
        <p:nvSpPr>
          <p:cNvPr id="7" name="Slide Number Placeholder 6"/>
          <p:cNvSpPr>
            <a:spLocks noGrp="1"/>
          </p:cNvSpPr>
          <p:nvPr>
            <p:ph type="sldNum" sz="quarter" idx="11"/>
          </p:nvPr>
        </p:nvSpPr>
        <p:spPr/>
        <p:txBody>
          <a:bodyPr/>
          <a:lstStyle/>
          <a:p>
            <a:fld id="{FD62A46F-8A95-46F2-9558-CB6957E46631}" type="slidenum">
              <a:rPr lang="en-US" smtClean="0"/>
              <a:pPr/>
              <a:t>38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08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08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883" grpId="0" animBg="1"/>
      <p:bldP spid="19088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algn="l"/>
            <a:r>
              <a:rPr lang="en-US" dirty="0" smtClean="0"/>
              <a:t>(Cont.)</a:t>
            </a:r>
            <a:endParaRPr lang="en-US" dirty="0"/>
          </a:p>
        </p:txBody>
      </p:sp>
      <p:sp>
        <p:nvSpPr>
          <p:cNvPr id="198659" name="Rectangle 3"/>
          <p:cNvSpPr>
            <a:spLocks noGrp="1" noChangeArrowheads="1"/>
          </p:cNvSpPr>
          <p:nvPr>
            <p:ph idx="1"/>
          </p:nvPr>
        </p:nvSpPr>
        <p:spPr/>
        <p:txBody>
          <a:bodyPr/>
          <a:lstStyle/>
          <a:p>
            <a:pPr>
              <a:lnSpc>
                <a:spcPct val="90000"/>
              </a:lnSpc>
            </a:pPr>
            <a:r>
              <a:rPr lang="en-US" sz="2600" dirty="0"/>
              <a:t>At prices </a:t>
            </a:r>
            <a:r>
              <a:rPr lang="en-US" sz="2600" i="1" u="sng" dirty="0"/>
              <a:t>above</a:t>
            </a:r>
            <a:r>
              <a:rPr lang="en-US" sz="2600" i="1" dirty="0"/>
              <a:t> </a:t>
            </a:r>
            <a:r>
              <a:rPr lang="en-US" sz="2600" dirty="0"/>
              <a:t>the equilibrium price, quantity supplied is greater than quantity demanded, resulting in a temporary </a:t>
            </a:r>
            <a:r>
              <a:rPr lang="en-US" sz="2600" dirty="0">
                <a:solidFill>
                  <a:srgbClr val="FFFF00"/>
                </a:solidFill>
              </a:rPr>
              <a:t>surplus</a:t>
            </a:r>
            <a:r>
              <a:rPr lang="en-US" sz="2600" dirty="0"/>
              <a:t>. </a:t>
            </a:r>
          </a:p>
          <a:p>
            <a:pPr lvl="1">
              <a:lnSpc>
                <a:spcPct val="90000"/>
              </a:lnSpc>
            </a:pPr>
            <a:r>
              <a:rPr lang="en-US" sz="2400" dirty="0"/>
              <a:t>In a surplus situation, producers will try to reduce price to entice consumers to buy more </a:t>
            </a:r>
            <a:r>
              <a:rPr lang="en-US" sz="2400" dirty="0" smtClean="0"/>
              <a:t>shoes. </a:t>
            </a:r>
            <a:r>
              <a:rPr lang="en-US" sz="2400" dirty="0"/>
              <a:t>Actions by both producers and the public will wipe out the temporary </a:t>
            </a:r>
            <a:r>
              <a:rPr lang="en-US" sz="2400" dirty="0" smtClean="0"/>
              <a:t>surplus.</a:t>
            </a:r>
            <a:endParaRPr lang="en-US" sz="2400" dirty="0"/>
          </a:p>
          <a:p>
            <a:pPr>
              <a:lnSpc>
                <a:spcPct val="90000"/>
              </a:lnSpc>
            </a:pPr>
            <a:r>
              <a:rPr lang="en-US" sz="2600" dirty="0"/>
              <a:t>At prices </a:t>
            </a:r>
            <a:r>
              <a:rPr lang="en-US" sz="2600" i="1" u="sng" dirty="0"/>
              <a:t>below</a:t>
            </a:r>
            <a:r>
              <a:rPr lang="en-US" sz="2600" i="1" dirty="0"/>
              <a:t> </a:t>
            </a:r>
            <a:r>
              <a:rPr lang="en-US" sz="2600" dirty="0"/>
              <a:t>the equilibrium price, consumers desire to buy more </a:t>
            </a:r>
            <a:r>
              <a:rPr lang="en-US" sz="2600" dirty="0" smtClean="0"/>
              <a:t>shoes than </a:t>
            </a:r>
            <a:r>
              <a:rPr lang="en-US" sz="2600" dirty="0"/>
              <a:t>are available, creating a temporary </a:t>
            </a:r>
            <a:r>
              <a:rPr lang="en-US" sz="2600" dirty="0">
                <a:solidFill>
                  <a:srgbClr val="FFFF00"/>
                </a:solidFill>
              </a:rPr>
              <a:t>shortage</a:t>
            </a:r>
            <a:r>
              <a:rPr lang="en-US" sz="2600" dirty="0"/>
              <a:t>.</a:t>
            </a:r>
          </a:p>
          <a:p>
            <a:pPr lvl="1">
              <a:lnSpc>
                <a:spcPct val="90000"/>
              </a:lnSpc>
            </a:pPr>
            <a:r>
              <a:rPr lang="en-US" sz="2400" dirty="0"/>
              <a:t>Consumers will try to outbid each other, thus pushing up the price. As price rises, firms increase their production while some consumers reduce their purchases. </a:t>
            </a:r>
          </a:p>
        </p:txBody>
      </p:sp>
      <p:sp>
        <p:nvSpPr>
          <p:cNvPr id="5" name="Slide Number Placeholder 4"/>
          <p:cNvSpPr>
            <a:spLocks noGrp="1"/>
          </p:cNvSpPr>
          <p:nvPr>
            <p:ph type="sldNum" sz="quarter" idx="11"/>
          </p:nvPr>
        </p:nvSpPr>
        <p:spPr/>
        <p:txBody>
          <a:bodyPr/>
          <a:lstStyle/>
          <a:p>
            <a:fld id="{6D63C845-4982-41E6-901A-A3EC09BDD7BE}" type="slidenum">
              <a:rPr lang="en-US" smtClean="0"/>
              <a:pPr/>
              <a:t>39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198659">
                                            <p:txEl>
                                              <p:pRg st="0" end="0"/>
                                            </p:txEl>
                                          </p:spTgt>
                                        </p:tgtEl>
                                        <p:attrNameLst>
                                          <p:attrName>style.visibility</p:attrName>
                                        </p:attrNameLst>
                                      </p:cBhvr>
                                      <p:to>
                                        <p:strVal val="visible"/>
                                      </p:to>
                                    </p:set>
                                    <p:animEffect transition="in" filter="fade">
                                      <p:cBhvr>
                                        <p:cTn id="7" dur="800" decel="100000"/>
                                        <p:tgtEl>
                                          <p:spTgt spid="198659">
                                            <p:txEl>
                                              <p:pRg st="0" end="0"/>
                                            </p:txEl>
                                          </p:spTgt>
                                        </p:tgtEl>
                                      </p:cBhvr>
                                    </p:animEffect>
                                    <p:anim calcmode="lin" valueType="num">
                                      <p:cBhvr>
                                        <p:cTn id="8" dur="800" decel="100000" fill="hold"/>
                                        <p:tgtEl>
                                          <p:spTgt spid="198659">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98659">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98659">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98659">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98659">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198659">
                                            <p:txEl>
                                              <p:pRg st="1" end="1"/>
                                            </p:txEl>
                                          </p:spTgt>
                                        </p:tgtEl>
                                        <p:attrNameLst>
                                          <p:attrName>style.visibility</p:attrName>
                                        </p:attrNameLst>
                                      </p:cBhvr>
                                      <p:to>
                                        <p:strVal val="visible"/>
                                      </p:to>
                                    </p:set>
                                    <p:animEffect transition="in" filter="fade">
                                      <p:cBhvr>
                                        <p:cTn id="17" dur="800" decel="100000"/>
                                        <p:tgtEl>
                                          <p:spTgt spid="198659">
                                            <p:txEl>
                                              <p:pRg st="1" end="1"/>
                                            </p:txEl>
                                          </p:spTgt>
                                        </p:tgtEl>
                                      </p:cBhvr>
                                    </p:animEffect>
                                    <p:anim calcmode="lin" valueType="num">
                                      <p:cBhvr>
                                        <p:cTn id="18" dur="800" decel="100000" fill="hold"/>
                                        <p:tgtEl>
                                          <p:spTgt spid="198659">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98659">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98659">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98659">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98659">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nodeType="clickEffect">
                                  <p:stCondLst>
                                    <p:cond delay="0"/>
                                  </p:stCondLst>
                                  <p:childTnLst>
                                    <p:set>
                                      <p:cBhvr>
                                        <p:cTn id="26" dur="1" fill="hold">
                                          <p:stCondLst>
                                            <p:cond delay="0"/>
                                          </p:stCondLst>
                                        </p:cTn>
                                        <p:tgtEl>
                                          <p:spTgt spid="198659">
                                            <p:txEl>
                                              <p:pRg st="2" end="2"/>
                                            </p:txEl>
                                          </p:spTgt>
                                        </p:tgtEl>
                                        <p:attrNameLst>
                                          <p:attrName>style.visibility</p:attrName>
                                        </p:attrNameLst>
                                      </p:cBhvr>
                                      <p:to>
                                        <p:strVal val="visible"/>
                                      </p:to>
                                    </p:set>
                                    <p:animEffect transition="in" filter="fade">
                                      <p:cBhvr>
                                        <p:cTn id="27" dur="800" decel="100000"/>
                                        <p:tgtEl>
                                          <p:spTgt spid="198659">
                                            <p:txEl>
                                              <p:pRg st="2" end="2"/>
                                            </p:txEl>
                                          </p:spTgt>
                                        </p:tgtEl>
                                      </p:cBhvr>
                                    </p:animEffect>
                                    <p:anim calcmode="lin" valueType="num">
                                      <p:cBhvr>
                                        <p:cTn id="28" dur="800" decel="100000" fill="hold"/>
                                        <p:tgtEl>
                                          <p:spTgt spid="198659">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198659">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98659">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98659">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98659">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198659">
                                            <p:txEl>
                                              <p:pRg st="3" end="3"/>
                                            </p:txEl>
                                          </p:spTgt>
                                        </p:tgtEl>
                                        <p:attrNameLst>
                                          <p:attrName>style.visibility</p:attrName>
                                        </p:attrNameLst>
                                      </p:cBhvr>
                                      <p:to>
                                        <p:strVal val="visible"/>
                                      </p:to>
                                    </p:set>
                                    <p:animEffect transition="in" filter="fade">
                                      <p:cBhvr>
                                        <p:cTn id="37" dur="800" decel="100000"/>
                                        <p:tgtEl>
                                          <p:spTgt spid="198659">
                                            <p:txEl>
                                              <p:pRg st="3" end="3"/>
                                            </p:txEl>
                                          </p:spTgt>
                                        </p:tgtEl>
                                      </p:cBhvr>
                                    </p:animEffect>
                                    <p:anim calcmode="lin" valueType="num">
                                      <p:cBhvr>
                                        <p:cTn id="38" dur="800" decel="100000" fill="hold"/>
                                        <p:tgtEl>
                                          <p:spTgt spid="198659">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198659">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98659">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98659">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98659">
                                            <p:txEl>
                                              <p:pRg st="3" end="3"/>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algn="l"/>
            <a:r>
              <a:rPr lang="en-US" dirty="0" smtClean="0"/>
              <a:t>(Cont.)</a:t>
            </a:r>
            <a:endParaRPr lang="en-US" dirty="0"/>
          </a:p>
        </p:txBody>
      </p:sp>
      <p:sp>
        <p:nvSpPr>
          <p:cNvPr id="191492" name="Line 4"/>
          <p:cNvSpPr>
            <a:spLocks noChangeShapeType="1"/>
          </p:cNvSpPr>
          <p:nvPr/>
        </p:nvSpPr>
        <p:spPr bwMode="auto">
          <a:xfrm>
            <a:off x="2286000" y="2362200"/>
            <a:ext cx="0" cy="2438400"/>
          </a:xfrm>
          <a:prstGeom prst="line">
            <a:avLst/>
          </a:prstGeom>
          <a:noFill/>
          <a:ln w="22225">
            <a:solidFill>
              <a:schemeClr val="tx1"/>
            </a:solidFill>
            <a:round/>
            <a:headEnd/>
            <a:tailEnd/>
          </a:ln>
          <a:effectLst/>
        </p:spPr>
        <p:txBody>
          <a:bodyPr/>
          <a:lstStyle/>
          <a:p>
            <a:endParaRPr lang="en-US"/>
          </a:p>
        </p:txBody>
      </p:sp>
      <p:sp>
        <p:nvSpPr>
          <p:cNvPr id="191493" name="Line 5"/>
          <p:cNvSpPr>
            <a:spLocks noChangeShapeType="1"/>
          </p:cNvSpPr>
          <p:nvPr/>
        </p:nvSpPr>
        <p:spPr bwMode="auto">
          <a:xfrm>
            <a:off x="2286000" y="4800600"/>
            <a:ext cx="4953000" cy="0"/>
          </a:xfrm>
          <a:prstGeom prst="line">
            <a:avLst/>
          </a:prstGeom>
          <a:noFill/>
          <a:ln w="22225">
            <a:solidFill>
              <a:schemeClr val="tx1"/>
            </a:solidFill>
            <a:round/>
            <a:headEnd/>
            <a:tailEnd/>
          </a:ln>
          <a:effectLst/>
        </p:spPr>
        <p:txBody>
          <a:bodyPr/>
          <a:lstStyle/>
          <a:p>
            <a:endParaRPr lang="en-US"/>
          </a:p>
        </p:txBody>
      </p:sp>
      <p:sp>
        <p:nvSpPr>
          <p:cNvPr id="191494" name="Line 6"/>
          <p:cNvSpPr>
            <a:spLocks noChangeShapeType="1"/>
          </p:cNvSpPr>
          <p:nvPr/>
        </p:nvSpPr>
        <p:spPr bwMode="auto">
          <a:xfrm>
            <a:off x="2286000" y="4267200"/>
            <a:ext cx="3200400" cy="0"/>
          </a:xfrm>
          <a:prstGeom prst="line">
            <a:avLst/>
          </a:prstGeom>
          <a:noFill/>
          <a:ln w="9525">
            <a:solidFill>
              <a:schemeClr val="tx1"/>
            </a:solidFill>
            <a:prstDash val="dash"/>
            <a:round/>
            <a:headEnd/>
            <a:tailEnd/>
          </a:ln>
          <a:effectLst/>
        </p:spPr>
        <p:txBody>
          <a:bodyPr/>
          <a:lstStyle/>
          <a:p>
            <a:endParaRPr lang="en-US"/>
          </a:p>
        </p:txBody>
      </p:sp>
      <p:sp>
        <p:nvSpPr>
          <p:cNvPr id="191495" name="Line 7"/>
          <p:cNvSpPr>
            <a:spLocks noChangeShapeType="1"/>
          </p:cNvSpPr>
          <p:nvPr/>
        </p:nvSpPr>
        <p:spPr bwMode="auto">
          <a:xfrm>
            <a:off x="2286000" y="3733800"/>
            <a:ext cx="2133600" cy="0"/>
          </a:xfrm>
          <a:prstGeom prst="line">
            <a:avLst/>
          </a:prstGeom>
          <a:noFill/>
          <a:ln w="9525">
            <a:solidFill>
              <a:schemeClr val="tx1"/>
            </a:solidFill>
            <a:prstDash val="dash"/>
            <a:round/>
            <a:headEnd/>
            <a:tailEnd/>
          </a:ln>
          <a:effectLst/>
        </p:spPr>
        <p:txBody>
          <a:bodyPr/>
          <a:lstStyle/>
          <a:p>
            <a:endParaRPr lang="en-US"/>
          </a:p>
        </p:txBody>
      </p:sp>
      <p:sp>
        <p:nvSpPr>
          <p:cNvPr id="191496" name="Line 8"/>
          <p:cNvSpPr>
            <a:spLocks noChangeShapeType="1"/>
          </p:cNvSpPr>
          <p:nvPr/>
        </p:nvSpPr>
        <p:spPr bwMode="auto">
          <a:xfrm>
            <a:off x="2286000" y="3200400"/>
            <a:ext cx="3276600" cy="0"/>
          </a:xfrm>
          <a:prstGeom prst="line">
            <a:avLst/>
          </a:prstGeom>
          <a:noFill/>
          <a:ln w="9525">
            <a:solidFill>
              <a:schemeClr val="tx1"/>
            </a:solidFill>
            <a:prstDash val="dash"/>
            <a:round/>
            <a:headEnd/>
            <a:tailEnd/>
          </a:ln>
          <a:effectLst/>
        </p:spPr>
        <p:txBody>
          <a:bodyPr/>
          <a:lstStyle/>
          <a:p>
            <a:endParaRPr lang="en-US"/>
          </a:p>
        </p:txBody>
      </p:sp>
      <p:sp>
        <p:nvSpPr>
          <p:cNvPr id="191499" name="Line 11"/>
          <p:cNvSpPr>
            <a:spLocks noChangeShapeType="1"/>
          </p:cNvSpPr>
          <p:nvPr/>
        </p:nvSpPr>
        <p:spPr bwMode="auto">
          <a:xfrm>
            <a:off x="4419600" y="3733800"/>
            <a:ext cx="0" cy="1066800"/>
          </a:xfrm>
          <a:prstGeom prst="line">
            <a:avLst/>
          </a:prstGeom>
          <a:noFill/>
          <a:ln w="9525">
            <a:solidFill>
              <a:schemeClr val="tx1"/>
            </a:solidFill>
            <a:prstDash val="dash"/>
            <a:round/>
            <a:headEnd/>
            <a:tailEnd/>
          </a:ln>
          <a:effectLst/>
        </p:spPr>
        <p:txBody>
          <a:bodyPr/>
          <a:lstStyle/>
          <a:p>
            <a:endParaRPr lang="en-US"/>
          </a:p>
        </p:txBody>
      </p:sp>
      <p:sp>
        <p:nvSpPr>
          <p:cNvPr id="191502" name="Text Box 14"/>
          <p:cNvSpPr txBox="1">
            <a:spLocks noChangeArrowheads="1"/>
          </p:cNvSpPr>
          <p:nvPr/>
        </p:nvSpPr>
        <p:spPr bwMode="auto">
          <a:xfrm>
            <a:off x="4191000" y="5105400"/>
            <a:ext cx="1219200" cy="366713"/>
          </a:xfrm>
          <a:prstGeom prst="rect">
            <a:avLst/>
          </a:prstGeom>
          <a:noFill/>
          <a:ln w="9525">
            <a:noFill/>
            <a:miter lim="800000"/>
            <a:headEnd/>
            <a:tailEnd/>
          </a:ln>
          <a:effectLst/>
        </p:spPr>
        <p:txBody>
          <a:bodyPr>
            <a:spAutoFit/>
          </a:bodyPr>
          <a:lstStyle/>
          <a:p>
            <a:pPr algn="l">
              <a:spcBef>
                <a:spcPct val="50000"/>
              </a:spcBef>
            </a:pPr>
            <a:r>
              <a:rPr lang="en-US" sz="1800"/>
              <a:t>Quantity</a:t>
            </a:r>
          </a:p>
        </p:txBody>
      </p:sp>
      <p:sp>
        <p:nvSpPr>
          <p:cNvPr id="191503" name="Text Box 15"/>
          <p:cNvSpPr txBox="1">
            <a:spLocks noChangeArrowheads="1"/>
          </p:cNvSpPr>
          <p:nvPr/>
        </p:nvSpPr>
        <p:spPr bwMode="auto">
          <a:xfrm rot="16200000">
            <a:off x="107157" y="3017043"/>
            <a:ext cx="2895600" cy="366713"/>
          </a:xfrm>
          <a:prstGeom prst="rect">
            <a:avLst/>
          </a:prstGeom>
          <a:noFill/>
          <a:ln w="9525">
            <a:noFill/>
            <a:miter lim="800000"/>
            <a:headEnd/>
            <a:tailEnd/>
          </a:ln>
          <a:effectLst/>
        </p:spPr>
        <p:txBody>
          <a:bodyPr>
            <a:spAutoFit/>
          </a:bodyPr>
          <a:lstStyle/>
          <a:p>
            <a:pPr algn="l">
              <a:spcBef>
                <a:spcPct val="50000"/>
              </a:spcBef>
            </a:pPr>
            <a:r>
              <a:rPr lang="en-US" sz="1800" dirty="0"/>
              <a:t>Price (in </a:t>
            </a:r>
            <a:r>
              <a:rPr lang="en-US" sz="1800" dirty="0" smtClean="0"/>
              <a:t>pounds)</a:t>
            </a:r>
            <a:endParaRPr lang="en-US" sz="1800" dirty="0"/>
          </a:p>
        </p:txBody>
      </p:sp>
      <p:sp>
        <p:nvSpPr>
          <p:cNvPr id="191504" name="Line 16"/>
          <p:cNvSpPr>
            <a:spLocks noChangeShapeType="1"/>
          </p:cNvSpPr>
          <p:nvPr/>
        </p:nvSpPr>
        <p:spPr bwMode="auto">
          <a:xfrm flipV="1">
            <a:off x="2286000" y="2590800"/>
            <a:ext cx="4495800" cy="2209800"/>
          </a:xfrm>
          <a:prstGeom prst="line">
            <a:avLst/>
          </a:prstGeom>
          <a:noFill/>
          <a:ln w="31750">
            <a:solidFill>
              <a:schemeClr val="tx1"/>
            </a:solidFill>
            <a:round/>
            <a:headEnd/>
            <a:tailEnd/>
          </a:ln>
          <a:effectLst/>
        </p:spPr>
        <p:txBody>
          <a:bodyPr/>
          <a:lstStyle/>
          <a:p>
            <a:endParaRPr lang="en-US"/>
          </a:p>
        </p:txBody>
      </p:sp>
      <p:sp>
        <p:nvSpPr>
          <p:cNvPr id="191505" name="Text Box 17"/>
          <p:cNvSpPr txBox="1">
            <a:spLocks noChangeArrowheads="1"/>
          </p:cNvSpPr>
          <p:nvPr/>
        </p:nvSpPr>
        <p:spPr bwMode="auto">
          <a:xfrm>
            <a:off x="1981200" y="1981200"/>
            <a:ext cx="381000" cy="366713"/>
          </a:xfrm>
          <a:prstGeom prst="rect">
            <a:avLst/>
          </a:prstGeom>
          <a:noFill/>
          <a:ln w="9525">
            <a:noFill/>
            <a:miter lim="800000"/>
            <a:headEnd/>
            <a:tailEnd/>
          </a:ln>
          <a:effectLst/>
        </p:spPr>
        <p:txBody>
          <a:bodyPr>
            <a:spAutoFit/>
          </a:bodyPr>
          <a:lstStyle/>
          <a:p>
            <a:pPr algn="l">
              <a:spcBef>
                <a:spcPct val="50000"/>
              </a:spcBef>
            </a:pPr>
            <a:r>
              <a:rPr lang="en-US" sz="1800"/>
              <a:t>P</a:t>
            </a:r>
          </a:p>
        </p:txBody>
      </p:sp>
      <p:sp>
        <p:nvSpPr>
          <p:cNvPr id="191506" name="Text Box 18"/>
          <p:cNvSpPr txBox="1">
            <a:spLocks noChangeArrowheads="1"/>
          </p:cNvSpPr>
          <p:nvPr/>
        </p:nvSpPr>
        <p:spPr bwMode="auto">
          <a:xfrm>
            <a:off x="7467600" y="4648200"/>
            <a:ext cx="381000" cy="366713"/>
          </a:xfrm>
          <a:prstGeom prst="rect">
            <a:avLst/>
          </a:prstGeom>
          <a:noFill/>
          <a:ln w="9525">
            <a:noFill/>
            <a:miter lim="800000"/>
            <a:headEnd/>
            <a:tailEnd/>
          </a:ln>
          <a:effectLst/>
        </p:spPr>
        <p:txBody>
          <a:bodyPr>
            <a:spAutoFit/>
          </a:bodyPr>
          <a:lstStyle/>
          <a:p>
            <a:pPr algn="l">
              <a:spcBef>
                <a:spcPct val="50000"/>
              </a:spcBef>
            </a:pPr>
            <a:r>
              <a:rPr lang="en-US" sz="1800"/>
              <a:t>Q</a:t>
            </a:r>
          </a:p>
        </p:txBody>
      </p:sp>
      <p:sp>
        <p:nvSpPr>
          <p:cNvPr id="191507" name="Text Box 19"/>
          <p:cNvSpPr txBox="1">
            <a:spLocks noChangeArrowheads="1"/>
          </p:cNvSpPr>
          <p:nvPr/>
        </p:nvSpPr>
        <p:spPr bwMode="auto">
          <a:xfrm>
            <a:off x="2057400" y="4800600"/>
            <a:ext cx="304800" cy="274638"/>
          </a:xfrm>
          <a:prstGeom prst="rect">
            <a:avLst/>
          </a:prstGeom>
          <a:noFill/>
          <a:ln w="9525">
            <a:noFill/>
            <a:miter lim="800000"/>
            <a:headEnd/>
            <a:tailEnd/>
          </a:ln>
          <a:effectLst/>
        </p:spPr>
        <p:txBody>
          <a:bodyPr>
            <a:spAutoFit/>
          </a:bodyPr>
          <a:lstStyle/>
          <a:p>
            <a:pPr algn="l">
              <a:spcBef>
                <a:spcPct val="50000"/>
              </a:spcBef>
            </a:pPr>
            <a:r>
              <a:rPr lang="en-US" sz="1200"/>
              <a:t>0</a:t>
            </a:r>
          </a:p>
        </p:txBody>
      </p:sp>
      <p:sp>
        <p:nvSpPr>
          <p:cNvPr id="191508" name="Text Box 20"/>
          <p:cNvSpPr txBox="1">
            <a:spLocks noChangeArrowheads="1"/>
          </p:cNvSpPr>
          <p:nvPr/>
        </p:nvSpPr>
        <p:spPr bwMode="auto">
          <a:xfrm>
            <a:off x="3276600" y="4800600"/>
            <a:ext cx="304800" cy="274638"/>
          </a:xfrm>
          <a:prstGeom prst="rect">
            <a:avLst/>
          </a:prstGeom>
          <a:noFill/>
          <a:ln w="9525">
            <a:noFill/>
            <a:miter lim="800000"/>
            <a:headEnd/>
            <a:tailEnd/>
          </a:ln>
          <a:effectLst/>
        </p:spPr>
        <p:txBody>
          <a:bodyPr>
            <a:spAutoFit/>
          </a:bodyPr>
          <a:lstStyle/>
          <a:p>
            <a:pPr algn="l">
              <a:spcBef>
                <a:spcPct val="50000"/>
              </a:spcBef>
            </a:pPr>
            <a:r>
              <a:rPr lang="en-US" sz="1200"/>
              <a:t>2</a:t>
            </a:r>
          </a:p>
        </p:txBody>
      </p:sp>
      <p:sp>
        <p:nvSpPr>
          <p:cNvPr id="191509" name="Text Box 21"/>
          <p:cNvSpPr txBox="1">
            <a:spLocks noChangeArrowheads="1"/>
          </p:cNvSpPr>
          <p:nvPr/>
        </p:nvSpPr>
        <p:spPr bwMode="auto">
          <a:xfrm>
            <a:off x="4267200" y="4800600"/>
            <a:ext cx="304800" cy="274638"/>
          </a:xfrm>
          <a:prstGeom prst="rect">
            <a:avLst/>
          </a:prstGeom>
          <a:noFill/>
          <a:ln w="9525">
            <a:noFill/>
            <a:miter lim="800000"/>
            <a:headEnd/>
            <a:tailEnd/>
          </a:ln>
          <a:effectLst/>
        </p:spPr>
        <p:txBody>
          <a:bodyPr>
            <a:spAutoFit/>
          </a:bodyPr>
          <a:lstStyle/>
          <a:p>
            <a:pPr algn="l">
              <a:spcBef>
                <a:spcPct val="50000"/>
              </a:spcBef>
            </a:pPr>
            <a:r>
              <a:rPr lang="en-US" sz="1200"/>
              <a:t>4</a:t>
            </a:r>
          </a:p>
        </p:txBody>
      </p:sp>
      <p:sp>
        <p:nvSpPr>
          <p:cNvPr id="191510" name="Text Box 22"/>
          <p:cNvSpPr txBox="1">
            <a:spLocks noChangeArrowheads="1"/>
          </p:cNvSpPr>
          <p:nvPr/>
        </p:nvSpPr>
        <p:spPr bwMode="auto">
          <a:xfrm>
            <a:off x="5410200" y="4800600"/>
            <a:ext cx="304800" cy="274638"/>
          </a:xfrm>
          <a:prstGeom prst="rect">
            <a:avLst/>
          </a:prstGeom>
          <a:noFill/>
          <a:ln w="9525">
            <a:noFill/>
            <a:miter lim="800000"/>
            <a:headEnd/>
            <a:tailEnd/>
          </a:ln>
          <a:effectLst/>
        </p:spPr>
        <p:txBody>
          <a:bodyPr>
            <a:spAutoFit/>
          </a:bodyPr>
          <a:lstStyle/>
          <a:p>
            <a:pPr algn="l">
              <a:spcBef>
                <a:spcPct val="50000"/>
              </a:spcBef>
            </a:pPr>
            <a:r>
              <a:rPr lang="en-US" sz="1200"/>
              <a:t>6</a:t>
            </a:r>
          </a:p>
        </p:txBody>
      </p:sp>
      <p:sp>
        <p:nvSpPr>
          <p:cNvPr id="191511" name="Text Box 23"/>
          <p:cNvSpPr txBox="1">
            <a:spLocks noChangeArrowheads="1"/>
          </p:cNvSpPr>
          <p:nvPr/>
        </p:nvSpPr>
        <p:spPr bwMode="auto">
          <a:xfrm>
            <a:off x="6477000" y="4800600"/>
            <a:ext cx="304800" cy="274638"/>
          </a:xfrm>
          <a:prstGeom prst="rect">
            <a:avLst/>
          </a:prstGeom>
          <a:noFill/>
          <a:ln w="9525">
            <a:noFill/>
            <a:miter lim="800000"/>
            <a:headEnd/>
            <a:tailEnd/>
          </a:ln>
          <a:effectLst/>
        </p:spPr>
        <p:txBody>
          <a:bodyPr>
            <a:spAutoFit/>
          </a:bodyPr>
          <a:lstStyle/>
          <a:p>
            <a:pPr algn="l">
              <a:spcBef>
                <a:spcPct val="50000"/>
              </a:spcBef>
            </a:pPr>
            <a:r>
              <a:rPr lang="en-US" sz="1200"/>
              <a:t>8</a:t>
            </a:r>
          </a:p>
        </p:txBody>
      </p:sp>
      <p:sp>
        <p:nvSpPr>
          <p:cNvPr id="191512" name="Text Box 24"/>
          <p:cNvSpPr txBox="1">
            <a:spLocks noChangeArrowheads="1"/>
          </p:cNvSpPr>
          <p:nvPr/>
        </p:nvSpPr>
        <p:spPr bwMode="auto">
          <a:xfrm>
            <a:off x="1828800" y="4114800"/>
            <a:ext cx="457200" cy="274638"/>
          </a:xfrm>
          <a:prstGeom prst="rect">
            <a:avLst/>
          </a:prstGeom>
          <a:noFill/>
          <a:ln w="9525">
            <a:noFill/>
            <a:miter lim="800000"/>
            <a:headEnd/>
            <a:tailEnd/>
          </a:ln>
          <a:effectLst/>
        </p:spPr>
        <p:txBody>
          <a:bodyPr>
            <a:spAutoFit/>
          </a:bodyPr>
          <a:lstStyle/>
          <a:p>
            <a:pPr algn="l">
              <a:spcBef>
                <a:spcPct val="50000"/>
              </a:spcBef>
            </a:pPr>
            <a:r>
              <a:rPr lang="en-US" sz="1200"/>
              <a:t>100</a:t>
            </a:r>
          </a:p>
        </p:txBody>
      </p:sp>
      <p:sp>
        <p:nvSpPr>
          <p:cNvPr id="191513" name="Text Box 25"/>
          <p:cNvSpPr txBox="1">
            <a:spLocks noChangeArrowheads="1"/>
          </p:cNvSpPr>
          <p:nvPr/>
        </p:nvSpPr>
        <p:spPr bwMode="auto">
          <a:xfrm>
            <a:off x="1828800" y="3581400"/>
            <a:ext cx="457200" cy="274638"/>
          </a:xfrm>
          <a:prstGeom prst="rect">
            <a:avLst/>
          </a:prstGeom>
          <a:noFill/>
          <a:ln w="9525">
            <a:noFill/>
            <a:miter lim="800000"/>
            <a:headEnd/>
            <a:tailEnd/>
          </a:ln>
          <a:effectLst/>
        </p:spPr>
        <p:txBody>
          <a:bodyPr>
            <a:spAutoFit/>
          </a:bodyPr>
          <a:lstStyle/>
          <a:p>
            <a:pPr algn="l">
              <a:spcBef>
                <a:spcPct val="50000"/>
              </a:spcBef>
            </a:pPr>
            <a:r>
              <a:rPr lang="en-US" sz="1200"/>
              <a:t>200</a:t>
            </a:r>
          </a:p>
        </p:txBody>
      </p:sp>
      <p:sp>
        <p:nvSpPr>
          <p:cNvPr id="191514" name="Text Box 26"/>
          <p:cNvSpPr txBox="1">
            <a:spLocks noChangeArrowheads="1"/>
          </p:cNvSpPr>
          <p:nvPr/>
        </p:nvSpPr>
        <p:spPr bwMode="auto">
          <a:xfrm>
            <a:off x="1828800" y="3124200"/>
            <a:ext cx="457200" cy="274638"/>
          </a:xfrm>
          <a:prstGeom prst="rect">
            <a:avLst/>
          </a:prstGeom>
          <a:noFill/>
          <a:ln w="9525">
            <a:noFill/>
            <a:miter lim="800000"/>
            <a:headEnd/>
            <a:tailEnd/>
          </a:ln>
          <a:effectLst/>
        </p:spPr>
        <p:txBody>
          <a:bodyPr>
            <a:spAutoFit/>
          </a:bodyPr>
          <a:lstStyle/>
          <a:p>
            <a:pPr algn="l">
              <a:spcBef>
                <a:spcPct val="50000"/>
              </a:spcBef>
            </a:pPr>
            <a:r>
              <a:rPr lang="en-US" sz="1200"/>
              <a:t>300</a:t>
            </a:r>
          </a:p>
        </p:txBody>
      </p:sp>
      <p:sp>
        <p:nvSpPr>
          <p:cNvPr id="191515" name="Text Box 27"/>
          <p:cNvSpPr txBox="1">
            <a:spLocks noChangeArrowheads="1"/>
          </p:cNvSpPr>
          <p:nvPr/>
        </p:nvSpPr>
        <p:spPr bwMode="auto">
          <a:xfrm>
            <a:off x="1828800" y="2514600"/>
            <a:ext cx="457200" cy="274638"/>
          </a:xfrm>
          <a:prstGeom prst="rect">
            <a:avLst/>
          </a:prstGeom>
          <a:noFill/>
          <a:ln w="9525">
            <a:noFill/>
            <a:miter lim="800000"/>
            <a:headEnd/>
            <a:tailEnd/>
          </a:ln>
          <a:effectLst/>
        </p:spPr>
        <p:txBody>
          <a:bodyPr>
            <a:spAutoFit/>
          </a:bodyPr>
          <a:lstStyle/>
          <a:p>
            <a:pPr algn="l">
              <a:spcBef>
                <a:spcPct val="50000"/>
              </a:spcBef>
            </a:pPr>
            <a:r>
              <a:rPr lang="en-US" sz="1200"/>
              <a:t>400</a:t>
            </a:r>
          </a:p>
        </p:txBody>
      </p:sp>
      <p:sp>
        <p:nvSpPr>
          <p:cNvPr id="191516" name="Text Box 28"/>
          <p:cNvSpPr txBox="1">
            <a:spLocks noChangeArrowheads="1"/>
          </p:cNvSpPr>
          <p:nvPr/>
        </p:nvSpPr>
        <p:spPr bwMode="auto">
          <a:xfrm>
            <a:off x="6858000" y="2362200"/>
            <a:ext cx="381000" cy="366713"/>
          </a:xfrm>
          <a:prstGeom prst="rect">
            <a:avLst/>
          </a:prstGeom>
          <a:noFill/>
          <a:ln w="9525">
            <a:noFill/>
            <a:miter lim="800000"/>
            <a:headEnd/>
            <a:tailEnd/>
          </a:ln>
          <a:effectLst/>
        </p:spPr>
        <p:txBody>
          <a:bodyPr>
            <a:spAutoFit/>
          </a:bodyPr>
          <a:lstStyle/>
          <a:p>
            <a:pPr algn="l">
              <a:spcBef>
                <a:spcPct val="50000"/>
              </a:spcBef>
            </a:pPr>
            <a:r>
              <a:rPr lang="en-US" sz="1800"/>
              <a:t>S</a:t>
            </a:r>
          </a:p>
        </p:txBody>
      </p:sp>
      <p:sp>
        <p:nvSpPr>
          <p:cNvPr id="191517" name="Line 29"/>
          <p:cNvSpPr>
            <a:spLocks noChangeShapeType="1"/>
          </p:cNvSpPr>
          <p:nvPr/>
        </p:nvSpPr>
        <p:spPr bwMode="auto">
          <a:xfrm>
            <a:off x="2286000" y="2667000"/>
            <a:ext cx="4343400" cy="2133600"/>
          </a:xfrm>
          <a:prstGeom prst="line">
            <a:avLst/>
          </a:prstGeom>
          <a:noFill/>
          <a:ln w="31750">
            <a:solidFill>
              <a:schemeClr val="tx1"/>
            </a:solidFill>
            <a:round/>
            <a:headEnd/>
            <a:tailEnd/>
          </a:ln>
          <a:effectLst/>
        </p:spPr>
        <p:txBody>
          <a:bodyPr/>
          <a:lstStyle/>
          <a:p>
            <a:endParaRPr lang="en-US"/>
          </a:p>
        </p:txBody>
      </p:sp>
      <p:sp>
        <p:nvSpPr>
          <p:cNvPr id="191519" name="Line 31"/>
          <p:cNvSpPr>
            <a:spLocks noChangeShapeType="1"/>
          </p:cNvSpPr>
          <p:nvPr/>
        </p:nvSpPr>
        <p:spPr bwMode="auto">
          <a:xfrm>
            <a:off x="3429000" y="3200400"/>
            <a:ext cx="2057400" cy="0"/>
          </a:xfrm>
          <a:prstGeom prst="line">
            <a:avLst/>
          </a:prstGeom>
          <a:noFill/>
          <a:ln w="9525">
            <a:solidFill>
              <a:srgbClr val="FF0000"/>
            </a:solidFill>
            <a:round/>
            <a:headEnd/>
            <a:tailEnd/>
          </a:ln>
          <a:effectLst/>
        </p:spPr>
        <p:txBody>
          <a:bodyPr/>
          <a:lstStyle/>
          <a:p>
            <a:endParaRPr lang="en-US"/>
          </a:p>
        </p:txBody>
      </p:sp>
      <p:sp>
        <p:nvSpPr>
          <p:cNvPr id="191520" name="Text Box 32"/>
          <p:cNvSpPr txBox="1">
            <a:spLocks noChangeArrowheads="1"/>
          </p:cNvSpPr>
          <p:nvPr/>
        </p:nvSpPr>
        <p:spPr bwMode="auto">
          <a:xfrm>
            <a:off x="3505200" y="4267200"/>
            <a:ext cx="1752600" cy="336550"/>
          </a:xfrm>
          <a:prstGeom prst="rect">
            <a:avLst/>
          </a:prstGeom>
          <a:noFill/>
          <a:ln w="9525" algn="ctr">
            <a:noFill/>
            <a:miter lim="800000"/>
            <a:headEnd/>
            <a:tailEnd/>
          </a:ln>
          <a:effectLst/>
        </p:spPr>
        <p:txBody>
          <a:bodyPr>
            <a:spAutoFit/>
          </a:bodyPr>
          <a:lstStyle/>
          <a:p>
            <a:pPr>
              <a:spcBef>
                <a:spcPct val="50000"/>
              </a:spcBef>
            </a:pPr>
            <a:r>
              <a:rPr lang="en-US"/>
              <a:t>Shortage</a:t>
            </a:r>
          </a:p>
        </p:txBody>
      </p:sp>
      <p:sp>
        <p:nvSpPr>
          <p:cNvPr id="191521" name="Line 33"/>
          <p:cNvSpPr>
            <a:spLocks noChangeShapeType="1"/>
          </p:cNvSpPr>
          <p:nvPr/>
        </p:nvSpPr>
        <p:spPr bwMode="auto">
          <a:xfrm>
            <a:off x="3429000" y="4267200"/>
            <a:ext cx="2057400" cy="0"/>
          </a:xfrm>
          <a:prstGeom prst="line">
            <a:avLst/>
          </a:prstGeom>
          <a:noFill/>
          <a:ln w="9525">
            <a:solidFill>
              <a:srgbClr val="00FF00"/>
            </a:solidFill>
            <a:round/>
            <a:headEnd/>
            <a:tailEnd/>
          </a:ln>
          <a:effectLst/>
        </p:spPr>
        <p:txBody>
          <a:bodyPr/>
          <a:lstStyle/>
          <a:p>
            <a:endParaRPr lang="en-US"/>
          </a:p>
        </p:txBody>
      </p:sp>
      <p:sp>
        <p:nvSpPr>
          <p:cNvPr id="191522" name="Text Box 34"/>
          <p:cNvSpPr txBox="1">
            <a:spLocks noChangeArrowheads="1"/>
          </p:cNvSpPr>
          <p:nvPr/>
        </p:nvSpPr>
        <p:spPr bwMode="auto">
          <a:xfrm>
            <a:off x="3429000" y="2819400"/>
            <a:ext cx="1752600" cy="336550"/>
          </a:xfrm>
          <a:prstGeom prst="rect">
            <a:avLst/>
          </a:prstGeom>
          <a:noFill/>
          <a:ln w="9525" algn="ctr">
            <a:noFill/>
            <a:miter lim="800000"/>
            <a:headEnd/>
            <a:tailEnd/>
          </a:ln>
          <a:effectLst/>
        </p:spPr>
        <p:txBody>
          <a:bodyPr>
            <a:spAutoFit/>
          </a:bodyPr>
          <a:lstStyle/>
          <a:p>
            <a:pPr>
              <a:spcBef>
                <a:spcPct val="50000"/>
              </a:spcBef>
            </a:pPr>
            <a:r>
              <a:rPr lang="en-US"/>
              <a:t>Surplus</a:t>
            </a:r>
          </a:p>
        </p:txBody>
      </p:sp>
      <p:sp>
        <p:nvSpPr>
          <p:cNvPr id="191523" name="Line 35"/>
          <p:cNvSpPr>
            <a:spLocks noChangeShapeType="1"/>
          </p:cNvSpPr>
          <p:nvPr/>
        </p:nvSpPr>
        <p:spPr bwMode="auto">
          <a:xfrm>
            <a:off x="3886200" y="3352800"/>
            <a:ext cx="381000" cy="228600"/>
          </a:xfrm>
          <a:prstGeom prst="line">
            <a:avLst/>
          </a:prstGeom>
          <a:noFill/>
          <a:ln w="9525">
            <a:solidFill>
              <a:schemeClr val="tx1"/>
            </a:solidFill>
            <a:round/>
            <a:headEnd/>
            <a:tailEnd type="triangle" w="med" len="med"/>
          </a:ln>
          <a:effectLst/>
        </p:spPr>
        <p:txBody>
          <a:bodyPr/>
          <a:lstStyle/>
          <a:p>
            <a:endParaRPr lang="en-US"/>
          </a:p>
        </p:txBody>
      </p:sp>
      <p:sp>
        <p:nvSpPr>
          <p:cNvPr id="191524" name="Line 36"/>
          <p:cNvSpPr>
            <a:spLocks noChangeShapeType="1"/>
          </p:cNvSpPr>
          <p:nvPr/>
        </p:nvSpPr>
        <p:spPr bwMode="auto">
          <a:xfrm flipH="1">
            <a:off x="4648200" y="3352800"/>
            <a:ext cx="304800" cy="152400"/>
          </a:xfrm>
          <a:prstGeom prst="line">
            <a:avLst/>
          </a:prstGeom>
          <a:noFill/>
          <a:ln w="9525">
            <a:solidFill>
              <a:schemeClr val="tx1"/>
            </a:solidFill>
            <a:round/>
            <a:headEnd/>
            <a:tailEnd type="triangle" w="med" len="med"/>
          </a:ln>
          <a:effectLst/>
        </p:spPr>
        <p:txBody>
          <a:bodyPr/>
          <a:lstStyle/>
          <a:p>
            <a:endParaRPr lang="en-US"/>
          </a:p>
        </p:txBody>
      </p:sp>
      <p:sp>
        <p:nvSpPr>
          <p:cNvPr id="191525" name="Line 37"/>
          <p:cNvSpPr>
            <a:spLocks noChangeShapeType="1"/>
          </p:cNvSpPr>
          <p:nvPr/>
        </p:nvSpPr>
        <p:spPr bwMode="auto">
          <a:xfrm flipV="1">
            <a:off x="3886200" y="3886200"/>
            <a:ext cx="457200" cy="228600"/>
          </a:xfrm>
          <a:prstGeom prst="line">
            <a:avLst/>
          </a:prstGeom>
          <a:noFill/>
          <a:ln w="9525">
            <a:solidFill>
              <a:schemeClr val="tx1"/>
            </a:solidFill>
            <a:round/>
            <a:headEnd/>
            <a:tailEnd type="triangle" w="med" len="med"/>
          </a:ln>
          <a:effectLst/>
        </p:spPr>
        <p:txBody>
          <a:bodyPr/>
          <a:lstStyle/>
          <a:p>
            <a:endParaRPr lang="en-US"/>
          </a:p>
        </p:txBody>
      </p:sp>
      <p:sp>
        <p:nvSpPr>
          <p:cNvPr id="191526" name="Line 38"/>
          <p:cNvSpPr>
            <a:spLocks noChangeShapeType="1"/>
          </p:cNvSpPr>
          <p:nvPr/>
        </p:nvSpPr>
        <p:spPr bwMode="auto">
          <a:xfrm flipH="1" flipV="1">
            <a:off x="4724400" y="3962400"/>
            <a:ext cx="457200" cy="228600"/>
          </a:xfrm>
          <a:prstGeom prst="line">
            <a:avLst/>
          </a:prstGeom>
          <a:noFill/>
          <a:ln w="9525">
            <a:solidFill>
              <a:schemeClr val="tx1"/>
            </a:solidFill>
            <a:round/>
            <a:headEnd/>
            <a:tailEnd type="triangle" w="med" len="med"/>
          </a:ln>
          <a:effectLst/>
        </p:spPr>
        <p:txBody>
          <a:bodyPr/>
          <a:lstStyle/>
          <a:p>
            <a:endParaRPr lang="en-US"/>
          </a:p>
        </p:txBody>
      </p:sp>
      <p:sp>
        <p:nvSpPr>
          <p:cNvPr id="34" name="Slide Number Placeholder 33"/>
          <p:cNvSpPr>
            <a:spLocks noGrp="1"/>
          </p:cNvSpPr>
          <p:nvPr>
            <p:ph type="sldNum" sz="quarter" idx="11"/>
          </p:nvPr>
        </p:nvSpPr>
        <p:spPr/>
        <p:txBody>
          <a:bodyPr/>
          <a:lstStyle/>
          <a:p>
            <a:fld id="{5D8C0D95-B81A-45DB-B701-8AAA9905C101}" type="slidenum">
              <a:rPr lang="en-US" smtClean="0"/>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lgn="l"/>
            <a:r>
              <a:rPr lang="en-US" dirty="0" smtClean="0"/>
              <a:t>(Cont.)</a:t>
            </a:r>
            <a:endParaRPr lang="en-US" dirty="0"/>
          </a:p>
        </p:txBody>
      </p:sp>
      <p:sp>
        <p:nvSpPr>
          <p:cNvPr id="200707" name="Rectangle 3"/>
          <p:cNvSpPr>
            <a:spLocks noGrp="1" noChangeArrowheads="1"/>
          </p:cNvSpPr>
          <p:nvPr>
            <p:ph idx="1"/>
          </p:nvPr>
        </p:nvSpPr>
        <p:spPr/>
        <p:txBody>
          <a:bodyPr/>
          <a:lstStyle/>
          <a:p>
            <a:r>
              <a:rPr lang="en-US" sz="2800" dirty="0"/>
              <a:t>Algebraic solution: equate the demand and supply equations (</a:t>
            </a:r>
            <a:r>
              <a:rPr lang="en-US" sz="2800" dirty="0" err="1"/>
              <a:t>Q</a:t>
            </a:r>
            <a:r>
              <a:rPr lang="en-US" sz="2800" baseline="-25000" dirty="0" err="1"/>
              <a:t>d</a:t>
            </a:r>
            <a:r>
              <a:rPr lang="en-US" sz="2800" dirty="0" smtClean="0"/>
              <a:t>= Q</a:t>
            </a:r>
            <a:r>
              <a:rPr lang="en-US" sz="2800" baseline="-25000" dirty="0" smtClean="0"/>
              <a:t>s</a:t>
            </a:r>
            <a:r>
              <a:rPr lang="en-US" sz="2800" dirty="0"/>
              <a:t>). </a:t>
            </a:r>
          </a:p>
          <a:p>
            <a:pPr>
              <a:buFont typeface="Wingdings" pitchFamily="2" charset="2"/>
              <a:buNone/>
            </a:pPr>
            <a:r>
              <a:rPr lang="en-US" sz="2800" i="1" dirty="0"/>
              <a:t>			</a:t>
            </a:r>
            <a:r>
              <a:rPr lang="en-US" sz="2800" dirty="0" err="1"/>
              <a:t>Q</a:t>
            </a:r>
            <a:r>
              <a:rPr lang="en-US" sz="2800" baseline="-25000" dirty="0" err="1"/>
              <a:t>d</a:t>
            </a:r>
            <a:r>
              <a:rPr lang="en-US" sz="2800" dirty="0"/>
              <a:t> = 8 - 0.02P </a:t>
            </a:r>
          </a:p>
          <a:p>
            <a:pPr>
              <a:buFont typeface="Wingdings" pitchFamily="2" charset="2"/>
              <a:buNone/>
            </a:pPr>
            <a:r>
              <a:rPr lang="en-US" sz="2800" dirty="0"/>
              <a:t>			Q</a:t>
            </a:r>
            <a:r>
              <a:rPr lang="en-US" sz="2800" baseline="-25000" dirty="0"/>
              <a:t>s</a:t>
            </a:r>
            <a:r>
              <a:rPr lang="en-US" sz="2800" dirty="0"/>
              <a:t> = 0 + 0.02 P</a:t>
            </a:r>
          </a:p>
          <a:p>
            <a:pPr lvl="1"/>
            <a:r>
              <a:rPr lang="en-US" sz="2400" i="1" dirty="0"/>
              <a:t>Step by step solution:		</a:t>
            </a:r>
          </a:p>
          <a:p>
            <a:pPr lvl="2"/>
            <a:r>
              <a:rPr lang="en-US" sz="2000" i="1" dirty="0"/>
              <a:t>8 - 0.02P = 0 + 0.02 P</a:t>
            </a:r>
          </a:p>
          <a:p>
            <a:pPr lvl="2"/>
            <a:r>
              <a:rPr lang="en-US" sz="2000" i="1" dirty="0"/>
              <a:t>0.04P = 8</a:t>
            </a:r>
          </a:p>
          <a:p>
            <a:pPr lvl="2"/>
            <a:r>
              <a:rPr lang="en-US" sz="2000" i="1" dirty="0"/>
              <a:t>P* = 8/0.04 = 200</a:t>
            </a:r>
          </a:p>
          <a:p>
            <a:pPr lvl="2"/>
            <a:r>
              <a:rPr lang="en-US" sz="2000" i="1" dirty="0" err="1"/>
              <a:t>Q</a:t>
            </a:r>
            <a:r>
              <a:rPr lang="en-US" sz="2000" i="1" baseline="-25000" dirty="0" err="1"/>
              <a:t>d</a:t>
            </a:r>
            <a:r>
              <a:rPr lang="en-US" sz="2000" i="1" dirty="0"/>
              <a:t> = 8 – 0.02(200) = 8 – 4 = 4</a:t>
            </a:r>
          </a:p>
          <a:p>
            <a:r>
              <a:rPr lang="en-US" sz="2800" i="1" dirty="0"/>
              <a:t>P* </a:t>
            </a:r>
            <a:r>
              <a:rPr lang="en-US" sz="2800" dirty="0" smtClean="0"/>
              <a:t>= 200 </a:t>
            </a:r>
            <a:r>
              <a:rPr lang="en-US" sz="2800" dirty="0"/>
              <a:t>per unit, </a:t>
            </a:r>
            <a:r>
              <a:rPr lang="en-US" sz="2800" i="1" dirty="0"/>
              <a:t>Q* =</a:t>
            </a:r>
            <a:r>
              <a:rPr lang="en-US" sz="2800" dirty="0"/>
              <a:t> 4 per </a:t>
            </a:r>
            <a:r>
              <a:rPr lang="en-US" sz="2800" dirty="0" smtClean="0"/>
              <a:t>year</a:t>
            </a:r>
            <a:endParaRPr lang="en-US" sz="2800" dirty="0"/>
          </a:p>
        </p:txBody>
      </p:sp>
      <p:sp>
        <p:nvSpPr>
          <p:cNvPr id="5" name="Slide Number Placeholder 4"/>
          <p:cNvSpPr>
            <a:spLocks noGrp="1"/>
          </p:cNvSpPr>
          <p:nvPr>
            <p:ph type="sldNum" sz="quarter" idx="11"/>
          </p:nvPr>
        </p:nvSpPr>
        <p:spPr/>
        <p:txBody>
          <a:bodyPr/>
          <a:lstStyle/>
          <a:p>
            <a:fld id="{6D63C845-4982-41E6-901A-A3EC09BDD7BE}" type="slidenum">
              <a:rPr lang="en-US" smtClean="0"/>
              <a:pPr/>
              <a:t>41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200707">
                                            <p:txEl>
                                              <p:pRg st="0" end="0"/>
                                            </p:txEl>
                                          </p:spTgt>
                                        </p:tgtEl>
                                        <p:attrNameLst>
                                          <p:attrName>style.visibility</p:attrName>
                                        </p:attrNameLst>
                                      </p:cBhvr>
                                      <p:to>
                                        <p:strVal val="visible"/>
                                      </p:to>
                                    </p:set>
                                    <p:animEffect transition="in" filter="fade">
                                      <p:cBhvr>
                                        <p:cTn id="7" dur="800" decel="100000"/>
                                        <p:tgtEl>
                                          <p:spTgt spid="200707">
                                            <p:txEl>
                                              <p:pRg st="0" end="0"/>
                                            </p:txEl>
                                          </p:spTgt>
                                        </p:tgtEl>
                                      </p:cBhvr>
                                    </p:animEffect>
                                    <p:anim calcmode="lin" valueType="num">
                                      <p:cBhvr>
                                        <p:cTn id="8" dur="800" decel="100000" fill="hold"/>
                                        <p:tgtEl>
                                          <p:spTgt spid="200707">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200707">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200707">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00707">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00707">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200707">
                                            <p:txEl>
                                              <p:pRg st="1" end="1"/>
                                            </p:txEl>
                                          </p:spTgt>
                                        </p:tgtEl>
                                        <p:attrNameLst>
                                          <p:attrName>style.visibility</p:attrName>
                                        </p:attrNameLst>
                                      </p:cBhvr>
                                      <p:to>
                                        <p:strVal val="visible"/>
                                      </p:to>
                                    </p:set>
                                    <p:animEffect transition="in" filter="fade">
                                      <p:cBhvr>
                                        <p:cTn id="17" dur="800" decel="100000"/>
                                        <p:tgtEl>
                                          <p:spTgt spid="200707">
                                            <p:txEl>
                                              <p:pRg st="1" end="1"/>
                                            </p:txEl>
                                          </p:spTgt>
                                        </p:tgtEl>
                                      </p:cBhvr>
                                    </p:animEffect>
                                    <p:anim calcmode="lin" valueType="num">
                                      <p:cBhvr>
                                        <p:cTn id="18" dur="800" decel="100000" fill="hold"/>
                                        <p:tgtEl>
                                          <p:spTgt spid="200707">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200707">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200707">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200707">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200707">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grpId="0" nodeType="clickEffect">
                                  <p:stCondLst>
                                    <p:cond delay="0"/>
                                  </p:stCondLst>
                                  <p:childTnLst>
                                    <p:set>
                                      <p:cBhvr>
                                        <p:cTn id="26" dur="1" fill="hold">
                                          <p:stCondLst>
                                            <p:cond delay="0"/>
                                          </p:stCondLst>
                                        </p:cTn>
                                        <p:tgtEl>
                                          <p:spTgt spid="200707">
                                            <p:txEl>
                                              <p:pRg st="2" end="2"/>
                                            </p:txEl>
                                          </p:spTgt>
                                        </p:tgtEl>
                                        <p:attrNameLst>
                                          <p:attrName>style.visibility</p:attrName>
                                        </p:attrNameLst>
                                      </p:cBhvr>
                                      <p:to>
                                        <p:strVal val="visible"/>
                                      </p:to>
                                    </p:set>
                                    <p:animEffect transition="in" filter="fade">
                                      <p:cBhvr>
                                        <p:cTn id="27" dur="800" decel="100000"/>
                                        <p:tgtEl>
                                          <p:spTgt spid="200707">
                                            <p:txEl>
                                              <p:pRg st="2" end="2"/>
                                            </p:txEl>
                                          </p:spTgt>
                                        </p:tgtEl>
                                      </p:cBhvr>
                                    </p:animEffect>
                                    <p:anim calcmode="lin" valueType="num">
                                      <p:cBhvr>
                                        <p:cTn id="28" dur="800" decel="100000" fill="hold"/>
                                        <p:tgtEl>
                                          <p:spTgt spid="200707">
                                            <p:txEl>
                                              <p:pRg st="2" end="2"/>
                                            </p:txEl>
                                          </p:spTgt>
                                        </p:tgtEl>
                                        <p:attrNameLst>
                                          <p:attrName>style.rotation</p:attrName>
                                        </p:attrNameLst>
                                      </p:cBhvr>
                                      <p:tavLst>
                                        <p:tav tm="0">
                                          <p:val>
                                            <p:fltVal val="-90"/>
                                          </p:val>
                                        </p:tav>
                                        <p:tav tm="100000">
                                          <p:val>
                                            <p:fltVal val="0"/>
                                          </p:val>
                                        </p:tav>
                                      </p:tavLst>
                                    </p:anim>
                                    <p:anim calcmode="lin" valueType="num">
                                      <p:cBhvr>
                                        <p:cTn id="29" dur="800" decel="100000" fill="hold"/>
                                        <p:tgtEl>
                                          <p:spTgt spid="200707">
                                            <p:txEl>
                                              <p:pRg st="2" end="2"/>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200707">
                                            <p:txEl>
                                              <p:pRg st="2" end="2"/>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200707">
                                            <p:txEl>
                                              <p:pRg st="2" end="2"/>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200707">
                                            <p:txEl>
                                              <p:pRg st="2" end="2"/>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200707">
                                            <p:txEl>
                                              <p:pRg st="3" end="3"/>
                                            </p:txEl>
                                          </p:spTgt>
                                        </p:tgtEl>
                                        <p:attrNameLst>
                                          <p:attrName>style.visibility</p:attrName>
                                        </p:attrNameLst>
                                      </p:cBhvr>
                                      <p:to>
                                        <p:strVal val="visible"/>
                                      </p:to>
                                    </p:set>
                                    <p:animEffect transition="in" filter="fade">
                                      <p:cBhvr>
                                        <p:cTn id="37" dur="800" decel="100000"/>
                                        <p:tgtEl>
                                          <p:spTgt spid="200707">
                                            <p:txEl>
                                              <p:pRg st="3" end="3"/>
                                            </p:txEl>
                                          </p:spTgt>
                                        </p:tgtEl>
                                      </p:cBhvr>
                                    </p:animEffect>
                                    <p:anim calcmode="lin" valueType="num">
                                      <p:cBhvr>
                                        <p:cTn id="38" dur="800" decel="100000" fill="hold"/>
                                        <p:tgtEl>
                                          <p:spTgt spid="200707">
                                            <p:txEl>
                                              <p:pRg st="3" end="3"/>
                                            </p:txEl>
                                          </p:spTgt>
                                        </p:tgtEl>
                                        <p:attrNameLst>
                                          <p:attrName>style.rotation</p:attrName>
                                        </p:attrNameLst>
                                      </p:cBhvr>
                                      <p:tavLst>
                                        <p:tav tm="0">
                                          <p:val>
                                            <p:fltVal val="-90"/>
                                          </p:val>
                                        </p:tav>
                                        <p:tav tm="100000">
                                          <p:val>
                                            <p:fltVal val="0"/>
                                          </p:val>
                                        </p:tav>
                                      </p:tavLst>
                                    </p:anim>
                                    <p:anim calcmode="lin" valueType="num">
                                      <p:cBhvr>
                                        <p:cTn id="39" dur="800" decel="100000" fill="hold"/>
                                        <p:tgtEl>
                                          <p:spTgt spid="200707">
                                            <p:txEl>
                                              <p:pRg st="3" end="3"/>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200707">
                                            <p:txEl>
                                              <p:pRg st="3" end="3"/>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200707">
                                            <p:txEl>
                                              <p:pRg st="3" end="3"/>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200707">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nodeType="clickEffect">
                                  <p:stCondLst>
                                    <p:cond delay="0"/>
                                  </p:stCondLst>
                                  <p:childTnLst>
                                    <p:set>
                                      <p:cBhvr>
                                        <p:cTn id="46" dur="1" fill="hold">
                                          <p:stCondLst>
                                            <p:cond delay="0"/>
                                          </p:stCondLst>
                                        </p:cTn>
                                        <p:tgtEl>
                                          <p:spTgt spid="200707">
                                            <p:txEl>
                                              <p:pRg st="4" end="4"/>
                                            </p:txEl>
                                          </p:spTgt>
                                        </p:tgtEl>
                                        <p:attrNameLst>
                                          <p:attrName>style.visibility</p:attrName>
                                        </p:attrNameLst>
                                      </p:cBhvr>
                                      <p:to>
                                        <p:strVal val="visible"/>
                                      </p:to>
                                    </p:set>
                                    <p:animEffect transition="in" filter="fade">
                                      <p:cBhvr>
                                        <p:cTn id="47" dur="800" decel="100000"/>
                                        <p:tgtEl>
                                          <p:spTgt spid="200707">
                                            <p:txEl>
                                              <p:pRg st="4" end="4"/>
                                            </p:txEl>
                                          </p:spTgt>
                                        </p:tgtEl>
                                      </p:cBhvr>
                                    </p:animEffect>
                                    <p:anim calcmode="lin" valueType="num">
                                      <p:cBhvr>
                                        <p:cTn id="48" dur="800" decel="100000" fill="hold"/>
                                        <p:tgtEl>
                                          <p:spTgt spid="200707">
                                            <p:txEl>
                                              <p:pRg st="4" end="4"/>
                                            </p:txEl>
                                          </p:spTgt>
                                        </p:tgtEl>
                                        <p:attrNameLst>
                                          <p:attrName>style.rotation</p:attrName>
                                        </p:attrNameLst>
                                      </p:cBhvr>
                                      <p:tavLst>
                                        <p:tav tm="0">
                                          <p:val>
                                            <p:fltVal val="-90"/>
                                          </p:val>
                                        </p:tav>
                                        <p:tav tm="100000">
                                          <p:val>
                                            <p:fltVal val="0"/>
                                          </p:val>
                                        </p:tav>
                                      </p:tavLst>
                                    </p:anim>
                                    <p:anim calcmode="lin" valueType="num">
                                      <p:cBhvr>
                                        <p:cTn id="49" dur="800" decel="100000" fill="hold"/>
                                        <p:tgtEl>
                                          <p:spTgt spid="200707">
                                            <p:txEl>
                                              <p:pRg st="4" end="4"/>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200707">
                                            <p:txEl>
                                              <p:pRg st="4" end="4"/>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200707">
                                            <p:txEl>
                                              <p:pRg st="4" end="4"/>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200707">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0" presetClass="entr" presetSubtype="0" fill="hold" nodeType="clickEffect">
                                  <p:stCondLst>
                                    <p:cond delay="0"/>
                                  </p:stCondLst>
                                  <p:childTnLst>
                                    <p:set>
                                      <p:cBhvr>
                                        <p:cTn id="56" dur="1" fill="hold">
                                          <p:stCondLst>
                                            <p:cond delay="0"/>
                                          </p:stCondLst>
                                        </p:cTn>
                                        <p:tgtEl>
                                          <p:spTgt spid="200707">
                                            <p:txEl>
                                              <p:pRg st="5" end="5"/>
                                            </p:txEl>
                                          </p:spTgt>
                                        </p:tgtEl>
                                        <p:attrNameLst>
                                          <p:attrName>style.visibility</p:attrName>
                                        </p:attrNameLst>
                                      </p:cBhvr>
                                      <p:to>
                                        <p:strVal val="visible"/>
                                      </p:to>
                                    </p:set>
                                    <p:animEffect transition="in" filter="fade">
                                      <p:cBhvr>
                                        <p:cTn id="57" dur="800" decel="100000"/>
                                        <p:tgtEl>
                                          <p:spTgt spid="200707">
                                            <p:txEl>
                                              <p:pRg st="5" end="5"/>
                                            </p:txEl>
                                          </p:spTgt>
                                        </p:tgtEl>
                                      </p:cBhvr>
                                    </p:animEffect>
                                    <p:anim calcmode="lin" valueType="num">
                                      <p:cBhvr>
                                        <p:cTn id="58" dur="800" decel="100000" fill="hold"/>
                                        <p:tgtEl>
                                          <p:spTgt spid="200707">
                                            <p:txEl>
                                              <p:pRg st="5" end="5"/>
                                            </p:txEl>
                                          </p:spTgt>
                                        </p:tgtEl>
                                        <p:attrNameLst>
                                          <p:attrName>style.rotation</p:attrName>
                                        </p:attrNameLst>
                                      </p:cBhvr>
                                      <p:tavLst>
                                        <p:tav tm="0">
                                          <p:val>
                                            <p:fltVal val="-90"/>
                                          </p:val>
                                        </p:tav>
                                        <p:tav tm="100000">
                                          <p:val>
                                            <p:fltVal val="0"/>
                                          </p:val>
                                        </p:tav>
                                      </p:tavLst>
                                    </p:anim>
                                    <p:anim calcmode="lin" valueType="num">
                                      <p:cBhvr>
                                        <p:cTn id="59" dur="800" decel="100000" fill="hold"/>
                                        <p:tgtEl>
                                          <p:spTgt spid="200707">
                                            <p:txEl>
                                              <p:pRg st="5" end="5"/>
                                            </p:txEl>
                                          </p:spTgt>
                                        </p:tgtEl>
                                        <p:attrNameLst>
                                          <p:attrName>ppt_x</p:attrName>
                                        </p:attrNameLst>
                                      </p:cBhvr>
                                      <p:tavLst>
                                        <p:tav tm="0">
                                          <p:val>
                                            <p:strVal val="#ppt_x+0.4"/>
                                          </p:val>
                                        </p:tav>
                                        <p:tav tm="100000">
                                          <p:val>
                                            <p:strVal val="#ppt_x-0.05"/>
                                          </p:val>
                                        </p:tav>
                                      </p:tavLst>
                                    </p:anim>
                                    <p:anim calcmode="lin" valueType="num">
                                      <p:cBhvr>
                                        <p:cTn id="60" dur="800" decel="100000" fill="hold"/>
                                        <p:tgtEl>
                                          <p:spTgt spid="200707">
                                            <p:txEl>
                                              <p:pRg st="5" end="5"/>
                                            </p:txEl>
                                          </p:spTgt>
                                        </p:tgtEl>
                                        <p:attrNameLst>
                                          <p:attrName>ppt_y</p:attrName>
                                        </p:attrNameLst>
                                      </p:cBhvr>
                                      <p:tavLst>
                                        <p:tav tm="0">
                                          <p:val>
                                            <p:strVal val="#ppt_y-0.4"/>
                                          </p:val>
                                        </p:tav>
                                        <p:tav tm="100000">
                                          <p:val>
                                            <p:strVal val="#ppt_y+0.1"/>
                                          </p:val>
                                        </p:tav>
                                      </p:tavLst>
                                    </p:anim>
                                    <p:anim calcmode="lin" valueType="num">
                                      <p:cBhvr>
                                        <p:cTn id="61" dur="200" accel="100000" fill="hold">
                                          <p:stCondLst>
                                            <p:cond delay="800"/>
                                          </p:stCondLst>
                                        </p:cTn>
                                        <p:tgtEl>
                                          <p:spTgt spid="200707">
                                            <p:txEl>
                                              <p:pRg st="5" end="5"/>
                                            </p:txEl>
                                          </p:spTgt>
                                        </p:tgtEl>
                                        <p:attrNameLst>
                                          <p:attrName>ppt_x</p:attrName>
                                        </p:attrNameLst>
                                      </p:cBhvr>
                                      <p:tavLst>
                                        <p:tav tm="0">
                                          <p:val>
                                            <p:strVal val="#ppt_x-0.05"/>
                                          </p:val>
                                        </p:tav>
                                        <p:tav tm="100000">
                                          <p:val>
                                            <p:strVal val="#ppt_x"/>
                                          </p:val>
                                        </p:tav>
                                      </p:tavLst>
                                    </p:anim>
                                    <p:anim calcmode="lin" valueType="num">
                                      <p:cBhvr>
                                        <p:cTn id="62" dur="200" accel="100000" fill="hold">
                                          <p:stCondLst>
                                            <p:cond delay="800"/>
                                          </p:stCondLst>
                                        </p:cTn>
                                        <p:tgtEl>
                                          <p:spTgt spid="200707">
                                            <p:txEl>
                                              <p:pRg st="5" end="5"/>
                                            </p:txEl>
                                          </p:spTgt>
                                        </p:tgtEl>
                                        <p:attrNameLst>
                                          <p:attrName>ppt_y</p:attrName>
                                        </p:attrNameLst>
                                      </p:cBhvr>
                                      <p:tavLst>
                                        <p:tav tm="0">
                                          <p:val>
                                            <p:strVal val="#ppt_y+0.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0" presetClass="entr" presetSubtype="0" fill="hold" nodeType="clickEffect">
                                  <p:stCondLst>
                                    <p:cond delay="0"/>
                                  </p:stCondLst>
                                  <p:childTnLst>
                                    <p:set>
                                      <p:cBhvr>
                                        <p:cTn id="66" dur="1" fill="hold">
                                          <p:stCondLst>
                                            <p:cond delay="0"/>
                                          </p:stCondLst>
                                        </p:cTn>
                                        <p:tgtEl>
                                          <p:spTgt spid="200707">
                                            <p:txEl>
                                              <p:pRg st="6" end="6"/>
                                            </p:txEl>
                                          </p:spTgt>
                                        </p:tgtEl>
                                        <p:attrNameLst>
                                          <p:attrName>style.visibility</p:attrName>
                                        </p:attrNameLst>
                                      </p:cBhvr>
                                      <p:to>
                                        <p:strVal val="visible"/>
                                      </p:to>
                                    </p:set>
                                    <p:animEffect transition="in" filter="fade">
                                      <p:cBhvr>
                                        <p:cTn id="67" dur="800" decel="100000"/>
                                        <p:tgtEl>
                                          <p:spTgt spid="200707">
                                            <p:txEl>
                                              <p:pRg st="6" end="6"/>
                                            </p:txEl>
                                          </p:spTgt>
                                        </p:tgtEl>
                                      </p:cBhvr>
                                    </p:animEffect>
                                    <p:anim calcmode="lin" valueType="num">
                                      <p:cBhvr>
                                        <p:cTn id="68" dur="800" decel="100000" fill="hold"/>
                                        <p:tgtEl>
                                          <p:spTgt spid="200707">
                                            <p:txEl>
                                              <p:pRg st="6" end="6"/>
                                            </p:txEl>
                                          </p:spTgt>
                                        </p:tgtEl>
                                        <p:attrNameLst>
                                          <p:attrName>style.rotation</p:attrName>
                                        </p:attrNameLst>
                                      </p:cBhvr>
                                      <p:tavLst>
                                        <p:tav tm="0">
                                          <p:val>
                                            <p:fltVal val="-90"/>
                                          </p:val>
                                        </p:tav>
                                        <p:tav tm="100000">
                                          <p:val>
                                            <p:fltVal val="0"/>
                                          </p:val>
                                        </p:tav>
                                      </p:tavLst>
                                    </p:anim>
                                    <p:anim calcmode="lin" valueType="num">
                                      <p:cBhvr>
                                        <p:cTn id="69" dur="800" decel="100000" fill="hold"/>
                                        <p:tgtEl>
                                          <p:spTgt spid="200707">
                                            <p:txEl>
                                              <p:pRg st="6" end="6"/>
                                            </p:txEl>
                                          </p:spTgt>
                                        </p:tgtEl>
                                        <p:attrNameLst>
                                          <p:attrName>ppt_x</p:attrName>
                                        </p:attrNameLst>
                                      </p:cBhvr>
                                      <p:tavLst>
                                        <p:tav tm="0">
                                          <p:val>
                                            <p:strVal val="#ppt_x+0.4"/>
                                          </p:val>
                                        </p:tav>
                                        <p:tav tm="100000">
                                          <p:val>
                                            <p:strVal val="#ppt_x-0.05"/>
                                          </p:val>
                                        </p:tav>
                                      </p:tavLst>
                                    </p:anim>
                                    <p:anim calcmode="lin" valueType="num">
                                      <p:cBhvr>
                                        <p:cTn id="70" dur="800" decel="100000" fill="hold"/>
                                        <p:tgtEl>
                                          <p:spTgt spid="200707">
                                            <p:txEl>
                                              <p:pRg st="6" end="6"/>
                                            </p:txEl>
                                          </p:spTgt>
                                        </p:tgtEl>
                                        <p:attrNameLst>
                                          <p:attrName>ppt_y</p:attrName>
                                        </p:attrNameLst>
                                      </p:cBhvr>
                                      <p:tavLst>
                                        <p:tav tm="0">
                                          <p:val>
                                            <p:strVal val="#ppt_y-0.4"/>
                                          </p:val>
                                        </p:tav>
                                        <p:tav tm="100000">
                                          <p:val>
                                            <p:strVal val="#ppt_y+0.1"/>
                                          </p:val>
                                        </p:tav>
                                      </p:tavLst>
                                    </p:anim>
                                    <p:anim calcmode="lin" valueType="num">
                                      <p:cBhvr>
                                        <p:cTn id="71" dur="200" accel="100000" fill="hold">
                                          <p:stCondLst>
                                            <p:cond delay="800"/>
                                          </p:stCondLst>
                                        </p:cTn>
                                        <p:tgtEl>
                                          <p:spTgt spid="200707">
                                            <p:txEl>
                                              <p:pRg st="6" end="6"/>
                                            </p:txEl>
                                          </p:spTgt>
                                        </p:tgtEl>
                                        <p:attrNameLst>
                                          <p:attrName>ppt_x</p:attrName>
                                        </p:attrNameLst>
                                      </p:cBhvr>
                                      <p:tavLst>
                                        <p:tav tm="0">
                                          <p:val>
                                            <p:strVal val="#ppt_x-0.05"/>
                                          </p:val>
                                        </p:tav>
                                        <p:tav tm="100000">
                                          <p:val>
                                            <p:strVal val="#ppt_x"/>
                                          </p:val>
                                        </p:tav>
                                      </p:tavLst>
                                    </p:anim>
                                    <p:anim calcmode="lin" valueType="num">
                                      <p:cBhvr>
                                        <p:cTn id="72" dur="200" accel="100000" fill="hold">
                                          <p:stCondLst>
                                            <p:cond delay="800"/>
                                          </p:stCondLst>
                                        </p:cTn>
                                        <p:tgtEl>
                                          <p:spTgt spid="200707">
                                            <p:txEl>
                                              <p:pRg st="6" end="6"/>
                                            </p:txEl>
                                          </p:spTgt>
                                        </p:tgtEl>
                                        <p:attrNameLst>
                                          <p:attrName>ppt_y</p:attrName>
                                        </p:attrNameLst>
                                      </p:cBhvr>
                                      <p:tavLst>
                                        <p:tav tm="0">
                                          <p:val>
                                            <p:strVal val="#ppt_y+0.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30" presetClass="entr" presetSubtype="0" fill="hold" nodeType="clickEffect">
                                  <p:stCondLst>
                                    <p:cond delay="0"/>
                                  </p:stCondLst>
                                  <p:childTnLst>
                                    <p:set>
                                      <p:cBhvr>
                                        <p:cTn id="76" dur="1" fill="hold">
                                          <p:stCondLst>
                                            <p:cond delay="0"/>
                                          </p:stCondLst>
                                        </p:cTn>
                                        <p:tgtEl>
                                          <p:spTgt spid="200707">
                                            <p:txEl>
                                              <p:pRg st="7" end="7"/>
                                            </p:txEl>
                                          </p:spTgt>
                                        </p:tgtEl>
                                        <p:attrNameLst>
                                          <p:attrName>style.visibility</p:attrName>
                                        </p:attrNameLst>
                                      </p:cBhvr>
                                      <p:to>
                                        <p:strVal val="visible"/>
                                      </p:to>
                                    </p:set>
                                    <p:animEffect transition="in" filter="fade">
                                      <p:cBhvr>
                                        <p:cTn id="77" dur="800" decel="100000"/>
                                        <p:tgtEl>
                                          <p:spTgt spid="200707">
                                            <p:txEl>
                                              <p:pRg st="7" end="7"/>
                                            </p:txEl>
                                          </p:spTgt>
                                        </p:tgtEl>
                                      </p:cBhvr>
                                    </p:animEffect>
                                    <p:anim calcmode="lin" valueType="num">
                                      <p:cBhvr>
                                        <p:cTn id="78" dur="800" decel="100000" fill="hold"/>
                                        <p:tgtEl>
                                          <p:spTgt spid="200707">
                                            <p:txEl>
                                              <p:pRg st="7" end="7"/>
                                            </p:txEl>
                                          </p:spTgt>
                                        </p:tgtEl>
                                        <p:attrNameLst>
                                          <p:attrName>style.rotation</p:attrName>
                                        </p:attrNameLst>
                                      </p:cBhvr>
                                      <p:tavLst>
                                        <p:tav tm="0">
                                          <p:val>
                                            <p:fltVal val="-90"/>
                                          </p:val>
                                        </p:tav>
                                        <p:tav tm="100000">
                                          <p:val>
                                            <p:fltVal val="0"/>
                                          </p:val>
                                        </p:tav>
                                      </p:tavLst>
                                    </p:anim>
                                    <p:anim calcmode="lin" valueType="num">
                                      <p:cBhvr>
                                        <p:cTn id="79" dur="800" decel="100000" fill="hold"/>
                                        <p:tgtEl>
                                          <p:spTgt spid="200707">
                                            <p:txEl>
                                              <p:pRg st="7" end="7"/>
                                            </p:txEl>
                                          </p:spTgt>
                                        </p:tgtEl>
                                        <p:attrNameLst>
                                          <p:attrName>ppt_x</p:attrName>
                                        </p:attrNameLst>
                                      </p:cBhvr>
                                      <p:tavLst>
                                        <p:tav tm="0">
                                          <p:val>
                                            <p:strVal val="#ppt_x+0.4"/>
                                          </p:val>
                                        </p:tav>
                                        <p:tav tm="100000">
                                          <p:val>
                                            <p:strVal val="#ppt_x-0.05"/>
                                          </p:val>
                                        </p:tav>
                                      </p:tavLst>
                                    </p:anim>
                                    <p:anim calcmode="lin" valueType="num">
                                      <p:cBhvr>
                                        <p:cTn id="80" dur="800" decel="100000" fill="hold"/>
                                        <p:tgtEl>
                                          <p:spTgt spid="200707">
                                            <p:txEl>
                                              <p:pRg st="7" end="7"/>
                                            </p:txEl>
                                          </p:spTgt>
                                        </p:tgtEl>
                                        <p:attrNameLst>
                                          <p:attrName>ppt_y</p:attrName>
                                        </p:attrNameLst>
                                      </p:cBhvr>
                                      <p:tavLst>
                                        <p:tav tm="0">
                                          <p:val>
                                            <p:strVal val="#ppt_y-0.4"/>
                                          </p:val>
                                        </p:tav>
                                        <p:tav tm="100000">
                                          <p:val>
                                            <p:strVal val="#ppt_y+0.1"/>
                                          </p:val>
                                        </p:tav>
                                      </p:tavLst>
                                    </p:anim>
                                    <p:anim calcmode="lin" valueType="num">
                                      <p:cBhvr>
                                        <p:cTn id="81" dur="200" accel="100000" fill="hold">
                                          <p:stCondLst>
                                            <p:cond delay="800"/>
                                          </p:stCondLst>
                                        </p:cTn>
                                        <p:tgtEl>
                                          <p:spTgt spid="200707">
                                            <p:txEl>
                                              <p:pRg st="7" end="7"/>
                                            </p:txEl>
                                          </p:spTgt>
                                        </p:tgtEl>
                                        <p:attrNameLst>
                                          <p:attrName>ppt_x</p:attrName>
                                        </p:attrNameLst>
                                      </p:cBhvr>
                                      <p:tavLst>
                                        <p:tav tm="0">
                                          <p:val>
                                            <p:strVal val="#ppt_x-0.05"/>
                                          </p:val>
                                        </p:tav>
                                        <p:tav tm="100000">
                                          <p:val>
                                            <p:strVal val="#ppt_x"/>
                                          </p:val>
                                        </p:tav>
                                      </p:tavLst>
                                    </p:anim>
                                    <p:anim calcmode="lin" valueType="num">
                                      <p:cBhvr>
                                        <p:cTn id="82" dur="200" accel="100000" fill="hold">
                                          <p:stCondLst>
                                            <p:cond delay="800"/>
                                          </p:stCondLst>
                                        </p:cTn>
                                        <p:tgtEl>
                                          <p:spTgt spid="200707">
                                            <p:txEl>
                                              <p:pRg st="7" end="7"/>
                                            </p:txEl>
                                          </p:spTgt>
                                        </p:tgtEl>
                                        <p:attrNameLst>
                                          <p:attrName>ppt_y</p:attrName>
                                        </p:attrNameLst>
                                      </p:cBhvr>
                                      <p:tavLst>
                                        <p:tav tm="0">
                                          <p:val>
                                            <p:strVal val="#ppt_y+0.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30" presetClass="entr" presetSubtype="0" fill="hold" nodeType="clickEffect">
                                  <p:stCondLst>
                                    <p:cond delay="0"/>
                                  </p:stCondLst>
                                  <p:childTnLst>
                                    <p:set>
                                      <p:cBhvr>
                                        <p:cTn id="86" dur="1" fill="hold">
                                          <p:stCondLst>
                                            <p:cond delay="0"/>
                                          </p:stCondLst>
                                        </p:cTn>
                                        <p:tgtEl>
                                          <p:spTgt spid="200707">
                                            <p:txEl>
                                              <p:pRg st="8" end="8"/>
                                            </p:txEl>
                                          </p:spTgt>
                                        </p:tgtEl>
                                        <p:attrNameLst>
                                          <p:attrName>style.visibility</p:attrName>
                                        </p:attrNameLst>
                                      </p:cBhvr>
                                      <p:to>
                                        <p:strVal val="visible"/>
                                      </p:to>
                                    </p:set>
                                    <p:animEffect transition="in" filter="fade">
                                      <p:cBhvr>
                                        <p:cTn id="87" dur="800" decel="100000"/>
                                        <p:tgtEl>
                                          <p:spTgt spid="200707">
                                            <p:txEl>
                                              <p:pRg st="8" end="8"/>
                                            </p:txEl>
                                          </p:spTgt>
                                        </p:tgtEl>
                                      </p:cBhvr>
                                    </p:animEffect>
                                    <p:anim calcmode="lin" valueType="num">
                                      <p:cBhvr>
                                        <p:cTn id="88" dur="800" decel="100000" fill="hold"/>
                                        <p:tgtEl>
                                          <p:spTgt spid="200707">
                                            <p:txEl>
                                              <p:pRg st="8" end="8"/>
                                            </p:txEl>
                                          </p:spTgt>
                                        </p:tgtEl>
                                        <p:attrNameLst>
                                          <p:attrName>style.rotation</p:attrName>
                                        </p:attrNameLst>
                                      </p:cBhvr>
                                      <p:tavLst>
                                        <p:tav tm="0">
                                          <p:val>
                                            <p:fltVal val="-90"/>
                                          </p:val>
                                        </p:tav>
                                        <p:tav tm="100000">
                                          <p:val>
                                            <p:fltVal val="0"/>
                                          </p:val>
                                        </p:tav>
                                      </p:tavLst>
                                    </p:anim>
                                    <p:anim calcmode="lin" valueType="num">
                                      <p:cBhvr>
                                        <p:cTn id="89" dur="800" decel="100000" fill="hold"/>
                                        <p:tgtEl>
                                          <p:spTgt spid="200707">
                                            <p:txEl>
                                              <p:pRg st="8" end="8"/>
                                            </p:txEl>
                                          </p:spTgt>
                                        </p:tgtEl>
                                        <p:attrNameLst>
                                          <p:attrName>ppt_x</p:attrName>
                                        </p:attrNameLst>
                                      </p:cBhvr>
                                      <p:tavLst>
                                        <p:tav tm="0">
                                          <p:val>
                                            <p:strVal val="#ppt_x+0.4"/>
                                          </p:val>
                                        </p:tav>
                                        <p:tav tm="100000">
                                          <p:val>
                                            <p:strVal val="#ppt_x-0.05"/>
                                          </p:val>
                                        </p:tav>
                                      </p:tavLst>
                                    </p:anim>
                                    <p:anim calcmode="lin" valueType="num">
                                      <p:cBhvr>
                                        <p:cTn id="90" dur="800" decel="100000" fill="hold"/>
                                        <p:tgtEl>
                                          <p:spTgt spid="200707">
                                            <p:txEl>
                                              <p:pRg st="8" end="8"/>
                                            </p:txEl>
                                          </p:spTgt>
                                        </p:tgtEl>
                                        <p:attrNameLst>
                                          <p:attrName>ppt_y</p:attrName>
                                        </p:attrNameLst>
                                      </p:cBhvr>
                                      <p:tavLst>
                                        <p:tav tm="0">
                                          <p:val>
                                            <p:strVal val="#ppt_y-0.4"/>
                                          </p:val>
                                        </p:tav>
                                        <p:tav tm="100000">
                                          <p:val>
                                            <p:strVal val="#ppt_y+0.1"/>
                                          </p:val>
                                        </p:tav>
                                      </p:tavLst>
                                    </p:anim>
                                    <p:anim calcmode="lin" valueType="num">
                                      <p:cBhvr>
                                        <p:cTn id="91" dur="200" accel="100000" fill="hold">
                                          <p:stCondLst>
                                            <p:cond delay="800"/>
                                          </p:stCondLst>
                                        </p:cTn>
                                        <p:tgtEl>
                                          <p:spTgt spid="200707">
                                            <p:txEl>
                                              <p:pRg st="8" end="8"/>
                                            </p:txEl>
                                          </p:spTgt>
                                        </p:tgtEl>
                                        <p:attrNameLst>
                                          <p:attrName>ppt_x</p:attrName>
                                        </p:attrNameLst>
                                      </p:cBhvr>
                                      <p:tavLst>
                                        <p:tav tm="0">
                                          <p:val>
                                            <p:strVal val="#ppt_x-0.05"/>
                                          </p:val>
                                        </p:tav>
                                        <p:tav tm="100000">
                                          <p:val>
                                            <p:strVal val="#ppt_x"/>
                                          </p:val>
                                        </p:tav>
                                      </p:tavLst>
                                    </p:anim>
                                    <p:anim calcmode="lin" valueType="num">
                                      <p:cBhvr>
                                        <p:cTn id="92" dur="200" accel="100000" fill="hold">
                                          <p:stCondLst>
                                            <p:cond delay="800"/>
                                          </p:stCondLst>
                                        </p:cTn>
                                        <p:tgtEl>
                                          <p:spTgt spid="200707">
                                            <p:txEl>
                                              <p:pRg st="8" end="8"/>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algn="l"/>
            <a:r>
              <a:rPr lang="en-US" u="sng" dirty="0" smtClean="0"/>
              <a:t>Changes in Both Demand and Supply:</a:t>
            </a:r>
            <a:endParaRPr lang="en-US" u="sng" dirty="0"/>
          </a:p>
        </p:txBody>
      </p:sp>
      <p:sp>
        <p:nvSpPr>
          <p:cNvPr id="191492" name="Line 4"/>
          <p:cNvSpPr>
            <a:spLocks noChangeShapeType="1"/>
          </p:cNvSpPr>
          <p:nvPr/>
        </p:nvSpPr>
        <p:spPr bwMode="auto">
          <a:xfrm>
            <a:off x="2286000" y="2362200"/>
            <a:ext cx="0" cy="2438400"/>
          </a:xfrm>
          <a:prstGeom prst="line">
            <a:avLst/>
          </a:prstGeom>
          <a:noFill/>
          <a:ln w="22225">
            <a:solidFill>
              <a:schemeClr val="tx1"/>
            </a:solidFill>
            <a:round/>
            <a:headEnd/>
            <a:tailEnd/>
          </a:ln>
          <a:effectLst/>
        </p:spPr>
        <p:txBody>
          <a:bodyPr/>
          <a:lstStyle/>
          <a:p>
            <a:endParaRPr lang="en-US"/>
          </a:p>
        </p:txBody>
      </p:sp>
      <p:sp>
        <p:nvSpPr>
          <p:cNvPr id="191493" name="Line 5"/>
          <p:cNvSpPr>
            <a:spLocks noChangeShapeType="1"/>
          </p:cNvSpPr>
          <p:nvPr/>
        </p:nvSpPr>
        <p:spPr bwMode="auto">
          <a:xfrm>
            <a:off x="2286000" y="4800600"/>
            <a:ext cx="4953000" cy="0"/>
          </a:xfrm>
          <a:prstGeom prst="line">
            <a:avLst/>
          </a:prstGeom>
          <a:noFill/>
          <a:ln w="22225">
            <a:solidFill>
              <a:schemeClr val="tx1"/>
            </a:solidFill>
            <a:round/>
            <a:headEnd/>
            <a:tailEnd/>
          </a:ln>
          <a:effectLst/>
        </p:spPr>
        <p:txBody>
          <a:bodyPr/>
          <a:lstStyle/>
          <a:p>
            <a:endParaRPr lang="en-US"/>
          </a:p>
        </p:txBody>
      </p:sp>
      <p:sp>
        <p:nvSpPr>
          <p:cNvPr id="191495" name="Line 7"/>
          <p:cNvSpPr>
            <a:spLocks noChangeShapeType="1"/>
          </p:cNvSpPr>
          <p:nvPr/>
        </p:nvSpPr>
        <p:spPr bwMode="auto">
          <a:xfrm>
            <a:off x="2286000" y="3733800"/>
            <a:ext cx="2133600" cy="0"/>
          </a:xfrm>
          <a:prstGeom prst="line">
            <a:avLst/>
          </a:prstGeom>
          <a:noFill/>
          <a:ln w="9525">
            <a:solidFill>
              <a:schemeClr val="tx1"/>
            </a:solidFill>
            <a:prstDash val="dash"/>
            <a:round/>
            <a:headEnd/>
            <a:tailEnd/>
          </a:ln>
          <a:effectLst/>
        </p:spPr>
        <p:txBody>
          <a:bodyPr/>
          <a:lstStyle/>
          <a:p>
            <a:endParaRPr lang="en-US"/>
          </a:p>
        </p:txBody>
      </p:sp>
      <p:sp>
        <p:nvSpPr>
          <p:cNvPr id="191499" name="Line 11"/>
          <p:cNvSpPr>
            <a:spLocks noChangeShapeType="1"/>
          </p:cNvSpPr>
          <p:nvPr/>
        </p:nvSpPr>
        <p:spPr bwMode="auto">
          <a:xfrm>
            <a:off x="4419600" y="3733800"/>
            <a:ext cx="0" cy="1066800"/>
          </a:xfrm>
          <a:prstGeom prst="line">
            <a:avLst/>
          </a:prstGeom>
          <a:noFill/>
          <a:ln w="9525">
            <a:solidFill>
              <a:schemeClr val="tx1"/>
            </a:solidFill>
            <a:prstDash val="dash"/>
            <a:round/>
            <a:headEnd/>
            <a:tailEnd/>
          </a:ln>
          <a:effectLst/>
        </p:spPr>
        <p:txBody>
          <a:bodyPr/>
          <a:lstStyle/>
          <a:p>
            <a:endParaRPr lang="en-US"/>
          </a:p>
        </p:txBody>
      </p:sp>
      <p:sp>
        <p:nvSpPr>
          <p:cNvPr id="191502" name="Text Box 14"/>
          <p:cNvSpPr txBox="1">
            <a:spLocks noChangeArrowheads="1"/>
          </p:cNvSpPr>
          <p:nvPr/>
        </p:nvSpPr>
        <p:spPr bwMode="auto">
          <a:xfrm>
            <a:off x="4191000" y="5105400"/>
            <a:ext cx="1219200" cy="366713"/>
          </a:xfrm>
          <a:prstGeom prst="rect">
            <a:avLst/>
          </a:prstGeom>
          <a:noFill/>
          <a:ln w="9525">
            <a:noFill/>
            <a:miter lim="800000"/>
            <a:headEnd/>
            <a:tailEnd/>
          </a:ln>
          <a:effectLst/>
        </p:spPr>
        <p:txBody>
          <a:bodyPr>
            <a:spAutoFit/>
          </a:bodyPr>
          <a:lstStyle/>
          <a:p>
            <a:pPr algn="l">
              <a:spcBef>
                <a:spcPct val="50000"/>
              </a:spcBef>
            </a:pPr>
            <a:r>
              <a:rPr lang="en-US" sz="1800" dirty="0"/>
              <a:t>Quantity</a:t>
            </a:r>
          </a:p>
        </p:txBody>
      </p:sp>
      <p:sp>
        <p:nvSpPr>
          <p:cNvPr id="191503" name="Text Box 15"/>
          <p:cNvSpPr txBox="1">
            <a:spLocks noChangeArrowheads="1"/>
          </p:cNvSpPr>
          <p:nvPr/>
        </p:nvSpPr>
        <p:spPr bwMode="auto">
          <a:xfrm rot="16200000">
            <a:off x="107157" y="3017043"/>
            <a:ext cx="2895600" cy="366713"/>
          </a:xfrm>
          <a:prstGeom prst="rect">
            <a:avLst/>
          </a:prstGeom>
          <a:noFill/>
          <a:ln w="9525">
            <a:noFill/>
            <a:miter lim="800000"/>
            <a:headEnd/>
            <a:tailEnd/>
          </a:ln>
          <a:effectLst/>
        </p:spPr>
        <p:txBody>
          <a:bodyPr>
            <a:spAutoFit/>
          </a:bodyPr>
          <a:lstStyle/>
          <a:p>
            <a:pPr algn="l">
              <a:spcBef>
                <a:spcPct val="50000"/>
              </a:spcBef>
            </a:pPr>
            <a:r>
              <a:rPr lang="en-US" sz="1800" dirty="0"/>
              <a:t>Price (in </a:t>
            </a:r>
            <a:r>
              <a:rPr lang="en-US" sz="1800" dirty="0" smtClean="0"/>
              <a:t>pounds)</a:t>
            </a:r>
            <a:endParaRPr lang="en-US" sz="1800" dirty="0"/>
          </a:p>
        </p:txBody>
      </p:sp>
      <p:sp>
        <p:nvSpPr>
          <p:cNvPr id="191504" name="Line 16"/>
          <p:cNvSpPr>
            <a:spLocks noChangeShapeType="1"/>
          </p:cNvSpPr>
          <p:nvPr/>
        </p:nvSpPr>
        <p:spPr bwMode="auto">
          <a:xfrm flipV="1">
            <a:off x="2286000" y="2590800"/>
            <a:ext cx="4495800" cy="2209800"/>
          </a:xfrm>
          <a:prstGeom prst="line">
            <a:avLst/>
          </a:prstGeom>
          <a:noFill/>
          <a:ln w="31750">
            <a:solidFill>
              <a:schemeClr val="tx1"/>
            </a:solidFill>
            <a:round/>
            <a:headEnd/>
            <a:tailEnd/>
          </a:ln>
          <a:effectLst/>
        </p:spPr>
        <p:txBody>
          <a:bodyPr/>
          <a:lstStyle/>
          <a:p>
            <a:endParaRPr lang="en-US"/>
          </a:p>
        </p:txBody>
      </p:sp>
      <p:sp>
        <p:nvSpPr>
          <p:cNvPr id="191505" name="Text Box 17"/>
          <p:cNvSpPr txBox="1">
            <a:spLocks noChangeArrowheads="1"/>
          </p:cNvSpPr>
          <p:nvPr/>
        </p:nvSpPr>
        <p:spPr bwMode="auto">
          <a:xfrm>
            <a:off x="1981200" y="1981200"/>
            <a:ext cx="381000" cy="366713"/>
          </a:xfrm>
          <a:prstGeom prst="rect">
            <a:avLst/>
          </a:prstGeom>
          <a:noFill/>
          <a:ln w="9525">
            <a:noFill/>
            <a:miter lim="800000"/>
            <a:headEnd/>
            <a:tailEnd/>
          </a:ln>
          <a:effectLst/>
        </p:spPr>
        <p:txBody>
          <a:bodyPr>
            <a:spAutoFit/>
          </a:bodyPr>
          <a:lstStyle/>
          <a:p>
            <a:pPr algn="l">
              <a:spcBef>
                <a:spcPct val="50000"/>
              </a:spcBef>
            </a:pPr>
            <a:r>
              <a:rPr lang="en-US" sz="1800"/>
              <a:t>P</a:t>
            </a:r>
          </a:p>
        </p:txBody>
      </p:sp>
      <p:sp>
        <p:nvSpPr>
          <p:cNvPr id="191506" name="Text Box 18"/>
          <p:cNvSpPr txBox="1">
            <a:spLocks noChangeArrowheads="1"/>
          </p:cNvSpPr>
          <p:nvPr/>
        </p:nvSpPr>
        <p:spPr bwMode="auto">
          <a:xfrm>
            <a:off x="7467600" y="4648200"/>
            <a:ext cx="381000" cy="366713"/>
          </a:xfrm>
          <a:prstGeom prst="rect">
            <a:avLst/>
          </a:prstGeom>
          <a:noFill/>
          <a:ln w="9525">
            <a:noFill/>
            <a:miter lim="800000"/>
            <a:headEnd/>
            <a:tailEnd/>
          </a:ln>
          <a:effectLst/>
        </p:spPr>
        <p:txBody>
          <a:bodyPr>
            <a:spAutoFit/>
          </a:bodyPr>
          <a:lstStyle/>
          <a:p>
            <a:pPr algn="l">
              <a:spcBef>
                <a:spcPct val="50000"/>
              </a:spcBef>
            </a:pPr>
            <a:r>
              <a:rPr lang="en-US" sz="1800"/>
              <a:t>Q</a:t>
            </a:r>
          </a:p>
        </p:txBody>
      </p:sp>
      <p:sp>
        <p:nvSpPr>
          <p:cNvPr id="191507" name="Text Box 19"/>
          <p:cNvSpPr txBox="1">
            <a:spLocks noChangeArrowheads="1"/>
          </p:cNvSpPr>
          <p:nvPr/>
        </p:nvSpPr>
        <p:spPr bwMode="auto">
          <a:xfrm>
            <a:off x="2057400" y="4800600"/>
            <a:ext cx="304800" cy="274638"/>
          </a:xfrm>
          <a:prstGeom prst="rect">
            <a:avLst/>
          </a:prstGeom>
          <a:noFill/>
          <a:ln w="9525">
            <a:noFill/>
            <a:miter lim="800000"/>
            <a:headEnd/>
            <a:tailEnd/>
          </a:ln>
          <a:effectLst/>
        </p:spPr>
        <p:txBody>
          <a:bodyPr>
            <a:spAutoFit/>
          </a:bodyPr>
          <a:lstStyle/>
          <a:p>
            <a:pPr algn="l">
              <a:spcBef>
                <a:spcPct val="50000"/>
              </a:spcBef>
            </a:pPr>
            <a:r>
              <a:rPr lang="en-US" sz="1200"/>
              <a:t>0</a:t>
            </a:r>
          </a:p>
        </p:txBody>
      </p:sp>
      <p:sp>
        <p:nvSpPr>
          <p:cNvPr id="191508" name="Text Box 20"/>
          <p:cNvSpPr txBox="1">
            <a:spLocks noChangeArrowheads="1"/>
          </p:cNvSpPr>
          <p:nvPr/>
        </p:nvSpPr>
        <p:spPr bwMode="auto">
          <a:xfrm>
            <a:off x="3276600" y="4800600"/>
            <a:ext cx="304800" cy="274638"/>
          </a:xfrm>
          <a:prstGeom prst="rect">
            <a:avLst/>
          </a:prstGeom>
          <a:noFill/>
          <a:ln w="9525">
            <a:noFill/>
            <a:miter lim="800000"/>
            <a:headEnd/>
            <a:tailEnd/>
          </a:ln>
          <a:effectLst/>
        </p:spPr>
        <p:txBody>
          <a:bodyPr>
            <a:spAutoFit/>
          </a:bodyPr>
          <a:lstStyle/>
          <a:p>
            <a:pPr algn="l">
              <a:spcBef>
                <a:spcPct val="50000"/>
              </a:spcBef>
            </a:pPr>
            <a:r>
              <a:rPr lang="en-US" sz="1200"/>
              <a:t>2</a:t>
            </a:r>
          </a:p>
        </p:txBody>
      </p:sp>
      <p:sp>
        <p:nvSpPr>
          <p:cNvPr id="191509" name="Text Box 21"/>
          <p:cNvSpPr txBox="1">
            <a:spLocks noChangeArrowheads="1"/>
          </p:cNvSpPr>
          <p:nvPr/>
        </p:nvSpPr>
        <p:spPr bwMode="auto">
          <a:xfrm>
            <a:off x="4267200" y="4800600"/>
            <a:ext cx="304800" cy="274638"/>
          </a:xfrm>
          <a:prstGeom prst="rect">
            <a:avLst/>
          </a:prstGeom>
          <a:noFill/>
          <a:ln w="9525">
            <a:noFill/>
            <a:miter lim="800000"/>
            <a:headEnd/>
            <a:tailEnd/>
          </a:ln>
          <a:effectLst/>
        </p:spPr>
        <p:txBody>
          <a:bodyPr>
            <a:spAutoFit/>
          </a:bodyPr>
          <a:lstStyle/>
          <a:p>
            <a:pPr algn="l">
              <a:spcBef>
                <a:spcPct val="50000"/>
              </a:spcBef>
            </a:pPr>
            <a:r>
              <a:rPr lang="en-US" sz="1200"/>
              <a:t>4</a:t>
            </a:r>
          </a:p>
        </p:txBody>
      </p:sp>
      <p:sp>
        <p:nvSpPr>
          <p:cNvPr id="191510" name="Text Box 22"/>
          <p:cNvSpPr txBox="1">
            <a:spLocks noChangeArrowheads="1"/>
          </p:cNvSpPr>
          <p:nvPr/>
        </p:nvSpPr>
        <p:spPr bwMode="auto">
          <a:xfrm>
            <a:off x="5410200" y="4800600"/>
            <a:ext cx="304800" cy="274638"/>
          </a:xfrm>
          <a:prstGeom prst="rect">
            <a:avLst/>
          </a:prstGeom>
          <a:noFill/>
          <a:ln w="9525">
            <a:noFill/>
            <a:miter lim="800000"/>
            <a:headEnd/>
            <a:tailEnd/>
          </a:ln>
          <a:effectLst/>
        </p:spPr>
        <p:txBody>
          <a:bodyPr>
            <a:spAutoFit/>
          </a:bodyPr>
          <a:lstStyle/>
          <a:p>
            <a:pPr algn="l">
              <a:spcBef>
                <a:spcPct val="50000"/>
              </a:spcBef>
            </a:pPr>
            <a:r>
              <a:rPr lang="en-US" sz="1200"/>
              <a:t>6</a:t>
            </a:r>
          </a:p>
        </p:txBody>
      </p:sp>
      <p:sp>
        <p:nvSpPr>
          <p:cNvPr id="191511" name="Text Box 23"/>
          <p:cNvSpPr txBox="1">
            <a:spLocks noChangeArrowheads="1"/>
          </p:cNvSpPr>
          <p:nvPr/>
        </p:nvSpPr>
        <p:spPr bwMode="auto">
          <a:xfrm>
            <a:off x="6477000" y="4800600"/>
            <a:ext cx="304800" cy="274638"/>
          </a:xfrm>
          <a:prstGeom prst="rect">
            <a:avLst/>
          </a:prstGeom>
          <a:noFill/>
          <a:ln w="9525">
            <a:noFill/>
            <a:miter lim="800000"/>
            <a:headEnd/>
            <a:tailEnd/>
          </a:ln>
          <a:effectLst/>
        </p:spPr>
        <p:txBody>
          <a:bodyPr>
            <a:spAutoFit/>
          </a:bodyPr>
          <a:lstStyle/>
          <a:p>
            <a:pPr algn="l">
              <a:spcBef>
                <a:spcPct val="50000"/>
              </a:spcBef>
            </a:pPr>
            <a:r>
              <a:rPr lang="en-US" sz="1200"/>
              <a:t>8</a:t>
            </a:r>
          </a:p>
        </p:txBody>
      </p:sp>
      <p:sp>
        <p:nvSpPr>
          <p:cNvPr id="191512" name="Text Box 24"/>
          <p:cNvSpPr txBox="1">
            <a:spLocks noChangeArrowheads="1"/>
          </p:cNvSpPr>
          <p:nvPr/>
        </p:nvSpPr>
        <p:spPr bwMode="auto">
          <a:xfrm>
            <a:off x="1828800" y="4114800"/>
            <a:ext cx="457200" cy="274638"/>
          </a:xfrm>
          <a:prstGeom prst="rect">
            <a:avLst/>
          </a:prstGeom>
          <a:noFill/>
          <a:ln w="9525">
            <a:noFill/>
            <a:miter lim="800000"/>
            <a:headEnd/>
            <a:tailEnd/>
          </a:ln>
          <a:effectLst/>
        </p:spPr>
        <p:txBody>
          <a:bodyPr>
            <a:spAutoFit/>
          </a:bodyPr>
          <a:lstStyle/>
          <a:p>
            <a:pPr algn="l">
              <a:spcBef>
                <a:spcPct val="50000"/>
              </a:spcBef>
            </a:pPr>
            <a:r>
              <a:rPr lang="en-US" sz="1200"/>
              <a:t>100</a:t>
            </a:r>
          </a:p>
        </p:txBody>
      </p:sp>
      <p:sp>
        <p:nvSpPr>
          <p:cNvPr id="191513" name="Text Box 25"/>
          <p:cNvSpPr txBox="1">
            <a:spLocks noChangeArrowheads="1"/>
          </p:cNvSpPr>
          <p:nvPr/>
        </p:nvSpPr>
        <p:spPr bwMode="auto">
          <a:xfrm>
            <a:off x="1828800" y="3581400"/>
            <a:ext cx="457200" cy="274638"/>
          </a:xfrm>
          <a:prstGeom prst="rect">
            <a:avLst/>
          </a:prstGeom>
          <a:noFill/>
          <a:ln w="9525">
            <a:noFill/>
            <a:miter lim="800000"/>
            <a:headEnd/>
            <a:tailEnd/>
          </a:ln>
          <a:effectLst/>
        </p:spPr>
        <p:txBody>
          <a:bodyPr>
            <a:spAutoFit/>
          </a:bodyPr>
          <a:lstStyle/>
          <a:p>
            <a:pPr algn="l">
              <a:spcBef>
                <a:spcPct val="50000"/>
              </a:spcBef>
            </a:pPr>
            <a:r>
              <a:rPr lang="en-US" sz="1200"/>
              <a:t>200</a:t>
            </a:r>
          </a:p>
        </p:txBody>
      </p:sp>
      <p:sp>
        <p:nvSpPr>
          <p:cNvPr id="191514" name="Text Box 26"/>
          <p:cNvSpPr txBox="1">
            <a:spLocks noChangeArrowheads="1"/>
          </p:cNvSpPr>
          <p:nvPr/>
        </p:nvSpPr>
        <p:spPr bwMode="auto">
          <a:xfrm>
            <a:off x="1828800" y="3124200"/>
            <a:ext cx="457200" cy="274638"/>
          </a:xfrm>
          <a:prstGeom prst="rect">
            <a:avLst/>
          </a:prstGeom>
          <a:noFill/>
          <a:ln w="9525">
            <a:noFill/>
            <a:miter lim="800000"/>
            <a:headEnd/>
            <a:tailEnd/>
          </a:ln>
          <a:effectLst/>
        </p:spPr>
        <p:txBody>
          <a:bodyPr>
            <a:spAutoFit/>
          </a:bodyPr>
          <a:lstStyle/>
          <a:p>
            <a:pPr algn="l">
              <a:spcBef>
                <a:spcPct val="50000"/>
              </a:spcBef>
            </a:pPr>
            <a:r>
              <a:rPr lang="en-US" sz="1200"/>
              <a:t>300</a:t>
            </a:r>
          </a:p>
        </p:txBody>
      </p:sp>
      <p:sp>
        <p:nvSpPr>
          <p:cNvPr id="191515" name="Text Box 27"/>
          <p:cNvSpPr txBox="1">
            <a:spLocks noChangeArrowheads="1"/>
          </p:cNvSpPr>
          <p:nvPr/>
        </p:nvSpPr>
        <p:spPr bwMode="auto">
          <a:xfrm>
            <a:off x="1828800" y="2514600"/>
            <a:ext cx="457200" cy="274638"/>
          </a:xfrm>
          <a:prstGeom prst="rect">
            <a:avLst/>
          </a:prstGeom>
          <a:noFill/>
          <a:ln w="9525">
            <a:noFill/>
            <a:miter lim="800000"/>
            <a:headEnd/>
            <a:tailEnd/>
          </a:ln>
          <a:effectLst/>
        </p:spPr>
        <p:txBody>
          <a:bodyPr>
            <a:spAutoFit/>
          </a:bodyPr>
          <a:lstStyle/>
          <a:p>
            <a:pPr algn="l">
              <a:spcBef>
                <a:spcPct val="50000"/>
              </a:spcBef>
            </a:pPr>
            <a:r>
              <a:rPr lang="en-US" sz="1200"/>
              <a:t>400</a:t>
            </a:r>
          </a:p>
        </p:txBody>
      </p:sp>
      <p:sp>
        <p:nvSpPr>
          <p:cNvPr id="191516" name="Text Box 28"/>
          <p:cNvSpPr txBox="1">
            <a:spLocks noChangeArrowheads="1"/>
          </p:cNvSpPr>
          <p:nvPr/>
        </p:nvSpPr>
        <p:spPr bwMode="auto">
          <a:xfrm>
            <a:off x="6858000" y="2362200"/>
            <a:ext cx="533400" cy="369332"/>
          </a:xfrm>
          <a:prstGeom prst="rect">
            <a:avLst/>
          </a:prstGeom>
          <a:noFill/>
          <a:ln w="9525">
            <a:noFill/>
            <a:miter lim="800000"/>
            <a:headEnd/>
            <a:tailEnd/>
          </a:ln>
          <a:effectLst/>
        </p:spPr>
        <p:txBody>
          <a:bodyPr wrap="square">
            <a:spAutoFit/>
          </a:bodyPr>
          <a:lstStyle/>
          <a:p>
            <a:pPr algn="l">
              <a:spcBef>
                <a:spcPct val="50000"/>
              </a:spcBef>
            </a:pPr>
            <a:r>
              <a:rPr lang="en-US" sz="1800" dirty="0" smtClean="0"/>
              <a:t>S</a:t>
            </a:r>
            <a:r>
              <a:rPr lang="en-US" sz="1800" baseline="-25000" dirty="0" smtClean="0"/>
              <a:t>1</a:t>
            </a:r>
            <a:endParaRPr lang="en-US" sz="1800" dirty="0"/>
          </a:p>
        </p:txBody>
      </p:sp>
      <p:sp>
        <p:nvSpPr>
          <p:cNvPr id="191517" name="Line 29"/>
          <p:cNvSpPr>
            <a:spLocks noChangeShapeType="1"/>
          </p:cNvSpPr>
          <p:nvPr/>
        </p:nvSpPr>
        <p:spPr bwMode="auto">
          <a:xfrm>
            <a:off x="2286000" y="2667000"/>
            <a:ext cx="4343400" cy="2133600"/>
          </a:xfrm>
          <a:prstGeom prst="line">
            <a:avLst/>
          </a:prstGeom>
          <a:noFill/>
          <a:ln w="31750">
            <a:solidFill>
              <a:schemeClr val="tx1"/>
            </a:solidFill>
            <a:round/>
            <a:headEnd/>
            <a:tailEnd/>
          </a:ln>
          <a:effectLst/>
        </p:spPr>
        <p:txBody>
          <a:bodyPr/>
          <a:lstStyle/>
          <a:p>
            <a:endParaRPr lang="en-US"/>
          </a:p>
        </p:txBody>
      </p:sp>
      <p:sp>
        <p:nvSpPr>
          <p:cNvPr id="34" name="Slide Number Placeholder 33"/>
          <p:cNvSpPr>
            <a:spLocks noGrp="1"/>
          </p:cNvSpPr>
          <p:nvPr>
            <p:ph type="sldNum" sz="quarter" idx="11"/>
          </p:nvPr>
        </p:nvSpPr>
        <p:spPr/>
        <p:txBody>
          <a:bodyPr/>
          <a:lstStyle/>
          <a:p>
            <a:fld id="{5D8C0D95-B81A-45DB-B701-8AAA9905C101}" type="slidenum">
              <a:rPr lang="en-US" smtClean="0"/>
              <a:pPr/>
              <a:t>42</a:t>
            </a:fld>
            <a:endParaRPr lang="en-US"/>
          </a:p>
        </p:txBody>
      </p:sp>
      <p:sp>
        <p:nvSpPr>
          <p:cNvPr id="35" name="Line 16"/>
          <p:cNvSpPr>
            <a:spLocks noChangeShapeType="1"/>
          </p:cNvSpPr>
          <p:nvPr/>
        </p:nvSpPr>
        <p:spPr bwMode="auto">
          <a:xfrm flipV="1">
            <a:off x="4038600" y="2819400"/>
            <a:ext cx="3657600" cy="1828800"/>
          </a:xfrm>
          <a:prstGeom prst="line">
            <a:avLst/>
          </a:prstGeom>
          <a:noFill/>
          <a:ln w="31750">
            <a:solidFill>
              <a:schemeClr val="tx1"/>
            </a:solidFill>
            <a:round/>
            <a:headEnd/>
            <a:tailEnd/>
          </a:ln>
          <a:effectLst/>
        </p:spPr>
        <p:txBody>
          <a:bodyPr/>
          <a:lstStyle/>
          <a:p>
            <a:endParaRPr lang="en-US"/>
          </a:p>
        </p:txBody>
      </p:sp>
      <p:sp>
        <p:nvSpPr>
          <p:cNvPr id="36" name="Text Box 28"/>
          <p:cNvSpPr txBox="1">
            <a:spLocks noChangeArrowheads="1"/>
          </p:cNvSpPr>
          <p:nvPr/>
        </p:nvSpPr>
        <p:spPr bwMode="auto">
          <a:xfrm>
            <a:off x="7772400" y="2743200"/>
            <a:ext cx="457200" cy="369332"/>
          </a:xfrm>
          <a:prstGeom prst="rect">
            <a:avLst/>
          </a:prstGeom>
          <a:noFill/>
          <a:ln w="9525">
            <a:noFill/>
            <a:miter lim="800000"/>
            <a:headEnd/>
            <a:tailEnd/>
          </a:ln>
          <a:effectLst/>
        </p:spPr>
        <p:txBody>
          <a:bodyPr wrap="square">
            <a:spAutoFit/>
          </a:bodyPr>
          <a:lstStyle/>
          <a:p>
            <a:pPr algn="l">
              <a:spcBef>
                <a:spcPct val="50000"/>
              </a:spcBef>
            </a:pPr>
            <a:r>
              <a:rPr lang="en-US" sz="1800" dirty="0" smtClean="0"/>
              <a:t>S</a:t>
            </a:r>
            <a:r>
              <a:rPr lang="en-US" sz="1800" baseline="-25000" dirty="0" smtClean="0"/>
              <a:t>2</a:t>
            </a:r>
            <a:endParaRPr lang="en-US" sz="1800" dirty="0"/>
          </a:p>
        </p:txBody>
      </p:sp>
      <p:sp>
        <p:nvSpPr>
          <p:cNvPr id="37" name="Line 29"/>
          <p:cNvSpPr>
            <a:spLocks noChangeShapeType="1"/>
          </p:cNvSpPr>
          <p:nvPr/>
        </p:nvSpPr>
        <p:spPr bwMode="auto">
          <a:xfrm>
            <a:off x="3276600" y="1828800"/>
            <a:ext cx="4343400" cy="2209800"/>
          </a:xfrm>
          <a:prstGeom prst="line">
            <a:avLst/>
          </a:prstGeom>
          <a:noFill/>
          <a:ln w="31750">
            <a:solidFill>
              <a:schemeClr val="tx1"/>
            </a:solidFill>
            <a:round/>
            <a:headEnd/>
            <a:tailEnd/>
          </a:ln>
          <a:effectLst/>
        </p:spPr>
        <p:txBody>
          <a:bodyPr/>
          <a:lstStyle/>
          <a:p>
            <a:endParaRPr lang="en-US"/>
          </a:p>
        </p:txBody>
      </p:sp>
      <p:sp>
        <p:nvSpPr>
          <p:cNvPr id="38" name="Text Box 28"/>
          <p:cNvSpPr txBox="1">
            <a:spLocks noChangeArrowheads="1"/>
          </p:cNvSpPr>
          <p:nvPr/>
        </p:nvSpPr>
        <p:spPr bwMode="auto">
          <a:xfrm>
            <a:off x="7696200" y="3886200"/>
            <a:ext cx="457200" cy="369332"/>
          </a:xfrm>
          <a:prstGeom prst="rect">
            <a:avLst/>
          </a:prstGeom>
          <a:noFill/>
          <a:ln w="9525">
            <a:noFill/>
            <a:miter lim="800000"/>
            <a:headEnd/>
            <a:tailEnd/>
          </a:ln>
          <a:effectLst/>
        </p:spPr>
        <p:txBody>
          <a:bodyPr wrap="square">
            <a:spAutoFit/>
          </a:bodyPr>
          <a:lstStyle/>
          <a:p>
            <a:pPr algn="l">
              <a:spcBef>
                <a:spcPct val="50000"/>
              </a:spcBef>
            </a:pPr>
            <a:r>
              <a:rPr lang="en-US" sz="1800" dirty="0" smtClean="0"/>
              <a:t>D</a:t>
            </a:r>
            <a:r>
              <a:rPr lang="en-US" sz="1800" baseline="-25000" dirty="0" smtClean="0"/>
              <a:t>2</a:t>
            </a:r>
            <a:endParaRPr lang="en-US" sz="1800" dirty="0"/>
          </a:p>
        </p:txBody>
      </p:sp>
      <p:sp>
        <p:nvSpPr>
          <p:cNvPr id="39" name="Text Box 28"/>
          <p:cNvSpPr txBox="1">
            <a:spLocks noChangeArrowheads="1"/>
          </p:cNvSpPr>
          <p:nvPr/>
        </p:nvSpPr>
        <p:spPr bwMode="auto">
          <a:xfrm>
            <a:off x="6629400" y="4343400"/>
            <a:ext cx="457200" cy="369332"/>
          </a:xfrm>
          <a:prstGeom prst="rect">
            <a:avLst/>
          </a:prstGeom>
          <a:noFill/>
          <a:ln w="9525">
            <a:noFill/>
            <a:miter lim="800000"/>
            <a:headEnd/>
            <a:tailEnd/>
          </a:ln>
          <a:effectLst/>
        </p:spPr>
        <p:txBody>
          <a:bodyPr wrap="square">
            <a:spAutoFit/>
          </a:bodyPr>
          <a:lstStyle/>
          <a:p>
            <a:pPr algn="l">
              <a:spcBef>
                <a:spcPct val="50000"/>
              </a:spcBef>
            </a:pPr>
            <a:r>
              <a:rPr lang="en-US" sz="1800" dirty="0" smtClean="0"/>
              <a:t>D</a:t>
            </a:r>
            <a:r>
              <a:rPr lang="en-US" sz="1800" baseline="-25000" dirty="0" smtClean="0"/>
              <a:t>1</a:t>
            </a:r>
            <a:endParaRPr lang="en-US" sz="1800" dirty="0"/>
          </a:p>
        </p:txBody>
      </p:sp>
      <p:cxnSp>
        <p:nvCxnSpPr>
          <p:cNvPr id="41" name="Straight Connector 40"/>
          <p:cNvCxnSpPr/>
          <p:nvPr/>
        </p:nvCxnSpPr>
        <p:spPr bwMode="auto">
          <a:xfrm>
            <a:off x="6477000" y="3429000"/>
            <a:ext cx="0" cy="137160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43" name="Straight Connector 42"/>
          <p:cNvCxnSpPr/>
          <p:nvPr/>
        </p:nvCxnSpPr>
        <p:spPr bwMode="auto">
          <a:xfrm flipH="1" flipV="1">
            <a:off x="2286000" y="3352800"/>
            <a:ext cx="4191000" cy="76200"/>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44" name="Text Box 28"/>
          <p:cNvSpPr txBox="1">
            <a:spLocks noChangeArrowheads="1"/>
          </p:cNvSpPr>
          <p:nvPr/>
        </p:nvSpPr>
        <p:spPr bwMode="auto">
          <a:xfrm>
            <a:off x="4267200" y="3276600"/>
            <a:ext cx="533400" cy="369332"/>
          </a:xfrm>
          <a:prstGeom prst="rect">
            <a:avLst/>
          </a:prstGeom>
          <a:noFill/>
          <a:ln w="9525">
            <a:noFill/>
            <a:miter lim="800000"/>
            <a:headEnd/>
            <a:tailEnd/>
          </a:ln>
          <a:effectLst/>
        </p:spPr>
        <p:txBody>
          <a:bodyPr wrap="square">
            <a:spAutoFit/>
          </a:bodyPr>
          <a:lstStyle/>
          <a:p>
            <a:pPr algn="l">
              <a:spcBef>
                <a:spcPct val="50000"/>
              </a:spcBef>
            </a:pPr>
            <a:r>
              <a:rPr lang="en-US" sz="1800" b="1" dirty="0" smtClean="0">
                <a:solidFill>
                  <a:srgbClr val="FFFF00"/>
                </a:solidFill>
              </a:rPr>
              <a:t>E</a:t>
            </a:r>
            <a:r>
              <a:rPr lang="en-US" sz="1800" b="1" baseline="-25000" dirty="0" smtClean="0">
                <a:solidFill>
                  <a:srgbClr val="FFFF00"/>
                </a:solidFill>
              </a:rPr>
              <a:t>1</a:t>
            </a:r>
            <a:endParaRPr lang="en-US" sz="1800" b="1" dirty="0">
              <a:solidFill>
                <a:srgbClr val="FFFF00"/>
              </a:solidFill>
            </a:endParaRPr>
          </a:p>
        </p:txBody>
      </p:sp>
      <p:sp>
        <p:nvSpPr>
          <p:cNvPr id="49" name="Text Box 28"/>
          <p:cNvSpPr txBox="1">
            <a:spLocks noChangeArrowheads="1"/>
          </p:cNvSpPr>
          <p:nvPr/>
        </p:nvSpPr>
        <p:spPr bwMode="auto">
          <a:xfrm>
            <a:off x="6248400" y="2971800"/>
            <a:ext cx="457200" cy="369332"/>
          </a:xfrm>
          <a:prstGeom prst="rect">
            <a:avLst/>
          </a:prstGeom>
          <a:noFill/>
          <a:ln w="9525">
            <a:noFill/>
            <a:miter lim="800000"/>
            <a:headEnd/>
            <a:tailEnd/>
          </a:ln>
          <a:effectLst/>
        </p:spPr>
        <p:txBody>
          <a:bodyPr wrap="square">
            <a:spAutoFit/>
          </a:bodyPr>
          <a:lstStyle/>
          <a:p>
            <a:pPr algn="l">
              <a:spcBef>
                <a:spcPct val="50000"/>
              </a:spcBef>
            </a:pPr>
            <a:r>
              <a:rPr lang="en-US" sz="1800" b="1" dirty="0" smtClean="0">
                <a:solidFill>
                  <a:srgbClr val="FFFF00"/>
                </a:solidFill>
              </a:rPr>
              <a:t>E</a:t>
            </a:r>
            <a:r>
              <a:rPr lang="en-US" sz="1800" b="1" baseline="-25000" dirty="0" smtClean="0">
                <a:solidFill>
                  <a:srgbClr val="FFFF00"/>
                </a:solidFill>
              </a:rPr>
              <a:t>2</a:t>
            </a:r>
            <a:endParaRPr lang="en-US" sz="1800" b="1" dirty="0">
              <a:solidFill>
                <a:srgbClr val="FFFF00"/>
              </a:solidFill>
            </a:endParaRPr>
          </a:p>
        </p:txBody>
      </p:sp>
      <p:sp>
        <p:nvSpPr>
          <p:cNvPr id="50" name="TextBox 49"/>
          <p:cNvSpPr txBox="1"/>
          <p:nvPr/>
        </p:nvSpPr>
        <p:spPr>
          <a:xfrm>
            <a:off x="1295400" y="5791200"/>
            <a:ext cx="6553200" cy="830997"/>
          </a:xfrm>
          <a:prstGeom prst="rect">
            <a:avLst/>
          </a:prstGeom>
          <a:noFill/>
          <a:ln>
            <a:solidFill>
              <a:schemeClr val="tx1"/>
            </a:solidFill>
          </a:ln>
        </p:spPr>
        <p:txBody>
          <a:bodyPr wrap="square" rtlCol="0">
            <a:spAutoFit/>
          </a:bodyPr>
          <a:lstStyle/>
          <a:p>
            <a:pPr algn="l"/>
            <a:r>
              <a:rPr lang="en-US" dirty="0" smtClean="0"/>
              <a:t>Changes in both demand and supply will move equilibrium to a new level, and the new equilibrium price and quantity will be determined by the direction and magnitude of the change in demand and supply.</a:t>
            </a:r>
            <a:endParaRPr lang="en-US" dirty="0"/>
          </a:p>
        </p:txBody>
      </p:sp>
      <p:cxnSp>
        <p:nvCxnSpPr>
          <p:cNvPr id="52" name="Straight Arrow Connector 51"/>
          <p:cNvCxnSpPr/>
          <p:nvPr/>
        </p:nvCxnSpPr>
        <p:spPr bwMode="auto">
          <a:xfrm>
            <a:off x="4953000" y="4648200"/>
            <a:ext cx="1066800" cy="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cxnSp>
        <p:nvCxnSpPr>
          <p:cNvPr id="54" name="Straight Arrow Connector 53"/>
          <p:cNvCxnSpPr/>
          <p:nvPr/>
        </p:nvCxnSpPr>
        <p:spPr bwMode="auto">
          <a:xfrm flipV="1">
            <a:off x="2514600" y="3429000"/>
            <a:ext cx="0" cy="228600"/>
          </a:xfrm>
          <a:prstGeom prst="straightConnector1">
            <a:avLst/>
          </a:prstGeom>
          <a:solidFill>
            <a:schemeClr val="accent1"/>
          </a:solidFill>
          <a:ln w="28575" cap="flat" cmpd="sng" algn="ctr">
            <a:solidFill>
              <a:schemeClr val="tx1"/>
            </a:solidFill>
            <a:prstDash val="solid"/>
            <a:round/>
            <a:headEnd type="none" w="med" len="med"/>
            <a:tailEnd type="arrow"/>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800" decel="100000"/>
                                        <p:tgtEl>
                                          <p:spTgt spid="50"/>
                                        </p:tgtEl>
                                      </p:cBhvr>
                                    </p:animEffect>
                                    <p:anim calcmode="lin" valueType="num">
                                      <p:cBhvr>
                                        <p:cTn id="8" dur="800" decel="100000" fill="hold"/>
                                        <p:tgtEl>
                                          <p:spTgt spid="50"/>
                                        </p:tgtEl>
                                        <p:attrNameLst>
                                          <p:attrName>style.rotation</p:attrName>
                                        </p:attrNameLst>
                                      </p:cBhvr>
                                      <p:tavLst>
                                        <p:tav tm="0">
                                          <p:val>
                                            <p:fltVal val="-90"/>
                                          </p:val>
                                        </p:tav>
                                        <p:tav tm="100000">
                                          <p:val>
                                            <p:fltVal val="0"/>
                                          </p:val>
                                        </p:tav>
                                      </p:tavLst>
                                    </p:anim>
                                    <p:anim calcmode="lin" valueType="num">
                                      <p:cBhvr>
                                        <p:cTn id="9" dur="800" decel="100000" fill="hold"/>
                                        <p:tgtEl>
                                          <p:spTgt spid="50"/>
                                        </p:tgtEl>
                                        <p:attrNameLst>
                                          <p:attrName>ppt_x</p:attrName>
                                        </p:attrNameLst>
                                      </p:cBhvr>
                                      <p:tavLst>
                                        <p:tav tm="0">
                                          <p:val>
                                            <p:strVal val="#ppt_x+0.4"/>
                                          </p:val>
                                        </p:tav>
                                        <p:tav tm="100000">
                                          <p:val>
                                            <p:strVal val="#ppt_x-0.05"/>
                                          </p:val>
                                        </p:tav>
                                      </p:tavLst>
                                    </p:anim>
                                    <p:anim calcmode="lin" valueType="num">
                                      <p:cBhvr>
                                        <p:cTn id="10" dur="800" decel="100000" fill="hold"/>
                                        <p:tgtEl>
                                          <p:spTgt spid="50"/>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0"/>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0"/>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pPr marL="342900" lvl="1" indent="-342900">
              <a:buClr>
                <a:schemeClr val="hlink"/>
              </a:buClr>
              <a:buNone/>
            </a:pPr>
            <a:r>
              <a:rPr lang="en-US" b="1" u="sng" dirty="0" smtClean="0"/>
              <a:t>Readings:</a:t>
            </a:r>
            <a:r>
              <a:rPr lang="en-US" b="1" dirty="0" smtClean="0"/>
              <a:t> Samuelson &amp; </a:t>
            </a:r>
            <a:r>
              <a:rPr lang="en-US" b="1" dirty="0" err="1" smtClean="0"/>
              <a:t>Nordhaus</a:t>
            </a:r>
            <a:r>
              <a:rPr lang="en-US" b="1" dirty="0" smtClean="0"/>
              <a:t>, Ch. </a:t>
            </a:r>
            <a:r>
              <a:rPr lang="en-US" b="1" smtClean="0"/>
              <a:t>3</a:t>
            </a:r>
            <a:endParaRPr lang="en-US" b="1" u="sng" dirty="0" smtClean="0"/>
          </a:p>
          <a:p>
            <a:pPr>
              <a:buNone/>
            </a:pPr>
            <a:endParaRPr lang="en-US" dirty="0"/>
          </a:p>
        </p:txBody>
      </p:sp>
      <p:sp>
        <p:nvSpPr>
          <p:cNvPr id="3" name="Slide Number Placeholder 2"/>
          <p:cNvSpPr>
            <a:spLocks noGrp="1"/>
          </p:cNvSpPr>
          <p:nvPr>
            <p:ph type="sldNum" sz="quarter" idx="11"/>
          </p:nvPr>
        </p:nvSpPr>
        <p:spPr/>
        <p:txBody>
          <a:bodyPr/>
          <a:lstStyle/>
          <a:p>
            <a:fld id="{5D8C0D95-B81A-45DB-B701-8AAA9905C101}" type="slidenum">
              <a:rPr lang="en-US" smtClean="0"/>
              <a:pPr/>
              <a:t>43</a:t>
            </a:fld>
            <a:endParaRPr lang="en-US"/>
          </a:p>
        </p:txBody>
      </p:sp>
    </p:spTree>
  </p:cSld>
  <p:clrMapOvr>
    <a:masterClrMapping/>
  </p:clrMapOvr>
</p:sld>
</file>

<file path=ppt/theme/theme1.xml><?xml version="1.0" encoding="utf-8"?>
<a:theme xmlns:a="http://schemas.openxmlformats.org/drawingml/2006/main" name="Theme1">
  <a:themeElements>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Stream">
      <a:majorFont>
        <a:latin typeface="Garamond"/>
        <a:ea typeface=""/>
        <a:cs typeface="Arial"/>
      </a:majorFont>
      <a:minorFont>
        <a:latin typeface="Garamond"/>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cs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cs typeface="Arial" pitchFamily="34" charset="0"/>
          </a:defRPr>
        </a:defPPr>
      </a:lstStyle>
    </a:lnDef>
  </a:objectDefaults>
  <a:extraClrSchemeLst>
    <a:extraClrScheme>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tream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Stream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Stream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Stream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Stream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Stream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Stream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Stream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1317</TotalTime>
  <Words>2077</Words>
  <Application>Microsoft Office PowerPoint</Application>
  <PresentationFormat>On-screen Show (4:3)</PresentationFormat>
  <Paragraphs>458</Paragraphs>
  <Slides>43</Slides>
  <Notes>41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Constantia</vt:lpstr>
      <vt:lpstr>Garamond</vt:lpstr>
      <vt:lpstr>굴림</vt:lpstr>
      <vt:lpstr>Mathematica1</vt:lpstr>
      <vt:lpstr>Wingdings</vt:lpstr>
      <vt:lpstr>Theme1</vt:lpstr>
      <vt:lpstr>DEMAND, SUPPLY &amp;  MARKET EQUILIBRIUM</vt:lpstr>
      <vt:lpstr>Significance:</vt:lpstr>
      <vt:lpstr>Cont. </vt:lpstr>
      <vt:lpstr>The Concept of DEMAND:</vt:lpstr>
      <vt:lpstr>The Law of Demand:</vt:lpstr>
      <vt:lpstr>Two Reasons for the Inverse Relationship:</vt:lpstr>
      <vt:lpstr>Presentation of the Demand Relationship:</vt:lpstr>
      <vt:lpstr>Demand Schedule:</vt:lpstr>
      <vt:lpstr>    Demand Curve:</vt:lpstr>
      <vt:lpstr>Demand Function:</vt:lpstr>
      <vt:lpstr>Important Factors Affecting Demand:</vt:lpstr>
      <vt:lpstr>(Cont.)</vt:lpstr>
      <vt:lpstr>(Cont.)</vt:lpstr>
      <vt:lpstr>(Cont.)</vt:lpstr>
      <vt:lpstr>(Cont.)</vt:lpstr>
      <vt:lpstr>(Cont.)</vt:lpstr>
      <vt:lpstr>Change in Quantity Demanded vs. Change in Demand:</vt:lpstr>
      <vt:lpstr>Change in Quantity Demanded:</vt:lpstr>
      <vt:lpstr>Change in Demand:</vt:lpstr>
      <vt:lpstr>Change in Demand:</vt:lpstr>
      <vt:lpstr>The Concept of SUPPLY:</vt:lpstr>
      <vt:lpstr>The Law of Supply:</vt:lpstr>
      <vt:lpstr>Presentation of the Supply Relationship:</vt:lpstr>
      <vt:lpstr>Supply Schedule:</vt:lpstr>
      <vt:lpstr>Supply Curve:</vt:lpstr>
      <vt:lpstr>Supply Function:</vt:lpstr>
      <vt:lpstr>Factors Affecting Supply:</vt:lpstr>
      <vt:lpstr>(Cont.)</vt:lpstr>
      <vt:lpstr>(Cont.)</vt:lpstr>
      <vt:lpstr>(Cont.)</vt:lpstr>
      <vt:lpstr>(Cont.)</vt:lpstr>
      <vt:lpstr>(Cont.)</vt:lpstr>
      <vt:lpstr>Change in Quantity Supplied vs. Change in Supply:</vt:lpstr>
      <vt:lpstr>Change in Quantity Supplied:</vt:lpstr>
      <vt:lpstr>Change in Supply:</vt:lpstr>
      <vt:lpstr>(Cont.)</vt:lpstr>
      <vt:lpstr>Market Equilibrium</vt:lpstr>
      <vt:lpstr>(Cont.)</vt:lpstr>
      <vt:lpstr>(Cont.)</vt:lpstr>
      <vt:lpstr>(Cont.)</vt:lpstr>
      <vt:lpstr>(Cont.)</vt:lpstr>
      <vt:lpstr>Changes in Both Demand and Supply:</vt:lpstr>
      <vt:lpstr>PowerPoint Presentation</vt:lpstr>
    </vt:vector>
  </TitlesOfParts>
  <Company>UPLB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Tirso B. Paris</dc:creator>
  <cp:lastModifiedBy>Maher</cp:lastModifiedBy>
  <cp:revision>84</cp:revision>
  <dcterms:created xsi:type="dcterms:W3CDTF">2007-11-26T05:18:06Z</dcterms:created>
  <dcterms:modified xsi:type="dcterms:W3CDTF">2023-12-27T16:04:29Z</dcterms:modified>
</cp:coreProperties>
</file>