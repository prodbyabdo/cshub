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50" r:id="rId2"/>
    <p:sldMasterId id="2147483651" r:id="rId3"/>
    <p:sldMasterId id="2147483652" r:id="rId4"/>
    <p:sldMasterId id="2147483733" r:id="rId5"/>
  </p:sldMasterIdLst>
  <p:notesMasterIdLst>
    <p:notesMasterId r:id="rId36"/>
  </p:notesMasterIdLst>
  <p:sldIdLst>
    <p:sldId id="389" r:id="rId6"/>
    <p:sldId id="361" r:id="rId7"/>
    <p:sldId id="362" r:id="rId8"/>
    <p:sldId id="363" r:id="rId9"/>
    <p:sldId id="381" r:id="rId10"/>
    <p:sldId id="367" r:id="rId11"/>
    <p:sldId id="368" r:id="rId12"/>
    <p:sldId id="369" r:id="rId13"/>
    <p:sldId id="370" r:id="rId14"/>
    <p:sldId id="364" r:id="rId15"/>
    <p:sldId id="371" r:id="rId16"/>
    <p:sldId id="372" r:id="rId17"/>
    <p:sldId id="374" r:id="rId18"/>
    <p:sldId id="382" r:id="rId19"/>
    <p:sldId id="390" r:id="rId20"/>
    <p:sldId id="383" r:id="rId21"/>
    <p:sldId id="391" r:id="rId22"/>
    <p:sldId id="392" r:id="rId23"/>
    <p:sldId id="365" r:id="rId24"/>
    <p:sldId id="385" r:id="rId25"/>
    <p:sldId id="384" r:id="rId26"/>
    <p:sldId id="376" r:id="rId27"/>
    <p:sldId id="386" r:id="rId28"/>
    <p:sldId id="378" r:id="rId29"/>
    <p:sldId id="387" r:id="rId30"/>
    <p:sldId id="379" r:id="rId31"/>
    <p:sldId id="380" r:id="rId32"/>
    <p:sldId id="393" r:id="rId33"/>
    <p:sldId id="388" r:id="rId34"/>
    <p:sldId id="394"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4031" autoAdjust="0"/>
  </p:normalViewPr>
  <p:slideViewPr>
    <p:cSldViewPr>
      <p:cViewPr>
        <p:scale>
          <a:sx n="66" d="100"/>
          <a:sy n="66" d="100"/>
        </p:scale>
        <p:origin x="-142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780" y="175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105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105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05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05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105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A45F1FA-B5C1-4C65-8F2F-98C1C1F5E34E}"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92DC35-0859-4447-8A5E-D941AEFA4E4E}" type="slidenum">
              <a:rPr lang="en-US"/>
              <a:pPr/>
              <a:t>2</a:t>
            </a:fld>
            <a:endParaRPr lang="en-US"/>
          </a:p>
        </p:txBody>
      </p:sp>
      <p:sp>
        <p:nvSpPr>
          <p:cNvPr id="437250" name="Rectangle 2"/>
          <p:cNvSpPr>
            <a:spLocks noGrp="1" noRot="1" noChangeAspect="1" noChangeArrowheads="1" noTextEdit="1"/>
          </p:cNvSpPr>
          <p:nvPr>
            <p:ph type="sldImg"/>
          </p:nvPr>
        </p:nvSpPr>
        <p:spPr>
          <a:ln/>
        </p:spPr>
      </p:sp>
      <p:sp>
        <p:nvSpPr>
          <p:cNvPr id="4372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17AB64-65BA-4103-850C-0471F6A9521A}" type="slidenum">
              <a:rPr lang="en-US"/>
              <a:pPr/>
              <a:t>3</a:t>
            </a:fld>
            <a:endParaRPr lang="en-US"/>
          </a:p>
        </p:txBody>
      </p:sp>
      <p:sp>
        <p:nvSpPr>
          <p:cNvPr id="438274" name="Rectangle 2"/>
          <p:cNvSpPr>
            <a:spLocks noGrp="1" noRot="1" noChangeAspect="1" noChangeArrowheads="1" noTextEdit="1"/>
          </p:cNvSpPr>
          <p:nvPr>
            <p:ph type="sldImg"/>
          </p:nvPr>
        </p:nvSpPr>
        <p:spPr>
          <a:ln/>
        </p:spPr>
      </p:sp>
      <p:sp>
        <p:nvSpPr>
          <p:cNvPr id="4382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D7FA27-F35F-4310-B5EA-E19F87FB6C4F}" type="slidenum">
              <a:rPr lang="en-US"/>
              <a:pPr/>
              <a:t>4</a:t>
            </a:fld>
            <a:endParaRPr lang="en-US"/>
          </a:p>
        </p:txBody>
      </p:sp>
      <p:sp>
        <p:nvSpPr>
          <p:cNvPr id="439298" name="Rectangle 2"/>
          <p:cNvSpPr>
            <a:spLocks noGrp="1" noRot="1" noChangeAspect="1" noChangeArrowheads="1" noTextEdit="1"/>
          </p:cNvSpPr>
          <p:nvPr>
            <p:ph type="sldImg"/>
          </p:nvPr>
        </p:nvSpPr>
        <p:spPr>
          <a:ln/>
        </p:spPr>
      </p:sp>
      <p:sp>
        <p:nvSpPr>
          <p:cNvPr id="439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A6A00E-29AE-4639-B8DB-306CE5280891}" type="slidenum">
              <a:rPr lang="en-US"/>
              <a:pPr/>
              <a:t>5</a:t>
            </a:fld>
            <a:endParaRPr lang="en-US"/>
          </a:p>
        </p:txBody>
      </p:sp>
      <p:sp>
        <p:nvSpPr>
          <p:cNvPr id="440322" name="Rectangle 2"/>
          <p:cNvSpPr>
            <a:spLocks noGrp="1" noRot="1" noChangeAspect="1" noChangeArrowheads="1" noTextEdit="1"/>
          </p:cNvSpPr>
          <p:nvPr>
            <p:ph type="sldImg"/>
          </p:nvPr>
        </p:nvSpPr>
        <p:spPr>
          <a:ln/>
        </p:spPr>
      </p:sp>
      <p:sp>
        <p:nvSpPr>
          <p:cNvPr id="440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D5B1FD-9E27-486F-8173-6509C7378800}" type="slidenum">
              <a:rPr lang="en-US"/>
              <a:pPr/>
              <a:t>6</a:t>
            </a:fld>
            <a:endParaRPr lang="en-US"/>
          </a:p>
        </p:txBody>
      </p:sp>
      <p:sp>
        <p:nvSpPr>
          <p:cNvPr id="441346" name="Rectangle 2"/>
          <p:cNvSpPr>
            <a:spLocks noGrp="1" noRot="1" noChangeAspect="1" noChangeArrowheads="1" noTextEdit="1"/>
          </p:cNvSpPr>
          <p:nvPr>
            <p:ph type="sldImg"/>
          </p:nvPr>
        </p:nvSpPr>
        <p:spPr>
          <a:ln/>
        </p:spPr>
      </p:sp>
      <p:sp>
        <p:nvSpPr>
          <p:cNvPr id="441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922F41-FA08-434F-B07B-6019A646ED5F}" type="slidenum">
              <a:rPr lang="en-US"/>
              <a:pPr/>
              <a:t>7</a:t>
            </a:fld>
            <a:endParaRPr lang="en-US"/>
          </a:p>
        </p:txBody>
      </p:sp>
      <p:sp>
        <p:nvSpPr>
          <p:cNvPr id="442370" name="Rectangle 2"/>
          <p:cNvSpPr>
            <a:spLocks noGrp="1" noRot="1" noChangeAspect="1" noChangeArrowheads="1" noTextEdit="1"/>
          </p:cNvSpPr>
          <p:nvPr>
            <p:ph type="sldImg"/>
          </p:nvPr>
        </p:nvSpPr>
        <p:spPr>
          <a:ln/>
        </p:spPr>
      </p:sp>
      <p:sp>
        <p:nvSpPr>
          <p:cNvPr id="442371" name="Rectangle 3"/>
          <p:cNvSpPr>
            <a:spLocks noGrp="1" noChangeArrowheads="1"/>
          </p:cNvSpPr>
          <p:nvPr>
            <p:ph type="body" idx="1"/>
          </p:nvPr>
        </p:nvSpPr>
        <p:spPr/>
        <p:txBody>
          <a:bodyPr/>
          <a:lstStyle/>
          <a:p>
            <a:r>
              <a:rPr lang="en-US" b="1" i="1" dirty="0"/>
              <a:t>Where do the utility numbers come from? </a:t>
            </a:r>
            <a:r>
              <a:rPr lang="en-US" dirty="0"/>
              <a:t>Year after year, you will get the same question from the curious student: “where do the utility numbers come from?” This new edition tries to help with one answer to this question by telling the story of Lisa’s likes for movies and soda. We tell Lisa that we’re going to call the utility she gets from 1 movie a month 50 units of utility. Then we ask her to tell us, using the same scale, how much she would like 2, 3, and so on movies, and 1, 2, 3, and so on six-packs of soda.</a:t>
            </a:r>
          </a:p>
          <a:p>
            <a:r>
              <a:rPr lang="en-US" dirty="0"/>
              <a:t>A second answer that you can’t give now but you can promise when you get to the end of the chapter is that we can</a:t>
            </a:r>
            <a:r>
              <a:rPr lang="en-US" i="1" dirty="0"/>
              <a:t> </a:t>
            </a:r>
            <a:r>
              <a:rPr lang="en-US" dirty="0"/>
              <a:t>infer the </a:t>
            </a:r>
            <a:r>
              <a:rPr lang="en-US" i="1" dirty="0"/>
              <a:t>MU</a:t>
            </a:r>
            <a:r>
              <a:rPr lang="en-US" dirty="0"/>
              <a:t> values from the prices (up to an arbitrary constant of multiplication). Because in consumer equilibrium, </a:t>
            </a:r>
            <a:r>
              <a:rPr lang="en-US" i="1" dirty="0"/>
              <a:t>MUM</a:t>
            </a:r>
            <a:r>
              <a:rPr lang="en-US" dirty="0"/>
              <a:t>/</a:t>
            </a:r>
            <a:r>
              <a:rPr lang="en-US" i="1" dirty="0"/>
              <a:t>PM</a:t>
            </a:r>
            <a:r>
              <a:rPr lang="en-US" dirty="0"/>
              <a:t> = </a:t>
            </a:r>
            <a:r>
              <a:rPr lang="en-US" i="1" dirty="0"/>
              <a:t>MUS</a:t>
            </a:r>
            <a:r>
              <a:rPr lang="en-US" dirty="0"/>
              <a:t>/</a:t>
            </a:r>
            <a:r>
              <a:rPr lang="en-US" i="1" dirty="0"/>
              <a:t>PS</a:t>
            </a:r>
            <a:r>
              <a:rPr lang="en-US" dirty="0"/>
              <a:t> = </a:t>
            </a:r>
            <a:r>
              <a:rPr lang="en-US" dirty="0">
                <a:sym typeface="Symbol" pitchFamily="82" charset="2"/>
              </a:rPr>
              <a:t></a:t>
            </a:r>
            <a:r>
              <a:rPr lang="en-US" dirty="0"/>
              <a:t>, we know that </a:t>
            </a:r>
            <a:r>
              <a:rPr lang="en-US" i="1" dirty="0"/>
              <a:t>MUM </a:t>
            </a:r>
            <a:r>
              <a:rPr lang="en-US" dirty="0"/>
              <a:t>= </a:t>
            </a:r>
            <a:r>
              <a:rPr lang="en-US" dirty="0">
                <a:sym typeface="Symbol" pitchFamily="82" charset="2"/>
              </a:rPr>
              <a:t></a:t>
            </a:r>
            <a:r>
              <a:rPr lang="en-US" i="1" dirty="0"/>
              <a:t>PM</a:t>
            </a:r>
            <a:r>
              <a:rPr lang="en-US" dirty="0"/>
              <a:t> and </a:t>
            </a:r>
            <a:r>
              <a:rPr lang="en-US" i="1" dirty="0"/>
              <a:t>MUS</a:t>
            </a:r>
            <a:r>
              <a:rPr lang="en-US" dirty="0"/>
              <a:t> = </a:t>
            </a:r>
            <a:r>
              <a:rPr lang="en-US" dirty="0">
                <a:sym typeface="Symbol" pitchFamily="82" charset="2"/>
              </a:rPr>
              <a:t></a:t>
            </a:r>
            <a:r>
              <a:rPr lang="en-US" i="1" dirty="0"/>
              <a:t>PS.</a:t>
            </a:r>
            <a:r>
              <a:rPr lang="en-US" dirty="0"/>
              <a:t> (Use this second explanation carefully, and don’t use the math as densely as we’re using it here. Spell it out at greater length in words and with intuition.)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04D4B5-9129-4BBB-BDA5-8D48A5D4729F}" type="slidenum">
              <a:rPr lang="en-US"/>
              <a:pPr/>
              <a:t>8</a:t>
            </a:fld>
            <a:endParaRPr lang="en-US"/>
          </a:p>
        </p:txBody>
      </p:sp>
      <p:sp>
        <p:nvSpPr>
          <p:cNvPr id="443394" name="Rectangle 2"/>
          <p:cNvSpPr>
            <a:spLocks noGrp="1" noRot="1" noChangeAspect="1" noChangeArrowheads="1" noTextEdit="1"/>
          </p:cNvSpPr>
          <p:nvPr>
            <p:ph type="sldImg"/>
          </p:nvPr>
        </p:nvSpPr>
        <p:spPr>
          <a:ln/>
        </p:spPr>
      </p:sp>
      <p:sp>
        <p:nvSpPr>
          <p:cNvPr id="443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38DC25-DDF9-472C-87DB-45B9AAC08ABB}" type="slidenum">
              <a:rPr lang="en-US"/>
              <a:pPr/>
              <a:t>9</a:t>
            </a:fld>
            <a:endParaRPr lang="en-US"/>
          </a:p>
        </p:txBody>
      </p:sp>
      <p:sp>
        <p:nvSpPr>
          <p:cNvPr id="444418" name="Rectangle 2"/>
          <p:cNvSpPr>
            <a:spLocks noGrp="1" noRot="1" noChangeAspect="1" noChangeArrowheads="1" noTextEdit="1"/>
          </p:cNvSpPr>
          <p:nvPr>
            <p:ph type="sldImg"/>
          </p:nvPr>
        </p:nvSpPr>
        <p:spPr>
          <a:ln/>
        </p:spPr>
      </p:sp>
      <p:sp>
        <p:nvSpPr>
          <p:cNvPr id="444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F2582-0BED-4DDD-9D44-295FC7D68B6D}" type="slidenum">
              <a:rPr lang="en-US"/>
              <a:pPr/>
              <a:t>10</a:t>
            </a:fld>
            <a:endParaRPr lang="en-US"/>
          </a:p>
        </p:txBody>
      </p:sp>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63A15B-5B28-4187-9F67-8CAA8EA3F65C}" type="slidenum">
              <a:rPr lang="en-US"/>
              <a:pPr/>
              <a:t>11</a:t>
            </a:fld>
            <a:endParaRPr lang="en-US"/>
          </a:p>
        </p:txBody>
      </p:sp>
      <p:sp>
        <p:nvSpPr>
          <p:cNvPr id="446466" name="Rectangle 2"/>
          <p:cNvSpPr>
            <a:spLocks noGrp="1" noRot="1" noChangeAspect="1" noChangeArrowheads="1" noTextEdit="1"/>
          </p:cNvSpPr>
          <p:nvPr>
            <p:ph type="sldImg"/>
          </p:nvPr>
        </p:nvSpPr>
        <p:spPr>
          <a:ln/>
        </p:spPr>
      </p:sp>
      <p:sp>
        <p:nvSpPr>
          <p:cNvPr id="446467" name="Rectangle 3"/>
          <p:cNvSpPr>
            <a:spLocks noGrp="1" noChangeArrowheads="1"/>
          </p:cNvSpPr>
          <p:nvPr>
            <p:ph type="body" idx="1"/>
          </p:nvPr>
        </p:nvSpPr>
        <p:spPr/>
        <p:txBody>
          <a:bodyPr/>
          <a:lstStyle/>
          <a:p>
            <a:r>
              <a:rPr lang="en-US" b="1" i="1"/>
              <a:t>Marginal decision making is the core of the economic way of thinking.</a:t>
            </a:r>
            <a:r>
              <a:rPr lang="en-US"/>
              <a:t> Get your students to appreciate that, aside from the concept of opportunity cost, marginal reasoning is the most important tool for understanding the economic perspective. Remind them that we have been using marginal reasoning for many chapters now:</a:t>
            </a:r>
          </a:p>
          <a:p>
            <a:r>
              <a:rPr lang="en-US"/>
              <a:t>In Chapter 2 we derived the marginal cost of production from the </a:t>
            </a:r>
            <a:r>
              <a:rPr lang="en-US" i="1"/>
              <a:t>PPF</a:t>
            </a:r>
            <a:r>
              <a:rPr lang="en-US"/>
              <a:t>.</a:t>
            </a:r>
          </a:p>
          <a:p>
            <a:r>
              <a:rPr lang="en-US"/>
              <a:t>In Chapter 5 we discovered that competitive equilibrium is efficient because marginal benefit on the demand curve equals marginal cost on the supply curve.</a:t>
            </a:r>
          </a:p>
          <a:p>
            <a:r>
              <a:rPr lang="en-US"/>
              <a:t>In this chapter, we discover that equating the marginal utility per dollar spent across all goods and services maximizes a consumer’s utility.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A3208F-034C-432E-A93C-4ACD9AE6C373}" type="slidenum">
              <a:rPr lang="en-US"/>
              <a:pPr/>
              <a:t>12</a:t>
            </a:fld>
            <a:endParaRPr lang="en-US"/>
          </a:p>
        </p:txBody>
      </p:sp>
      <p:sp>
        <p:nvSpPr>
          <p:cNvPr id="447490" name="Rectangle 2"/>
          <p:cNvSpPr>
            <a:spLocks noGrp="1" noRot="1" noChangeAspect="1" noChangeArrowheads="1" noTextEdit="1"/>
          </p:cNvSpPr>
          <p:nvPr>
            <p:ph type="sldImg"/>
          </p:nvPr>
        </p:nvSpPr>
        <p:spPr>
          <a:ln/>
        </p:spPr>
      </p:sp>
      <p:sp>
        <p:nvSpPr>
          <p:cNvPr id="447491" name="Rectangle 3"/>
          <p:cNvSpPr>
            <a:spLocks noGrp="1" noChangeArrowheads="1"/>
          </p:cNvSpPr>
          <p:nvPr>
            <p:ph type="body" idx="1"/>
          </p:nvPr>
        </p:nvSpPr>
        <p:spPr/>
        <p:txBody>
          <a:bodyPr/>
          <a:lstStyle/>
          <a:p>
            <a:r>
              <a:rPr lang="en-US" b="1" i="1"/>
              <a:t>People don’t calculate and compare marginal utilities and prices.</a:t>
            </a:r>
            <a:r>
              <a:rPr lang="en-US"/>
              <a:t> One of the challenges in teaching the marginal utility theory is getting the students to appreciate the fundamental role of a model of choice. The goal is to predict choices, not to describe the thought processes that make them. The physics model of the pool player’s choices (This </a:t>
            </a:r>
            <a:r>
              <a:rPr lang="en-US" i="1"/>
              <a:t>Instructor’s Manual</a:t>
            </a:r>
            <a:r>
              <a:rPr lang="en-US"/>
              <a:t>, Chapter 1, p. 6) is relevant here. Gary Becker told the story a bit differently and more pointedly for present purposes. Here’s what he said (Parkin, </a:t>
            </a:r>
            <a:r>
              <a:rPr lang="en-US" i="1"/>
              <a:t>Economics</a:t>
            </a:r>
            <a:r>
              <a:rPr lang="en-US"/>
              <a:t>, first edition, 1990, p. 154):</a:t>
            </a:r>
          </a:p>
          <a:p>
            <a:r>
              <a:rPr lang="en-US"/>
              <a:t>Orel Hershiser [substitute a current pitcher] is a top baseball player. He effectively knows all the laws of motion, of eye and hand coordination, about the speed of the bat and ball, and so on. He’s in fact solving a complicated physics problem when he steps up to pitch, but obviously he doesn’t have to know physics to do that. Likewise, when people solve economic problems rationally they’re really not thinking, “Well, I have this budget and I read this textbook and I look at my marginal utility.” They don’t do that, but it doesn’t mean they’re not being rational any more than Orel Hershiser is Albert Einstein.</a:t>
            </a:r>
          </a:p>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F91439-8DF3-4FE7-92D6-F72CE5EFCCB3}" type="slidenum">
              <a:rPr lang="en-US"/>
              <a:pPr/>
              <a:t>13</a:t>
            </a:fld>
            <a:endParaRPr lang="en-US"/>
          </a:p>
        </p:txBody>
      </p:sp>
      <p:sp>
        <p:nvSpPr>
          <p:cNvPr id="448514" name="Rectangle 2"/>
          <p:cNvSpPr>
            <a:spLocks noGrp="1" noRot="1" noChangeAspect="1" noChangeArrowheads="1" noTextEdit="1"/>
          </p:cNvSpPr>
          <p:nvPr>
            <p:ph type="sldImg"/>
          </p:nvPr>
        </p:nvSpPr>
        <p:spPr>
          <a:ln/>
        </p:spPr>
      </p:sp>
      <p:sp>
        <p:nvSpPr>
          <p:cNvPr id="448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3BE4A2-613B-48DF-8AAC-2778E34AC72B}" type="slidenum">
              <a:rPr lang="en-US"/>
              <a:pPr/>
              <a:t>14</a:t>
            </a:fld>
            <a:endParaRPr lang="en-US"/>
          </a:p>
        </p:txBody>
      </p:sp>
      <p:sp>
        <p:nvSpPr>
          <p:cNvPr id="449538" name="Rectangle 2"/>
          <p:cNvSpPr>
            <a:spLocks noGrp="1" noRot="1" noChangeAspect="1" noChangeArrowheads="1" noTextEdit="1"/>
          </p:cNvSpPr>
          <p:nvPr>
            <p:ph type="sldImg"/>
          </p:nvPr>
        </p:nvSpPr>
        <p:spPr>
          <a:ln/>
        </p:spPr>
      </p:sp>
      <p:sp>
        <p:nvSpPr>
          <p:cNvPr id="449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6820ED-BEFD-4AEE-8F6F-741A10F5DB51}" type="slidenum">
              <a:rPr lang="en-US"/>
              <a:pPr/>
              <a:t>16</a:t>
            </a:fld>
            <a:endParaRPr lang="en-US"/>
          </a:p>
        </p:txBody>
      </p:sp>
      <p:sp>
        <p:nvSpPr>
          <p:cNvPr id="450562" name="Rectangle 2"/>
          <p:cNvSpPr>
            <a:spLocks noGrp="1" noRot="1" noChangeAspect="1" noChangeArrowheads="1" noTextEdit="1"/>
          </p:cNvSpPr>
          <p:nvPr>
            <p:ph type="sldImg"/>
          </p:nvPr>
        </p:nvSpPr>
        <p:spPr>
          <a:ln/>
        </p:spPr>
      </p:sp>
      <p:sp>
        <p:nvSpPr>
          <p:cNvPr id="450563" name="Rectangle 3"/>
          <p:cNvSpPr>
            <a:spLocks noGrp="1" noChangeArrowheads="1"/>
          </p:cNvSpPr>
          <p:nvPr>
            <p:ph type="body" idx="1"/>
          </p:nvPr>
        </p:nvSpPr>
        <p:spPr/>
        <p:txBody>
          <a:bodyPr/>
          <a:lstStyle/>
          <a:p>
            <a:pPr>
              <a:lnSpc>
                <a:spcPct val="90000"/>
              </a:lnSpc>
            </a:pPr>
            <a:r>
              <a:rPr lang="en-US" b="1" i="1"/>
              <a:t>First work out what the consumer can afford.</a:t>
            </a:r>
            <a:r>
              <a:rPr lang="en-US"/>
              <a:t> Some reviewers of this textbook have told us that we don’t need the budget line in a utility chapter and that it is only needed in an indifference curve chapter. We strongly disagree. The essence of the economic problem faced by the consumer is </a:t>
            </a:r>
            <a:r>
              <a:rPr lang="en-US" i="1"/>
              <a:t>the</a:t>
            </a:r>
            <a:r>
              <a:rPr lang="en-US"/>
              <a:t> economic problem of Chapter 2. The budget line is the constraint—analogous to the </a:t>
            </a:r>
            <a:r>
              <a:rPr lang="en-US" i="1"/>
              <a:t>PPF</a:t>
            </a:r>
            <a:r>
              <a:rPr lang="en-US"/>
              <a:t>. (Stress though that the </a:t>
            </a:r>
            <a:r>
              <a:rPr lang="en-US" i="1"/>
              <a:t>PPF</a:t>
            </a:r>
            <a:r>
              <a:rPr lang="en-US"/>
              <a:t> is based on technology while the budget line is based on market prices.) If you assign numerical problems on utility maximization, stress that the first step is to write down the feasible combinations. There is no point looking at combinations that the consumer can’t afford, and no point in looking at combinations that leave unspent income.</a:t>
            </a:r>
            <a:endParaRPr lang="en-US" b="1" i="1"/>
          </a:p>
          <a:p>
            <a:pPr>
              <a:lnSpc>
                <a:spcPct val="90000"/>
              </a:lnSpc>
            </a:pPr>
            <a:r>
              <a:rPr lang="en-US" b="1" i="1"/>
              <a:t>To compare marginal utility across goods requires knowledge of relative prices.</a:t>
            </a:r>
            <a:r>
              <a:rPr lang="en-US"/>
              <a:t> Students have the most difficulty understanding </a:t>
            </a:r>
            <a:r>
              <a:rPr lang="en-US" i="1"/>
              <a:t>why</a:t>
            </a:r>
            <a:r>
              <a:rPr lang="en-US"/>
              <a:t> the utility maximizing rule equates the marginal utility per dollar spent rather than just plain marginal utility.</a:t>
            </a:r>
            <a:endParaRPr lang="en-US" b="1" i="1"/>
          </a:p>
          <a:p>
            <a:pPr>
              <a:lnSpc>
                <a:spcPct val="90000"/>
              </a:lnSpc>
            </a:pPr>
            <a:r>
              <a:rPr lang="en-US" b="1" i="1"/>
              <a:t>How does the consumer know how much additional utility from one good is made available when giving up some utility of the other good?</a:t>
            </a:r>
            <a:r>
              <a:rPr lang="en-US"/>
              <a:t> Students usually grasp that the consumer must assess the marginal utility lost against the marginal utility gained as one good is substituted for another. Yet, students usually haven’t thought about how much of one good is available by forgoing some quantity of the other good. Point out that this is not known until the relative </a:t>
            </a:r>
            <a:r>
              <a:rPr lang="en-US" i="1"/>
              <a:t>prices</a:t>
            </a:r>
            <a:r>
              <a:rPr lang="en-US"/>
              <a:t> of the two goods are known, which is why the marginal utility is weighted by its price.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01CB47-2E90-4DB1-8CBE-3EDE935D6184}" type="slidenum">
              <a:rPr lang="en-US"/>
              <a:pPr/>
              <a:t>18</a:t>
            </a:fld>
            <a:endParaRPr lang="en-US"/>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C132E-827F-444F-A25E-A9C3ADDFA0CE}" type="slidenum">
              <a:rPr lang="en-US"/>
              <a:pPr/>
              <a:t>19</a:t>
            </a:fld>
            <a:endParaRPr lang="en-US"/>
          </a:p>
        </p:txBody>
      </p:sp>
      <p:sp>
        <p:nvSpPr>
          <p:cNvPr id="451586" name="Rectangle 2"/>
          <p:cNvSpPr>
            <a:spLocks noGrp="1" noRot="1" noChangeAspect="1" noChangeArrowheads="1" noTextEdit="1"/>
          </p:cNvSpPr>
          <p:nvPr>
            <p:ph type="sldImg"/>
          </p:nvPr>
        </p:nvSpPr>
        <p:spPr>
          <a:ln/>
        </p:spPr>
      </p:sp>
      <p:sp>
        <p:nvSpPr>
          <p:cNvPr id="451587" name="Rectangle 3"/>
          <p:cNvSpPr>
            <a:spLocks noGrp="1" noChangeArrowheads="1"/>
          </p:cNvSpPr>
          <p:nvPr>
            <p:ph type="body" idx="1"/>
          </p:nvPr>
        </p:nvSpPr>
        <p:spPr/>
        <p:txBody>
          <a:bodyPr/>
          <a:lstStyle/>
          <a:p>
            <a:r>
              <a:rPr lang="en-US" b="1" i="1"/>
              <a:t>The concept of utility is abstract and not comparable across people—and that can be a difficult idea to grasp.</a:t>
            </a:r>
            <a:r>
              <a:rPr lang="en-US"/>
              <a:t> Students will initially be skeptical of measuring satisfaction with the concept of utility—not because the idea that consumer satisfaction increases with consumption is difficult to comprehend, but because there is no absolute standard by which different people’s satisfaction can be compared. Many students think that if one person’s utility can’t be converted into standardized units that are comparable across people, like converting spatial distance into miles or kilometers, then the concept simply isn’t worth understanding. (In mathematical terms, utility ordering is ordinal, not cardinal, making it impossible to directly compare separate utility functions.)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65BCE5-B561-4BB3-8EDD-60D73482EB4F}" type="slidenum">
              <a:rPr lang="en-US"/>
              <a:pPr/>
              <a:t>20</a:t>
            </a:fld>
            <a:endParaRPr lang="en-US"/>
          </a:p>
        </p:txBody>
      </p:sp>
      <p:sp>
        <p:nvSpPr>
          <p:cNvPr id="452610" name="Rectangle 2"/>
          <p:cNvSpPr>
            <a:spLocks noGrp="1" noRot="1" noChangeAspect="1" noChangeArrowheads="1" noTextEdit="1"/>
          </p:cNvSpPr>
          <p:nvPr>
            <p:ph type="sldImg"/>
          </p:nvPr>
        </p:nvSpPr>
        <p:spPr>
          <a:ln/>
        </p:spPr>
      </p:sp>
      <p:sp>
        <p:nvSpPr>
          <p:cNvPr id="452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6C97AE-9B54-4F8D-8CBD-6533701CB089}" type="slidenum">
              <a:rPr lang="en-US"/>
              <a:pPr/>
              <a:t>21</a:t>
            </a:fld>
            <a:endParaRPr lang="en-US"/>
          </a:p>
        </p:txBody>
      </p:sp>
      <p:sp>
        <p:nvSpPr>
          <p:cNvPr id="453634" name="Rectangle 2"/>
          <p:cNvSpPr>
            <a:spLocks noGrp="1" noRot="1" noChangeAspect="1" noChangeArrowheads="1" noTextEdit="1"/>
          </p:cNvSpPr>
          <p:nvPr>
            <p:ph type="sldImg"/>
          </p:nvPr>
        </p:nvSpPr>
        <p:spPr>
          <a:ln/>
        </p:spPr>
      </p:sp>
      <p:sp>
        <p:nvSpPr>
          <p:cNvPr id="453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1AEFCB-49DA-46EA-85FC-B6336EDC0421}" type="slidenum">
              <a:rPr lang="en-US"/>
              <a:pPr/>
              <a:t>22</a:t>
            </a:fld>
            <a:endParaRPr lang="en-US"/>
          </a:p>
        </p:txBody>
      </p:sp>
      <p:sp>
        <p:nvSpPr>
          <p:cNvPr id="454658" name="Rectangle 2"/>
          <p:cNvSpPr>
            <a:spLocks noGrp="1" noRot="1" noChangeAspect="1" noChangeArrowheads="1" noTextEdit="1"/>
          </p:cNvSpPr>
          <p:nvPr>
            <p:ph type="sldImg"/>
          </p:nvPr>
        </p:nvSpPr>
        <p:spPr>
          <a:ln/>
        </p:spPr>
      </p:sp>
      <p:sp>
        <p:nvSpPr>
          <p:cNvPr id="454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167512-7A01-4717-A5A9-69009675C842}" type="slidenum">
              <a:rPr lang="en-US"/>
              <a:pPr/>
              <a:t>23</a:t>
            </a:fld>
            <a:endParaRPr lang="en-US"/>
          </a:p>
        </p:txBody>
      </p:sp>
      <p:sp>
        <p:nvSpPr>
          <p:cNvPr id="455682" name="Rectangle 2"/>
          <p:cNvSpPr>
            <a:spLocks noGrp="1" noRot="1" noChangeAspect="1" noChangeArrowheads="1" noTextEdit="1"/>
          </p:cNvSpPr>
          <p:nvPr>
            <p:ph type="sldImg"/>
          </p:nvPr>
        </p:nvSpPr>
        <p:spPr>
          <a:ln/>
        </p:spPr>
      </p:sp>
      <p:sp>
        <p:nvSpPr>
          <p:cNvPr id="455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AF2AB2-7319-46EC-9B3C-461131179DBD}" type="slidenum">
              <a:rPr lang="en-US"/>
              <a:pPr/>
              <a:t>24</a:t>
            </a:fld>
            <a:endParaRPr lang="en-US"/>
          </a:p>
        </p:txBody>
      </p:sp>
      <p:sp>
        <p:nvSpPr>
          <p:cNvPr id="457730" name="Rectangle 2"/>
          <p:cNvSpPr>
            <a:spLocks noGrp="1" noRot="1" noChangeAspect="1" noChangeArrowheads="1" noTextEdit="1"/>
          </p:cNvSpPr>
          <p:nvPr>
            <p:ph type="sldImg"/>
          </p:nvPr>
        </p:nvSpPr>
        <p:spPr>
          <a:ln/>
        </p:spPr>
      </p:sp>
      <p:sp>
        <p:nvSpPr>
          <p:cNvPr id="457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6D4021-5350-4C8F-A579-BAC9AA26087E}" type="slidenum">
              <a:rPr lang="en-US"/>
              <a:pPr/>
              <a:t>25</a:t>
            </a:fld>
            <a:endParaRPr lang="en-US"/>
          </a:p>
        </p:txBody>
      </p:sp>
      <p:sp>
        <p:nvSpPr>
          <p:cNvPr id="458754" name="Rectangle 2"/>
          <p:cNvSpPr>
            <a:spLocks noGrp="1" noRot="1" noChangeAspect="1" noChangeArrowheads="1" noTextEdit="1"/>
          </p:cNvSpPr>
          <p:nvPr>
            <p:ph type="sldImg"/>
          </p:nvPr>
        </p:nvSpPr>
        <p:spPr>
          <a:ln/>
        </p:spPr>
      </p:sp>
      <p:sp>
        <p:nvSpPr>
          <p:cNvPr id="458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01AD9D-424B-4247-B807-64FFE43F775C}" type="slidenum">
              <a:rPr lang="en-US"/>
              <a:pPr/>
              <a:t>26</a:t>
            </a:fld>
            <a:endParaRPr lang="en-US"/>
          </a:p>
        </p:txBody>
      </p:sp>
      <p:sp>
        <p:nvSpPr>
          <p:cNvPr id="459778" name="Rectangle 2"/>
          <p:cNvSpPr>
            <a:spLocks noGrp="1" noRot="1" noChangeAspect="1" noChangeArrowheads="1" noTextEdit="1"/>
          </p:cNvSpPr>
          <p:nvPr>
            <p:ph type="sldImg"/>
          </p:nvPr>
        </p:nvSpPr>
        <p:spPr>
          <a:ln/>
        </p:spPr>
      </p:sp>
      <p:sp>
        <p:nvSpPr>
          <p:cNvPr id="459779" name="Rectangle 3"/>
          <p:cNvSpPr>
            <a:spLocks noGrp="1" noChangeArrowheads="1"/>
          </p:cNvSpPr>
          <p:nvPr>
            <p:ph type="body" idx="1"/>
          </p:nvPr>
        </p:nvSpPr>
        <p:spPr/>
        <p:txBody>
          <a:bodyPr/>
          <a:lstStyle/>
          <a:p>
            <a:r>
              <a:rPr lang="en-US" b="1" i="1" dirty="0"/>
              <a:t>The concept of utility is abstract, but the implications of utility analysis are concrete. </a:t>
            </a:r>
            <a:r>
              <a:rPr lang="en-US" dirty="0"/>
              <a:t>Help the students be less concerned about the abstract nature of measuring utility by emphasizing that it is enough to be able to carefully analyze </a:t>
            </a:r>
            <a:r>
              <a:rPr lang="en-US" i="1" dirty="0"/>
              <a:t>one</a:t>
            </a:r>
            <a:r>
              <a:rPr lang="en-US" dirty="0"/>
              <a:t> consumer’s consumption decisions and extrapolate generally what this behavior could imply for market behavior in general. Appeal to those concepts that students already understand from earlier chapters by linking the abstract concept of utility with concrete implications of consumer behavior. </a:t>
            </a:r>
          </a:p>
          <a:p>
            <a:r>
              <a:rPr lang="en-US" dirty="0"/>
              <a:t>Mention that if utility for one good increases quickly (slowly) with consumption, this implies that an increase in the price for that good will cause only a small (large) decrease in its consumption. </a:t>
            </a:r>
          </a:p>
          <a:p>
            <a:r>
              <a:rPr lang="en-US" dirty="0"/>
              <a:t>This implies that as the consumer substitutes away from that good to raise the marginal utility per dollar ratio and into other goods and services to lower other marginal utility per dollar ratios, the change in quantity consumed will be relatively small (large). </a:t>
            </a:r>
          </a:p>
          <a:p>
            <a:r>
              <a:rPr lang="en-US" dirty="0"/>
              <a:t>The student should quickly realize that a relatively small decrease in quantity demanded due to a given increase in price indicates a relatively inelastic (elastic) demand for that good. </a:t>
            </a:r>
            <a:r>
              <a:rPr lang="en-US" i="1" dirty="0"/>
              <a:t>Make the link: consumers with steep (shallow) marginal utility functions for a good must have an inelastic (elastic) demand.</a:t>
            </a:r>
            <a:r>
              <a:rPr lang="en-US" dirty="0"/>
              <a:t> </a:t>
            </a:r>
          </a:p>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95C8D6-2978-42ED-88A3-B21E85666ECD}" type="slidenum">
              <a:rPr lang="en-US"/>
              <a:pPr/>
              <a:t>27</a:t>
            </a:fld>
            <a:endParaRPr lang="en-US"/>
          </a:p>
        </p:txBody>
      </p:sp>
      <p:sp>
        <p:nvSpPr>
          <p:cNvPr id="461826" name="Rectangle 2"/>
          <p:cNvSpPr>
            <a:spLocks noGrp="1" noRot="1" noChangeAspect="1" noChangeArrowheads="1" noTextEdit="1"/>
          </p:cNvSpPr>
          <p:nvPr>
            <p:ph type="sldImg"/>
          </p:nvPr>
        </p:nvSpPr>
        <p:spPr>
          <a:ln/>
        </p:spPr>
      </p:sp>
      <p:sp>
        <p:nvSpPr>
          <p:cNvPr id="461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A45F1FA-B5C1-4C65-8F2F-98C1C1F5E34E}" type="slidenum">
              <a:rPr lang="en-US" smtClean="0"/>
              <a:pPr/>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E45C922-4BFC-4501-BBF0-B1441F2EF04E}" type="slidenum">
              <a:rPr lang="en-US"/>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3965DA4-7A5B-4DE7-81D4-CD720070DD81}" type="slidenum">
              <a:rPr lang="en-US"/>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071F5D5-B7B2-4857-ABC8-9934C8A07841}" type="slidenum">
              <a:rPr lang="en-US"/>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EC687C3-9A04-4FB0-A31F-3CEBF8BD961D}" type="slidenum">
              <a:rPr lang="en-US"/>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998E4C53-2764-491A-B027-F70F2CEAD14B}" type="slidenum">
              <a:rPr lang="en-US"/>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BA4BD7D8-6DE1-43E9-AB73-542AFE25DF99}" type="slidenum">
              <a:rPr lang="en-US"/>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5F334B97-F18D-4D1A-85B6-12619AAA291C}" type="slidenum">
              <a:rPr lang="en-US"/>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B6814BF-D383-46E1-8601-4C4ACDC54325}" type="slidenum">
              <a:rPr lang="en-US"/>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7DED64E-0012-4391-A9DB-1D3A854BA828}" type="slidenum">
              <a:rPr lang="en-US"/>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A718CB7-6C2C-4C40-A812-8BB2537989BD}" type="slidenum">
              <a:rPr lang="en-US"/>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6225" y="274638"/>
            <a:ext cx="2060575"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41325" y="274638"/>
            <a:ext cx="60325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625E6AF-F1A2-4C6B-BBF7-48EAF0DD7780}" type="slidenum">
              <a:rPr lang="en-US"/>
              <a:pPr/>
              <a:t>‹#›</a:t>
            </a:fld>
            <a:endParaRPr lang="en-US"/>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0DED46B-2DC3-4FD2-BFBD-2C60740A4454}" type="slidenum">
              <a:rPr lang="en-US"/>
              <a:pPr/>
              <a:t>‹#›</a:t>
            </a:fld>
            <a:endParaRPr lang="en-US"/>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BE96090-50D5-425C-B1EF-183FF710AA20}" type="slidenum">
              <a:rPr lang="en-US"/>
              <a:pPr/>
              <a:t>‹#›</a:t>
            </a:fld>
            <a:endParaRPr lang="en-US"/>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A89F4E4-7BCE-4928-983F-FEC1AEAEF0F0}" type="slidenum">
              <a:rPr lang="en-US"/>
              <a:pPr/>
              <a:t>‹#›</a:t>
            </a:fld>
            <a:endParaRPr lang="en-US"/>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19050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514600" y="1600200"/>
            <a:ext cx="19050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2640A4A0-4555-4717-857D-2DD8C7ED519B}" type="slidenum">
              <a:rPr lang="en-US"/>
              <a:pPr/>
              <a:t>‹#›</a:t>
            </a:fld>
            <a:endParaRPr lang="en-US"/>
          </a:p>
        </p:txBody>
      </p:sp>
    </p:spTree>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6DA124F9-47C1-4789-A571-7A4639CF8640}" type="slidenum">
              <a:rPr lang="en-US"/>
              <a:pPr/>
              <a:t>‹#›</a:t>
            </a:fld>
            <a:endParaRPr lang="en-US"/>
          </a:p>
        </p:txBody>
      </p:sp>
    </p:spTree>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1D73B1CF-7468-4E82-A684-5A56C6D9E2EE}" type="slidenum">
              <a:rPr lang="en-US"/>
              <a:pPr/>
              <a:t>‹#›</a:t>
            </a:fld>
            <a:endParaRPr lang="en-US"/>
          </a:p>
        </p:txBody>
      </p:sp>
    </p:spTree>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5CAD0791-4E24-4F55-96DC-6164C0313670}" type="slidenum">
              <a:rPr lang="en-US"/>
              <a:pPr/>
              <a:t>‹#›</a:t>
            </a:fld>
            <a:endParaRPr lang="en-US"/>
          </a:p>
        </p:txBody>
      </p:sp>
    </p:spTree>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823800E-5893-4B90-90F8-19C7FE14FB3A}" type="slidenum">
              <a:rPr lang="en-US"/>
              <a:pPr/>
              <a:t>‹#›</a:t>
            </a:fld>
            <a:endParaRPr lang="en-US"/>
          </a:p>
        </p:txBody>
      </p:sp>
    </p:spTree>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F47C2A3-A074-4485-8ED1-C290C94A7922}" type="slidenum">
              <a:rPr lang="en-US"/>
              <a:pPr/>
              <a:t>‹#›</a:t>
            </a:fld>
            <a:endParaRPr lang="en-US"/>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FEBE364-E55E-4E87-BE26-35AA376AF1CC}" type="slidenum">
              <a:rPr lang="en-US"/>
              <a:pPr/>
              <a:t>‹#›</a:t>
            </a:fld>
            <a:endParaRPr lang="en-US"/>
          </a:p>
        </p:txBody>
      </p:sp>
    </p:spTree>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3525"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41325"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2982294-994F-4207-96A5-B269B649B4C5}" type="slidenum">
              <a:rPr lang="en-US"/>
              <a:pPr/>
              <a:t>‹#›</a:t>
            </a:fld>
            <a:endParaRPr lang="en-US"/>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7C63C89-703B-48B1-B259-64CA27AF74B8}" type="slidenum">
              <a:rPr lang="en-US"/>
              <a:pPr/>
              <a:t>‹#›</a:t>
            </a:fld>
            <a:endParaRPr lang="en-US"/>
          </a:p>
        </p:txBody>
      </p:sp>
    </p:spTree>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C3AC63-006D-45E0-8316-92532EFCACE8}" type="slidenum">
              <a:rPr lang="en-US"/>
              <a:pPr/>
              <a:t>‹#›</a:t>
            </a:fld>
            <a:endParaRPr lang="en-US"/>
          </a:p>
        </p:txBody>
      </p:sp>
    </p:spTree>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E841764-33B7-48A8-939A-2831E8AA9482}" type="slidenum">
              <a:rPr lang="en-US"/>
              <a:pPr/>
              <a:t>‹#›</a:t>
            </a:fld>
            <a:endParaRPr lang="en-US"/>
          </a:p>
        </p:txBody>
      </p:sp>
    </p:spTree>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038600" cy="4144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4038600" cy="4144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E3132A0E-2BCF-42C8-ACED-FDBCE70E285F}" type="slidenum">
              <a:rPr lang="en-US"/>
              <a:pPr/>
              <a:t>‹#›</a:t>
            </a:fld>
            <a:endParaRPr lang="en-US"/>
          </a:p>
        </p:txBody>
      </p:sp>
    </p:spTree>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1C81E587-67A5-4838-8392-B045C99FC687}" type="slidenum">
              <a:rPr lang="en-US"/>
              <a:pPr/>
              <a:t>‹#›</a:t>
            </a:fld>
            <a:endParaRPr lang="en-US"/>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0288490E-04C6-4566-861F-BFDD8F641443}" type="slidenum">
              <a:rPr lang="en-US"/>
              <a:pPr/>
              <a:t>‹#›</a:t>
            </a:fld>
            <a:endParaRPr lang="en-US"/>
          </a:p>
        </p:txBody>
      </p:sp>
    </p:spTree>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B6D998BF-7AC1-45CA-AFD1-78677FD7DCC2}" type="slidenum">
              <a:rPr lang="en-US"/>
              <a:pPr/>
              <a:t>‹#›</a:t>
            </a:fld>
            <a:endParaRPr lang="en-US"/>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6DEA2B7-7AFB-4035-BBFC-29C506BE39B8}" type="slidenum">
              <a:rPr lang="en-US"/>
              <a:pPr/>
              <a:t>‹#›</a:t>
            </a:fld>
            <a:endParaRPr lang="en-US"/>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73FAC89-78B8-4A17-A713-F7691BD217C4}" type="slidenum">
              <a:rPr lang="en-US"/>
              <a:pPr/>
              <a:t>‹#›</a:t>
            </a:fld>
            <a:endParaRPr lang="en-US"/>
          </a:p>
        </p:txBody>
      </p:sp>
    </p:spTree>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1AF5026-A8B0-4860-8D25-7C97A7666024}" type="slidenum">
              <a:rPr lang="en-US"/>
              <a:pPr/>
              <a:t>‹#›</a:t>
            </a:fld>
            <a:endParaRPr lang="en-US"/>
          </a:p>
        </p:txBody>
      </p:sp>
    </p:spTree>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8213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04800"/>
            <a:ext cx="6019800" cy="58213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471679-A79D-48CE-B955-AED153276EB6}" type="slidenum">
              <a:rPr lang="en-US"/>
              <a:pPr/>
              <a:t>‹#›</a:t>
            </a:fld>
            <a:endParaRPr lang="en-US"/>
          </a:p>
        </p:txBody>
      </p:sp>
    </p:spTree>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C3C8552-EE19-4EC3-84D6-2B22FE477BC0}" type="slidenum">
              <a:rPr lang="en-US"/>
              <a:pPr/>
              <a:t>‹#›</a:t>
            </a:fld>
            <a:endParaRPr lang="en-US"/>
          </a:p>
        </p:txBody>
      </p:sp>
    </p:spTree>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4048060-698F-4081-9990-EC4BF028FFA8}" type="slidenum">
              <a:rPr lang="en-US"/>
              <a:pPr/>
              <a:t>‹#›</a:t>
            </a:fld>
            <a:endParaRPr lang="en-US"/>
          </a:p>
        </p:txBody>
      </p:sp>
    </p:spTree>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2807BDC-C672-441E-BC03-3DCC438E2750}" type="slidenum">
              <a:rPr lang="en-US"/>
              <a:pPr/>
              <a:t>‹#›</a:t>
            </a:fld>
            <a:endParaRPr lang="en-US"/>
          </a:p>
        </p:txBody>
      </p:sp>
    </p:spTree>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1866900" cy="4144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476500" y="1981200"/>
            <a:ext cx="1868488" cy="4144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50979AA-9EC2-4657-AA80-31C10926E11F}" type="slidenum">
              <a:rPr lang="en-US"/>
              <a:pPr/>
              <a:t>‹#›</a:t>
            </a:fld>
            <a:endParaRPr lang="en-US"/>
          </a:p>
        </p:txBody>
      </p:sp>
    </p:spTree>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5B960FEE-CD46-4B73-A48F-C9E31821A596}" type="slidenum">
              <a:rPr lang="en-US"/>
              <a:pPr/>
              <a:t>‹#›</a:t>
            </a:fld>
            <a:endParaRPr lang="en-US"/>
          </a:p>
        </p:txBody>
      </p:sp>
    </p:spTree>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F9E54674-F80F-4A91-8DA2-0D9D46890E6C}" type="slidenum">
              <a:rPr lang="en-US"/>
              <a:pPr/>
              <a:t>‹#›</a:t>
            </a:fld>
            <a:endParaRPr lang="en-US"/>
          </a:p>
        </p:txBody>
      </p:sp>
    </p:spTree>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E283C764-8070-4225-B0AB-B854DE1B9378}" type="slidenum">
              <a:rPr lang="en-US"/>
              <a:pPr/>
              <a:t>‹#›</a:t>
            </a:fld>
            <a:endParaRPr lang="en-US"/>
          </a:p>
        </p:txBody>
      </p:sp>
    </p:spTree>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E4202BDE-34C2-4E25-AD70-D236E7171836}" type="slidenum">
              <a:rPr lang="en-US"/>
              <a:pPr/>
              <a:t>‹#›</a:t>
            </a:fld>
            <a:endParaRPr lang="en-US"/>
          </a:p>
        </p:txBody>
      </p:sp>
    </p:spTree>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083B635E-7D15-488F-A0CE-02907DFBBC62}" type="slidenum">
              <a:rPr lang="en-US"/>
              <a:pPr/>
              <a:t>‹#›</a:t>
            </a:fld>
            <a:endParaRPr lang="en-US"/>
          </a:p>
        </p:txBody>
      </p:sp>
    </p:spTree>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F54783B-9A7F-4C76-834F-A95BE0D64187}" type="slidenum">
              <a:rPr lang="en-US"/>
              <a:pPr/>
              <a:t>‹#›</a:t>
            </a:fld>
            <a:endParaRPr lang="en-US"/>
          </a:p>
        </p:txBody>
      </p:sp>
    </p:spTree>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8213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04800"/>
            <a:ext cx="6019800" cy="58213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64966BA-6002-4E25-916C-8ECC274C6161}" type="slidenum">
              <a:rPr lang="en-US"/>
              <a:pPr/>
              <a:t>‹#›</a:t>
            </a:fld>
            <a:endParaRPr lang="en-US"/>
          </a:p>
        </p:txBody>
      </p:sp>
    </p:spTree>
  </p:cSld>
  <p:clrMapOvr>
    <a:masterClrMapping/>
  </p:clrMapOvr>
  <p:transition spd="med">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9140825" cy="6850063"/>
            <a:chOff x="0" y="0"/>
            <a:chExt cx="5758" cy="4315"/>
          </a:xfrm>
        </p:grpSpPr>
        <p:grpSp>
          <p:nvGrpSpPr>
            <p:cNvPr id="3" name="Group 3"/>
            <p:cNvGrpSpPr>
              <a:grpSpLocks/>
            </p:cNvGrpSpPr>
            <p:nvPr userDrawn="1"/>
          </p:nvGrpSpPr>
          <p:grpSpPr bwMode="auto">
            <a:xfrm>
              <a:off x="1728" y="2230"/>
              <a:ext cx="4027" cy="2085"/>
              <a:chOff x="1728" y="2230"/>
              <a:chExt cx="4027" cy="2085"/>
            </a:xfrm>
          </p:grpSpPr>
          <p:sp>
            <p:nvSpPr>
              <p:cNvPr id="8" name="Freeform 4"/>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pPr>
                  <a:defRPr/>
                </a:pPr>
                <a:endParaRPr lang="en-US"/>
              </a:p>
            </p:txBody>
          </p:sp>
          <p:sp>
            <p:nvSpPr>
              <p:cNvPr id="9" name="Freeform 5"/>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pPr>
                  <a:defRPr/>
                </a:pPr>
                <a:endParaRPr lang="en-US"/>
              </a:p>
            </p:txBody>
          </p:sp>
          <p:sp>
            <p:nvSpPr>
              <p:cNvPr id="10" name="Freeform 6"/>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pPr>
                  <a:defRPr/>
                </a:pPr>
                <a:endParaRPr lang="en-US"/>
              </a:p>
            </p:txBody>
          </p:sp>
          <p:sp>
            <p:nvSpPr>
              <p:cNvPr id="11" name="Freeform 7"/>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pPr>
                  <a:defRPr/>
                </a:pPr>
                <a:endParaRPr lang="en-US"/>
              </a:p>
            </p:txBody>
          </p:sp>
          <p:sp>
            <p:nvSpPr>
              <p:cNvPr id="12" name="Freeform 8"/>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pPr>
                  <a:defRPr/>
                </a:pPr>
                <a:endParaRPr lang="en-US"/>
              </a:p>
            </p:txBody>
          </p:sp>
        </p:grpSp>
        <p:sp>
          <p:nvSpPr>
            <p:cNvPr id="6" name="Freeform 9"/>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en-US"/>
            </a:p>
          </p:txBody>
        </p:sp>
        <p:sp>
          <p:nvSpPr>
            <p:cNvPr id="7" name="Freeform 10"/>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pPr>
                <a:defRPr/>
              </a:pPr>
              <a:endParaRPr lang="en-US"/>
            </a:p>
          </p:txBody>
        </p:sp>
      </p:grpSp>
      <p:sp>
        <p:nvSpPr>
          <p:cNvPr id="41995" name="Rectangle 11"/>
          <p:cNvSpPr>
            <a:spLocks noGrp="1" noChangeArrowheads="1"/>
          </p:cNvSpPr>
          <p:nvPr>
            <p:ph type="ctrTitle" sz="quarter"/>
          </p:nvPr>
        </p:nvSpPr>
        <p:spPr>
          <a:xfrm>
            <a:off x="685800" y="1736725"/>
            <a:ext cx="7772400" cy="1920875"/>
          </a:xfrm>
        </p:spPr>
        <p:txBody>
          <a:bodyPr/>
          <a:lstStyle>
            <a:lvl1pPr>
              <a:defRPr sz="6000"/>
            </a:lvl1pPr>
          </a:lstStyle>
          <a:p>
            <a:r>
              <a:rPr lang="en-US" smtClean="0"/>
              <a:t>Click to edit Master title style</a:t>
            </a:r>
            <a:endParaRPr lang="en-US"/>
          </a:p>
        </p:txBody>
      </p:sp>
      <p:sp>
        <p:nvSpPr>
          <p:cNvPr id="41996" name="Rectangle 12"/>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smtClean="0"/>
              <a:t>Click to edit Master subtitle style</a:t>
            </a:r>
            <a:endParaRPr lang="en-US"/>
          </a:p>
        </p:txBody>
      </p:sp>
      <p:sp>
        <p:nvSpPr>
          <p:cNvPr id="13" name="Rectangle 13"/>
          <p:cNvSpPr>
            <a:spLocks noGrp="1" noChangeArrowheads="1"/>
          </p:cNvSpPr>
          <p:nvPr>
            <p:ph type="dt" sz="quarter" idx="10"/>
          </p:nvPr>
        </p:nvSpPr>
        <p:spPr>
          <a:xfrm>
            <a:off x="457200" y="6248400"/>
            <a:ext cx="2133600" cy="476250"/>
          </a:xfrm>
        </p:spPr>
        <p:txBody>
          <a:bodyPr/>
          <a:lstStyle>
            <a:lvl1pPr>
              <a:defRPr smtClean="0"/>
            </a:lvl1pPr>
          </a:lstStyle>
          <a:p>
            <a:endParaRPr lang="en-US"/>
          </a:p>
        </p:txBody>
      </p:sp>
      <p:sp>
        <p:nvSpPr>
          <p:cNvPr id="14" name="Rectangle 14"/>
          <p:cNvSpPr>
            <a:spLocks noGrp="1" noChangeArrowheads="1"/>
          </p:cNvSpPr>
          <p:nvPr>
            <p:ph type="ftr" sz="quarter" idx="11"/>
          </p:nvPr>
        </p:nvSpPr>
        <p:spPr>
          <a:xfrm>
            <a:off x="3124200" y="6251575"/>
            <a:ext cx="2895600" cy="476250"/>
          </a:xfrm>
        </p:spPr>
        <p:txBody>
          <a:bodyPr/>
          <a:lstStyle>
            <a:lvl1pPr>
              <a:defRPr smtClean="0"/>
            </a:lvl1pPr>
          </a:lstStyle>
          <a:p>
            <a:endParaRPr lang="en-US"/>
          </a:p>
        </p:txBody>
      </p:sp>
      <p:sp>
        <p:nvSpPr>
          <p:cNvPr id="15" name="Rectangle 15"/>
          <p:cNvSpPr>
            <a:spLocks noGrp="1" noChangeArrowheads="1"/>
          </p:cNvSpPr>
          <p:nvPr>
            <p:ph type="sldNum" sz="quarter" idx="12"/>
          </p:nvPr>
        </p:nvSpPr>
        <p:spPr>
          <a:xfrm>
            <a:off x="6553200" y="6254750"/>
            <a:ext cx="2133600" cy="476250"/>
          </a:xfrm>
        </p:spPr>
        <p:txBody>
          <a:bodyPr/>
          <a:lstStyle>
            <a:lvl1pPr>
              <a:defRPr smtClean="0"/>
            </a:lvl1pPr>
          </a:lstStyle>
          <a:p>
            <a:fld id="{AE45C922-4BFC-4501-BBF0-B1441F2EF04E}" type="slidenum">
              <a:rPr lang="en-US" smtClean="0"/>
              <a:pPr/>
              <a:t>‹#›</a:t>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dt" sz="half" idx="10"/>
          </p:nvPr>
        </p:nvSpPr>
        <p:spPr>
          <a:ln/>
        </p:spPr>
        <p:txBody>
          <a:bodyPr/>
          <a:lstStyle>
            <a:lvl1pPr>
              <a:defRPr/>
            </a:lvl1pPr>
          </a:lstStyle>
          <a:p>
            <a:endParaRPr lang="en-US"/>
          </a:p>
        </p:txBody>
      </p:sp>
      <p:sp>
        <p:nvSpPr>
          <p:cNvPr id="5" name="Rectangle 3"/>
          <p:cNvSpPr>
            <a:spLocks noGrp="1" noChangeArrowheads="1"/>
          </p:cNvSpPr>
          <p:nvPr>
            <p:ph type="sldNum" sz="quarter" idx="11"/>
          </p:nvPr>
        </p:nvSpPr>
        <p:spPr>
          <a:ln/>
        </p:spPr>
        <p:txBody>
          <a:bodyPr/>
          <a:lstStyle>
            <a:lvl1pPr>
              <a:defRPr/>
            </a:lvl1pPr>
          </a:lstStyle>
          <a:p>
            <a:fld id="{F3965DA4-7A5B-4DE7-81D4-CD720070DD81}" type="slidenum">
              <a:rPr lang="en-US" smtClean="0"/>
              <a:pPr/>
              <a:t>‹#›</a:t>
            </a:fld>
            <a:endParaRPr lang="en-US"/>
          </a:p>
        </p:txBody>
      </p:sp>
      <p:sp>
        <p:nvSpPr>
          <p:cNvPr id="6"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
          <p:cNvSpPr>
            <a:spLocks noGrp="1" noChangeArrowheads="1"/>
          </p:cNvSpPr>
          <p:nvPr>
            <p:ph type="dt" sz="half" idx="10"/>
          </p:nvPr>
        </p:nvSpPr>
        <p:spPr>
          <a:ln/>
        </p:spPr>
        <p:txBody>
          <a:bodyPr/>
          <a:lstStyle>
            <a:lvl1pPr>
              <a:defRPr/>
            </a:lvl1pPr>
          </a:lstStyle>
          <a:p>
            <a:endParaRPr lang="en-US"/>
          </a:p>
        </p:txBody>
      </p:sp>
      <p:sp>
        <p:nvSpPr>
          <p:cNvPr id="5" name="Rectangle 3"/>
          <p:cNvSpPr>
            <a:spLocks noGrp="1" noChangeArrowheads="1"/>
          </p:cNvSpPr>
          <p:nvPr>
            <p:ph type="sldNum" sz="quarter" idx="11"/>
          </p:nvPr>
        </p:nvSpPr>
        <p:spPr>
          <a:ln/>
        </p:spPr>
        <p:txBody>
          <a:bodyPr/>
          <a:lstStyle>
            <a:lvl1pPr>
              <a:defRPr/>
            </a:lvl1pPr>
          </a:lstStyle>
          <a:p>
            <a:fld id="{D071F5D5-B7B2-4857-ABC8-9934C8A07841}" type="slidenum">
              <a:rPr lang="en-US" smtClean="0"/>
              <a:pPr/>
              <a:t>‹#›</a:t>
            </a:fld>
            <a:endParaRPr lang="en-US"/>
          </a:p>
        </p:txBody>
      </p:sp>
      <p:sp>
        <p:nvSpPr>
          <p:cNvPr id="6"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dt" sz="half" idx="10"/>
          </p:nvPr>
        </p:nvSpPr>
        <p:spPr>
          <a:ln/>
        </p:spPr>
        <p:txBody>
          <a:bodyPr/>
          <a:lstStyle>
            <a:lvl1pPr>
              <a:defRPr/>
            </a:lvl1pPr>
          </a:lstStyle>
          <a:p>
            <a:endParaRPr lang="en-US"/>
          </a:p>
        </p:txBody>
      </p:sp>
      <p:sp>
        <p:nvSpPr>
          <p:cNvPr id="6" name="Rectangle 3"/>
          <p:cNvSpPr>
            <a:spLocks noGrp="1" noChangeArrowheads="1"/>
          </p:cNvSpPr>
          <p:nvPr>
            <p:ph type="sldNum" sz="quarter" idx="11"/>
          </p:nvPr>
        </p:nvSpPr>
        <p:spPr>
          <a:ln/>
        </p:spPr>
        <p:txBody>
          <a:bodyPr/>
          <a:lstStyle>
            <a:lvl1pPr>
              <a:defRPr/>
            </a:lvl1pPr>
          </a:lstStyle>
          <a:p>
            <a:fld id="{4EC687C3-9A04-4FB0-A31F-3CEBF8BD961D}" type="slidenum">
              <a:rPr lang="en-US" smtClean="0"/>
              <a:pPr/>
              <a:t>‹#›</a:t>
            </a:fld>
            <a:endParaRPr lang="en-US"/>
          </a:p>
        </p:txBody>
      </p:sp>
      <p:sp>
        <p:nvSpPr>
          <p:cNvPr id="7"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dt" sz="half" idx="10"/>
          </p:nvPr>
        </p:nvSpPr>
        <p:spPr>
          <a:ln/>
        </p:spPr>
        <p:txBody>
          <a:bodyPr/>
          <a:lstStyle>
            <a:lvl1pPr>
              <a:defRPr/>
            </a:lvl1pPr>
          </a:lstStyle>
          <a:p>
            <a:endParaRPr lang="en-US"/>
          </a:p>
        </p:txBody>
      </p:sp>
      <p:sp>
        <p:nvSpPr>
          <p:cNvPr id="8" name="Rectangle 3"/>
          <p:cNvSpPr>
            <a:spLocks noGrp="1" noChangeArrowheads="1"/>
          </p:cNvSpPr>
          <p:nvPr>
            <p:ph type="sldNum" sz="quarter" idx="11"/>
          </p:nvPr>
        </p:nvSpPr>
        <p:spPr>
          <a:ln/>
        </p:spPr>
        <p:txBody>
          <a:bodyPr/>
          <a:lstStyle>
            <a:lvl1pPr>
              <a:defRPr/>
            </a:lvl1pPr>
          </a:lstStyle>
          <a:p>
            <a:fld id="{998E4C53-2764-491A-B027-F70F2CEAD14B}" type="slidenum">
              <a:rPr lang="en-US" smtClean="0"/>
              <a:pPr/>
              <a:t>‹#›</a:t>
            </a:fld>
            <a:endParaRPr lang="en-US"/>
          </a:p>
        </p:txBody>
      </p:sp>
      <p:sp>
        <p:nvSpPr>
          <p:cNvPr id="9"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
          <p:cNvSpPr>
            <a:spLocks noGrp="1" noChangeArrowheads="1"/>
          </p:cNvSpPr>
          <p:nvPr>
            <p:ph type="dt" sz="half" idx="10"/>
          </p:nvPr>
        </p:nvSpPr>
        <p:spPr>
          <a:ln/>
        </p:spPr>
        <p:txBody>
          <a:bodyPr/>
          <a:lstStyle>
            <a:lvl1pPr>
              <a:defRPr/>
            </a:lvl1pPr>
          </a:lstStyle>
          <a:p>
            <a:endParaRPr lang="en-US"/>
          </a:p>
        </p:txBody>
      </p:sp>
      <p:sp>
        <p:nvSpPr>
          <p:cNvPr id="4" name="Rectangle 3"/>
          <p:cNvSpPr>
            <a:spLocks noGrp="1" noChangeArrowheads="1"/>
          </p:cNvSpPr>
          <p:nvPr>
            <p:ph type="sldNum" sz="quarter" idx="11"/>
          </p:nvPr>
        </p:nvSpPr>
        <p:spPr>
          <a:ln/>
        </p:spPr>
        <p:txBody>
          <a:bodyPr/>
          <a:lstStyle>
            <a:lvl1pPr>
              <a:defRPr/>
            </a:lvl1pPr>
          </a:lstStyle>
          <a:p>
            <a:fld id="{BA4BD7D8-6DE1-43E9-AB73-542AFE25DF99}" type="slidenum">
              <a:rPr lang="en-US" smtClean="0"/>
              <a:pPr/>
              <a:t>‹#›</a:t>
            </a:fld>
            <a:endParaRPr lang="en-US"/>
          </a:p>
        </p:txBody>
      </p:sp>
      <p:sp>
        <p:nvSpPr>
          <p:cNvPr id="5"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endParaRPr lang="en-US"/>
          </a:p>
        </p:txBody>
      </p:sp>
      <p:sp>
        <p:nvSpPr>
          <p:cNvPr id="3" name="Rectangle 3"/>
          <p:cNvSpPr>
            <a:spLocks noGrp="1" noChangeArrowheads="1"/>
          </p:cNvSpPr>
          <p:nvPr>
            <p:ph type="sldNum" sz="quarter" idx="11"/>
          </p:nvPr>
        </p:nvSpPr>
        <p:spPr>
          <a:ln/>
        </p:spPr>
        <p:txBody>
          <a:bodyPr/>
          <a:lstStyle>
            <a:lvl1pPr>
              <a:defRPr/>
            </a:lvl1pPr>
          </a:lstStyle>
          <a:p>
            <a:fld id="{5F334B97-F18D-4D1A-85B6-12619AAA291C}" type="slidenum">
              <a:rPr lang="en-US" smtClean="0"/>
              <a:pPr/>
              <a:t>‹#›</a:t>
            </a:fld>
            <a:endParaRPr lang="en-US"/>
          </a:p>
        </p:txBody>
      </p:sp>
      <p:sp>
        <p:nvSpPr>
          <p:cNvPr id="4"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dt" sz="half" idx="10"/>
          </p:nvPr>
        </p:nvSpPr>
        <p:spPr>
          <a:ln/>
        </p:spPr>
        <p:txBody>
          <a:bodyPr/>
          <a:lstStyle>
            <a:lvl1pPr>
              <a:defRPr/>
            </a:lvl1pPr>
          </a:lstStyle>
          <a:p>
            <a:endParaRPr lang="en-US"/>
          </a:p>
        </p:txBody>
      </p:sp>
      <p:sp>
        <p:nvSpPr>
          <p:cNvPr id="6" name="Rectangle 3"/>
          <p:cNvSpPr>
            <a:spLocks noGrp="1" noChangeArrowheads="1"/>
          </p:cNvSpPr>
          <p:nvPr>
            <p:ph type="sldNum" sz="quarter" idx="11"/>
          </p:nvPr>
        </p:nvSpPr>
        <p:spPr>
          <a:ln/>
        </p:spPr>
        <p:txBody>
          <a:bodyPr/>
          <a:lstStyle>
            <a:lvl1pPr>
              <a:defRPr/>
            </a:lvl1pPr>
          </a:lstStyle>
          <a:p>
            <a:fld id="{CB6814BF-D383-46E1-8601-4C4ACDC54325}" type="slidenum">
              <a:rPr lang="en-US" smtClean="0"/>
              <a:pPr/>
              <a:t>‹#›</a:t>
            </a:fld>
            <a:endParaRPr lang="en-US"/>
          </a:p>
        </p:txBody>
      </p:sp>
      <p:sp>
        <p:nvSpPr>
          <p:cNvPr id="7"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dt" sz="half" idx="10"/>
          </p:nvPr>
        </p:nvSpPr>
        <p:spPr>
          <a:ln/>
        </p:spPr>
        <p:txBody>
          <a:bodyPr/>
          <a:lstStyle>
            <a:lvl1pPr>
              <a:defRPr/>
            </a:lvl1pPr>
          </a:lstStyle>
          <a:p>
            <a:endParaRPr lang="en-US"/>
          </a:p>
        </p:txBody>
      </p:sp>
      <p:sp>
        <p:nvSpPr>
          <p:cNvPr id="6" name="Rectangle 3"/>
          <p:cNvSpPr>
            <a:spLocks noGrp="1" noChangeArrowheads="1"/>
          </p:cNvSpPr>
          <p:nvPr>
            <p:ph type="sldNum" sz="quarter" idx="11"/>
          </p:nvPr>
        </p:nvSpPr>
        <p:spPr>
          <a:ln/>
        </p:spPr>
        <p:txBody>
          <a:bodyPr/>
          <a:lstStyle>
            <a:lvl1pPr>
              <a:defRPr/>
            </a:lvl1pPr>
          </a:lstStyle>
          <a:p>
            <a:fld id="{87DED64E-0012-4391-A9DB-1D3A854BA828}" type="slidenum">
              <a:rPr lang="en-US" smtClean="0"/>
              <a:pPr/>
              <a:t>‹#›</a:t>
            </a:fld>
            <a:endParaRPr lang="en-US"/>
          </a:p>
        </p:txBody>
      </p:sp>
      <p:sp>
        <p:nvSpPr>
          <p:cNvPr id="7"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dt" sz="half" idx="10"/>
          </p:nvPr>
        </p:nvSpPr>
        <p:spPr>
          <a:ln/>
        </p:spPr>
        <p:txBody>
          <a:bodyPr/>
          <a:lstStyle>
            <a:lvl1pPr>
              <a:defRPr/>
            </a:lvl1pPr>
          </a:lstStyle>
          <a:p>
            <a:endParaRPr lang="en-US"/>
          </a:p>
        </p:txBody>
      </p:sp>
      <p:sp>
        <p:nvSpPr>
          <p:cNvPr id="5" name="Rectangle 3"/>
          <p:cNvSpPr>
            <a:spLocks noGrp="1" noChangeArrowheads="1"/>
          </p:cNvSpPr>
          <p:nvPr>
            <p:ph type="sldNum" sz="quarter" idx="11"/>
          </p:nvPr>
        </p:nvSpPr>
        <p:spPr>
          <a:ln/>
        </p:spPr>
        <p:txBody>
          <a:bodyPr/>
          <a:lstStyle>
            <a:lvl1pPr>
              <a:defRPr/>
            </a:lvl1pPr>
          </a:lstStyle>
          <a:p>
            <a:fld id="{8A718CB7-6C2C-4C40-A812-8BB2537989BD}" type="slidenum">
              <a:rPr lang="en-US" smtClean="0"/>
              <a:pPr/>
              <a:t>‹#›</a:t>
            </a:fld>
            <a:endParaRPr lang="en-US"/>
          </a:p>
        </p:txBody>
      </p:sp>
      <p:sp>
        <p:nvSpPr>
          <p:cNvPr id="6"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dt" sz="half" idx="10"/>
          </p:nvPr>
        </p:nvSpPr>
        <p:spPr>
          <a:ln/>
        </p:spPr>
        <p:txBody>
          <a:bodyPr/>
          <a:lstStyle>
            <a:lvl1pPr>
              <a:defRPr/>
            </a:lvl1pPr>
          </a:lstStyle>
          <a:p>
            <a:endParaRPr lang="en-US"/>
          </a:p>
        </p:txBody>
      </p:sp>
      <p:sp>
        <p:nvSpPr>
          <p:cNvPr id="5" name="Rectangle 3"/>
          <p:cNvSpPr>
            <a:spLocks noGrp="1" noChangeArrowheads="1"/>
          </p:cNvSpPr>
          <p:nvPr>
            <p:ph type="sldNum" sz="quarter" idx="11"/>
          </p:nvPr>
        </p:nvSpPr>
        <p:spPr>
          <a:ln/>
        </p:spPr>
        <p:txBody>
          <a:bodyPr/>
          <a:lstStyle>
            <a:lvl1pPr>
              <a:defRPr/>
            </a:lvl1pPr>
          </a:lstStyle>
          <a:p>
            <a:fld id="{5625E6AF-F1A2-4C6B-BBF7-48EAF0DD7780}" type="slidenum">
              <a:rPr lang="en-US" smtClean="0"/>
              <a:pPr/>
              <a:t>‹#›</a:t>
            </a:fld>
            <a:endParaRPr lang="en-US"/>
          </a:p>
        </p:txBody>
      </p:sp>
      <p:sp>
        <p:nvSpPr>
          <p:cNvPr id="6" name="Rectangle 14"/>
          <p:cNvSpPr>
            <a:spLocks noGrp="1" noChangeArrowheads="1"/>
          </p:cNvSpPr>
          <p:nvPr>
            <p:ph type="ftr" sz="quarter" idx="12"/>
          </p:nvPr>
        </p:nvSpPr>
        <p:spPr>
          <a:ln/>
        </p:spPr>
        <p:txBody>
          <a:bodyPr/>
          <a:lstStyle>
            <a:lvl1pPr>
              <a:defRPr/>
            </a:lvl1p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bwMode="auto">
          <a:xfrm>
            <a:off x="441325"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683"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71684"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71685"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71686"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392FF582-FEC9-4965-8807-D9333D16EC57}" type="slidenum">
              <a:rPr lang="en-US"/>
              <a:pPr/>
              <a:t>‹#›</a:t>
            </a:fld>
            <a:endParaRPr lang="en-US"/>
          </a:p>
        </p:txBody>
      </p:sp>
      <p:sp>
        <p:nvSpPr>
          <p:cNvPr id="71687" name="Line 7"/>
          <p:cNvSpPr>
            <a:spLocks noChangeShapeType="1"/>
          </p:cNvSpPr>
          <p:nvPr/>
        </p:nvSpPr>
        <p:spPr bwMode="auto">
          <a:xfrm flipH="1">
            <a:off x="457200" y="304800"/>
            <a:ext cx="8229600" cy="0"/>
          </a:xfrm>
          <a:prstGeom prst="line">
            <a:avLst/>
          </a:prstGeom>
          <a:noFill/>
          <a:ln w="152400">
            <a:solidFill>
              <a:srgbClr val="3399FF"/>
            </a:solidFill>
            <a:round/>
            <a:headEnd/>
            <a:tailEnd/>
          </a:ln>
          <a:effectLst/>
        </p:spPr>
        <p:txBody>
          <a:bodyPr/>
          <a:lstStyle/>
          <a:p>
            <a:endParaRPr lang="en-US"/>
          </a:p>
        </p:txBody>
      </p:sp>
      <p:sp>
        <p:nvSpPr>
          <p:cNvPr id="71688" name="Line 8"/>
          <p:cNvSpPr>
            <a:spLocks noChangeShapeType="1"/>
          </p:cNvSpPr>
          <p:nvPr/>
        </p:nvSpPr>
        <p:spPr bwMode="auto">
          <a:xfrm flipH="1">
            <a:off x="457200" y="1379538"/>
            <a:ext cx="685800" cy="0"/>
          </a:xfrm>
          <a:prstGeom prst="line">
            <a:avLst/>
          </a:prstGeom>
          <a:noFill/>
          <a:ln w="76200">
            <a:solidFill>
              <a:srgbClr val="3399FF"/>
            </a:solidFill>
            <a:round/>
            <a:headEnd/>
            <a:tailEnd/>
          </a:ln>
          <a:effectLst/>
        </p:spPr>
        <p:txBody>
          <a:bodyPr/>
          <a:lstStyle/>
          <a:p>
            <a:endParaRPr lang="en-US"/>
          </a:p>
        </p:txBody>
      </p:sp>
      <p:sp>
        <p:nvSpPr>
          <p:cNvPr id="71689" name="Line 9"/>
          <p:cNvSpPr>
            <a:spLocks noChangeShapeType="1"/>
          </p:cNvSpPr>
          <p:nvPr/>
        </p:nvSpPr>
        <p:spPr bwMode="auto">
          <a:xfrm>
            <a:off x="457200" y="228600"/>
            <a:ext cx="0" cy="1189038"/>
          </a:xfrm>
          <a:prstGeom prst="line">
            <a:avLst/>
          </a:prstGeom>
          <a:noFill/>
          <a:ln w="28575">
            <a:solidFill>
              <a:srgbClr val="3399FF"/>
            </a:solidFill>
            <a:round/>
            <a:headEnd/>
            <a:tailEnd/>
          </a:ln>
          <a:effec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wipe(left)">
                                      <p:cBhvr>
                                        <p:cTn id="7" dur="1000"/>
                                        <p:tgtEl>
                                          <p:spTgt spid="716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683">
                                            <p:txEl>
                                              <p:pRg st="1" end="1"/>
                                            </p:txEl>
                                          </p:spTgt>
                                        </p:tgtEl>
                                        <p:attrNameLst>
                                          <p:attrName>style.visibility</p:attrName>
                                        </p:attrNameLst>
                                      </p:cBhvr>
                                      <p:to>
                                        <p:strVal val="visible"/>
                                      </p:to>
                                    </p:set>
                                    <p:animEffect transition="in" filter="wipe(left)">
                                      <p:cBhvr>
                                        <p:cTn id="12" dur="1000"/>
                                        <p:tgtEl>
                                          <p:spTgt spid="716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683">
                                            <p:txEl>
                                              <p:pRg st="2" end="2"/>
                                            </p:txEl>
                                          </p:spTgt>
                                        </p:tgtEl>
                                        <p:attrNameLst>
                                          <p:attrName>style.visibility</p:attrName>
                                        </p:attrNameLst>
                                      </p:cBhvr>
                                      <p:to>
                                        <p:strVal val="visible"/>
                                      </p:to>
                                    </p:set>
                                    <p:animEffect transition="in" filter="wipe(left)">
                                      <p:cBhvr>
                                        <p:cTn id="17" dur="1000"/>
                                        <p:tgtEl>
                                          <p:spTgt spid="716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uiExpand="1" build="p" bldLvl="3">
        <p:tmplLst>
          <p:tmpl lvl="1">
            <p:tnLst>
              <p:par>
                <p:cTn presetID="22" presetClass="entr" presetSubtype="8" fill="hold" nodeType="clickEffect">
                  <p:stCondLst>
                    <p:cond delay="0"/>
                  </p:stCondLst>
                  <p:childTnLst>
                    <p:set>
                      <p:cBhvr>
                        <p:cTn dur="1" fill="hold">
                          <p:stCondLst>
                            <p:cond delay="0"/>
                          </p:stCondLst>
                        </p:cTn>
                        <p:tgtEl>
                          <p:spTgt spid="71683"/>
                        </p:tgtEl>
                        <p:attrNameLst>
                          <p:attrName>style.visibility</p:attrName>
                        </p:attrNameLst>
                      </p:cBhvr>
                      <p:to>
                        <p:strVal val="visible"/>
                      </p:to>
                    </p:set>
                    <p:animEffect transition="in" filter="wipe(left)">
                      <p:cBhvr>
                        <p:cTn dur="1000"/>
                        <p:tgtEl>
                          <p:spTgt spid="71683"/>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71683"/>
                        </p:tgtEl>
                        <p:attrNameLst>
                          <p:attrName>style.visibility</p:attrName>
                        </p:attrNameLst>
                      </p:cBhvr>
                      <p:to>
                        <p:strVal val="visible"/>
                      </p:to>
                    </p:set>
                    <p:animEffect transition="in" filter="wipe(left)">
                      <p:cBhvr>
                        <p:cTn dur="1000"/>
                        <p:tgtEl>
                          <p:spTgt spid="71683"/>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71683"/>
                        </p:tgtEl>
                        <p:attrNameLst>
                          <p:attrName>style.visibility</p:attrName>
                        </p:attrNameLst>
                      </p:cBhvr>
                      <p:to>
                        <p:strVal val="visible"/>
                      </p:to>
                    </p:set>
                    <p:animEffect transition="in" filter="wipe(left)">
                      <p:cBhvr>
                        <p:cTn dur="1000"/>
                        <p:tgtEl>
                          <p:spTgt spid="71683"/>
                        </p:tgtEl>
                      </p:cBhvr>
                    </p:animEffect>
                  </p:childTnLst>
                </p:cTn>
              </p:par>
            </p:tnLst>
          </p:tmpl>
        </p:tmplLst>
      </p:bldP>
    </p:bldLst>
  </p:timing>
  <p:hf hdr="0" ftr="0" dt="0"/>
  <p:txStyles>
    <p:titleStyle>
      <a:lvl1pPr algn="l" rtl="0" fontAlgn="base">
        <a:spcBef>
          <a:spcPct val="0"/>
        </a:spcBef>
        <a:spcAft>
          <a:spcPct val="0"/>
        </a:spcAft>
        <a:defRPr sz="3200" b="1">
          <a:solidFill>
            <a:srgbClr val="3399FF"/>
          </a:solidFill>
          <a:latin typeface="+mj-lt"/>
          <a:ea typeface="+mj-ea"/>
          <a:cs typeface="+mj-cs"/>
        </a:defRPr>
      </a:lvl1pPr>
      <a:lvl2pPr algn="l" rtl="0" fontAlgn="base">
        <a:spcBef>
          <a:spcPct val="0"/>
        </a:spcBef>
        <a:spcAft>
          <a:spcPct val="0"/>
        </a:spcAft>
        <a:defRPr sz="3200" b="1">
          <a:solidFill>
            <a:srgbClr val="3399FF"/>
          </a:solidFill>
          <a:latin typeface="Arial" charset="0"/>
        </a:defRPr>
      </a:lvl2pPr>
      <a:lvl3pPr algn="l" rtl="0" fontAlgn="base">
        <a:spcBef>
          <a:spcPct val="0"/>
        </a:spcBef>
        <a:spcAft>
          <a:spcPct val="0"/>
        </a:spcAft>
        <a:defRPr sz="3200" b="1">
          <a:solidFill>
            <a:srgbClr val="3399FF"/>
          </a:solidFill>
          <a:latin typeface="Arial" charset="0"/>
        </a:defRPr>
      </a:lvl3pPr>
      <a:lvl4pPr algn="l" rtl="0" fontAlgn="base">
        <a:spcBef>
          <a:spcPct val="0"/>
        </a:spcBef>
        <a:spcAft>
          <a:spcPct val="0"/>
        </a:spcAft>
        <a:defRPr sz="3200" b="1">
          <a:solidFill>
            <a:srgbClr val="3399FF"/>
          </a:solidFill>
          <a:latin typeface="Arial" charset="0"/>
        </a:defRPr>
      </a:lvl4pPr>
      <a:lvl5pPr algn="l" rtl="0" fontAlgn="base">
        <a:spcBef>
          <a:spcPct val="0"/>
        </a:spcBef>
        <a:spcAft>
          <a:spcPct val="0"/>
        </a:spcAft>
        <a:defRPr sz="3200" b="1">
          <a:solidFill>
            <a:srgbClr val="3399FF"/>
          </a:solidFill>
          <a:latin typeface="Arial" charset="0"/>
        </a:defRPr>
      </a:lvl5pPr>
      <a:lvl6pPr marL="457200" algn="l" rtl="0" fontAlgn="base">
        <a:spcBef>
          <a:spcPct val="0"/>
        </a:spcBef>
        <a:spcAft>
          <a:spcPct val="0"/>
        </a:spcAft>
        <a:defRPr sz="3200" b="1">
          <a:solidFill>
            <a:srgbClr val="3399FF"/>
          </a:solidFill>
          <a:latin typeface="Arial" charset="0"/>
        </a:defRPr>
      </a:lvl6pPr>
      <a:lvl7pPr marL="914400" algn="l" rtl="0" fontAlgn="base">
        <a:spcBef>
          <a:spcPct val="0"/>
        </a:spcBef>
        <a:spcAft>
          <a:spcPct val="0"/>
        </a:spcAft>
        <a:defRPr sz="3200" b="1">
          <a:solidFill>
            <a:srgbClr val="3399FF"/>
          </a:solidFill>
          <a:latin typeface="Arial" charset="0"/>
        </a:defRPr>
      </a:lvl7pPr>
      <a:lvl8pPr marL="1371600" algn="l" rtl="0" fontAlgn="base">
        <a:spcBef>
          <a:spcPct val="0"/>
        </a:spcBef>
        <a:spcAft>
          <a:spcPct val="0"/>
        </a:spcAft>
        <a:defRPr sz="3200" b="1">
          <a:solidFill>
            <a:srgbClr val="3399FF"/>
          </a:solidFill>
          <a:latin typeface="Arial" charset="0"/>
        </a:defRPr>
      </a:lvl8pPr>
      <a:lvl9pPr marL="1828800" algn="l" rtl="0" fontAlgn="base">
        <a:spcBef>
          <a:spcPct val="0"/>
        </a:spcBef>
        <a:spcAft>
          <a:spcPct val="0"/>
        </a:spcAft>
        <a:defRPr sz="3200" b="1">
          <a:solidFill>
            <a:srgbClr val="3399FF"/>
          </a:solidFill>
          <a:latin typeface="Arial" charset="0"/>
        </a:defRPr>
      </a:lvl9pPr>
    </p:titleStyle>
    <p:bodyStyle>
      <a:lvl1pPr algn="l" rtl="0" fontAlgn="base">
        <a:spcBef>
          <a:spcPct val="20000"/>
        </a:spcBef>
        <a:spcAft>
          <a:spcPct val="0"/>
        </a:spcAft>
        <a:defRPr sz="2400" b="1">
          <a:solidFill>
            <a:srgbClr val="00A5A8"/>
          </a:solidFill>
          <a:latin typeface="+mn-lt"/>
          <a:ea typeface="+mn-ea"/>
          <a:cs typeface="+mn-cs"/>
        </a:defRPr>
      </a:lvl1pPr>
      <a:lvl2pPr marL="114300" algn="l" rtl="0" fontAlgn="base">
        <a:spcBef>
          <a:spcPct val="25000"/>
        </a:spcBef>
        <a:spcAft>
          <a:spcPct val="25000"/>
        </a:spcAft>
        <a:buClr>
          <a:srgbClr val="FF0000"/>
        </a:buClr>
        <a:buFont typeface="Wingdings" pitchFamily="2" charset="2"/>
        <a:defRPr sz="2400">
          <a:solidFill>
            <a:schemeClr val="tx1"/>
          </a:solidFill>
          <a:latin typeface="+mn-lt"/>
        </a:defRPr>
      </a:lvl2pPr>
      <a:lvl3pPr marL="342900" algn="l" rtl="0" fontAlgn="base">
        <a:spcBef>
          <a:spcPct val="20000"/>
        </a:spcBef>
        <a:spcAft>
          <a:spcPct val="0"/>
        </a:spcAft>
        <a:buChar char="•"/>
        <a:defRPr sz="2000">
          <a:solidFill>
            <a:schemeClr val="tx1"/>
          </a:solidFill>
          <a:latin typeface="+mn-lt"/>
        </a:defRPr>
      </a:lvl3pPr>
      <a:lvl4pPr marL="571500" algn="l" rtl="0" fontAlgn="base">
        <a:spcBef>
          <a:spcPct val="20000"/>
        </a:spcBef>
        <a:spcAft>
          <a:spcPct val="0"/>
        </a:spcAft>
        <a:buChar char="–"/>
        <a:defRPr sz="2000">
          <a:solidFill>
            <a:schemeClr val="tx1"/>
          </a:solidFill>
          <a:latin typeface="Gill Sans MT" pitchFamily="34" charset="0"/>
        </a:defRPr>
      </a:lvl4pPr>
      <a:lvl5pPr marL="742950" algn="l" rtl="0" fontAlgn="base">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bwMode="auto">
          <a:xfrm>
            <a:off x="441325"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3731" name="Rectangle 3"/>
          <p:cNvSpPr>
            <a:spLocks noGrp="1" noChangeArrowheads="1"/>
          </p:cNvSpPr>
          <p:nvPr>
            <p:ph type="body" idx="1"/>
          </p:nvPr>
        </p:nvSpPr>
        <p:spPr bwMode="auto">
          <a:xfrm>
            <a:off x="457200" y="1600200"/>
            <a:ext cx="39624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7373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7373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7373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C9AB1369-AB47-4EC6-B1D3-3A48D6D18BBC}" type="slidenum">
              <a:rPr lang="en-US"/>
              <a:pPr/>
              <a:t>‹#›</a:t>
            </a:fld>
            <a:endParaRPr lang="en-US"/>
          </a:p>
        </p:txBody>
      </p:sp>
      <p:sp>
        <p:nvSpPr>
          <p:cNvPr id="73735" name="Line 7"/>
          <p:cNvSpPr>
            <a:spLocks noChangeShapeType="1"/>
          </p:cNvSpPr>
          <p:nvPr/>
        </p:nvSpPr>
        <p:spPr bwMode="auto">
          <a:xfrm flipH="1">
            <a:off x="457200" y="304800"/>
            <a:ext cx="8229600" cy="0"/>
          </a:xfrm>
          <a:prstGeom prst="line">
            <a:avLst/>
          </a:prstGeom>
          <a:noFill/>
          <a:ln w="152400">
            <a:solidFill>
              <a:srgbClr val="3399FF"/>
            </a:solidFill>
            <a:round/>
            <a:headEnd/>
            <a:tailEnd/>
          </a:ln>
          <a:effectLst/>
        </p:spPr>
        <p:txBody>
          <a:bodyPr/>
          <a:lstStyle/>
          <a:p>
            <a:endParaRPr lang="en-US"/>
          </a:p>
        </p:txBody>
      </p:sp>
      <p:sp>
        <p:nvSpPr>
          <p:cNvPr id="73736" name="Line 8"/>
          <p:cNvSpPr>
            <a:spLocks noChangeShapeType="1"/>
          </p:cNvSpPr>
          <p:nvPr/>
        </p:nvSpPr>
        <p:spPr bwMode="auto">
          <a:xfrm flipH="1">
            <a:off x="457200" y="1379538"/>
            <a:ext cx="685800" cy="0"/>
          </a:xfrm>
          <a:prstGeom prst="line">
            <a:avLst/>
          </a:prstGeom>
          <a:noFill/>
          <a:ln w="76200">
            <a:solidFill>
              <a:srgbClr val="3399FF"/>
            </a:solidFill>
            <a:round/>
            <a:headEnd/>
            <a:tailEnd/>
          </a:ln>
          <a:effectLst/>
        </p:spPr>
        <p:txBody>
          <a:bodyPr/>
          <a:lstStyle/>
          <a:p>
            <a:endParaRPr lang="en-US"/>
          </a:p>
        </p:txBody>
      </p:sp>
      <p:sp>
        <p:nvSpPr>
          <p:cNvPr id="73737" name="Line 9"/>
          <p:cNvSpPr>
            <a:spLocks noChangeShapeType="1"/>
          </p:cNvSpPr>
          <p:nvPr/>
        </p:nvSpPr>
        <p:spPr bwMode="auto">
          <a:xfrm>
            <a:off x="457200" y="228600"/>
            <a:ext cx="0" cy="1189038"/>
          </a:xfrm>
          <a:prstGeom prst="line">
            <a:avLst/>
          </a:prstGeom>
          <a:noFill/>
          <a:ln w="28575">
            <a:solidFill>
              <a:srgbClr val="3399FF"/>
            </a:solidFill>
            <a:round/>
            <a:headEnd/>
            <a:tailEnd/>
          </a:ln>
          <a:effec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wipe(left)">
                                      <p:cBhvr>
                                        <p:cTn id="7" dur="1000"/>
                                        <p:tgtEl>
                                          <p:spTgt spid="737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31">
                                            <p:txEl>
                                              <p:pRg st="1" end="1"/>
                                            </p:txEl>
                                          </p:spTgt>
                                        </p:tgtEl>
                                        <p:attrNameLst>
                                          <p:attrName>style.visibility</p:attrName>
                                        </p:attrNameLst>
                                      </p:cBhvr>
                                      <p:to>
                                        <p:strVal val="visible"/>
                                      </p:to>
                                    </p:set>
                                    <p:animEffect transition="in" filter="wipe(left)">
                                      <p:cBhvr>
                                        <p:cTn id="12" dur="1000"/>
                                        <p:tgtEl>
                                          <p:spTgt spid="737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731">
                                            <p:txEl>
                                              <p:pRg st="2" end="2"/>
                                            </p:txEl>
                                          </p:spTgt>
                                        </p:tgtEl>
                                        <p:attrNameLst>
                                          <p:attrName>style.visibility</p:attrName>
                                        </p:attrNameLst>
                                      </p:cBhvr>
                                      <p:to>
                                        <p:strVal val="visible"/>
                                      </p:to>
                                    </p:set>
                                    <p:animEffect transition="in" filter="wipe(left)">
                                      <p:cBhvr>
                                        <p:cTn id="17" dur="1000"/>
                                        <p:tgtEl>
                                          <p:spTgt spid="737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bldLvl="3">
        <p:tmplLst>
          <p:tmpl lvl="1">
            <p:tnLst>
              <p:par>
                <p:cTn presetID="22" presetClass="entr" presetSubtype="8" fill="hold" nodeType="clickEffect">
                  <p:stCondLst>
                    <p:cond delay="0"/>
                  </p:stCondLst>
                  <p:childTnLst>
                    <p:set>
                      <p:cBhvr>
                        <p:cTn dur="1" fill="hold">
                          <p:stCondLst>
                            <p:cond delay="0"/>
                          </p:stCondLst>
                        </p:cTn>
                        <p:tgtEl>
                          <p:spTgt spid="73731"/>
                        </p:tgtEl>
                        <p:attrNameLst>
                          <p:attrName>style.visibility</p:attrName>
                        </p:attrNameLst>
                      </p:cBhvr>
                      <p:to>
                        <p:strVal val="visible"/>
                      </p:to>
                    </p:set>
                    <p:animEffect transition="in" filter="wipe(left)">
                      <p:cBhvr>
                        <p:cTn dur="1000"/>
                        <p:tgtEl>
                          <p:spTgt spid="73731"/>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73731"/>
                        </p:tgtEl>
                        <p:attrNameLst>
                          <p:attrName>style.visibility</p:attrName>
                        </p:attrNameLst>
                      </p:cBhvr>
                      <p:to>
                        <p:strVal val="visible"/>
                      </p:to>
                    </p:set>
                    <p:animEffect transition="in" filter="wipe(left)">
                      <p:cBhvr>
                        <p:cTn dur="1000"/>
                        <p:tgtEl>
                          <p:spTgt spid="73731"/>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73731"/>
                        </p:tgtEl>
                        <p:attrNameLst>
                          <p:attrName>style.visibility</p:attrName>
                        </p:attrNameLst>
                      </p:cBhvr>
                      <p:to>
                        <p:strVal val="visible"/>
                      </p:to>
                    </p:set>
                    <p:animEffect transition="in" filter="wipe(left)">
                      <p:cBhvr>
                        <p:cTn dur="1000"/>
                        <p:tgtEl>
                          <p:spTgt spid="73731"/>
                        </p:tgtEl>
                      </p:cBhvr>
                    </p:animEffect>
                  </p:childTnLst>
                </p:cTn>
              </p:par>
            </p:tnLst>
          </p:tmpl>
        </p:tmplLst>
      </p:bldP>
    </p:bldLst>
  </p:timing>
  <p:hf hdr="0" ftr="0" dt="0"/>
  <p:txStyles>
    <p:titleStyle>
      <a:lvl1pPr algn="l" rtl="0" fontAlgn="base">
        <a:spcBef>
          <a:spcPct val="0"/>
        </a:spcBef>
        <a:spcAft>
          <a:spcPct val="0"/>
        </a:spcAft>
        <a:defRPr sz="3200" b="1">
          <a:solidFill>
            <a:srgbClr val="3399FF"/>
          </a:solidFill>
          <a:latin typeface="+mj-lt"/>
          <a:ea typeface="+mj-ea"/>
          <a:cs typeface="+mj-cs"/>
        </a:defRPr>
      </a:lvl1pPr>
      <a:lvl2pPr algn="l" rtl="0" fontAlgn="base">
        <a:spcBef>
          <a:spcPct val="0"/>
        </a:spcBef>
        <a:spcAft>
          <a:spcPct val="0"/>
        </a:spcAft>
        <a:defRPr sz="3200" b="1">
          <a:solidFill>
            <a:srgbClr val="3399FF"/>
          </a:solidFill>
          <a:latin typeface="Arial" charset="0"/>
        </a:defRPr>
      </a:lvl2pPr>
      <a:lvl3pPr algn="l" rtl="0" fontAlgn="base">
        <a:spcBef>
          <a:spcPct val="0"/>
        </a:spcBef>
        <a:spcAft>
          <a:spcPct val="0"/>
        </a:spcAft>
        <a:defRPr sz="3200" b="1">
          <a:solidFill>
            <a:srgbClr val="3399FF"/>
          </a:solidFill>
          <a:latin typeface="Arial" charset="0"/>
        </a:defRPr>
      </a:lvl3pPr>
      <a:lvl4pPr algn="l" rtl="0" fontAlgn="base">
        <a:spcBef>
          <a:spcPct val="0"/>
        </a:spcBef>
        <a:spcAft>
          <a:spcPct val="0"/>
        </a:spcAft>
        <a:defRPr sz="3200" b="1">
          <a:solidFill>
            <a:srgbClr val="3399FF"/>
          </a:solidFill>
          <a:latin typeface="Arial" charset="0"/>
        </a:defRPr>
      </a:lvl4pPr>
      <a:lvl5pPr algn="l" rtl="0" fontAlgn="base">
        <a:spcBef>
          <a:spcPct val="0"/>
        </a:spcBef>
        <a:spcAft>
          <a:spcPct val="0"/>
        </a:spcAft>
        <a:defRPr sz="3200" b="1">
          <a:solidFill>
            <a:srgbClr val="3399FF"/>
          </a:solidFill>
          <a:latin typeface="Arial" charset="0"/>
        </a:defRPr>
      </a:lvl5pPr>
      <a:lvl6pPr marL="457200" algn="l" rtl="0" fontAlgn="base">
        <a:spcBef>
          <a:spcPct val="0"/>
        </a:spcBef>
        <a:spcAft>
          <a:spcPct val="0"/>
        </a:spcAft>
        <a:defRPr sz="3200" b="1">
          <a:solidFill>
            <a:srgbClr val="3399FF"/>
          </a:solidFill>
          <a:latin typeface="Arial" charset="0"/>
        </a:defRPr>
      </a:lvl6pPr>
      <a:lvl7pPr marL="914400" algn="l" rtl="0" fontAlgn="base">
        <a:spcBef>
          <a:spcPct val="0"/>
        </a:spcBef>
        <a:spcAft>
          <a:spcPct val="0"/>
        </a:spcAft>
        <a:defRPr sz="3200" b="1">
          <a:solidFill>
            <a:srgbClr val="3399FF"/>
          </a:solidFill>
          <a:latin typeface="Arial" charset="0"/>
        </a:defRPr>
      </a:lvl7pPr>
      <a:lvl8pPr marL="1371600" algn="l" rtl="0" fontAlgn="base">
        <a:spcBef>
          <a:spcPct val="0"/>
        </a:spcBef>
        <a:spcAft>
          <a:spcPct val="0"/>
        </a:spcAft>
        <a:defRPr sz="3200" b="1">
          <a:solidFill>
            <a:srgbClr val="3399FF"/>
          </a:solidFill>
          <a:latin typeface="Arial" charset="0"/>
        </a:defRPr>
      </a:lvl8pPr>
      <a:lvl9pPr marL="1828800" algn="l" rtl="0" fontAlgn="base">
        <a:spcBef>
          <a:spcPct val="0"/>
        </a:spcBef>
        <a:spcAft>
          <a:spcPct val="0"/>
        </a:spcAft>
        <a:defRPr sz="3200" b="1">
          <a:solidFill>
            <a:srgbClr val="3399FF"/>
          </a:solidFill>
          <a:latin typeface="Arial" charset="0"/>
        </a:defRPr>
      </a:lvl9pPr>
    </p:titleStyle>
    <p:bodyStyle>
      <a:lvl1pPr algn="l" rtl="0" fontAlgn="base">
        <a:spcBef>
          <a:spcPct val="20000"/>
        </a:spcBef>
        <a:spcAft>
          <a:spcPct val="0"/>
        </a:spcAft>
        <a:defRPr sz="2400" b="1">
          <a:solidFill>
            <a:srgbClr val="00A5A8"/>
          </a:solidFill>
          <a:latin typeface="+mn-lt"/>
          <a:ea typeface="+mn-ea"/>
          <a:cs typeface="+mn-cs"/>
        </a:defRPr>
      </a:lvl1pPr>
      <a:lvl2pPr marL="114300" algn="l" rtl="0" fontAlgn="base">
        <a:spcBef>
          <a:spcPct val="20000"/>
        </a:spcBef>
        <a:spcAft>
          <a:spcPct val="20000"/>
        </a:spcAft>
        <a:buClr>
          <a:srgbClr val="FF0000"/>
        </a:buClr>
        <a:buFont typeface="Wingdings" pitchFamily="2" charset="2"/>
        <a:defRPr sz="2400">
          <a:solidFill>
            <a:schemeClr val="tx1"/>
          </a:solidFill>
          <a:latin typeface="+mn-lt"/>
        </a:defRPr>
      </a:lvl2pPr>
      <a:lvl3pPr marL="342900" algn="l" rtl="0" fontAlgn="base">
        <a:spcBef>
          <a:spcPct val="20000"/>
        </a:spcBef>
        <a:spcAft>
          <a:spcPct val="0"/>
        </a:spcAft>
        <a:buChar char="•"/>
        <a:defRPr sz="2000">
          <a:solidFill>
            <a:schemeClr val="tx1"/>
          </a:solidFill>
          <a:latin typeface="+mn-lt"/>
        </a:defRPr>
      </a:lvl3pPr>
      <a:lvl4pPr marL="571500" algn="l" rtl="0" fontAlgn="base">
        <a:spcBef>
          <a:spcPct val="20000"/>
        </a:spcBef>
        <a:spcAft>
          <a:spcPct val="0"/>
        </a:spcAft>
        <a:buChar char="–"/>
        <a:defRPr sz="2000">
          <a:solidFill>
            <a:schemeClr val="tx1"/>
          </a:solidFill>
          <a:latin typeface="Gill Sans MT" pitchFamily="34" charset="0"/>
        </a:defRPr>
      </a:lvl4pPr>
      <a:lvl5pPr marL="742950" algn="l" rtl="0" fontAlgn="base">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bwMode="auto">
          <a:xfrm>
            <a:off x="457200" y="304800"/>
            <a:ext cx="8229600" cy="15541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4755" name="Rectangle 3"/>
          <p:cNvSpPr>
            <a:spLocks noGrp="1" noChangeArrowheads="1"/>
          </p:cNvSpPr>
          <p:nvPr>
            <p:ph type="body" idx="1"/>
          </p:nvPr>
        </p:nvSpPr>
        <p:spPr bwMode="auto">
          <a:xfrm>
            <a:off x="457200" y="1981200"/>
            <a:ext cx="8229600" cy="4144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7475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7475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7475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48F0D0F2-A3BE-40CA-81F3-B93380C91B30}" type="slidenum">
              <a:rPr lang="en-US"/>
              <a:pPr/>
              <a:t>‹#›</a:t>
            </a:fld>
            <a:endParaRPr lang="en-US"/>
          </a:p>
        </p:txBody>
      </p:sp>
      <p:sp>
        <p:nvSpPr>
          <p:cNvPr id="74759" name="Line 7"/>
          <p:cNvSpPr>
            <a:spLocks noChangeShapeType="1"/>
          </p:cNvSpPr>
          <p:nvPr/>
        </p:nvSpPr>
        <p:spPr bwMode="auto">
          <a:xfrm flipH="1">
            <a:off x="457200" y="304800"/>
            <a:ext cx="8229600" cy="0"/>
          </a:xfrm>
          <a:prstGeom prst="line">
            <a:avLst/>
          </a:prstGeom>
          <a:noFill/>
          <a:ln w="152400">
            <a:solidFill>
              <a:srgbClr val="3399FF"/>
            </a:solidFill>
            <a:round/>
            <a:headEnd/>
            <a:tailEnd/>
          </a:ln>
          <a:effectLst/>
        </p:spPr>
        <p:txBody>
          <a:bodyPr/>
          <a:lstStyle/>
          <a:p>
            <a:endParaRPr lang="en-US"/>
          </a:p>
        </p:txBody>
      </p:sp>
      <p:sp>
        <p:nvSpPr>
          <p:cNvPr id="74760" name="Line 8"/>
          <p:cNvSpPr>
            <a:spLocks noChangeShapeType="1"/>
          </p:cNvSpPr>
          <p:nvPr/>
        </p:nvSpPr>
        <p:spPr bwMode="auto">
          <a:xfrm flipH="1">
            <a:off x="457200" y="1828800"/>
            <a:ext cx="685800" cy="0"/>
          </a:xfrm>
          <a:prstGeom prst="line">
            <a:avLst/>
          </a:prstGeom>
          <a:noFill/>
          <a:ln w="76200">
            <a:solidFill>
              <a:srgbClr val="3399FF"/>
            </a:solidFill>
            <a:round/>
            <a:headEnd/>
            <a:tailEnd/>
          </a:ln>
          <a:effectLst/>
        </p:spPr>
        <p:txBody>
          <a:bodyPr/>
          <a:lstStyle/>
          <a:p>
            <a:endParaRPr lang="en-US"/>
          </a:p>
        </p:txBody>
      </p:sp>
      <p:sp>
        <p:nvSpPr>
          <p:cNvPr id="74761" name="Line 9"/>
          <p:cNvSpPr>
            <a:spLocks noChangeShapeType="1"/>
          </p:cNvSpPr>
          <p:nvPr/>
        </p:nvSpPr>
        <p:spPr bwMode="auto">
          <a:xfrm>
            <a:off x="457200" y="228600"/>
            <a:ext cx="0" cy="1600200"/>
          </a:xfrm>
          <a:prstGeom prst="line">
            <a:avLst/>
          </a:prstGeom>
          <a:noFill/>
          <a:ln w="28575">
            <a:solidFill>
              <a:srgbClr val="3399FF"/>
            </a:solidFill>
            <a:round/>
            <a:headEnd/>
            <a:tailEnd/>
          </a:ln>
          <a:effec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wipe(left)">
                                      <p:cBhvr>
                                        <p:cTn id="7" dur="1000"/>
                                        <p:tgtEl>
                                          <p:spTgt spid="747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55">
                                            <p:txEl>
                                              <p:pRg st="1" end="1"/>
                                            </p:txEl>
                                          </p:spTgt>
                                        </p:tgtEl>
                                        <p:attrNameLst>
                                          <p:attrName>style.visibility</p:attrName>
                                        </p:attrNameLst>
                                      </p:cBhvr>
                                      <p:to>
                                        <p:strVal val="visible"/>
                                      </p:to>
                                    </p:set>
                                    <p:animEffect transition="in" filter="wipe(left)">
                                      <p:cBhvr>
                                        <p:cTn id="12" dur="1000"/>
                                        <p:tgtEl>
                                          <p:spTgt spid="747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55">
                                            <p:txEl>
                                              <p:pRg st="2" end="2"/>
                                            </p:txEl>
                                          </p:spTgt>
                                        </p:tgtEl>
                                        <p:attrNameLst>
                                          <p:attrName>style.visibility</p:attrName>
                                        </p:attrNameLst>
                                      </p:cBhvr>
                                      <p:to>
                                        <p:strVal val="visible"/>
                                      </p:to>
                                    </p:set>
                                    <p:animEffect transition="in" filter="wipe(left)">
                                      <p:cBhvr>
                                        <p:cTn id="17" dur="1000"/>
                                        <p:tgtEl>
                                          <p:spTgt spid="747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bldLvl="3">
        <p:tmplLst>
          <p:tmpl lvl="1">
            <p:tnLst>
              <p:par>
                <p:cTn presetID="22" presetClass="entr" presetSubtype="8" fill="hold" nodeType="clickEffect">
                  <p:stCondLst>
                    <p:cond delay="0"/>
                  </p:stCondLst>
                  <p:childTnLst>
                    <p:set>
                      <p:cBhvr>
                        <p:cTn dur="1" fill="hold">
                          <p:stCondLst>
                            <p:cond delay="0"/>
                          </p:stCondLst>
                        </p:cTn>
                        <p:tgtEl>
                          <p:spTgt spid="74755"/>
                        </p:tgtEl>
                        <p:attrNameLst>
                          <p:attrName>style.visibility</p:attrName>
                        </p:attrNameLst>
                      </p:cBhvr>
                      <p:to>
                        <p:strVal val="visible"/>
                      </p:to>
                    </p:set>
                    <p:animEffect transition="in" filter="wipe(left)">
                      <p:cBhvr>
                        <p:cTn dur="1000"/>
                        <p:tgtEl>
                          <p:spTgt spid="74755"/>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74755"/>
                        </p:tgtEl>
                        <p:attrNameLst>
                          <p:attrName>style.visibility</p:attrName>
                        </p:attrNameLst>
                      </p:cBhvr>
                      <p:to>
                        <p:strVal val="visible"/>
                      </p:to>
                    </p:set>
                    <p:animEffect transition="in" filter="wipe(left)">
                      <p:cBhvr>
                        <p:cTn dur="1000"/>
                        <p:tgtEl>
                          <p:spTgt spid="74755"/>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74755"/>
                        </p:tgtEl>
                        <p:attrNameLst>
                          <p:attrName>style.visibility</p:attrName>
                        </p:attrNameLst>
                      </p:cBhvr>
                      <p:to>
                        <p:strVal val="visible"/>
                      </p:to>
                    </p:set>
                    <p:animEffect transition="in" filter="wipe(left)">
                      <p:cBhvr>
                        <p:cTn dur="1000"/>
                        <p:tgtEl>
                          <p:spTgt spid="74755"/>
                        </p:tgtEl>
                      </p:cBhvr>
                    </p:animEffect>
                  </p:childTnLst>
                </p:cTn>
              </p:par>
            </p:tnLst>
          </p:tmpl>
        </p:tmplLst>
      </p:bldP>
    </p:bldLst>
  </p:timing>
  <p:hf hdr="0" ftr="0" dt="0"/>
  <p:txStyles>
    <p:titleStyle>
      <a:lvl1pPr algn="l" rtl="0" fontAlgn="base">
        <a:spcBef>
          <a:spcPct val="0"/>
        </a:spcBef>
        <a:spcAft>
          <a:spcPct val="0"/>
        </a:spcAft>
        <a:defRPr sz="3200" b="1">
          <a:solidFill>
            <a:srgbClr val="3399FF"/>
          </a:solidFill>
          <a:latin typeface="+mj-lt"/>
          <a:ea typeface="+mj-ea"/>
          <a:cs typeface="+mj-cs"/>
        </a:defRPr>
      </a:lvl1pPr>
      <a:lvl2pPr algn="l" rtl="0" fontAlgn="base">
        <a:spcBef>
          <a:spcPct val="0"/>
        </a:spcBef>
        <a:spcAft>
          <a:spcPct val="0"/>
        </a:spcAft>
        <a:defRPr sz="3200" b="1">
          <a:solidFill>
            <a:srgbClr val="3399FF"/>
          </a:solidFill>
          <a:latin typeface="Arial" charset="0"/>
        </a:defRPr>
      </a:lvl2pPr>
      <a:lvl3pPr algn="l" rtl="0" fontAlgn="base">
        <a:spcBef>
          <a:spcPct val="0"/>
        </a:spcBef>
        <a:spcAft>
          <a:spcPct val="0"/>
        </a:spcAft>
        <a:defRPr sz="3200" b="1">
          <a:solidFill>
            <a:srgbClr val="3399FF"/>
          </a:solidFill>
          <a:latin typeface="Arial" charset="0"/>
        </a:defRPr>
      </a:lvl3pPr>
      <a:lvl4pPr algn="l" rtl="0" fontAlgn="base">
        <a:spcBef>
          <a:spcPct val="0"/>
        </a:spcBef>
        <a:spcAft>
          <a:spcPct val="0"/>
        </a:spcAft>
        <a:defRPr sz="3200" b="1">
          <a:solidFill>
            <a:srgbClr val="3399FF"/>
          </a:solidFill>
          <a:latin typeface="Arial" charset="0"/>
        </a:defRPr>
      </a:lvl4pPr>
      <a:lvl5pPr algn="l" rtl="0" fontAlgn="base">
        <a:spcBef>
          <a:spcPct val="0"/>
        </a:spcBef>
        <a:spcAft>
          <a:spcPct val="0"/>
        </a:spcAft>
        <a:defRPr sz="3200" b="1">
          <a:solidFill>
            <a:srgbClr val="3399FF"/>
          </a:solidFill>
          <a:latin typeface="Arial" charset="0"/>
        </a:defRPr>
      </a:lvl5pPr>
      <a:lvl6pPr marL="457200" algn="l" rtl="0" fontAlgn="base">
        <a:spcBef>
          <a:spcPct val="0"/>
        </a:spcBef>
        <a:spcAft>
          <a:spcPct val="0"/>
        </a:spcAft>
        <a:defRPr sz="3200" b="1">
          <a:solidFill>
            <a:srgbClr val="3399FF"/>
          </a:solidFill>
          <a:latin typeface="Arial" charset="0"/>
        </a:defRPr>
      </a:lvl6pPr>
      <a:lvl7pPr marL="914400" algn="l" rtl="0" fontAlgn="base">
        <a:spcBef>
          <a:spcPct val="0"/>
        </a:spcBef>
        <a:spcAft>
          <a:spcPct val="0"/>
        </a:spcAft>
        <a:defRPr sz="3200" b="1">
          <a:solidFill>
            <a:srgbClr val="3399FF"/>
          </a:solidFill>
          <a:latin typeface="Arial" charset="0"/>
        </a:defRPr>
      </a:lvl7pPr>
      <a:lvl8pPr marL="1371600" algn="l" rtl="0" fontAlgn="base">
        <a:spcBef>
          <a:spcPct val="0"/>
        </a:spcBef>
        <a:spcAft>
          <a:spcPct val="0"/>
        </a:spcAft>
        <a:defRPr sz="3200" b="1">
          <a:solidFill>
            <a:srgbClr val="3399FF"/>
          </a:solidFill>
          <a:latin typeface="Arial" charset="0"/>
        </a:defRPr>
      </a:lvl8pPr>
      <a:lvl9pPr marL="1828800" algn="l" rtl="0" fontAlgn="base">
        <a:spcBef>
          <a:spcPct val="0"/>
        </a:spcBef>
        <a:spcAft>
          <a:spcPct val="0"/>
        </a:spcAft>
        <a:defRPr sz="3200" b="1">
          <a:solidFill>
            <a:srgbClr val="3399FF"/>
          </a:solidFill>
          <a:latin typeface="Arial" charset="0"/>
        </a:defRPr>
      </a:lvl9pPr>
    </p:titleStyle>
    <p:bodyStyle>
      <a:lvl1pPr algn="l" rtl="0" fontAlgn="base">
        <a:spcBef>
          <a:spcPct val="20000"/>
        </a:spcBef>
        <a:spcAft>
          <a:spcPct val="0"/>
        </a:spcAft>
        <a:defRPr sz="2400" b="1">
          <a:solidFill>
            <a:srgbClr val="00A5A8"/>
          </a:solidFill>
          <a:latin typeface="+mn-lt"/>
          <a:ea typeface="+mn-ea"/>
          <a:cs typeface="+mn-cs"/>
        </a:defRPr>
      </a:lvl1pPr>
      <a:lvl2pPr marL="114300" algn="l" rtl="0" fontAlgn="base">
        <a:spcBef>
          <a:spcPct val="25000"/>
        </a:spcBef>
        <a:spcAft>
          <a:spcPct val="25000"/>
        </a:spcAft>
        <a:buClr>
          <a:srgbClr val="FF0000"/>
        </a:buClr>
        <a:buFont typeface="Wingdings" pitchFamily="2" charset="2"/>
        <a:defRPr sz="2400">
          <a:solidFill>
            <a:schemeClr val="tx1"/>
          </a:solidFill>
          <a:latin typeface="+mn-lt"/>
        </a:defRPr>
      </a:lvl2pPr>
      <a:lvl3pPr marL="342900" algn="l" rtl="0" fontAlgn="base">
        <a:spcBef>
          <a:spcPct val="20000"/>
        </a:spcBef>
        <a:spcAft>
          <a:spcPct val="0"/>
        </a:spcAft>
        <a:buChar char="•"/>
        <a:defRPr>
          <a:solidFill>
            <a:schemeClr val="tx1"/>
          </a:solidFill>
          <a:latin typeface="+mn-lt"/>
        </a:defRPr>
      </a:lvl3pPr>
      <a:lvl4pPr marL="571500" algn="l" rtl="0" fontAlgn="base">
        <a:spcBef>
          <a:spcPct val="20000"/>
        </a:spcBef>
        <a:spcAft>
          <a:spcPct val="0"/>
        </a:spcAft>
        <a:buChar char="–"/>
        <a:defRPr sz="2000">
          <a:solidFill>
            <a:schemeClr val="tx1"/>
          </a:solidFill>
          <a:latin typeface="Gill Sans MT" pitchFamily="34" charset="0"/>
        </a:defRPr>
      </a:lvl4pPr>
      <a:lvl5pPr marL="742950" algn="l" rtl="0" fontAlgn="base">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5779" name="Rectangle 3"/>
          <p:cNvSpPr>
            <a:spLocks noGrp="1" noChangeArrowheads="1"/>
          </p:cNvSpPr>
          <p:nvPr>
            <p:ph type="body" idx="1"/>
          </p:nvPr>
        </p:nvSpPr>
        <p:spPr bwMode="auto">
          <a:xfrm>
            <a:off x="457200" y="1981200"/>
            <a:ext cx="3887788" cy="4144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7578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7578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7578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2D8A9359-6B61-49F6-A04C-DFFDB3FE1C8D}" type="slidenum">
              <a:rPr lang="en-US"/>
              <a:pPr/>
              <a:t>‹#›</a:t>
            </a:fld>
            <a:endParaRPr lang="en-US"/>
          </a:p>
        </p:txBody>
      </p:sp>
      <p:sp>
        <p:nvSpPr>
          <p:cNvPr id="75786" name="Rectangle 10"/>
          <p:cNvSpPr>
            <a:spLocks noGrp="1" noChangeArrowheads="1"/>
          </p:cNvSpPr>
          <p:nvPr>
            <p:ph type="title"/>
          </p:nvPr>
        </p:nvSpPr>
        <p:spPr bwMode="auto">
          <a:xfrm>
            <a:off x="457200" y="304800"/>
            <a:ext cx="8229600" cy="15541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5787" name="Line 11"/>
          <p:cNvSpPr>
            <a:spLocks noChangeShapeType="1"/>
          </p:cNvSpPr>
          <p:nvPr/>
        </p:nvSpPr>
        <p:spPr bwMode="auto">
          <a:xfrm flipH="1">
            <a:off x="457200" y="304800"/>
            <a:ext cx="8229600" cy="0"/>
          </a:xfrm>
          <a:prstGeom prst="line">
            <a:avLst/>
          </a:prstGeom>
          <a:noFill/>
          <a:ln w="152400">
            <a:solidFill>
              <a:srgbClr val="3399FF"/>
            </a:solidFill>
            <a:round/>
            <a:headEnd/>
            <a:tailEnd/>
          </a:ln>
          <a:effectLst/>
        </p:spPr>
        <p:txBody>
          <a:bodyPr/>
          <a:lstStyle/>
          <a:p>
            <a:endParaRPr lang="en-US"/>
          </a:p>
        </p:txBody>
      </p:sp>
      <p:sp>
        <p:nvSpPr>
          <p:cNvPr id="75788" name="Line 12"/>
          <p:cNvSpPr>
            <a:spLocks noChangeShapeType="1"/>
          </p:cNvSpPr>
          <p:nvPr/>
        </p:nvSpPr>
        <p:spPr bwMode="auto">
          <a:xfrm flipH="1">
            <a:off x="457200" y="1828800"/>
            <a:ext cx="685800" cy="0"/>
          </a:xfrm>
          <a:prstGeom prst="line">
            <a:avLst/>
          </a:prstGeom>
          <a:noFill/>
          <a:ln w="76200">
            <a:solidFill>
              <a:srgbClr val="3399FF"/>
            </a:solidFill>
            <a:round/>
            <a:headEnd/>
            <a:tailEnd/>
          </a:ln>
          <a:effectLst/>
        </p:spPr>
        <p:txBody>
          <a:bodyPr/>
          <a:lstStyle/>
          <a:p>
            <a:endParaRPr lang="en-US"/>
          </a:p>
        </p:txBody>
      </p:sp>
      <p:sp>
        <p:nvSpPr>
          <p:cNvPr id="75789" name="Line 13"/>
          <p:cNvSpPr>
            <a:spLocks noChangeShapeType="1"/>
          </p:cNvSpPr>
          <p:nvPr/>
        </p:nvSpPr>
        <p:spPr bwMode="auto">
          <a:xfrm>
            <a:off x="457200" y="228600"/>
            <a:ext cx="0" cy="1600200"/>
          </a:xfrm>
          <a:prstGeom prst="line">
            <a:avLst/>
          </a:prstGeom>
          <a:noFill/>
          <a:ln w="28575">
            <a:solidFill>
              <a:srgbClr val="3399FF"/>
            </a:solidFill>
            <a:round/>
            <a:headEnd/>
            <a:tailEnd/>
          </a:ln>
          <a:effec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1000"/>
                                        <p:tgtEl>
                                          <p:spTgt spid="75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1000"/>
                                        <p:tgtEl>
                                          <p:spTgt spid="757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wipe(left)">
                                      <p:cBhvr>
                                        <p:cTn id="17" dur="1000"/>
                                        <p:tgtEl>
                                          <p:spTgt spid="757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bldLvl="3">
        <p:tmplLst>
          <p:tmpl lvl="1">
            <p:tnLst>
              <p:par>
                <p:cTn presetID="22" presetClass="entr" presetSubtype="8" fill="hold" nodeType="clickEffect">
                  <p:stCondLst>
                    <p:cond delay="0"/>
                  </p:stCondLst>
                  <p:childTnLst>
                    <p:set>
                      <p:cBhvr>
                        <p:cTn dur="1" fill="hold">
                          <p:stCondLst>
                            <p:cond delay="0"/>
                          </p:stCondLst>
                        </p:cTn>
                        <p:tgtEl>
                          <p:spTgt spid="75779"/>
                        </p:tgtEl>
                        <p:attrNameLst>
                          <p:attrName>style.visibility</p:attrName>
                        </p:attrNameLst>
                      </p:cBhvr>
                      <p:to>
                        <p:strVal val="visible"/>
                      </p:to>
                    </p:set>
                    <p:animEffect transition="in" filter="wipe(left)">
                      <p:cBhvr>
                        <p:cTn dur="1000"/>
                        <p:tgtEl>
                          <p:spTgt spid="75779"/>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75779"/>
                        </p:tgtEl>
                        <p:attrNameLst>
                          <p:attrName>style.visibility</p:attrName>
                        </p:attrNameLst>
                      </p:cBhvr>
                      <p:to>
                        <p:strVal val="visible"/>
                      </p:to>
                    </p:set>
                    <p:animEffect transition="in" filter="wipe(left)">
                      <p:cBhvr>
                        <p:cTn dur="1000"/>
                        <p:tgtEl>
                          <p:spTgt spid="75779"/>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75779"/>
                        </p:tgtEl>
                        <p:attrNameLst>
                          <p:attrName>style.visibility</p:attrName>
                        </p:attrNameLst>
                      </p:cBhvr>
                      <p:to>
                        <p:strVal val="visible"/>
                      </p:to>
                    </p:set>
                    <p:animEffect transition="in" filter="wipe(left)">
                      <p:cBhvr>
                        <p:cTn dur="1000"/>
                        <p:tgtEl>
                          <p:spTgt spid="75779"/>
                        </p:tgtEl>
                      </p:cBhvr>
                    </p:animEffect>
                  </p:childTnLst>
                </p:cTn>
              </p:par>
            </p:tnLst>
          </p:tmpl>
        </p:tmplLst>
      </p:bldP>
    </p:bldLst>
  </p:timing>
  <p:hf hdr="0" ftr="0" dt="0"/>
  <p:txStyles>
    <p:titleStyle>
      <a:lvl1pPr algn="l" rtl="0" fontAlgn="base">
        <a:spcBef>
          <a:spcPct val="0"/>
        </a:spcBef>
        <a:spcAft>
          <a:spcPct val="0"/>
        </a:spcAft>
        <a:defRPr sz="3200" b="1">
          <a:solidFill>
            <a:srgbClr val="3399FF"/>
          </a:solidFill>
          <a:latin typeface="+mj-lt"/>
          <a:ea typeface="+mj-ea"/>
          <a:cs typeface="+mj-cs"/>
        </a:defRPr>
      </a:lvl1pPr>
      <a:lvl2pPr algn="l" rtl="0" fontAlgn="base">
        <a:spcBef>
          <a:spcPct val="0"/>
        </a:spcBef>
        <a:spcAft>
          <a:spcPct val="0"/>
        </a:spcAft>
        <a:defRPr sz="3200" b="1">
          <a:solidFill>
            <a:srgbClr val="3399FF"/>
          </a:solidFill>
          <a:latin typeface="Arial" charset="0"/>
        </a:defRPr>
      </a:lvl2pPr>
      <a:lvl3pPr algn="l" rtl="0" fontAlgn="base">
        <a:spcBef>
          <a:spcPct val="0"/>
        </a:spcBef>
        <a:spcAft>
          <a:spcPct val="0"/>
        </a:spcAft>
        <a:defRPr sz="3200" b="1">
          <a:solidFill>
            <a:srgbClr val="3399FF"/>
          </a:solidFill>
          <a:latin typeface="Arial" charset="0"/>
        </a:defRPr>
      </a:lvl3pPr>
      <a:lvl4pPr algn="l" rtl="0" fontAlgn="base">
        <a:spcBef>
          <a:spcPct val="0"/>
        </a:spcBef>
        <a:spcAft>
          <a:spcPct val="0"/>
        </a:spcAft>
        <a:defRPr sz="3200" b="1">
          <a:solidFill>
            <a:srgbClr val="3399FF"/>
          </a:solidFill>
          <a:latin typeface="Arial" charset="0"/>
        </a:defRPr>
      </a:lvl4pPr>
      <a:lvl5pPr algn="l" rtl="0" fontAlgn="base">
        <a:spcBef>
          <a:spcPct val="0"/>
        </a:spcBef>
        <a:spcAft>
          <a:spcPct val="0"/>
        </a:spcAft>
        <a:defRPr sz="3200" b="1">
          <a:solidFill>
            <a:srgbClr val="3399FF"/>
          </a:solidFill>
          <a:latin typeface="Arial" charset="0"/>
        </a:defRPr>
      </a:lvl5pPr>
      <a:lvl6pPr marL="457200" algn="l" rtl="0" fontAlgn="base">
        <a:spcBef>
          <a:spcPct val="0"/>
        </a:spcBef>
        <a:spcAft>
          <a:spcPct val="0"/>
        </a:spcAft>
        <a:defRPr sz="3200" b="1">
          <a:solidFill>
            <a:srgbClr val="3399FF"/>
          </a:solidFill>
          <a:latin typeface="Arial" charset="0"/>
        </a:defRPr>
      </a:lvl6pPr>
      <a:lvl7pPr marL="914400" algn="l" rtl="0" fontAlgn="base">
        <a:spcBef>
          <a:spcPct val="0"/>
        </a:spcBef>
        <a:spcAft>
          <a:spcPct val="0"/>
        </a:spcAft>
        <a:defRPr sz="3200" b="1">
          <a:solidFill>
            <a:srgbClr val="3399FF"/>
          </a:solidFill>
          <a:latin typeface="Arial" charset="0"/>
        </a:defRPr>
      </a:lvl7pPr>
      <a:lvl8pPr marL="1371600" algn="l" rtl="0" fontAlgn="base">
        <a:spcBef>
          <a:spcPct val="0"/>
        </a:spcBef>
        <a:spcAft>
          <a:spcPct val="0"/>
        </a:spcAft>
        <a:defRPr sz="3200" b="1">
          <a:solidFill>
            <a:srgbClr val="3399FF"/>
          </a:solidFill>
          <a:latin typeface="Arial" charset="0"/>
        </a:defRPr>
      </a:lvl8pPr>
      <a:lvl9pPr marL="1828800" algn="l" rtl="0" fontAlgn="base">
        <a:spcBef>
          <a:spcPct val="0"/>
        </a:spcBef>
        <a:spcAft>
          <a:spcPct val="0"/>
        </a:spcAft>
        <a:defRPr sz="3200" b="1">
          <a:solidFill>
            <a:srgbClr val="3399FF"/>
          </a:solidFill>
          <a:latin typeface="Arial" charset="0"/>
        </a:defRPr>
      </a:lvl9pPr>
    </p:titleStyle>
    <p:bodyStyle>
      <a:lvl1pPr algn="l" rtl="0" fontAlgn="base">
        <a:spcBef>
          <a:spcPct val="20000"/>
        </a:spcBef>
        <a:spcAft>
          <a:spcPct val="0"/>
        </a:spcAft>
        <a:defRPr sz="2400" b="1">
          <a:solidFill>
            <a:srgbClr val="00A5A8"/>
          </a:solidFill>
          <a:latin typeface="+mn-lt"/>
          <a:ea typeface="+mn-ea"/>
          <a:cs typeface="+mn-cs"/>
        </a:defRPr>
      </a:lvl1pPr>
      <a:lvl2pPr marL="114300" algn="l" rtl="0" fontAlgn="base">
        <a:spcBef>
          <a:spcPct val="20000"/>
        </a:spcBef>
        <a:spcAft>
          <a:spcPct val="20000"/>
        </a:spcAft>
        <a:buClr>
          <a:srgbClr val="FF0000"/>
        </a:buClr>
        <a:buFont typeface="Wingdings" pitchFamily="2" charset="2"/>
        <a:defRPr sz="2400">
          <a:solidFill>
            <a:schemeClr val="tx1"/>
          </a:solidFill>
          <a:latin typeface="+mn-lt"/>
        </a:defRPr>
      </a:lvl2pPr>
      <a:lvl3pPr marL="342900" algn="l" rtl="0" fontAlgn="base">
        <a:spcBef>
          <a:spcPct val="20000"/>
        </a:spcBef>
        <a:spcAft>
          <a:spcPct val="0"/>
        </a:spcAft>
        <a:buChar char="•"/>
        <a:defRPr sz="2000">
          <a:solidFill>
            <a:schemeClr val="tx1"/>
          </a:solidFill>
          <a:latin typeface="+mn-lt"/>
        </a:defRPr>
      </a:lvl3pPr>
      <a:lvl4pPr marL="571500" algn="l" rtl="0" fontAlgn="base">
        <a:spcBef>
          <a:spcPct val="20000"/>
        </a:spcBef>
        <a:spcAft>
          <a:spcPct val="0"/>
        </a:spcAft>
        <a:buChar char="–"/>
        <a:defRPr sz="2000">
          <a:solidFill>
            <a:schemeClr val="tx1"/>
          </a:solidFill>
          <a:latin typeface="Gill Sans MT" pitchFamily="34" charset="0"/>
        </a:defRPr>
      </a:lvl4pPr>
      <a:lvl5pPr marL="742950" algn="l" rtl="0" fontAlgn="base">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dt" sz="half" idx="2"/>
          </p:nvPr>
        </p:nvSpPr>
        <p:spPr bwMode="auto">
          <a:xfrm>
            <a:off x="457200" y="625157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endParaRPr lang="en-US"/>
          </a:p>
        </p:txBody>
      </p:sp>
      <p:sp>
        <p:nvSpPr>
          <p:cNvPr id="40963" name="Rectangle 3"/>
          <p:cNvSpPr>
            <a:spLocks noGrp="1" noChangeArrowheads="1"/>
          </p:cNvSpPr>
          <p:nvPr>
            <p:ph type="sldNum" sz="quarter" idx="4"/>
          </p:nvPr>
        </p:nvSpPr>
        <p:spPr bwMode="auto">
          <a:xfrm>
            <a:off x="6553200" y="6248400"/>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fld id="{392FF582-FEC9-4965-8807-D9333D16EC57}" type="slidenum">
              <a:rPr lang="en-US" smtClean="0"/>
              <a:pPr/>
              <a:t>‹#›</a:t>
            </a:fld>
            <a:endParaRPr lang="en-US"/>
          </a:p>
        </p:txBody>
      </p:sp>
      <p:grpSp>
        <p:nvGrpSpPr>
          <p:cNvPr id="2" name="Group 4"/>
          <p:cNvGrpSpPr>
            <a:grpSpLocks/>
          </p:cNvGrpSpPr>
          <p:nvPr/>
        </p:nvGrpSpPr>
        <p:grpSpPr bwMode="auto">
          <a:xfrm>
            <a:off x="0" y="0"/>
            <a:ext cx="9140825" cy="6850063"/>
            <a:chOff x="0" y="0"/>
            <a:chExt cx="5758" cy="4315"/>
          </a:xfrm>
        </p:grpSpPr>
        <p:grpSp>
          <p:nvGrpSpPr>
            <p:cNvPr id="3" name="Group 5"/>
            <p:cNvGrpSpPr>
              <a:grpSpLocks/>
            </p:cNvGrpSpPr>
            <p:nvPr userDrawn="1"/>
          </p:nvGrpSpPr>
          <p:grpSpPr bwMode="auto">
            <a:xfrm>
              <a:off x="1728" y="2230"/>
              <a:ext cx="4027" cy="2085"/>
              <a:chOff x="1728" y="2230"/>
              <a:chExt cx="4027" cy="2085"/>
            </a:xfrm>
          </p:grpSpPr>
          <p:sp>
            <p:nvSpPr>
              <p:cNvPr id="40966" name="Freeform 6"/>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pPr>
                  <a:defRPr/>
                </a:pPr>
                <a:endParaRPr lang="en-US"/>
              </a:p>
            </p:txBody>
          </p:sp>
          <p:sp>
            <p:nvSpPr>
              <p:cNvPr id="40967" name="Freeform 7"/>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pPr>
                  <a:defRPr/>
                </a:pPr>
                <a:endParaRPr lang="en-US"/>
              </a:p>
            </p:txBody>
          </p:sp>
          <p:sp>
            <p:nvSpPr>
              <p:cNvPr id="40968" name="Freeform 8"/>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pPr>
                  <a:defRPr/>
                </a:pPr>
                <a:endParaRPr lang="en-US"/>
              </a:p>
            </p:txBody>
          </p:sp>
          <p:sp>
            <p:nvSpPr>
              <p:cNvPr id="40969" name="Freeform 9"/>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pPr>
                  <a:defRPr/>
                </a:pPr>
                <a:endParaRPr lang="en-US"/>
              </a:p>
            </p:txBody>
          </p:sp>
          <p:sp>
            <p:nvSpPr>
              <p:cNvPr id="40970" name="Freeform 10"/>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pPr>
                  <a:defRPr/>
                </a:pPr>
                <a:endParaRPr lang="en-US"/>
              </a:p>
            </p:txBody>
          </p:sp>
        </p:grpSp>
        <p:sp>
          <p:nvSpPr>
            <p:cNvPr id="40971" name="Freeform 11"/>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pPr>
                <a:defRPr/>
              </a:pPr>
              <a:endParaRPr lang="en-US"/>
            </a:p>
          </p:txBody>
        </p:sp>
        <p:sp>
          <p:nvSpPr>
            <p:cNvPr id="40972" name="Freeform 12"/>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pPr>
                <a:defRPr/>
              </a:pPr>
              <a:endParaRPr lang="en-US"/>
            </a:p>
          </p:txBody>
        </p:sp>
      </p:grpSp>
      <p:sp>
        <p:nvSpPr>
          <p:cNvPr id="40973" name="Rectangle 13"/>
          <p:cNvSpPr>
            <a:spLocks noGrp="1" noRot="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74" name="Rectangle 14"/>
          <p:cNvSpPr>
            <a:spLocks noGrp="1" noChangeArrowheads="1"/>
          </p:cNvSpPr>
          <p:nvPr>
            <p:ph type="ftr" sz="quarter" idx="3"/>
          </p:nvPr>
        </p:nvSpPr>
        <p:spPr bwMode="auto">
          <a:xfrm>
            <a:off x="3124200" y="6248400"/>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smtClean="0">
                <a:latin typeface="Arial" charset="0"/>
              </a:defRPr>
            </a:lvl1pPr>
          </a:lstStyle>
          <a:p>
            <a:endParaRPr lang="en-US"/>
          </a:p>
        </p:txBody>
      </p:sp>
      <p:sp>
        <p:nvSpPr>
          <p:cNvPr id="40975" name="Rectangle 15"/>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2" tx1="lt1" bg2="dk1" tx2="lt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iming>
    <p:tnLst>
      <p:par>
        <p:cTn id="1" dur="indefinite" restart="never" nodeType="tmRoot"/>
      </p:par>
    </p:tnLst>
  </p:timing>
  <p:hf hdr="0" ftr="0" dt="0"/>
  <p:txStyles>
    <p:titleStyle>
      <a:lvl1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2pPr>
      <a:lvl3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3pPr>
      <a:lvl4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4pPr>
      <a:lvl5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5pPr>
      <a:lvl6pPr marL="4572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6pPr>
      <a:lvl7pPr marL="9144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7pPr>
      <a:lvl8pPr marL="13716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8pPr>
      <a:lvl9pPr marL="18288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charset="0"/>
        </a:defRPr>
      </a:lvl9pPr>
    </p:titleStyle>
    <p:bodyStyle>
      <a:lvl1pPr marL="342900" indent="-342900" algn="l" rtl="0" eaLnBrk="1" fontAlgn="base" hangingPunct="1">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1" fontAlgn="base" hangingPunct="1">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1" fontAlgn="base" hangingPunct="1">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6.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46.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46.xml"/><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4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6.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b="0" u="sng" dirty="0" smtClean="0">
                <a:effectLst/>
                <a:latin typeface="Constantia" pitchFamily="18" charset="0"/>
              </a:rPr>
              <a:t>UTILITY &amp; DEMAND</a:t>
            </a:r>
            <a:endParaRPr lang="en-US" b="0" u="sng" dirty="0">
              <a:effectLst/>
              <a:latin typeface="Constantia" pitchFamily="18" charset="0"/>
            </a:endParaRPr>
          </a:p>
        </p:txBody>
      </p:sp>
      <p:sp>
        <p:nvSpPr>
          <p:cNvPr id="3" name="Subtitle 2"/>
          <p:cNvSpPr>
            <a:spLocks noGrp="1"/>
          </p:cNvSpPr>
          <p:nvPr>
            <p:ph type="subTitle" sz="quarter"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lgn="l"/>
            <a:r>
              <a:rPr lang="en-US" dirty="0"/>
              <a:t>Objectives</a:t>
            </a:r>
          </a:p>
        </p:txBody>
      </p:sp>
      <p:sp>
        <p:nvSpPr>
          <p:cNvPr id="403459" name="Rectangle 3"/>
          <p:cNvSpPr>
            <a:spLocks noGrp="1" noChangeArrowheads="1"/>
          </p:cNvSpPr>
          <p:nvPr>
            <p:ph idx="1"/>
          </p:nvPr>
        </p:nvSpPr>
        <p:spPr/>
        <p:txBody>
          <a:bodyPr/>
          <a:lstStyle/>
          <a:p>
            <a:r>
              <a:rPr lang="en-US" dirty="0" smtClean="0">
                <a:solidFill>
                  <a:srgbClr val="FFFF00"/>
                </a:solidFill>
              </a:rPr>
              <a:t>This chapter will help you to:</a:t>
            </a:r>
            <a:endParaRPr lang="en-US" dirty="0">
              <a:solidFill>
                <a:srgbClr val="FFFF00"/>
              </a:solidFill>
            </a:endParaRPr>
          </a:p>
          <a:p>
            <a:pPr marL="347663" lvl="1" indent="-233363">
              <a:buFont typeface="Wingdings" pitchFamily="2" charset="2"/>
              <a:buChar char="§"/>
            </a:pPr>
            <a:r>
              <a:rPr lang="en-US" dirty="0"/>
              <a:t>Describe preferences using the concept of utility and distinguish between total utility and marginal utility</a:t>
            </a:r>
          </a:p>
          <a:p>
            <a:pPr marL="347663" lvl="1" indent="-233363">
              <a:buFont typeface="Wingdings" pitchFamily="2" charset="2"/>
              <a:buChar char="§"/>
            </a:pPr>
            <a:r>
              <a:rPr lang="en-US" dirty="0"/>
              <a:t>Explain the marginal utility theory of consumer choice</a:t>
            </a:r>
          </a:p>
          <a:p>
            <a:pPr marL="347663" lvl="1" indent="-233363">
              <a:buFont typeface="Wingdings" pitchFamily="2" charset="2"/>
              <a:buChar char="§"/>
            </a:pPr>
            <a:r>
              <a:rPr lang="en-US" dirty="0"/>
              <a:t>Use marginal utility theory to predict the effects of changing prices and incomes</a:t>
            </a:r>
          </a:p>
          <a:p>
            <a:pPr marL="347663" lvl="1" indent="-233363">
              <a:buFont typeface="Wingdings" pitchFamily="2" charset="2"/>
              <a:buChar char="§"/>
            </a:pPr>
            <a:r>
              <a:rPr lang="en-US" dirty="0"/>
              <a:t>Explain the paradox of value</a:t>
            </a:r>
          </a:p>
        </p:txBody>
      </p:sp>
      <p:sp>
        <p:nvSpPr>
          <p:cNvPr id="4" name="Slide Number Placeholder 3"/>
          <p:cNvSpPr>
            <a:spLocks noGrp="1"/>
          </p:cNvSpPr>
          <p:nvPr>
            <p:ph type="sldNum" sz="quarter" idx="11"/>
          </p:nvPr>
        </p:nvSpPr>
        <p:spPr/>
        <p:txBody>
          <a:bodyPr/>
          <a:lstStyle/>
          <a:p>
            <a:fld id="{F3965DA4-7A5B-4DE7-81D4-CD720070DD81}" type="slidenum">
              <a:rPr lang="en-US" smtClean="0"/>
              <a:pPr/>
              <a:t>2</a:t>
            </a:fld>
            <a:endParaRPr lang="en-US"/>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pPr algn="l"/>
            <a:r>
              <a:rPr lang="en-US" u="sng" dirty="0"/>
              <a:t>Water, Water, Everywhere</a:t>
            </a:r>
          </a:p>
        </p:txBody>
      </p:sp>
      <p:sp>
        <p:nvSpPr>
          <p:cNvPr id="404483" name="Rectangle 3"/>
          <p:cNvSpPr>
            <a:spLocks noGrp="1" noChangeArrowheads="1"/>
          </p:cNvSpPr>
          <p:nvPr>
            <p:ph idx="1"/>
          </p:nvPr>
        </p:nvSpPr>
        <p:spPr/>
        <p:txBody>
          <a:bodyPr/>
          <a:lstStyle/>
          <a:p>
            <a:pPr lvl="1"/>
            <a:r>
              <a:rPr lang="en-US" sz="3600" dirty="0"/>
              <a:t>Why is water, which is so vital to life, far cheaper than diamonds, which are not essential?</a:t>
            </a:r>
          </a:p>
          <a:p>
            <a:pPr lvl="1"/>
            <a:r>
              <a:rPr lang="en-US" sz="3600" dirty="0"/>
              <a:t>Why is the demand for </a:t>
            </a:r>
            <a:r>
              <a:rPr lang="en-US" sz="3600" dirty="0" smtClean="0"/>
              <a:t>electricity inelastic</a:t>
            </a:r>
            <a:r>
              <a:rPr lang="en-US" sz="3600" dirty="0"/>
              <a:t>, while the demand for PCs is elastic?</a:t>
            </a:r>
          </a:p>
          <a:p>
            <a:pPr lvl="1"/>
            <a:r>
              <a:rPr lang="en-US" sz="3600" dirty="0"/>
              <a:t>This chapter helps you to answer questions such as these.</a:t>
            </a:r>
          </a:p>
        </p:txBody>
      </p:sp>
      <p:sp>
        <p:nvSpPr>
          <p:cNvPr id="4" name="Slide Number Placeholder 3"/>
          <p:cNvSpPr>
            <a:spLocks noGrp="1"/>
          </p:cNvSpPr>
          <p:nvPr>
            <p:ph type="sldNum" sz="quarter" idx="11"/>
          </p:nvPr>
        </p:nvSpPr>
        <p:spPr/>
        <p:txBody>
          <a:bodyPr/>
          <a:lstStyle/>
          <a:p>
            <a:fld id="{F3965DA4-7A5B-4DE7-81D4-CD720070DD81}" type="slidenum">
              <a:rPr lang="en-US" smtClean="0"/>
              <a:pPr/>
              <a:t>3</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404482"/>
                                        </p:tgtEl>
                                        <p:attrNameLst>
                                          <p:attrName>style.visibility</p:attrName>
                                        </p:attrNameLst>
                                      </p:cBhvr>
                                      <p:to>
                                        <p:strVal val="visible"/>
                                      </p:to>
                                    </p:set>
                                    <p:animEffect transition="in" filter="fade">
                                      <p:cBhvr>
                                        <p:cTn id="7" dur="800" decel="100000"/>
                                        <p:tgtEl>
                                          <p:spTgt spid="404482"/>
                                        </p:tgtEl>
                                      </p:cBhvr>
                                    </p:animEffect>
                                    <p:anim calcmode="lin" valueType="num">
                                      <p:cBhvr>
                                        <p:cTn id="8" dur="800" decel="100000" fill="hold"/>
                                        <p:tgtEl>
                                          <p:spTgt spid="404482"/>
                                        </p:tgtEl>
                                        <p:attrNameLst>
                                          <p:attrName>style.rotation</p:attrName>
                                        </p:attrNameLst>
                                      </p:cBhvr>
                                      <p:tavLst>
                                        <p:tav tm="0">
                                          <p:val>
                                            <p:fltVal val="-90"/>
                                          </p:val>
                                        </p:tav>
                                        <p:tav tm="100000">
                                          <p:val>
                                            <p:fltVal val="0"/>
                                          </p:val>
                                        </p:tav>
                                      </p:tavLst>
                                    </p:anim>
                                    <p:anim calcmode="lin" valueType="num">
                                      <p:cBhvr>
                                        <p:cTn id="9" dur="800" decel="100000" fill="hold"/>
                                        <p:tgtEl>
                                          <p:spTgt spid="404482"/>
                                        </p:tgtEl>
                                        <p:attrNameLst>
                                          <p:attrName>ppt_x</p:attrName>
                                        </p:attrNameLst>
                                      </p:cBhvr>
                                      <p:tavLst>
                                        <p:tav tm="0">
                                          <p:val>
                                            <p:strVal val="#ppt_x+0.4"/>
                                          </p:val>
                                        </p:tav>
                                        <p:tav tm="100000">
                                          <p:val>
                                            <p:strVal val="#ppt_x-0.05"/>
                                          </p:val>
                                        </p:tav>
                                      </p:tavLst>
                                    </p:anim>
                                    <p:anim calcmode="lin" valueType="num">
                                      <p:cBhvr>
                                        <p:cTn id="10" dur="800" decel="100000" fill="hold"/>
                                        <p:tgtEl>
                                          <p:spTgt spid="40448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0448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04482"/>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04483">
                                            <p:txEl>
                                              <p:pRg st="0" end="0"/>
                                            </p:txEl>
                                          </p:spTgt>
                                        </p:tgtEl>
                                        <p:attrNameLst>
                                          <p:attrName>style.visibility</p:attrName>
                                        </p:attrNameLst>
                                      </p:cBhvr>
                                      <p:to>
                                        <p:strVal val="visible"/>
                                      </p:to>
                                    </p:set>
                                    <p:animEffect transition="in" filter="fade">
                                      <p:cBhvr>
                                        <p:cTn id="17" dur="800" decel="100000"/>
                                        <p:tgtEl>
                                          <p:spTgt spid="404483">
                                            <p:txEl>
                                              <p:pRg st="0" end="0"/>
                                            </p:txEl>
                                          </p:spTgt>
                                        </p:tgtEl>
                                      </p:cBhvr>
                                    </p:animEffect>
                                    <p:anim calcmode="lin" valueType="num">
                                      <p:cBhvr>
                                        <p:cTn id="18" dur="800" decel="100000" fill="hold"/>
                                        <p:tgtEl>
                                          <p:spTgt spid="404483">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04483">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04483">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04483">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04483">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04483">
                                            <p:txEl>
                                              <p:pRg st="1" end="1"/>
                                            </p:txEl>
                                          </p:spTgt>
                                        </p:tgtEl>
                                        <p:attrNameLst>
                                          <p:attrName>style.visibility</p:attrName>
                                        </p:attrNameLst>
                                      </p:cBhvr>
                                      <p:to>
                                        <p:strVal val="visible"/>
                                      </p:to>
                                    </p:set>
                                    <p:animEffect transition="in" filter="fade">
                                      <p:cBhvr>
                                        <p:cTn id="27" dur="800" decel="100000"/>
                                        <p:tgtEl>
                                          <p:spTgt spid="404483">
                                            <p:txEl>
                                              <p:pRg st="1" end="1"/>
                                            </p:txEl>
                                          </p:spTgt>
                                        </p:tgtEl>
                                      </p:cBhvr>
                                    </p:animEffect>
                                    <p:anim calcmode="lin" valueType="num">
                                      <p:cBhvr>
                                        <p:cTn id="28" dur="800" decel="100000" fill="hold"/>
                                        <p:tgtEl>
                                          <p:spTgt spid="404483">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04483">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04483">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04483">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0448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04483">
                                            <p:txEl>
                                              <p:pRg st="2" end="2"/>
                                            </p:txEl>
                                          </p:spTgt>
                                        </p:tgtEl>
                                        <p:attrNameLst>
                                          <p:attrName>style.visibility</p:attrName>
                                        </p:attrNameLst>
                                      </p:cBhvr>
                                      <p:to>
                                        <p:strVal val="visible"/>
                                      </p:to>
                                    </p:set>
                                    <p:animEffect transition="in" filter="fade">
                                      <p:cBhvr>
                                        <p:cTn id="37" dur="800" decel="100000"/>
                                        <p:tgtEl>
                                          <p:spTgt spid="404483">
                                            <p:txEl>
                                              <p:pRg st="2" end="2"/>
                                            </p:txEl>
                                          </p:spTgt>
                                        </p:tgtEl>
                                      </p:cBhvr>
                                    </p:animEffect>
                                    <p:anim calcmode="lin" valueType="num">
                                      <p:cBhvr>
                                        <p:cTn id="38" dur="800" decel="100000" fill="hold"/>
                                        <p:tgtEl>
                                          <p:spTgt spid="404483">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04483">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04483">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04483">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04483">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457200" y="-76200"/>
            <a:ext cx="8229600" cy="1143000"/>
          </a:xfrm>
        </p:spPr>
        <p:txBody>
          <a:bodyPr/>
          <a:lstStyle/>
          <a:p>
            <a:pPr algn="l"/>
            <a:r>
              <a:rPr lang="en-US" u="sng" dirty="0"/>
              <a:t>Household Consumption Choices</a:t>
            </a:r>
          </a:p>
        </p:txBody>
      </p:sp>
      <p:sp>
        <p:nvSpPr>
          <p:cNvPr id="405507" name="Rectangle 3"/>
          <p:cNvSpPr>
            <a:spLocks noGrp="1" noChangeArrowheads="1"/>
          </p:cNvSpPr>
          <p:nvPr>
            <p:ph idx="1"/>
          </p:nvPr>
        </p:nvSpPr>
        <p:spPr>
          <a:xfrm>
            <a:off x="228600" y="838200"/>
            <a:ext cx="8686800" cy="4525963"/>
          </a:xfrm>
        </p:spPr>
        <p:txBody>
          <a:bodyPr/>
          <a:lstStyle/>
          <a:p>
            <a:pPr lvl="1"/>
            <a:r>
              <a:rPr lang="en-US" dirty="0"/>
              <a:t>A household’s consumption choices are determined by:</a:t>
            </a:r>
          </a:p>
          <a:p>
            <a:pPr lvl="1">
              <a:buFont typeface="Wingdings" pitchFamily="2" charset="2"/>
              <a:buChar char="§"/>
            </a:pPr>
            <a:r>
              <a:rPr lang="en-US" dirty="0"/>
              <a:t> Consumption possibilities</a:t>
            </a:r>
          </a:p>
          <a:p>
            <a:pPr lvl="1">
              <a:buFont typeface="Wingdings" pitchFamily="2" charset="2"/>
              <a:buChar char="§"/>
            </a:pPr>
            <a:r>
              <a:rPr lang="en-US" dirty="0"/>
              <a:t> Preferences</a:t>
            </a:r>
          </a:p>
          <a:p>
            <a:r>
              <a:rPr lang="en-US" dirty="0"/>
              <a:t>Consumption Possibilities</a:t>
            </a:r>
          </a:p>
          <a:p>
            <a:pPr lvl="1"/>
            <a:r>
              <a:rPr lang="en-US" dirty="0"/>
              <a:t>A household’s consumption possibilities are </a:t>
            </a:r>
            <a:r>
              <a:rPr lang="en-US" dirty="0" smtClean="0"/>
              <a:t>constrained (limited) </a:t>
            </a:r>
            <a:r>
              <a:rPr lang="en-US" dirty="0"/>
              <a:t>by its budget and the prices of the goods and services it buys.</a:t>
            </a:r>
          </a:p>
          <a:p>
            <a:pPr lvl="1"/>
            <a:r>
              <a:rPr lang="en-US" dirty="0"/>
              <a:t>A </a:t>
            </a:r>
            <a:r>
              <a:rPr lang="en-US" i="1" dirty="0"/>
              <a:t>budget line</a:t>
            </a:r>
            <a:r>
              <a:rPr lang="en-US" dirty="0"/>
              <a:t> describes the limits to a household’s consumption choices. </a:t>
            </a:r>
            <a:endParaRPr lang="en-US" dirty="0" smtClean="0"/>
          </a:p>
          <a:p>
            <a:pPr lvl="1"/>
            <a:r>
              <a:rPr lang="en-US" dirty="0" smtClean="0"/>
              <a:t>Consider a person’s income is $30 spent on soda and/or movies. The price of soda is $3 and the price of movie ticket is $6. Then:</a:t>
            </a:r>
            <a:endParaRPr lang="en-US" dirty="0"/>
          </a:p>
        </p:txBody>
      </p:sp>
      <p:sp>
        <p:nvSpPr>
          <p:cNvPr id="4" name="Slide Number Placeholder 3"/>
          <p:cNvSpPr>
            <a:spLocks noGrp="1"/>
          </p:cNvSpPr>
          <p:nvPr>
            <p:ph type="sldNum" sz="quarter" idx="11"/>
          </p:nvPr>
        </p:nvSpPr>
        <p:spPr/>
        <p:txBody>
          <a:bodyPr/>
          <a:lstStyle/>
          <a:p>
            <a:fld id="{F3965DA4-7A5B-4DE7-81D4-CD720070DD81}" type="slidenum">
              <a:rPr lang="en-US" smtClean="0"/>
              <a:pPr/>
              <a:t>4</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405506"/>
                                        </p:tgtEl>
                                        <p:attrNameLst>
                                          <p:attrName>style.visibility</p:attrName>
                                        </p:attrNameLst>
                                      </p:cBhvr>
                                      <p:to>
                                        <p:strVal val="visible"/>
                                      </p:to>
                                    </p:set>
                                    <p:animEffect transition="in" filter="fade">
                                      <p:cBhvr>
                                        <p:cTn id="7" dur="800" decel="100000"/>
                                        <p:tgtEl>
                                          <p:spTgt spid="405506"/>
                                        </p:tgtEl>
                                      </p:cBhvr>
                                    </p:animEffect>
                                    <p:anim calcmode="lin" valueType="num">
                                      <p:cBhvr>
                                        <p:cTn id="8" dur="800" decel="100000" fill="hold"/>
                                        <p:tgtEl>
                                          <p:spTgt spid="405506"/>
                                        </p:tgtEl>
                                        <p:attrNameLst>
                                          <p:attrName>style.rotation</p:attrName>
                                        </p:attrNameLst>
                                      </p:cBhvr>
                                      <p:tavLst>
                                        <p:tav tm="0">
                                          <p:val>
                                            <p:fltVal val="-90"/>
                                          </p:val>
                                        </p:tav>
                                        <p:tav tm="100000">
                                          <p:val>
                                            <p:fltVal val="0"/>
                                          </p:val>
                                        </p:tav>
                                      </p:tavLst>
                                    </p:anim>
                                    <p:anim calcmode="lin" valueType="num">
                                      <p:cBhvr>
                                        <p:cTn id="9" dur="800" decel="100000" fill="hold"/>
                                        <p:tgtEl>
                                          <p:spTgt spid="405506"/>
                                        </p:tgtEl>
                                        <p:attrNameLst>
                                          <p:attrName>ppt_x</p:attrName>
                                        </p:attrNameLst>
                                      </p:cBhvr>
                                      <p:tavLst>
                                        <p:tav tm="0">
                                          <p:val>
                                            <p:strVal val="#ppt_x+0.4"/>
                                          </p:val>
                                        </p:tav>
                                        <p:tav tm="100000">
                                          <p:val>
                                            <p:strVal val="#ppt_x-0.05"/>
                                          </p:val>
                                        </p:tav>
                                      </p:tavLst>
                                    </p:anim>
                                    <p:anim calcmode="lin" valueType="num">
                                      <p:cBhvr>
                                        <p:cTn id="10" dur="800" decel="100000" fill="hold"/>
                                        <p:tgtEl>
                                          <p:spTgt spid="40550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0550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05506"/>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05507">
                                            <p:txEl>
                                              <p:pRg st="0" end="0"/>
                                            </p:txEl>
                                          </p:spTgt>
                                        </p:tgtEl>
                                        <p:attrNameLst>
                                          <p:attrName>style.visibility</p:attrName>
                                        </p:attrNameLst>
                                      </p:cBhvr>
                                      <p:to>
                                        <p:strVal val="visible"/>
                                      </p:to>
                                    </p:set>
                                    <p:animEffect transition="in" filter="fade">
                                      <p:cBhvr>
                                        <p:cTn id="17" dur="800" decel="100000"/>
                                        <p:tgtEl>
                                          <p:spTgt spid="405507">
                                            <p:txEl>
                                              <p:pRg st="0" end="0"/>
                                            </p:txEl>
                                          </p:spTgt>
                                        </p:tgtEl>
                                      </p:cBhvr>
                                    </p:animEffect>
                                    <p:anim calcmode="lin" valueType="num">
                                      <p:cBhvr>
                                        <p:cTn id="18" dur="800" decel="100000" fill="hold"/>
                                        <p:tgtEl>
                                          <p:spTgt spid="405507">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05507">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05507">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05507">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0550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05507">
                                            <p:txEl>
                                              <p:pRg st="1" end="1"/>
                                            </p:txEl>
                                          </p:spTgt>
                                        </p:tgtEl>
                                        <p:attrNameLst>
                                          <p:attrName>style.visibility</p:attrName>
                                        </p:attrNameLst>
                                      </p:cBhvr>
                                      <p:to>
                                        <p:strVal val="visible"/>
                                      </p:to>
                                    </p:set>
                                    <p:animEffect transition="in" filter="fade">
                                      <p:cBhvr>
                                        <p:cTn id="27" dur="800" decel="100000"/>
                                        <p:tgtEl>
                                          <p:spTgt spid="405507">
                                            <p:txEl>
                                              <p:pRg st="1" end="1"/>
                                            </p:txEl>
                                          </p:spTgt>
                                        </p:tgtEl>
                                      </p:cBhvr>
                                    </p:animEffect>
                                    <p:anim calcmode="lin" valueType="num">
                                      <p:cBhvr>
                                        <p:cTn id="28" dur="800" decel="100000" fill="hold"/>
                                        <p:tgtEl>
                                          <p:spTgt spid="405507">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05507">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05507">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05507">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05507">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05507">
                                            <p:txEl>
                                              <p:pRg st="2" end="2"/>
                                            </p:txEl>
                                          </p:spTgt>
                                        </p:tgtEl>
                                        <p:attrNameLst>
                                          <p:attrName>style.visibility</p:attrName>
                                        </p:attrNameLst>
                                      </p:cBhvr>
                                      <p:to>
                                        <p:strVal val="visible"/>
                                      </p:to>
                                    </p:set>
                                    <p:animEffect transition="in" filter="fade">
                                      <p:cBhvr>
                                        <p:cTn id="37" dur="800" decel="100000"/>
                                        <p:tgtEl>
                                          <p:spTgt spid="405507">
                                            <p:txEl>
                                              <p:pRg st="2" end="2"/>
                                            </p:txEl>
                                          </p:spTgt>
                                        </p:tgtEl>
                                      </p:cBhvr>
                                    </p:animEffect>
                                    <p:anim calcmode="lin" valueType="num">
                                      <p:cBhvr>
                                        <p:cTn id="38" dur="800" decel="100000" fill="hold"/>
                                        <p:tgtEl>
                                          <p:spTgt spid="405507">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05507">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05507">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05507">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05507">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405507">
                                            <p:txEl>
                                              <p:pRg st="3" end="3"/>
                                            </p:txEl>
                                          </p:spTgt>
                                        </p:tgtEl>
                                        <p:attrNameLst>
                                          <p:attrName>style.visibility</p:attrName>
                                        </p:attrNameLst>
                                      </p:cBhvr>
                                      <p:to>
                                        <p:strVal val="visible"/>
                                      </p:to>
                                    </p:set>
                                    <p:animEffect transition="in" filter="fade">
                                      <p:cBhvr>
                                        <p:cTn id="47" dur="800" decel="100000"/>
                                        <p:tgtEl>
                                          <p:spTgt spid="405507">
                                            <p:txEl>
                                              <p:pRg st="3" end="3"/>
                                            </p:txEl>
                                          </p:spTgt>
                                        </p:tgtEl>
                                      </p:cBhvr>
                                    </p:animEffect>
                                    <p:anim calcmode="lin" valueType="num">
                                      <p:cBhvr>
                                        <p:cTn id="48" dur="800" decel="100000" fill="hold"/>
                                        <p:tgtEl>
                                          <p:spTgt spid="405507">
                                            <p:txEl>
                                              <p:pRg st="3" end="3"/>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405507">
                                            <p:txEl>
                                              <p:pRg st="3" end="3"/>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405507">
                                            <p:txEl>
                                              <p:pRg st="3" end="3"/>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405507">
                                            <p:txEl>
                                              <p:pRg st="3" end="3"/>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405507">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nodeType="clickEffect">
                                  <p:stCondLst>
                                    <p:cond delay="0"/>
                                  </p:stCondLst>
                                  <p:childTnLst>
                                    <p:set>
                                      <p:cBhvr>
                                        <p:cTn id="56" dur="1" fill="hold">
                                          <p:stCondLst>
                                            <p:cond delay="0"/>
                                          </p:stCondLst>
                                        </p:cTn>
                                        <p:tgtEl>
                                          <p:spTgt spid="405507">
                                            <p:txEl>
                                              <p:pRg st="4" end="4"/>
                                            </p:txEl>
                                          </p:spTgt>
                                        </p:tgtEl>
                                        <p:attrNameLst>
                                          <p:attrName>style.visibility</p:attrName>
                                        </p:attrNameLst>
                                      </p:cBhvr>
                                      <p:to>
                                        <p:strVal val="visible"/>
                                      </p:to>
                                    </p:set>
                                    <p:animEffect transition="in" filter="fade">
                                      <p:cBhvr>
                                        <p:cTn id="57" dur="800" decel="100000"/>
                                        <p:tgtEl>
                                          <p:spTgt spid="405507">
                                            <p:txEl>
                                              <p:pRg st="4" end="4"/>
                                            </p:txEl>
                                          </p:spTgt>
                                        </p:tgtEl>
                                      </p:cBhvr>
                                    </p:animEffect>
                                    <p:anim calcmode="lin" valueType="num">
                                      <p:cBhvr>
                                        <p:cTn id="58" dur="800" decel="100000" fill="hold"/>
                                        <p:tgtEl>
                                          <p:spTgt spid="405507">
                                            <p:txEl>
                                              <p:pRg st="4" end="4"/>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405507">
                                            <p:txEl>
                                              <p:pRg st="4" end="4"/>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405507">
                                            <p:txEl>
                                              <p:pRg st="4" end="4"/>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405507">
                                            <p:txEl>
                                              <p:pRg st="4" end="4"/>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405507">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0" presetClass="entr" presetSubtype="0" fill="hold" nodeType="clickEffect">
                                  <p:stCondLst>
                                    <p:cond delay="0"/>
                                  </p:stCondLst>
                                  <p:childTnLst>
                                    <p:set>
                                      <p:cBhvr>
                                        <p:cTn id="66" dur="1" fill="hold">
                                          <p:stCondLst>
                                            <p:cond delay="0"/>
                                          </p:stCondLst>
                                        </p:cTn>
                                        <p:tgtEl>
                                          <p:spTgt spid="405507">
                                            <p:txEl>
                                              <p:pRg st="5" end="5"/>
                                            </p:txEl>
                                          </p:spTgt>
                                        </p:tgtEl>
                                        <p:attrNameLst>
                                          <p:attrName>style.visibility</p:attrName>
                                        </p:attrNameLst>
                                      </p:cBhvr>
                                      <p:to>
                                        <p:strVal val="visible"/>
                                      </p:to>
                                    </p:set>
                                    <p:animEffect transition="in" filter="fade">
                                      <p:cBhvr>
                                        <p:cTn id="67" dur="800" decel="100000"/>
                                        <p:tgtEl>
                                          <p:spTgt spid="405507">
                                            <p:txEl>
                                              <p:pRg st="5" end="5"/>
                                            </p:txEl>
                                          </p:spTgt>
                                        </p:tgtEl>
                                      </p:cBhvr>
                                    </p:animEffect>
                                    <p:anim calcmode="lin" valueType="num">
                                      <p:cBhvr>
                                        <p:cTn id="68" dur="800" decel="100000" fill="hold"/>
                                        <p:tgtEl>
                                          <p:spTgt spid="405507">
                                            <p:txEl>
                                              <p:pRg st="5" end="5"/>
                                            </p:txEl>
                                          </p:spTgt>
                                        </p:tgtEl>
                                        <p:attrNameLst>
                                          <p:attrName>style.rotation</p:attrName>
                                        </p:attrNameLst>
                                      </p:cBhvr>
                                      <p:tavLst>
                                        <p:tav tm="0">
                                          <p:val>
                                            <p:fltVal val="-90"/>
                                          </p:val>
                                        </p:tav>
                                        <p:tav tm="100000">
                                          <p:val>
                                            <p:fltVal val="0"/>
                                          </p:val>
                                        </p:tav>
                                      </p:tavLst>
                                    </p:anim>
                                    <p:anim calcmode="lin" valueType="num">
                                      <p:cBhvr>
                                        <p:cTn id="69" dur="800" decel="100000" fill="hold"/>
                                        <p:tgtEl>
                                          <p:spTgt spid="405507">
                                            <p:txEl>
                                              <p:pRg st="5" end="5"/>
                                            </p:txEl>
                                          </p:spTgt>
                                        </p:tgtEl>
                                        <p:attrNameLst>
                                          <p:attrName>ppt_x</p:attrName>
                                        </p:attrNameLst>
                                      </p:cBhvr>
                                      <p:tavLst>
                                        <p:tav tm="0">
                                          <p:val>
                                            <p:strVal val="#ppt_x+0.4"/>
                                          </p:val>
                                        </p:tav>
                                        <p:tav tm="100000">
                                          <p:val>
                                            <p:strVal val="#ppt_x-0.05"/>
                                          </p:val>
                                        </p:tav>
                                      </p:tavLst>
                                    </p:anim>
                                    <p:anim calcmode="lin" valueType="num">
                                      <p:cBhvr>
                                        <p:cTn id="70" dur="800" decel="100000" fill="hold"/>
                                        <p:tgtEl>
                                          <p:spTgt spid="405507">
                                            <p:txEl>
                                              <p:pRg st="5" end="5"/>
                                            </p:txEl>
                                          </p:spTgt>
                                        </p:tgtEl>
                                        <p:attrNameLst>
                                          <p:attrName>ppt_y</p:attrName>
                                        </p:attrNameLst>
                                      </p:cBhvr>
                                      <p:tavLst>
                                        <p:tav tm="0">
                                          <p:val>
                                            <p:strVal val="#ppt_y-0.4"/>
                                          </p:val>
                                        </p:tav>
                                        <p:tav tm="100000">
                                          <p:val>
                                            <p:strVal val="#ppt_y+0.1"/>
                                          </p:val>
                                        </p:tav>
                                      </p:tavLst>
                                    </p:anim>
                                    <p:anim calcmode="lin" valueType="num">
                                      <p:cBhvr>
                                        <p:cTn id="71" dur="200" accel="100000" fill="hold">
                                          <p:stCondLst>
                                            <p:cond delay="800"/>
                                          </p:stCondLst>
                                        </p:cTn>
                                        <p:tgtEl>
                                          <p:spTgt spid="405507">
                                            <p:txEl>
                                              <p:pRg st="5" end="5"/>
                                            </p:txEl>
                                          </p:spTgt>
                                        </p:tgtEl>
                                        <p:attrNameLst>
                                          <p:attrName>ppt_x</p:attrName>
                                        </p:attrNameLst>
                                      </p:cBhvr>
                                      <p:tavLst>
                                        <p:tav tm="0">
                                          <p:val>
                                            <p:strVal val="#ppt_x-0.05"/>
                                          </p:val>
                                        </p:tav>
                                        <p:tav tm="100000">
                                          <p:val>
                                            <p:strVal val="#ppt_x"/>
                                          </p:val>
                                        </p:tav>
                                      </p:tavLst>
                                    </p:anim>
                                    <p:anim calcmode="lin" valueType="num">
                                      <p:cBhvr>
                                        <p:cTn id="72" dur="200" accel="100000" fill="hold">
                                          <p:stCondLst>
                                            <p:cond delay="800"/>
                                          </p:stCondLst>
                                        </p:cTn>
                                        <p:tgtEl>
                                          <p:spTgt spid="405507">
                                            <p:txEl>
                                              <p:pRg st="5" end="5"/>
                                            </p:txEl>
                                          </p:spTgt>
                                        </p:tgtEl>
                                        <p:attrNameLst>
                                          <p:attrName>ppt_y</p:attrName>
                                        </p:attrNameLst>
                                      </p:cBhvr>
                                      <p:tavLst>
                                        <p:tav tm="0">
                                          <p:val>
                                            <p:strVal val="#ppt_y+0.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30" presetClass="entr" presetSubtype="0" fill="hold" nodeType="clickEffect">
                                  <p:stCondLst>
                                    <p:cond delay="0"/>
                                  </p:stCondLst>
                                  <p:childTnLst>
                                    <p:set>
                                      <p:cBhvr>
                                        <p:cTn id="76" dur="1" fill="hold">
                                          <p:stCondLst>
                                            <p:cond delay="0"/>
                                          </p:stCondLst>
                                        </p:cTn>
                                        <p:tgtEl>
                                          <p:spTgt spid="405507">
                                            <p:txEl>
                                              <p:pRg st="6" end="6"/>
                                            </p:txEl>
                                          </p:spTgt>
                                        </p:tgtEl>
                                        <p:attrNameLst>
                                          <p:attrName>style.visibility</p:attrName>
                                        </p:attrNameLst>
                                      </p:cBhvr>
                                      <p:to>
                                        <p:strVal val="visible"/>
                                      </p:to>
                                    </p:set>
                                    <p:animEffect transition="in" filter="fade">
                                      <p:cBhvr>
                                        <p:cTn id="77" dur="800" decel="100000"/>
                                        <p:tgtEl>
                                          <p:spTgt spid="405507">
                                            <p:txEl>
                                              <p:pRg st="6" end="6"/>
                                            </p:txEl>
                                          </p:spTgt>
                                        </p:tgtEl>
                                      </p:cBhvr>
                                    </p:animEffect>
                                    <p:anim calcmode="lin" valueType="num">
                                      <p:cBhvr>
                                        <p:cTn id="78" dur="800" decel="100000" fill="hold"/>
                                        <p:tgtEl>
                                          <p:spTgt spid="405507">
                                            <p:txEl>
                                              <p:pRg st="6" end="6"/>
                                            </p:txEl>
                                          </p:spTgt>
                                        </p:tgtEl>
                                        <p:attrNameLst>
                                          <p:attrName>style.rotation</p:attrName>
                                        </p:attrNameLst>
                                      </p:cBhvr>
                                      <p:tavLst>
                                        <p:tav tm="0">
                                          <p:val>
                                            <p:fltVal val="-90"/>
                                          </p:val>
                                        </p:tav>
                                        <p:tav tm="100000">
                                          <p:val>
                                            <p:fltVal val="0"/>
                                          </p:val>
                                        </p:tav>
                                      </p:tavLst>
                                    </p:anim>
                                    <p:anim calcmode="lin" valueType="num">
                                      <p:cBhvr>
                                        <p:cTn id="79" dur="800" decel="100000" fill="hold"/>
                                        <p:tgtEl>
                                          <p:spTgt spid="405507">
                                            <p:txEl>
                                              <p:pRg st="6" end="6"/>
                                            </p:txEl>
                                          </p:spTgt>
                                        </p:tgtEl>
                                        <p:attrNameLst>
                                          <p:attrName>ppt_x</p:attrName>
                                        </p:attrNameLst>
                                      </p:cBhvr>
                                      <p:tavLst>
                                        <p:tav tm="0">
                                          <p:val>
                                            <p:strVal val="#ppt_x+0.4"/>
                                          </p:val>
                                        </p:tav>
                                        <p:tav tm="100000">
                                          <p:val>
                                            <p:strVal val="#ppt_x-0.05"/>
                                          </p:val>
                                        </p:tav>
                                      </p:tavLst>
                                    </p:anim>
                                    <p:anim calcmode="lin" valueType="num">
                                      <p:cBhvr>
                                        <p:cTn id="80" dur="800" decel="100000" fill="hold"/>
                                        <p:tgtEl>
                                          <p:spTgt spid="405507">
                                            <p:txEl>
                                              <p:pRg st="6" end="6"/>
                                            </p:txEl>
                                          </p:spTgt>
                                        </p:tgtEl>
                                        <p:attrNameLst>
                                          <p:attrName>ppt_y</p:attrName>
                                        </p:attrNameLst>
                                      </p:cBhvr>
                                      <p:tavLst>
                                        <p:tav tm="0">
                                          <p:val>
                                            <p:strVal val="#ppt_y-0.4"/>
                                          </p:val>
                                        </p:tav>
                                        <p:tav tm="100000">
                                          <p:val>
                                            <p:strVal val="#ppt_y+0.1"/>
                                          </p:val>
                                        </p:tav>
                                      </p:tavLst>
                                    </p:anim>
                                    <p:anim calcmode="lin" valueType="num">
                                      <p:cBhvr>
                                        <p:cTn id="81" dur="200" accel="100000" fill="hold">
                                          <p:stCondLst>
                                            <p:cond delay="800"/>
                                          </p:stCondLst>
                                        </p:cTn>
                                        <p:tgtEl>
                                          <p:spTgt spid="405507">
                                            <p:txEl>
                                              <p:pRg st="6" end="6"/>
                                            </p:txEl>
                                          </p:spTgt>
                                        </p:tgtEl>
                                        <p:attrNameLst>
                                          <p:attrName>ppt_x</p:attrName>
                                        </p:attrNameLst>
                                      </p:cBhvr>
                                      <p:tavLst>
                                        <p:tav tm="0">
                                          <p:val>
                                            <p:strVal val="#ppt_x-0.05"/>
                                          </p:val>
                                        </p:tav>
                                        <p:tav tm="100000">
                                          <p:val>
                                            <p:strVal val="#ppt_x"/>
                                          </p:val>
                                        </p:tav>
                                      </p:tavLst>
                                    </p:anim>
                                    <p:anim calcmode="lin" valueType="num">
                                      <p:cBhvr>
                                        <p:cTn id="82" dur="200" accel="100000" fill="hold">
                                          <p:stCondLst>
                                            <p:cond delay="800"/>
                                          </p:stCondLst>
                                        </p:cTn>
                                        <p:tgtEl>
                                          <p:spTgt spid="405507">
                                            <p:txEl>
                                              <p:pRg st="6" end="6"/>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a:xfrm>
            <a:off x="457200" y="274638"/>
            <a:ext cx="8458200" cy="1143000"/>
          </a:xfrm>
        </p:spPr>
        <p:txBody>
          <a:bodyPr/>
          <a:lstStyle/>
          <a:p>
            <a:pPr algn="l"/>
            <a:r>
              <a:rPr lang="en-US" dirty="0" smtClean="0">
                <a:effectLst/>
              </a:rPr>
              <a:t>(Cont.)</a:t>
            </a:r>
            <a:endParaRPr lang="en-US" dirty="0">
              <a:effectLst/>
            </a:endParaRPr>
          </a:p>
        </p:txBody>
      </p:sp>
      <p:sp>
        <p:nvSpPr>
          <p:cNvPr id="11" name="Slide Number Placeholder 10"/>
          <p:cNvSpPr>
            <a:spLocks noGrp="1"/>
          </p:cNvSpPr>
          <p:nvPr>
            <p:ph type="sldNum" sz="quarter" idx="11"/>
          </p:nvPr>
        </p:nvSpPr>
        <p:spPr/>
        <p:txBody>
          <a:bodyPr/>
          <a:lstStyle/>
          <a:p>
            <a:fld id="{ABE96090-50D5-425C-B1EF-183FF710AA20}" type="slidenum">
              <a:rPr lang="en-US" smtClean="0"/>
              <a:pPr/>
              <a:t>5</a:t>
            </a:fld>
            <a:endParaRPr lang="en-US"/>
          </a:p>
        </p:txBody>
      </p:sp>
      <p:pic>
        <p:nvPicPr>
          <p:cNvPr id="423940" name="Picture 4" descr="Fig07"/>
          <p:cNvPicPr>
            <a:picLocks noChangeAspect="1" noChangeArrowheads="1"/>
          </p:cNvPicPr>
          <p:nvPr/>
        </p:nvPicPr>
        <p:blipFill>
          <a:blip r:embed="rId3" cstate="print"/>
          <a:srcRect/>
          <a:stretch>
            <a:fillRect/>
          </a:stretch>
        </p:blipFill>
        <p:spPr bwMode="auto">
          <a:xfrm>
            <a:off x="5029200" y="1981200"/>
            <a:ext cx="3619500" cy="3867150"/>
          </a:xfrm>
          <a:prstGeom prst="rect">
            <a:avLst/>
          </a:prstGeom>
          <a:noFill/>
        </p:spPr>
      </p:pic>
      <p:pic>
        <p:nvPicPr>
          <p:cNvPr id="423941" name="Picture 5" descr="Fig07"/>
          <p:cNvPicPr>
            <a:picLocks noChangeAspect="1" noChangeArrowheads="1"/>
          </p:cNvPicPr>
          <p:nvPr/>
        </p:nvPicPr>
        <p:blipFill>
          <a:blip r:embed="rId4" cstate="print"/>
          <a:srcRect/>
          <a:stretch>
            <a:fillRect/>
          </a:stretch>
        </p:blipFill>
        <p:spPr bwMode="auto">
          <a:xfrm>
            <a:off x="5029200" y="1981200"/>
            <a:ext cx="3619500" cy="3867150"/>
          </a:xfrm>
          <a:prstGeom prst="rect">
            <a:avLst/>
          </a:prstGeom>
          <a:noFill/>
        </p:spPr>
      </p:pic>
      <p:pic>
        <p:nvPicPr>
          <p:cNvPr id="423942" name="Picture 6" descr="Fig07"/>
          <p:cNvPicPr>
            <a:picLocks noChangeAspect="1" noChangeArrowheads="1"/>
          </p:cNvPicPr>
          <p:nvPr/>
        </p:nvPicPr>
        <p:blipFill>
          <a:blip r:embed="rId5" cstate="print"/>
          <a:srcRect/>
          <a:stretch>
            <a:fillRect/>
          </a:stretch>
        </p:blipFill>
        <p:spPr bwMode="auto">
          <a:xfrm>
            <a:off x="5029200" y="1981200"/>
            <a:ext cx="3619500" cy="3867150"/>
          </a:xfrm>
          <a:prstGeom prst="rect">
            <a:avLst/>
          </a:prstGeom>
          <a:noFill/>
        </p:spPr>
      </p:pic>
      <p:pic>
        <p:nvPicPr>
          <p:cNvPr id="423943" name="Picture 7" descr="Fig07"/>
          <p:cNvPicPr>
            <a:picLocks noChangeAspect="1" noChangeArrowheads="1"/>
          </p:cNvPicPr>
          <p:nvPr/>
        </p:nvPicPr>
        <p:blipFill>
          <a:blip r:embed="rId6" cstate="print"/>
          <a:srcRect/>
          <a:stretch>
            <a:fillRect/>
          </a:stretch>
        </p:blipFill>
        <p:spPr bwMode="auto">
          <a:xfrm>
            <a:off x="5029200" y="1981200"/>
            <a:ext cx="3619500" cy="3867150"/>
          </a:xfrm>
          <a:prstGeom prst="rect">
            <a:avLst/>
          </a:prstGeom>
          <a:noFill/>
        </p:spPr>
      </p:pic>
      <p:pic>
        <p:nvPicPr>
          <p:cNvPr id="423944" name="Picture 8" descr="Fig07"/>
          <p:cNvPicPr>
            <a:picLocks noChangeAspect="1" noChangeArrowheads="1"/>
          </p:cNvPicPr>
          <p:nvPr/>
        </p:nvPicPr>
        <p:blipFill>
          <a:blip r:embed="rId7" cstate="print"/>
          <a:srcRect/>
          <a:stretch>
            <a:fillRect/>
          </a:stretch>
        </p:blipFill>
        <p:spPr bwMode="auto">
          <a:xfrm>
            <a:off x="5029200" y="1981200"/>
            <a:ext cx="3619500" cy="3867150"/>
          </a:xfrm>
          <a:prstGeom prst="rect">
            <a:avLst/>
          </a:prstGeom>
          <a:noFill/>
        </p:spPr>
      </p:pic>
      <p:sp>
        <p:nvSpPr>
          <p:cNvPr id="423945" name="Rectangle 9"/>
          <p:cNvSpPr>
            <a:spLocks noChangeArrowheads="1"/>
          </p:cNvSpPr>
          <p:nvPr/>
        </p:nvSpPr>
        <p:spPr bwMode="auto">
          <a:xfrm>
            <a:off x="457200" y="1905000"/>
            <a:ext cx="4038600" cy="1295400"/>
          </a:xfrm>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3200" dirty="0">
                <a:latin typeface="+mn-lt"/>
              </a:rPr>
              <a:t>The household can afford all the points on or below the budget line.</a:t>
            </a:r>
          </a:p>
        </p:txBody>
      </p:sp>
      <p:sp>
        <p:nvSpPr>
          <p:cNvPr id="423946" name="Rectangle 10"/>
          <p:cNvSpPr>
            <a:spLocks noChangeArrowheads="1"/>
          </p:cNvSpPr>
          <p:nvPr/>
        </p:nvSpPr>
        <p:spPr bwMode="auto">
          <a:xfrm>
            <a:off x="457200" y="3962400"/>
            <a:ext cx="4038600" cy="1295400"/>
          </a:xfrm>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3200" dirty="0">
                <a:latin typeface="+mn-lt"/>
              </a:rPr>
              <a:t>The household cannot afford the points beyond the budget line.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23941"/>
                                        </p:tgtEl>
                                        <p:attrNameLst>
                                          <p:attrName>style.visibility</p:attrName>
                                        </p:attrNameLst>
                                      </p:cBhvr>
                                      <p:to>
                                        <p:strVal val="visible"/>
                                      </p:to>
                                    </p:set>
                                    <p:animEffect transition="in" filter="wipe(left)">
                                      <p:cBhvr>
                                        <p:cTn id="7" dur="500"/>
                                        <p:tgtEl>
                                          <p:spTgt spid="42394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23942"/>
                                        </p:tgtEl>
                                        <p:attrNameLst>
                                          <p:attrName>style.visibility</p:attrName>
                                        </p:attrNameLst>
                                      </p:cBhvr>
                                      <p:to>
                                        <p:strVal val="visible"/>
                                      </p:to>
                                    </p:set>
                                    <p:animEffect transition="in" filter="wipe(left)">
                                      <p:cBhvr>
                                        <p:cTn id="11" dur="500"/>
                                        <p:tgtEl>
                                          <p:spTgt spid="42394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23945"/>
                                        </p:tgtEl>
                                        <p:attrNameLst>
                                          <p:attrName>style.visibility</p:attrName>
                                        </p:attrNameLst>
                                      </p:cBhvr>
                                      <p:to>
                                        <p:strVal val="visible"/>
                                      </p:to>
                                    </p:set>
                                    <p:animEffect transition="in" filter="wipe(left)">
                                      <p:cBhvr>
                                        <p:cTn id="16" dur="1000"/>
                                        <p:tgtEl>
                                          <p:spTgt spid="423945"/>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423943"/>
                                        </p:tgtEl>
                                        <p:attrNameLst>
                                          <p:attrName>style.visibility</p:attrName>
                                        </p:attrNameLst>
                                      </p:cBhvr>
                                      <p:to>
                                        <p:strVal val="visible"/>
                                      </p:to>
                                    </p:set>
                                    <p:animEffect transition="in" filter="wipe(left)">
                                      <p:cBhvr>
                                        <p:cTn id="20" dur="500"/>
                                        <p:tgtEl>
                                          <p:spTgt spid="42394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23946"/>
                                        </p:tgtEl>
                                        <p:attrNameLst>
                                          <p:attrName>style.visibility</p:attrName>
                                        </p:attrNameLst>
                                      </p:cBhvr>
                                      <p:to>
                                        <p:strVal val="visible"/>
                                      </p:to>
                                    </p:set>
                                    <p:animEffect transition="in" filter="wipe(left)">
                                      <p:cBhvr>
                                        <p:cTn id="25" dur="1000"/>
                                        <p:tgtEl>
                                          <p:spTgt spid="423946"/>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423944"/>
                                        </p:tgtEl>
                                        <p:attrNameLst>
                                          <p:attrName>style.visibility</p:attrName>
                                        </p:attrNameLst>
                                      </p:cBhvr>
                                      <p:to>
                                        <p:strVal val="visible"/>
                                      </p:to>
                                    </p:set>
                                    <p:animEffect transition="in" filter="wipe(left)">
                                      <p:cBhvr>
                                        <p:cTn id="29" dur="2000"/>
                                        <p:tgtEl>
                                          <p:spTgt spid="423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45" grpId="0"/>
      <p:bldP spid="4239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a:xfrm>
            <a:off x="457200" y="274638"/>
            <a:ext cx="8382000" cy="1143000"/>
          </a:xfrm>
        </p:spPr>
        <p:txBody>
          <a:bodyPr/>
          <a:lstStyle/>
          <a:p>
            <a:pPr algn="l"/>
            <a:r>
              <a:rPr lang="en-US" dirty="0" smtClean="0">
                <a:effectLst/>
              </a:rPr>
              <a:t>(Cont.)</a:t>
            </a:r>
            <a:endParaRPr lang="en-US" dirty="0">
              <a:effectLst/>
            </a:endParaRPr>
          </a:p>
        </p:txBody>
      </p:sp>
      <p:sp>
        <p:nvSpPr>
          <p:cNvPr id="409603" name="Rectangle 3"/>
          <p:cNvSpPr>
            <a:spLocks noGrp="1" noChangeArrowheads="1"/>
          </p:cNvSpPr>
          <p:nvPr>
            <p:ph idx="1"/>
          </p:nvPr>
        </p:nvSpPr>
        <p:spPr/>
        <p:txBody>
          <a:bodyPr/>
          <a:lstStyle/>
          <a:p>
            <a:r>
              <a:rPr lang="en-US" dirty="0"/>
              <a:t>Preferences</a:t>
            </a:r>
          </a:p>
          <a:p>
            <a:pPr lvl="1"/>
            <a:r>
              <a:rPr lang="en-US" dirty="0"/>
              <a:t>A household’s preferences determine the benefits or satisfaction a person receives </a:t>
            </a:r>
            <a:r>
              <a:rPr lang="en-US" dirty="0" smtClean="0"/>
              <a:t>from consuming </a:t>
            </a:r>
            <a:r>
              <a:rPr lang="en-US" dirty="0"/>
              <a:t>a good or service. </a:t>
            </a:r>
          </a:p>
          <a:p>
            <a:pPr lvl="1"/>
            <a:r>
              <a:rPr lang="en-US" dirty="0"/>
              <a:t>The benefit or satisfaction from consuming a good or service is called </a:t>
            </a:r>
            <a:r>
              <a:rPr lang="en-US" b="1" dirty="0">
                <a:solidFill>
                  <a:srgbClr val="FFFF00"/>
                </a:solidFill>
              </a:rPr>
              <a:t>utility</a:t>
            </a:r>
            <a:r>
              <a:rPr lang="en-US" dirty="0"/>
              <a:t>.</a:t>
            </a:r>
          </a:p>
          <a:p>
            <a:r>
              <a:rPr lang="en-US" dirty="0"/>
              <a:t>Total Utility</a:t>
            </a:r>
          </a:p>
          <a:p>
            <a:pPr lvl="1"/>
            <a:r>
              <a:rPr lang="en-US" b="1" dirty="0">
                <a:solidFill>
                  <a:srgbClr val="FFFF00"/>
                </a:solidFill>
              </a:rPr>
              <a:t>Total utility</a:t>
            </a:r>
            <a:r>
              <a:rPr lang="en-US" dirty="0">
                <a:solidFill>
                  <a:srgbClr val="FFFF00"/>
                </a:solidFill>
              </a:rPr>
              <a:t> </a:t>
            </a:r>
            <a:r>
              <a:rPr lang="en-US" dirty="0"/>
              <a:t>is the total benefit a person gets from the consumption of goods. Generally, more consumption gives more utility. </a:t>
            </a:r>
          </a:p>
        </p:txBody>
      </p:sp>
      <p:sp>
        <p:nvSpPr>
          <p:cNvPr id="4" name="Slide Number Placeholder 3"/>
          <p:cNvSpPr>
            <a:spLocks noGrp="1"/>
          </p:cNvSpPr>
          <p:nvPr>
            <p:ph type="sldNum" sz="quarter" idx="11"/>
          </p:nvPr>
        </p:nvSpPr>
        <p:spPr/>
        <p:txBody>
          <a:bodyPr/>
          <a:lstStyle/>
          <a:p>
            <a:fld id="{F3965DA4-7A5B-4DE7-81D4-CD720070DD81}" type="slidenum">
              <a:rPr lang="en-US" smtClean="0"/>
              <a:pPr/>
              <a:t>6</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09603">
                                            <p:txEl>
                                              <p:pRg st="0" end="0"/>
                                            </p:txEl>
                                          </p:spTgt>
                                        </p:tgtEl>
                                        <p:attrNameLst>
                                          <p:attrName>style.visibility</p:attrName>
                                        </p:attrNameLst>
                                      </p:cBhvr>
                                      <p:to>
                                        <p:strVal val="visible"/>
                                      </p:to>
                                    </p:set>
                                    <p:animEffect transition="in" filter="fade">
                                      <p:cBhvr>
                                        <p:cTn id="7" dur="800" decel="100000"/>
                                        <p:tgtEl>
                                          <p:spTgt spid="409603">
                                            <p:txEl>
                                              <p:pRg st="0" end="0"/>
                                            </p:txEl>
                                          </p:spTgt>
                                        </p:tgtEl>
                                      </p:cBhvr>
                                    </p:animEffect>
                                    <p:anim calcmode="lin" valueType="num">
                                      <p:cBhvr>
                                        <p:cTn id="8" dur="800" decel="100000" fill="hold"/>
                                        <p:tgtEl>
                                          <p:spTgt spid="409603">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09603">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09603">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09603">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09603">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09603">
                                            <p:txEl>
                                              <p:pRg st="1" end="1"/>
                                            </p:txEl>
                                          </p:spTgt>
                                        </p:tgtEl>
                                        <p:attrNameLst>
                                          <p:attrName>style.visibility</p:attrName>
                                        </p:attrNameLst>
                                      </p:cBhvr>
                                      <p:to>
                                        <p:strVal val="visible"/>
                                      </p:to>
                                    </p:set>
                                    <p:animEffect transition="in" filter="fade">
                                      <p:cBhvr>
                                        <p:cTn id="17" dur="800" decel="100000"/>
                                        <p:tgtEl>
                                          <p:spTgt spid="409603">
                                            <p:txEl>
                                              <p:pRg st="1" end="1"/>
                                            </p:txEl>
                                          </p:spTgt>
                                        </p:tgtEl>
                                      </p:cBhvr>
                                    </p:animEffect>
                                    <p:anim calcmode="lin" valueType="num">
                                      <p:cBhvr>
                                        <p:cTn id="18" dur="800" decel="100000" fill="hold"/>
                                        <p:tgtEl>
                                          <p:spTgt spid="409603">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09603">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09603">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09603">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0960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09603">
                                            <p:txEl>
                                              <p:pRg st="2" end="2"/>
                                            </p:txEl>
                                          </p:spTgt>
                                        </p:tgtEl>
                                        <p:attrNameLst>
                                          <p:attrName>style.visibility</p:attrName>
                                        </p:attrNameLst>
                                      </p:cBhvr>
                                      <p:to>
                                        <p:strVal val="visible"/>
                                      </p:to>
                                    </p:set>
                                    <p:animEffect transition="in" filter="fade">
                                      <p:cBhvr>
                                        <p:cTn id="27" dur="800" decel="100000"/>
                                        <p:tgtEl>
                                          <p:spTgt spid="409603">
                                            <p:txEl>
                                              <p:pRg st="2" end="2"/>
                                            </p:txEl>
                                          </p:spTgt>
                                        </p:tgtEl>
                                      </p:cBhvr>
                                    </p:animEffect>
                                    <p:anim calcmode="lin" valueType="num">
                                      <p:cBhvr>
                                        <p:cTn id="28" dur="800" decel="100000" fill="hold"/>
                                        <p:tgtEl>
                                          <p:spTgt spid="409603">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09603">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09603">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09603">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09603">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09603">
                                            <p:txEl>
                                              <p:pRg st="3" end="3"/>
                                            </p:txEl>
                                          </p:spTgt>
                                        </p:tgtEl>
                                        <p:attrNameLst>
                                          <p:attrName>style.visibility</p:attrName>
                                        </p:attrNameLst>
                                      </p:cBhvr>
                                      <p:to>
                                        <p:strVal val="visible"/>
                                      </p:to>
                                    </p:set>
                                    <p:animEffect transition="in" filter="fade">
                                      <p:cBhvr>
                                        <p:cTn id="37" dur="800" decel="100000"/>
                                        <p:tgtEl>
                                          <p:spTgt spid="409603">
                                            <p:txEl>
                                              <p:pRg st="3" end="3"/>
                                            </p:txEl>
                                          </p:spTgt>
                                        </p:tgtEl>
                                      </p:cBhvr>
                                    </p:animEffect>
                                    <p:anim calcmode="lin" valueType="num">
                                      <p:cBhvr>
                                        <p:cTn id="38" dur="800" decel="100000" fill="hold"/>
                                        <p:tgtEl>
                                          <p:spTgt spid="409603">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09603">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09603">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09603">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09603">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409603">
                                            <p:txEl>
                                              <p:pRg st="4" end="4"/>
                                            </p:txEl>
                                          </p:spTgt>
                                        </p:tgtEl>
                                        <p:attrNameLst>
                                          <p:attrName>style.visibility</p:attrName>
                                        </p:attrNameLst>
                                      </p:cBhvr>
                                      <p:to>
                                        <p:strVal val="visible"/>
                                      </p:to>
                                    </p:set>
                                    <p:animEffect transition="in" filter="fade">
                                      <p:cBhvr>
                                        <p:cTn id="47" dur="800" decel="100000"/>
                                        <p:tgtEl>
                                          <p:spTgt spid="409603">
                                            <p:txEl>
                                              <p:pRg st="4" end="4"/>
                                            </p:txEl>
                                          </p:spTgt>
                                        </p:tgtEl>
                                      </p:cBhvr>
                                    </p:animEffect>
                                    <p:anim calcmode="lin" valueType="num">
                                      <p:cBhvr>
                                        <p:cTn id="48" dur="800" decel="100000" fill="hold"/>
                                        <p:tgtEl>
                                          <p:spTgt spid="409603">
                                            <p:txEl>
                                              <p:pRg st="4" end="4"/>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409603">
                                            <p:txEl>
                                              <p:pRg st="4" end="4"/>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409603">
                                            <p:txEl>
                                              <p:pRg st="4" end="4"/>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409603">
                                            <p:txEl>
                                              <p:pRg st="4" end="4"/>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409603">
                                            <p:txEl>
                                              <p:pRg st="4" end="4"/>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algn="l"/>
            <a:r>
              <a:rPr lang="en-US" dirty="0" smtClean="0"/>
              <a:t>(Cont.)</a:t>
            </a:r>
            <a:endParaRPr lang="en-US" dirty="0"/>
          </a:p>
        </p:txBody>
      </p:sp>
      <p:sp>
        <p:nvSpPr>
          <p:cNvPr id="12" name="Slide Number Placeholder 11"/>
          <p:cNvSpPr>
            <a:spLocks noGrp="1"/>
          </p:cNvSpPr>
          <p:nvPr>
            <p:ph type="sldNum" sz="quarter" idx="11"/>
          </p:nvPr>
        </p:nvSpPr>
        <p:spPr/>
        <p:txBody>
          <a:bodyPr/>
          <a:lstStyle/>
          <a:p>
            <a:fld id="{ABE96090-50D5-425C-B1EF-183FF710AA20}" type="slidenum">
              <a:rPr lang="en-US" smtClean="0"/>
              <a:pPr/>
              <a:t>7</a:t>
            </a:fld>
            <a:endParaRPr lang="en-US"/>
          </a:p>
        </p:txBody>
      </p:sp>
      <p:pic>
        <p:nvPicPr>
          <p:cNvPr id="410628" name="Picture 4" descr="Fig07"/>
          <p:cNvPicPr>
            <a:picLocks noChangeAspect="1" noChangeArrowheads="1"/>
          </p:cNvPicPr>
          <p:nvPr/>
        </p:nvPicPr>
        <p:blipFill>
          <a:blip r:embed="rId3" cstate="print"/>
          <a:srcRect/>
          <a:stretch>
            <a:fillRect/>
          </a:stretch>
        </p:blipFill>
        <p:spPr bwMode="auto">
          <a:xfrm>
            <a:off x="5486400" y="1466850"/>
            <a:ext cx="2790825" cy="4857750"/>
          </a:xfrm>
          <a:prstGeom prst="rect">
            <a:avLst/>
          </a:prstGeom>
          <a:noFill/>
        </p:spPr>
      </p:pic>
      <p:pic>
        <p:nvPicPr>
          <p:cNvPr id="410629" name="Picture 5" descr="Fig07"/>
          <p:cNvPicPr>
            <a:picLocks noChangeAspect="1" noChangeArrowheads="1"/>
          </p:cNvPicPr>
          <p:nvPr/>
        </p:nvPicPr>
        <p:blipFill>
          <a:blip r:embed="rId4" cstate="print"/>
          <a:srcRect/>
          <a:stretch>
            <a:fillRect/>
          </a:stretch>
        </p:blipFill>
        <p:spPr bwMode="auto">
          <a:xfrm>
            <a:off x="5486400" y="1466850"/>
            <a:ext cx="2790825" cy="4857750"/>
          </a:xfrm>
          <a:prstGeom prst="rect">
            <a:avLst/>
          </a:prstGeom>
          <a:noFill/>
        </p:spPr>
      </p:pic>
      <p:pic>
        <p:nvPicPr>
          <p:cNvPr id="410630" name="Picture 6" descr="Fig07"/>
          <p:cNvPicPr>
            <a:picLocks noChangeAspect="1" noChangeArrowheads="1"/>
          </p:cNvPicPr>
          <p:nvPr/>
        </p:nvPicPr>
        <p:blipFill>
          <a:blip r:embed="rId5" cstate="print"/>
          <a:srcRect/>
          <a:stretch>
            <a:fillRect/>
          </a:stretch>
        </p:blipFill>
        <p:spPr bwMode="auto">
          <a:xfrm>
            <a:off x="5486400" y="1466850"/>
            <a:ext cx="2790825" cy="4857750"/>
          </a:xfrm>
          <a:prstGeom prst="rect">
            <a:avLst/>
          </a:prstGeom>
          <a:noFill/>
        </p:spPr>
      </p:pic>
      <p:pic>
        <p:nvPicPr>
          <p:cNvPr id="410631" name="Picture 7" descr="Fig07"/>
          <p:cNvPicPr>
            <a:picLocks noChangeAspect="1" noChangeArrowheads="1"/>
          </p:cNvPicPr>
          <p:nvPr/>
        </p:nvPicPr>
        <p:blipFill>
          <a:blip r:embed="rId6" cstate="print"/>
          <a:srcRect/>
          <a:stretch>
            <a:fillRect/>
          </a:stretch>
        </p:blipFill>
        <p:spPr bwMode="auto">
          <a:xfrm>
            <a:off x="5486400" y="1466850"/>
            <a:ext cx="2790825" cy="4857750"/>
          </a:xfrm>
          <a:prstGeom prst="rect">
            <a:avLst/>
          </a:prstGeom>
          <a:noFill/>
        </p:spPr>
      </p:pic>
      <p:pic>
        <p:nvPicPr>
          <p:cNvPr id="410632" name="Picture 8" descr="Fig07"/>
          <p:cNvPicPr>
            <a:picLocks noChangeAspect="1" noChangeArrowheads="1"/>
          </p:cNvPicPr>
          <p:nvPr/>
        </p:nvPicPr>
        <p:blipFill>
          <a:blip r:embed="rId7" cstate="print"/>
          <a:srcRect/>
          <a:stretch>
            <a:fillRect/>
          </a:stretch>
        </p:blipFill>
        <p:spPr bwMode="auto">
          <a:xfrm>
            <a:off x="5486400" y="1466850"/>
            <a:ext cx="2790825" cy="4857750"/>
          </a:xfrm>
          <a:prstGeom prst="rect">
            <a:avLst/>
          </a:prstGeom>
          <a:noFill/>
        </p:spPr>
      </p:pic>
      <p:pic>
        <p:nvPicPr>
          <p:cNvPr id="410633" name="Picture 9" descr="Fig07"/>
          <p:cNvPicPr>
            <a:picLocks noChangeAspect="1" noChangeArrowheads="1"/>
          </p:cNvPicPr>
          <p:nvPr/>
        </p:nvPicPr>
        <p:blipFill>
          <a:blip r:embed="rId8" cstate="print"/>
          <a:srcRect/>
          <a:stretch>
            <a:fillRect/>
          </a:stretch>
        </p:blipFill>
        <p:spPr bwMode="auto">
          <a:xfrm>
            <a:off x="5486400" y="1466850"/>
            <a:ext cx="2790825" cy="4857750"/>
          </a:xfrm>
          <a:prstGeom prst="rect">
            <a:avLst/>
          </a:prstGeom>
          <a:noFill/>
        </p:spPr>
      </p:pic>
      <p:pic>
        <p:nvPicPr>
          <p:cNvPr id="410634" name="Picture 10" descr="Fig07"/>
          <p:cNvPicPr>
            <a:picLocks noChangeAspect="1" noChangeArrowheads="1"/>
          </p:cNvPicPr>
          <p:nvPr/>
        </p:nvPicPr>
        <p:blipFill>
          <a:blip r:embed="rId9" cstate="print"/>
          <a:srcRect/>
          <a:stretch>
            <a:fillRect/>
          </a:stretch>
        </p:blipFill>
        <p:spPr bwMode="auto">
          <a:xfrm>
            <a:off x="5486400" y="1466850"/>
            <a:ext cx="2790825" cy="4857750"/>
          </a:xfrm>
          <a:prstGeom prst="rect">
            <a:avLst/>
          </a:prstGeom>
          <a:noFill/>
        </p:spPr>
      </p:pic>
      <p:sp>
        <p:nvSpPr>
          <p:cNvPr id="410636" name="Rectangle 12"/>
          <p:cNvSpPr>
            <a:spLocks noChangeArrowheads="1"/>
          </p:cNvSpPr>
          <p:nvPr/>
        </p:nvSpPr>
        <p:spPr bwMode="auto">
          <a:xfrm>
            <a:off x="457200" y="2819400"/>
            <a:ext cx="3962400" cy="1524000"/>
          </a:xfrm>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3200" dirty="0">
                <a:latin typeface="+mn-lt"/>
              </a:rPr>
              <a:t>Total utility increases with the consumption of a good.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10629"/>
                                        </p:tgtEl>
                                        <p:attrNameLst>
                                          <p:attrName>style.visibility</p:attrName>
                                        </p:attrNameLst>
                                      </p:cBhvr>
                                      <p:to>
                                        <p:strVal val="visible"/>
                                      </p:to>
                                    </p:set>
                                    <p:animEffect transition="in" filter="wipe(left)">
                                      <p:cBhvr>
                                        <p:cTn id="7" dur="500"/>
                                        <p:tgtEl>
                                          <p:spTgt spid="41062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10630"/>
                                        </p:tgtEl>
                                        <p:attrNameLst>
                                          <p:attrName>style.visibility</p:attrName>
                                        </p:attrNameLst>
                                      </p:cBhvr>
                                      <p:to>
                                        <p:strVal val="visible"/>
                                      </p:to>
                                    </p:set>
                                    <p:animEffect transition="in" filter="wipe(left)">
                                      <p:cBhvr>
                                        <p:cTn id="11" dur="500"/>
                                        <p:tgtEl>
                                          <p:spTgt spid="41063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10631"/>
                                        </p:tgtEl>
                                        <p:attrNameLst>
                                          <p:attrName>style.visibility</p:attrName>
                                        </p:attrNameLst>
                                      </p:cBhvr>
                                      <p:to>
                                        <p:strVal val="visible"/>
                                      </p:to>
                                    </p:set>
                                    <p:animEffect transition="in" filter="wipe(left)">
                                      <p:cBhvr>
                                        <p:cTn id="15" dur="500"/>
                                        <p:tgtEl>
                                          <p:spTgt spid="41063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10632"/>
                                        </p:tgtEl>
                                        <p:attrNameLst>
                                          <p:attrName>style.visibility</p:attrName>
                                        </p:attrNameLst>
                                      </p:cBhvr>
                                      <p:to>
                                        <p:strVal val="visible"/>
                                      </p:to>
                                    </p:set>
                                    <p:animEffect transition="in" filter="wipe(left)">
                                      <p:cBhvr>
                                        <p:cTn id="19" dur="500"/>
                                        <p:tgtEl>
                                          <p:spTgt spid="410632"/>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410633"/>
                                        </p:tgtEl>
                                        <p:attrNameLst>
                                          <p:attrName>style.visibility</p:attrName>
                                        </p:attrNameLst>
                                      </p:cBhvr>
                                      <p:to>
                                        <p:strVal val="visible"/>
                                      </p:to>
                                    </p:set>
                                    <p:animEffect transition="in" filter="wipe(left)">
                                      <p:cBhvr>
                                        <p:cTn id="23" dur="500"/>
                                        <p:tgtEl>
                                          <p:spTgt spid="410633"/>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410634"/>
                                        </p:tgtEl>
                                        <p:attrNameLst>
                                          <p:attrName>style.visibility</p:attrName>
                                        </p:attrNameLst>
                                      </p:cBhvr>
                                      <p:to>
                                        <p:strVal val="visible"/>
                                      </p:to>
                                    </p:set>
                                    <p:animEffect transition="in" filter="wipe(left)">
                                      <p:cBhvr>
                                        <p:cTn id="27" dur="500"/>
                                        <p:tgtEl>
                                          <p:spTgt spid="4106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0636"/>
                                        </p:tgtEl>
                                        <p:attrNameLst>
                                          <p:attrName>style.visibility</p:attrName>
                                        </p:attrNameLst>
                                      </p:cBhvr>
                                      <p:to>
                                        <p:strVal val="visible"/>
                                      </p:to>
                                    </p:set>
                                    <p:animEffect transition="in" filter="wipe(left)">
                                      <p:cBhvr>
                                        <p:cTn id="32" dur="1000"/>
                                        <p:tgtEl>
                                          <p:spTgt spid="410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pPr algn="l"/>
            <a:r>
              <a:rPr lang="en-US" dirty="0" smtClean="0"/>
              <a:t>(Cont.)</a:t>
            </a:r>
            <a:endParaRPr lang="en-US" dirty="0"/>
          </a:p>
        </p:txBody>
      </p:sp>
      <p:sp>
        <p:nvSpPr>
          <p:cNvPr id="411651" name="Rectangle 3"/>
          <p:cNvSpPr>
            <a:spLocks noGrp="1" noChangeArrowheads="1"/>
          </p:cNvSpPr>
          <p:nvPr>
            <p:ph idx="1"/>
          </p:nvPr>
        </p:nvSpPr>
        <p:spPr/>
        <p:txBody>
          <a:bodyPr/>
          <a:lstStyle/>
          <a:p>
            <a:r>
              <a:rPr lang="en-US" dirty="0"/>
              <a:t>Marginal Utility</a:t>
            </a:r>
          </a:p>
          <a:p>
            <a:pPr lvl="1"/>
            <a:r>
              <a:rPr lang="en-US" b="1" dirty="0">
                <a:solidFill>
                  <a:srgbClr val="FFFF00"/>
                </a:solidFill>
              </a:rPr>
              <a:t>Marginal utility</a:t>
            </a:r>
            <a:r>
              <a:rPr lang="en-US" dirty="0">
                <a:solidFill>
                  <a:srgbClr val="FFFF00"/>
                </a:solidFill>
              </a:rPr>
              <a:t> </a:t>
            </a:r>
            <a:r>
              <a:rPr lang="en-US" dirty="0"/>
              <a:t>is the change in total utility that results from a one-unit increase in the quantity of a good consumed. </a:t>
            </a:r>
          </a:p>
          <a:p>
            <a:pPr lvl="1"/>
            <a:r>
              <a:rPr lang="en-US" dirty="0"/>
              <a:t>As the quantity consumed of a good increases, the marginal utility from consuming it decreases. </a:t>
            </a:r>
          </a:p>
          <a:p>
            <a:pPr lvl="1"/>
            <a:r>
              <a:rPr lang="en-US" dirty="0"/>
              <a:t>We call this decrease in marginal utility as the quantity of the good consumed increases the principle of </a:t>
            </a:r>
            <a:r>
              <a:rPr lang="en-US" b="1" dirty="0">
                <a:solidFill>
                  <a:srgbClr val="FFFF00"/>
                </a:solidFill>
              </a:rPr>
              <a:t>diminishing marginal utility</a:t>
            </a:r>
            <a:r>
              <a:rPr lang="en-US" dirty="0"/>
              <a:t>. </a:t>
            </a:r>
          </a:p>
        </p:txBody>
      </p:sp>
      <p:sp>
        <p:nvSpPr>
          <p:cNvPr id="4" name="Slide Number Placeholder 3"/>
          <p:cNvSpPr>
            <a:spLocks noGrp="1"/>
          </p:cNvSpPr>
          <p:nvPr>
            <p:ph type="sldNum" sz="quarter" idx="11"/>
          </p:nvPr>
        </p:nvSpPr>
        <p:spPr/>
        <p:txBody>
          <a:bodyPr/>
          <a:lstStyle/>
          <a:p>
            <a:fld id="{F3965DA4-7A5B-4DE7-81D4-CD720070DD81}" type="slidenum">
              <a:rPr lang="en-US" smtClean="0"/>
              <a:pPr/>
              <a:t>8</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11651">
                                            <p:txEl>
                                              <p:pRg st="0" end="0"/>
                                            </p:txEl>
                                          </p:spTgt>
                                        </p:tgtEl>
                                        <p:attrNameLst>
                                          <p:attrName>style.visibility</p:attrName>
                                        </p:attrNameLst>
                                      </p:cBhvr>
                                      <p:to>
                                        <p:strVal val="visible"/>
                                      </p:to>
                                    </p:set>
                                    <p:animEffect transition="in" filter="fade">
                                      <p:cBhvr>
                                        <p:cTn id="7" dur="800" decel="100000"/>
                                        <p:tgtEl>
                                          <p:spTgt spid="411651">
                                            <p:txEl>
                                              <p:pRg st="0" end="0"/>
                                            </p:txEl>
                                          </p:spTgt>
                                        </p:tgtEl>
                                      </p:cBhvr>
                                    </p:animEffect>
                                    <p:anim calcmode="lin" valueType="num">
                                      <p:cBhvr>
                                        <p:cTn id="8" dur="800" decel="100000" fill="hold"/>
                                        <p:tgtEl>
                                          <p:spTgt spid="41165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1165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1165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1165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1165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11651">
                                            <p:txEl>
                                              <p:pRg st="1" end="1"/>
                                            </p:txEl>
                                          </p:spTgt>
                                        </p:tgtEl>
                                        <p:attrNameLst>
                                          <p:attrName>style.visibility</p:attrName>
                                        </p:attrNameLst>
                                      </p:cBhvr>
                                      <p:to>
                                        <p:strVal val="visible"/>
                                      </p:to>
                                    </p:set>
                                    <p:animEffect transition="in" filter="fade">
                                      <p:cBhvr>
                                        <p:cTn id="17" dur="800" decel="100000"/>
                                        <p:tgtEl>
                                          <p:spTgt spid="411651">
                                            <p:txEl>
                                              <p:pRg st="1" end="1"/>
                                            </p:txEl>
                                          </p:spTgt>
                                        </p:tgtEl>
                                      </p:cBhvr>
                                    </p:animEffect>
                                    <p:anim calcmode="lin" valueType="num">
                                      <p:cBhvr>
                                        <p:cTn id="18" dur="800" decel="100000" fill="hold"/>
                                        <p:tgtEl>
                                          <p:spTgt spid="411651">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11651">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11651">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11651">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11651">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11651">
                                            <p:txEl>
                                              <p:pRg st="2" end="2"/>
                                            </p:txEl>
                                          </p:spTgt>
                                        </p:tgtEl>
                                        <p:attrNameLst>
                                          <p:attrName>style.visibility</p:attrName>
                                        </p:attrNameLst>
                                      </p:cBhvr>
                                      <p:to>
                                        <p:strVal val="visible"/>
                                      </p:to>
                                    </p:set>
                                    <p:animEffect transition="in" filter="fade">
                                      <p:cBhvr>
                                        <p:cTn id="27" dur="800" decel="100000"/>
                                        <p:tgtEl>
                                          <p:spTgt spid="411651">
                                            <p:txEl>
                                              <p:pRg st="2" end="2"/>
                                            </p:txEl>
                                          </p:spTgt>
                                        </p:tgtEl>
                                      </p:cBhvr>
                                    </p:animEffect>
                                    <p:anim calcmode="lin" valueType="num">
                                      <p:cBhvr>
                                        <p:cTn id="28" dur="800" decel="100000" fill="hold"/>
                                        <p:tgtEl>
                                          <p:spTgt spid="411651">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11651">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11651">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11651">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11651">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11651">
                                            <p:txEl>
                                              <p:pRg st="3" end="3"/>
                                            </p:txEl>
                                          </p:spTgt>
                                        </p:tgtEl>
                                        <p:attrNameLst>
                                          <p:attrName>style.visibility</p:attrName>
                                        </p:attrNameLst>
                                      </p:cBhvr>
                                      <p:to>
                                        <p:strVal val="visible"/>
                                      </p:to>
                                    </p:set>
                                    <p:animEffect transition="in" filter="fade">
                                      <p:cBhvr>
                                        <p:cTn id="37" dur="800" decel="100000"/>
                                        <p:tgtEl>
                                          <p:spTgt spid="411651">
                                            <p:txEl>
                                              <p:pRg st="3" end="3"/>
                                            </p:txEl>
                                          </p:spTgt>
                                        </p:tgtEl>
                                      </p:cBhvr>
                                    </p:animEffect>
                                    <p:anim calcmode="lin" valueType="num">
                                      <p:cBhvr>
                                        <p:cTn id="38" dur="800" decel="100000" fill="hold"/>
                                        <p:tgtEl>
                                          <p:spTgt spid="411651">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11651">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11651">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11651">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11651">
                                            <p:txEl>
                                              <p:pRg st="3" end="3"/>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pPr algn="l"/>
            <a:r>
              <a:rPr lang="en-US" dirty="0" smtClean="0"/>
              <a:t>(Cont.)</a:t>
            </a:r>
            <a:endParaRPr lang="en-US" dirty="0"/>
          </a:p>
        </p:txBody>
      </p:sp>
      <p:sp>
        <p:nvSpPr>
          <p:cNvPr id="12" name="Slide Number Placeholder 11"/>
          <p:cNvSpPr>
            <a:spLocks noGrp="1"/>
          </p:cNvSpPr>
          <p:nvPr>
            <p:ph type="sldNum" sz="quarter" idx="11"/>
          </p:nvPr>
        </p:nvSpPr>
        <p:spPr/>
        <p:txBody>
          <a:bodyPr/>
          <a:lstStyle/>
          <a:p>
            <a:fld id="{ABE96090-50D5-425C-B1EF-183FF710AA20}" type="slidenum">
              <a:rPr lang="en-US" smtClean="0"/>
              <a:pPr/>
              <a:t>9</a:t>
            </a:fld>
            <a:endParaRPr lang="en-US"/>
          </a:p>
        </p:txBody>
      </p:sp>
      <p:pic>
        <p:nvPicPr>
          <p:cNvPr id="412676" name="Picture 4" descr="Fig07"/>
          <p:cNvPicPr>
            <a:picLocks noChangeAspect="1" noChangeArrowheads="1"/>
          </p:cNvPicPr>
          <p:nvPr/>
        </p:nvPicPr>
        <p:blipFill>
          <a:blip r:embed="rId3" cstate="print"/>
          <a:srcRect/>
          <a:stretch>
            <a:fillRect/>
          </a:stretch>
        </p:blipFill>
        <p:spPr bwMode="auto">
          <a:xfrm>
            <a:off x="4800600" y="2371725"/>
            <a:ext cx="3962400" cy="3268663"/>
          </a:xfrm>
          <a:prstGeom prst="rect">
            <a:avLst/>
          </a:prstGeom>
          <a:noFill/>
        </p:spPr>
      </p:pic>
      <p:pic>
        <p:nvPicPr>
          <p:cNvPr id="412677" name="Picture 5" descr="Fig07"/>
          <p:cNvPicPr>
            <a:picLocks noChangeAspect="1" noChangeArrowheads="1"/>
          </p:cNvPicPr>
          <p:nvPr/>
        </p:nvPicPr>
        <p:blipFill>
          <a:blip r:embed="rId4" cstate="print"/>
          <a:srcRect/>
          <a:stretch>
            <a:fillRect/>
          </a:stretch>
        </p:blipFill>
        <p:spPr bwMode="auto">
          <a:xfrm>
            <a:off x="4800600" y="2371725"/>
            <a:ext cx="3962400" cy="3268663"/>
          </a:xfrm>
          <a:prstGeom prst="rect">
            <a:avLst/>
          </a:prstGeom>
          <a:noFill/>
        </p:spPr>
      </p:pic>
      <p:pic>
        <p:nvPicPr>
          <p:cNvPr id="412678" name="Picture 6" descr="Fig07"/>
          <p:cNvPicPr>
            <a:picLocks noChangeAspect="1" noChangeArrowheads="1"/>
          </p:cNvPicPr>
          <p:nvPr/>
        </p:nvPicPr>
        <p:blipFill>
          <a:blip r:embed="rId5" cstate="print"/>
          <a:srcRect/>
          <a:stretch>
            <a:fillRect/>
          </a:stretch>
        </p:blipFill>
        <p:spPr bwMode="auto">
          <a:xfrm>
            <a:off x="4800600" y="2371725"/>
            <a:ext cx="3962400" cy="3268663"/>
          </a:xfrm>
          <a:prstGeom prst="rect">
            <a:avLst/>
          </a:prstGeom>
          <a:noFill/>
        </p:spPr>
      </p:pic>
      <p:pic>
        <p:nvPicPr>
          <p:cNvPr id="412679" name="Picture 7" descr="Fig07"/>
          <p:cNvPicPr>
            <a:picLocks noChangeAspect="1" noChangeArrowheads="1"/>
          </p:cNvPicPr>
          <p:nvPr/>
        </p:nvPicPr>
        <p:blipFill>
          <a:blip r:embed="rId6" cstate="print"/>
          <a:srcRect/>
          <a:stretch>
            <a:fillRect/>
          </a:stretch>
        </p:blipFill>
        <p:spPr bwMode="auto">
          <a:xfrm>
            <a:off x="4800600" y="2371725"/>
            <a:ext cx="3962400" cy="3268663"/>
          </a:xfrm>
          <a:prstGeom prst="rect">
            <a:avLst/>
          </a:prstGeom>
          <a:noFill/>
        </p:spPr>
      </p:pic>
      <p:pic>
        <p:nvPicPr>
          <p:cNvPr id="412680" name="Picture 8" descr="Fig07"/>
          <p:cNvPicPr>
            <a:picLocks noChangeAspect="1" noChangeArrowheads="1"/>
          </p:cNvPicPr>
          <p:nvPr/>
        </p:nvPicPr>
        <p:blipFill>
          <a:blip r:embed="rId7" cstate="print"/>
          <a:srcRect/>
          <a:stretch>
            <a:fillRect/>
          </a:stretch>
        </p:blipFill>
        <p:spPr bwMode="auto">
          <a:xfrm>
            <a:off x="4800600" y="2371725"/>
            <a:ext cx="3962400" cy="3268663"/>
          </a:xfrm>
          <a:prstGeom prst="rect">
            <a:avLst/>
          </a:prstGeom>
          <a:noFill/>
        </p:spPr>
      </p:pic>
      <p:pic>
        <p:nvPicPr>
          <p:cNvPr id="412681" name="Picture 9" descr="Fig07"/>
          <p:cNvPicPr>
            <a:picLocks noChangeAspect="1" noChangeArrowheads="1"/>
          </p:cNvPicPr>
          <p:nvPr/>
        </p:nvPicPr>
        <p:blipFill>
          <a:blip r:embed="rId8" cstate="print"/>
          <a:srcRect/>
          <a:stretch>
            <a:fillRect/>
          </a:stretch>
        </p:blipFill>
        <p:spPr bwMode="auto">
          <a:xfrm>
            <a:off x="4800600" y="2371725"/>
            <a:ext cx="3962400" cy="3268663"/>
          </a:xfrm>
          <a:prstGeom prst="rect">
            <a:avLst/>
          </a:prstGeom>
          <a:noFill/>
        </p:spPr>
      </p:pic>
      <p:pic>
        <p:nvPicPr>
          <p:cNvPr id="412682" name="Picture 10" descr="Fig07"/>
          <p:cNvPicPr>
            <a:picLocks noChangeAspect="1" noChangeArrowheads="1"/>
          </p:cNvPicPr>
          <p:nvPr/>
        </p:nvPicPr>
        <p:blipFill>
          <a:blip r:embed="rId9" cstate="print"/>
          <a:srcRect/>
          <a:stretch>
            <a:fillRect/>
          </a:stretch>
        </p:blipFill>
        <p:spPr bwMode="auto">
          <a:xfrm>
            <a:off x="4800600" y="2371725"/>
            <a:ext cx="3962400" cy="3268663"/>
          </a:xfrm>
          <a:prstGeom prst="rect">
            <a:avLst/>
          </a:prstGeom>
          <a:noFill/>
        </p:spPr>
      </p:pic>
      <p:sp>
        <p:nvSpPr>
          <p:cNvPr id="412684" name="Rectangle 12"/>
          <p:cNvSpPr>
            <a:spLocks noChangeArrowheads="1"/>
          </p:cNvSpPr>
          <p:nvPr/>
        </p:nvSpPr>
        <p:spPr bwMode="auto">
          <a:xfrm>
            <a:off x="457200" y="2895600"/>
            <a:ext cx="3962400" cy="2133600"/>
          </a:xfrm>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3200" dirty="0">
                <a:latin typeface="+mn-lt"/>
              </a:rPr>
              <a:t>Utility is analogous to temperature.</a:t>
            </a:r>
          </a:p>
          <a:p>
            <a:pPr marL="114300" lvl="1">
              <a:spcBef>
                <a:spcPct val="20000"/>
              </a:spcBef>
              <a:spcAft>
                <a:spcPct val="20000"/>
              </a:spcAft>
              <a:buClr>
                <a:srgbClr val="FF0000"/>
              </a:buClr>
              <a:buFont typeface="Wingdings" pitchFamily="2" charset="2"/>
              <a:buNone/>
            </a:pPr>
            <a:r>
              <a:rPr lang="en-US" sz="3200" dirty="0">
                <a:latin typeface="+mn-lt"/>
              </a:rPr>
              <a:t>Both are abstract concepts and both are measured in arbitrary units.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12677"/>
                                        </p:tgtEl>
                                        <p:attrNameLst>
                                          <p:attrName>style.visibility</p:attrName>
                                        </p:attrNameLst>
                                      </p:cBhvr>
                                      <p:to>
                                        <p:strVal val="visible"/>
                                      </p:to>
                                    </p:set>
                                    <p:animEffect transition="in" filter="wipe(left)">
                                      <p:cBhvr>
                                        <p:cTn id="7" dur="500"/>
                                        <p:tgtEl>
                                          <p:spTgt spid="41267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12678"/>
                                        </p:tgtEl>
                                        <p:attrNameLst>
                                          <p:attrName>style.visibility</p:attrName>
                                        </p:attrNameLst>
                                      </p:cBhvr>
                                      <p:to>
                                        <p:strVal val="visible"/>
                                      </p:to>
                                    </p:set>
                                    <p:animEffect transition="in" filter="wipe(left)">
                                      <p:cBhvr>
                                        <p:cTn id="11" dur="500"/>
                                        <p:tgtEl>
                                          <p:spTgt spid="41267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12679"/>
                                        </p:tgtEl>
                                        <p:attrNameLst>
                                          <p:attrName>style.visibility</p:attrName>
                                        </p:attrNameLst>
                                      </p:cBhvr>
                                      <p:to>
                                        <p:strVal val="visible"/>
                                      </p:to>
                                    </p:set>
                                    <p:animEffect transition="in" filter="wipe(left)">
                                      <p:cBhvr>
                                        <p:cTn id="15" dur="500"/>
                                        <p:tgtEl>
                                          <p:spTgt spid="41267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12680"/>
                                        </p:tgtEl>
                                        <p:attrNameLst>
                                          <p:attrName>style.visibility</p:attrName>
                                        </p:attrNameLst>
                                      </p:cBhvr>
                                      <p:to>
                                        <p:strVal val="visible"/>
                                      </p:to>
                                    </p:set>
                                    <p:animEffect transition="in" filter="wipe(left)">
                                      <p:cBhvr>
                                        <p:cTn id="19" dur="500"/>
                                        <p:tgtEl>
                                          <p:spTgt spid="412680"/>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412681"/>
                                        </p:tgtEl>
                                        <p:attrNameLst>
                                          <p:attrName>style.visibility</p:attrName>
                                        </p:attrNameLst>
                                      </p:cBhvr>
                                      <p:to>
                                        <p:strVal val="visible"/>
                                      </p:to>
                                    </p:set>
                                    <p:animEffect transition="in" filter="wipe(left)">
                                      <p:cBhvr>
                                        <p:cTn id="23" dur="500"/>
                                        <p:tgtEl>
                                          <p:spTgt spid="41268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412682"/>
                                        </p:tgtEl>
                                        <p:attrNameLst>
                                          <p:attrName>style.visibility</p:attrName>
                                        </p:attrNameLst>
                                      </p:cBhvr>
                                      <p:to>
                                        <p:strVal val="visible"/>
                                      </p:to>
                                    </p:set>
                                    <p:animEffect transition="in" filter="wipe(left)">
                                      <p:cBhvr>
                                        <p:cTn id="27" dur="500"/>
                                        <p:tgtEl>
                                          <p:spTgt spid="41268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2684"/>
                                        </p:tgtEl>
                                        <p:attrNameLst>
                                          <p:attrName>style.visibility</p:attrName>
                                        </p:attrNameLst>
                                      </p:cBhvr>
                                      <p:to>
                                        <p:strVal val="visible"/>
                                      </p:to>
                                    </p:set>
                                    <p:animEffect transition="in" filter="wipe(left)">
                                      <p:cBhvr>
                                        <p:cTn id="32" dur="1000"/>
                                        <p:tgtEl>
                                          <p:spTgt spid="412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8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457200" y="-76200"/>
            <a:ext cx="8229600" cy="1143000"/>
          </a:xfrm>
        </p:spPr>
        <p:txBody>
          <a:bodyPr/>
          <a:lstStyle/>
          <a:p>
            <a:pPr algn="l"/>
            <a:r>
              <a:rPr lang="en-US" u="sng" dirty="0"/>
              <a:t>Maximizing </a:t>
            </a:r>
            <a:r>
              <a:rPr lang="en-US" u="sng" dirty="0" smtClean="0"/>
              <a:t>Utility:</a:t>
            </a:r>
            <a:endParaRPr lang="en-US" u="sng" dirty="0"/>
          </a:p>
        </p:txBody>
      </p:sp>
      <p:sp>
        <p:nvSpPr>
          <p:cNvPr id="406531" name="Rectangle 3"/>
          <p:cNvSpPr>
            <a:spLocks noGrp="1" noChangeArrowheads="1"/>
          </p:cNvSpPr>
          <p:nvPr>
            <p:ph idx="1"/>
          </p:nvPr>
        </p:nvSpPr>
        <p:spPr>
          <a:xfrm>
            <a:off x="457200" y="1295400"/>
            <a:ext cx="8229600" cy="3886200"/>
          </a:xfrm>
        </p:spPr>
        <p:txBody>
          <a:bodyPr/>
          <a:lstStyle/>
          <a:p>
            <a:pPr lvl="1"/>
            <a:r>
              <a:rPr lang="en-US" sz="3600" dirty="0"/>
              <a:t>The key assumption of marginal utility theory is that the household chooses the consumption possibility that maximizes total utility. </a:t>
            </a:r>
          </a:p>
          <a:p>
            <a:r>
              <a:rPr lang="en-US" sz="3600" dirty="0"/>
              <a:t>The Utility-Maximizing </a:t>
            </a:r>
            <a:r>
              <a:rPr lang="en-US" sz="3600" dirty="0" smtClean="0"/>
              <a:t>Choice:</a:t>
            </a:r>
            <a:endParaRPr lang="en-US" sz="3600" dirty="0"/>
          </a:p>
          <a:p>
            <a:pPr lvl="1"/>
            <a:r>
              <a:rPr lang="en-US" sz="3600" dirty="0"/>
              <a:t>We can find the utility-maximizing choice by looking at the total utility that arises from each affordable combination</a:t>
            </a:r>
            <a:r>
              <a:rPr lang="en-US" sz="3600" dirty="0" smtClean="0"/>
              <a:t>.</a:t>
            </a:r>
            <a:endParaRPr lang="en-US" sz="3600" dirty="0"/>
          </a:p>
        </p:txBody>
      </p:sp>
      <p:sp>
        <p:nvSpPr>
          <p:cNvPr id="4" name="Slide Number Placeholder 3"/>
          <p:cNvSpPr>
            <a:spLocks noGrp="1"/>
          </p:cNvSpPr>
          <p:nvPr>
            <p:ph type="sldNum" sz="quarter" idx="11"/>
          </p:nvPr>
        </p:nvSpPr>
        <p:spPr/>
        <p:txBody>
          <a:bodyPr/>
          <a:lstStyle/>
          <a:p>
            <a:fld id="{F3965DA4-7A5B-4DE7-81D4-CD720070DD81}" type="slidenum">
              <a:rPr lang="en-US" smtClean="0"/>
              <a:pPr/>
              <a:t>10</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406530"/>
                                        </p:tgtEl>
                                        <p:attrNameLst>
                                          <p:attrName>style.visibility</p:attrName>
                                        </p:attrNameLst>
                                      </p:cBhvr>
                                      <p:to>
                                        <p:strVal val="visible"/>
                                      </p:to>
                                    </p:set>
                                    <p:animEffect transition="in" filter="fade">
                                      <p:cBhvr>
                                        <p:cTn id="7" dur="800" decel="100000"/>
                                        <p:tgtEl>
                                          <p:spTgt spid="406530"/>
                                        </p:tgtEl>
                                      </p:cBhvr>
                                    </p:animEffect>
                                    <p:anim calcmode="lin" valueType="num">
                                      <p:cBhvr>
                                        <p:cTn id="8" dur="800" decel="100000" fill="hold"/>
                                        <p:tgtEl>
                                          <p:spTgt spid="406530"/>
                                        </p:tgtEl>
                                        <p:attrNameLst>
                                          <p:attrName>style.rotation</p:attrName>
                                        </p:attrNameLst>
                                      </p:cBhvr>
                                      <p:tavLst>
                                        <p:tav tm="0">
                                          <p:val>
                                            <p:fltVal val="-90"/>
                                          </p:val>
                                        </p:tav>
                                        <p:tav tm="100000">
                                          <p:val>
                                            <p:fltVal val="0"/>
                                          </p:val>
                                        </p:tav>
                                      </p:tavLst>
                                    </p:anim>
                                    <p:anim calcmode="lin" valueType="num">
                                      <p:cBhvr>
                                        <p:cTn id="9" dur="800" decel="100000" fill="hold"/>
                                        <p:tgtEl>
                                          <p:spTgt spid="406530"/>
                                        </p:tgtEl>
                                        <p:attrNameLst>
                                          <p:attrName>ppt_x</p:attrName>
                                        </p:attrNameLst>
                                      </p:cBhvr>
                                      <p:tavLst>
                                        <p:tav tm="0">
                                          <p:val>
                                            <p:strVal val="#ppt_x+0.4"/>
                                          </p:val>
                                        </p:tav>
                                        <p:tav tm="100000">
                                          <p:val>
                                            <p:strVal val="#ppt_x-0.05"/>
                                          </p:val>
                                        </p:tav>
                                      </p:tavLst>
                                    </p:anim>
                                    <p:anim calcmode="lin" valueType="num">
                                      <p:cBhvr>
                                        <p:cTn id="10" dur="800" decel="100000" fill="hold"/>
                                        <p:tgtEl>
                                          <p:spTgt spid="406530"/>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06530"/>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06530"/>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06531">
                                            <p:txEl>
                                              <p:pRg st="0" end="0"/>
                                            </p:txEl>
                                          </p:spTgt>
                                        </p:tgtEl>
                                        <p:attrNameLst>
                                          <p:attrName>style.visibility</p:attrName>
                                        </p:attrNameLst>
                                      </p:cBhvr>
                                      <p:to>
                                        <p:strVal val="visible"/>
                                      </p:to>
                                    </p:set>
                                    <p:animEffect transition="in" filter="fade">
                                      <p:cBhvr>
                                        <p:cTn id="17" dur="800" decel="100000"/>
                                        <p:tgtEl>
                                          <p:spTgt spid="406531">
                                            <p:txEl>
                                              <p:pRg st="0" end="0"/>
                                            </p:txEl>
                                          </p:spTgt>
                                        </p:tgtEl>
                                      </p:cBhvr>
                                    </p:animEffect>
                                    <p:anim calcmode="lin" valueType="num">
                                      <p:cBhvr>
                                        <p:cTn id="18" dur="800" decel="100000" fill="hold"/>
                                        <p:tgtEl>
                                          <p:spTgt spid="406531">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06531">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06531">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06531">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0653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06531">
                                            <p:txEl>
                                              <p:pRg st="1" end="1"/>
                                            </p:txEl>
                                          </p:spTgt>
                                        </p:tgtEl>
                                        <p:attrNameLst>
                                          <p:attrName>style.visibility</p:attrName>
                                        </p:attrNameLst>
                                      </p:cBhvr>
                                      <p:to>
                                        <p:strVal val="visible"/>
                                      </p:to>
                                    </p:set>
                                    <p:animEffect transition="in" filter="fade">
                                      <p:cBhvr>
                                        <p:cTn id="27" dur="800" decel="100000"/>
                                        <p:tgtEl>
                                          <p:spTgt spid="406531">
                                            <p:txEl>
                                              <p:pRg st="1" end="1"/>
                                            </p:txEl>
                                          </p:spTgt>
                                        </p:tgtEl>
                                      </p:cBhvr>
                                    </p:animEffect>
                                    <p:anim calcmode="lin" valueType="num">
                                      <p:cBhvr>
                                        <p:cTn id="28" dur="800" decel="100000" fill="hold"/>
                                        <p:tgtEl>
                                          <p:spTgt spid="406531">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06531">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06531">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06531">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06531">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06531">
                                            <p:txEl>
                                              <p:pRg st="2" end="2"/>
                                            </p:txEl>
                                          </p:spTgt>
                                        </p:tgtEl>
                                        <p:attrNameLst>
                                          <p:attrName>style.visibility</p:attrName>
                                        </p:attrNameLst>
                                      </p:cBhvr>
                                      <p:to>
                                        <p:strVal val="visible"/>
                                      </p:to>
                                    </p:set>
                                    <p:animEffect transition="in" filter="fade">
                                      <p:cBhvr>
                                        <p:cTn id="37" dur="800" decel="100000"/>
                                        <p:tgtEl>
                                          <p:spTgt spid="406531">
                                            <p:txEl>
                                              <p:pRg st="2" end="2"/>
                                            </p:txEl>
                                          </p:spTgt>
                                        </p:tgtEl>
                                      </p:cBhvr>
                                    </p:animEffect>
                                    <p:anim calcmode="lin" valueType="num">
                                      <p:cBhvr>
                                        <p:cTn id="38" dur="800" decel="100000" fill="hold"/>
                                        <p:tgtEl>
                                          <p:spTgt spid="406531">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06531">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06531">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06531">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06531">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a:xfrm>
            <a:off x="228600" y="274638"/>
            <a:ext cx="8458200" cy="1143000"/>
          </a:xfrm>
        </p:spPr>
        <p:txBody>
          <a:bodyPr/>
          <a:lstStyle/>
          <a:p>
            <a:pPr algn="l"/>
            <a:r>
              <a:rPr lang="en-US" dirty="0" smtClean="0"/>
              <a:t>(Cont.)</a:t>
            </a:r>
            <a:endParaRPr lang="en-US" dirty="0"/>
          </a:p>
        </p:txBody>
      </p:sp>
      <p:sp>
        <p:nvSpPr>
          <p:cNvPr id="413699" name="Rectangle 3"/>
          <p:cNvSpPr>
            <a:spLocks noGrp="1" noChangeArrowheads="1"/>
          </p:cNvSpPr>
          <p:nvPr>
            <p:ph idx="1"/>
          </p:nvPr>
        </p:nvSpPr>
        <p:spPr>
          <a:xfrm>
            <a:off x="457200" y="1447800"/>
            <a:ext cx="8229600" cy="4525962"/>
          </a:xfrm>
        </p:spPr>
        <p:txBody>
          <a:bodyPr/>
          <a:lstStyle/>
          <a:p>
            <a:r>
              <a:rPr lang="en-US" sz="3600" dirty="0"/>
              <a:t>Equalizing Marginal Utility per </a:t>
            </a:r>
            <a:r>
              <a:rPr lang="en-US" sz="3600" dirty="0" smtClean="0"/>
              <a:t>Dollar Spent</a:t>
            </a:r>
            <a:endParaRPr lang="en-US" sz="3600" dirty="0"/>
          </a:p>
          <a:p>
            <a:pPr lvl="1"/>
            <a:r>
              <a:rPr lang="en-US" sz="3200" dirty="0"/>
              <a:t>Using marginal analysis, a consumer’s total utility is maximized by following the rule:</a:t>
            </a:r>
          </a:p>
          <a:p>
            <a:pPr lvl="1"/>
            <a:r>
              <a:rPr lang="en-US" sz="3200" dirty="0">
                <a:solidFill>
                  <a:srgbClr val="FFFF00"/>
                </a:solidFill>
              </a:rPr>
              <a:t>Spend all available income and equalize the marginal utility per </a:t>
            </a:r>
            <a:r>
              <a:rPr lang="en-US" sz="3200" dirty="0" smtClean="0">
                <a:solidFill>
                  <a:srgbClr val="FFFF00"/>
                </a:solidFill>
              </a:rPr>
              <a:t>dollar spent </a:t>
            </a:r>
            <a:r>
              <a:rPr lang="en-US" sz="3200" dirty="0">
                <a:solidFill>
                  <a:srgbClr val="FFFF00"/>
                </a:solidFill>
              </a:rPr>
              <a:t>on all goods.</a:t>
            </a:r>
          </a:p>
          <a:p>
            <a:pPr lvl="1"/>
            <a:r>
              <a:rPr lang="en-US" sz="3200" dirty="0"/>
              <a:t>The </a:t>
            </a:r>
            <a:r>
              <a:rPr lang="en-US" sz="3200" b="1" dirty="0">
                <a:solidFill>
                  <a:srgbClr val="FFFF00"/>
                </a:solidFill>
              </a:rPr>
              <a:t>marginal utility per </a:t>
            </a:r>
            <a:r>
              <a:rPr lang="en-US" sz="3200" b="1" dirty="0" smtClean="0">
                <a:solidFill>
                  <a:srgbClr val="FFFF00"/>
                </a:solidFill>
              </a:rPr>
              <a:t>dollar spent</a:t>
            </a:r>
            <a:r>
              <a:rPr lang="en-US" sz="3200" dirty="0" smtClean="0">
                <a:solidFill>
                  <a:srgbClr val="FFFF00"/>
                </a:solidFill>
              </a:rPr>
              <a:t> </a:t>
            </a:r>
            <a:r>
              <a:rPr lang="en-US" sz="3200" dirty="0"/>
              <a:t>is the marginal utility from a good divided by its price</a:t>
            </a:r>
            <a:r>
              <a:rPr lang="en-US" dirty="0"/>
              <a:t>.</a:t>
            </a:r>
          </a:p>
          <a:p>
            <a:pPr lvl="1"/>
            <a:endParaRPr lang="en-US" dirty="0">
              <a:solidFill>
                <a:srgbClr val="FF0000"/>
              </a:solidFill>
            </a:endParaRPr>
          </a:p>
        </p:txBody>
      </p:sp>
      <p:sp>
        <p:nvSpPr>
          <p:cNvPr id="4" name="Slide Number Placeholder 3"/>
          <p:cNvSpPr>
            <a:spLocks noGrp="1"/>
          </p:cNvSpPr>
          <p:nvPr>
            <p:ph type="sldNum" sz="quarter" idx="11"/>
          </p:nvPr>
        </p:nvSpPr>
        <p:spPr/>
        <p:txBody>
          <a:bodyPr/>
          <a:lstStyle/>
          <a:p>
            <a:fld id="{F3965DA4-7A5B-4DE7-81D4-CD720070DD81}" type="slidenum">
              <a:rPr lang="en-US" smtClean="0"/>
              <a:pPr/>
              <a:t>11</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13699">
                                            <p:txEl>
                                              <p:pRg st="0" end="0"/>
                                            </p:txEl>
                                          </p:spTgt>
                                        </p:tgtEl>
                                        <p:attrNameLst>
                                          <p:attrName>style.visibility</p:attrName>
                                        </p:attrNameLst>
                                      </p:cBhvr>
                                      <p:to>
                                        <p:strVal val="visible"/>
                                      </p:to>
                                    </p:set>
                                    <p:animEffect transition="in" filter="fade">
                                      <p:cBhvr>
                                        <p:cTn id="7" dur="800" decel="100000"/>
                                        <p:tgtEl>
                                          <p:spTgt spid="413699">
                                            <p:txEl>
                                              <p:pRg st="0" end="0"/>
                                            </p:txEl>
                                          </p:spTgt>
                                        </p:tgtEl>
                                      </p:cBhvr>
                                    </p:animEffect>
                                    <p:anim calcmode="lin" valueType="num">
                                      <p:cBhvr>
                                        <p:cTn id="8" dur="800" decel="100000" fill="hold"/>
                                        <p:tgtEl>
                                          <p:spTgt spid="413699">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13699">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13699">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13699">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13699">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13699">
                                            <p:txEl>
                                              <p:pRg st="1" end="1"/>
                                            </p:txEl>
                                          </p:spTgt>
                                        </p:tgtEl>
                                        <p:attrNameLst>
                                          <p:attrName>style.visibility</p:attrName>
                                        </p:attrNameLst>
                                      </p:cBhvr>
                                      <p:to>
                                        <p:strVal val="visible"/>
                                      </p:to>
                                    </p:set>
                                    <p:animEffect transition="in" filter="fade">
                                      <p:cBhvr>
                                        <p:cTn id="17" dur="800" decel="100000"/>
                                        <p:tgtEl>
                                          <p:spTgt spid="413699">
                                            <p:txEl>
                                              <p:pRg st="1" end="1"/>
                                            </p:txEl>
                                          </p:spTgt>
                                        </p:tgtEl>
                                      </p:cBhvr>
                                    </p:animEffect>
                                    <p:anim calcmode="lin" valueType="num">
                                      <p:cBhvr>
                                        <p:cTn id="18" dur="800" decel="100000" fill="hold"/>
                                        <p:tgtEl>
                                          <p:spTgt spid="413699">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13699">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13699">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13699">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13699">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13699">
                                            <p:txEl>
                                              <p:pRg st="2" end="2"/>
                                            </p:txEl>
                                          </p:spTgt>
                                        </p:tgtEl>
                                        <p:attrNameLst>
                                          <p:attrName>style.visibility</p:attrName>
                                        </p:attrNameLst>
                                      </p:cBhvr>
                                      <p:to>
                                        <p:strVal val="visible"/>
                                      </p:to>
                                    </p:set>
                                    <p:animEffect transition="in" filter="fade">
                                      <p:cBhvr>
                                        <p:cTn id="27" dur="800" decel="100000"/>
                                        <p:tgtEl>
                                          <p:spTgt spid="413699">
                                            <p:txEl>
                                              <p:pRg st="2" end="2"/>
                                            </p:txEl>
                                          </p:spTgt>
                                        </p:tgtEl>
                                      </p:cBhvr>
                                    </p:animEffect>
                                    <p:anim calcmode="lin" valueType="num">
                                      <p:cBhvr>
                                        <p:cTn id="28" dur="800" decel="100000" fill="hold"/>
                                        <p:tgtEl>
                                          <p:spTgt spid="413699">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13699">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13699">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13699">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13699">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13699">
                                            <p:txEl>
                                              <p:pRg st="3" end="3"/>
                                            </p:txEl>
                                          </p:spTgt>
                                        </p:tgtEl>
                                        <p:attrNameLst>
                                          <p:attrName>style.visibility</p:attrName>
                                        </p:attrNameLst>
                                      </p:cBhvr>
                                      <p:to>
                                        <p:strVal val="visible"/>
                                      </p:to>
                                    </p:set>
                                    <p:animEffect transition="in" filter="fade">
                                      <p:cBhvr>
                                        <p:cTn id="37" dur="800" decel="100000"/>
                                        <p:tgtEl>
                                          <p:spTgt spid="413699">
                                            <p:txEl>
                                              <p:pRg st="3" end="3"/>
                                            </p:txEl>
                                          </p:spTgt>
                                        </p:tgtEl>
                                      </p:cBhvr>
                                    </p:animEffect>
                                    <p:anim calcmode="lin" valueType="num">
                                      <p:cBhvr>
                                        <p:cTn id="38" dur="800" decel="100000" fill="hold"/>
                                        <p:tgtEl>
                                          <p:spTgt spid="413699">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13699">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13699">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13699">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13699">
                                            <p:txEl>
                                              <p:pRg st="3" end="3"/>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pPr algn="l"/>
            <a:r>
              <a:rPr lang="en-US" dirty="0" smtClean="0"/>
              <a:t>(Cont.)</a:t>
            </a:r>
            <a:endParaRPr lang="en-US" dirty="0"/>
          </a:p>
        </p:txBody>
      </p:sp>
      <p:sp>
        <p:nvSpPr>
          <p:cNvPr id="414723" name="Rectangle 3"/>
          <p:cNvSpPr>
            <a:spLocks noGrp="1" noChangeArrowheads="1"/>
          </p:cNvSpPr>
          <p:nvPr>
            <p:ph idx="1"/>
          </p:nvPr>
        </p:nvSpPr>
        <p:spPr/>
        <p:txBody>
          <a:bodyPr/>
          <a:lstStyle/>
          <a:p>
            <a:pPr marL="406400" lvl="1" indent="-292100">
              <a:buFont typeface="Wingdings" pitchFamily="2" charset="2"/>
              <a:buChar char="§"/>
            </a:pPr>
            <a:r>
              <a:rPr lang="en-US" sz="3200" dirty="0"/>
              <a:t>Call the marginal utility of movies </a:t>
            </a:r>
            <a:r>
              <a:rPr lang="en-US" sz="3200" i="1" dirty="0"/>
              <a:t>MU</a:t>
            </a:r>
            <a:r>
              <a:rPr lang="en-US" sz="3200" i="1" baseline="-25000" dirty="0"/>
              <a:t>M</a:t>
            </a:r>
          </a:p>
          <a:p>
            <a:pPr marL="406400" lvl="1" indent="-292100">
              <a:buFont typeface="Wingdings" pitchFamily="2" charset="2"/>
              <a:buChar char="§"/>
            </a:pPr>
            <a:r>
              <a:rPr lang="en-US" sz="3200" dirty="0"/>
              <a:t>Call the marginal utility of soda </a:t>
            </a:r>
            <a:r>
              <a:rPr lang="en-US" sz="3200" i="1" dirty="0"/>
              <a:t>MU</a:t>
            </a:r>
            <a:r>
              <a:rPr lang="en-US" sz="3200" i="1" baseline="-25000" dirty="0"/>
              <a:t>S</a:t>
            </a:r>
          </a:p>
          <a:p>
            <a:pPr marL="406400" lvl="1" indent="-292100">
              <a:buFont typeface="Wingdings" pitchFamily="2" charset="2"/>
              <a:buChar char="§"/>
            </a:pPr>
            <a:r>
              <a:rPr lang="en-US" sz="3200" dirty="0"/>
              <a:t>Call the price of movies </a:t>
            </a:r>
            <a:r>
              <a:rPr lang="en-US" sz="3200" i="1" dirty="0"/>
              <a:t>P</a:t>
            </a:r>
            <a:r>
              <a:rPr lang="en-US" sz="3200" i="1" baseline="-25000" dirty="0"/>
              <a:t>M</a:t>
            </a:r>
          </a:p>
          <a:p>
            <a:pPr marL="406400" lvl="1" indent="-292100">
              <a:buFont typeface="Wingdings" pitchFamily="2" charset="2"/>
              <a:buChar char="§"/>
            </a:pPr>
            <a:r>
              <a:rPr lang="en-US" sz="3200" dirty="0"/>
              <a:t>Call the price of soda </a:t>
            </a:r>
            <a:r>
              <a:rPr lang="en-US" sz="3200" i="1" dirty="0"/>
              <a:t>P</a:t>
            </a:r>
            <a:r>
              <a:rPr lang="en-US" sz="3200" i="1" baseline="-25000" dirty="0"/>
              <a:t>S</a:t>
            </a:r>
          </a:p>
          <a:p>
            <a:pPr marL="406400" lvl="1" indent="-292100">
              <a:buFont typeface="Wingdings" pitchFamily="2" charset="2"/>
              <a:buChar char="§"/>
            </a:pPr>
            <a:r>
              <a:rPr lang="en-US" sz="3200" dirty="0"/>
              <a:t>The marginal utility per dollar spent on movies is </a:t>
            </a:r>
            <a:r>
              <a:rPr lang="en-US" sz="3200" i="1" dirty="0"/>
              <a:t>MU</a:t>
            </a:r>
            <a:r>
              <a:rPr lang="en-US" sz="3200" i="1" baseline="-25000" dirty="0"/>
              <a:t>M</a:t>
            </a:r>
            <a:r>
              <a:rPr lang="en-US" sz="3200" dirty="0"/>
              <a:t>/</a:t>
            </a:r>
            <a:r>
              <a:rPr lang="en-US" sz="3200" i="1" dirty="0"/>
              <a:t>P</a:t>
            </a:r>
            <a:r>
              <a:rPr lang="en-US" sz="3200" i="1" baseline="-25000" dirty="0"/>
              <a:t>M</a:t>
            </a:r>
          </a:p>
          <a:p>
            <a:pPr marL="406400" lvl="1" indent="-292100">
              <a:buFont typeface="Wingdings" pitchFamily="2" charset="2"/>
              <a:buChar char="§"/>
            </a:pPr>
            <a:r>
              <a:rPr lang="en-US" sz="3200" dirty="0"/>
              <a:t>The marginal utility per dollar spent on soda is </a:t>
            </a:r>
            <a:r>
              <a:rPr lang="en-US" sz="3200" i="1" dirty="0"/>
              <a:t>MU</a:t>
            </a:r>
            <a:r>
              <a:rPr lang="en-US" sz="3200" i="1" baseline="-25000" dirty="0"/>
              <a:t>S</a:t>
            </a:r>
            <a:r>
              <a:rPr lang="en-US" sz="3200" dirty="0"/>
              <a:t>/</a:t>
            </a:r>
            <a:r>
              <a:rPr lang="en-US" sz="3200" i="1" dirty="0"/>
              <a:t>P</a:t>
            </a:r>
            <a:r>
              <a:rPr lang="en-US" sz="3200" i="1" baseline="-25000" dirty="0"/>
              <a:t>S</a:t>
            </a:r>
            <a:endParaRPr lang="en-US" sz="3200" i="1" dirty="0"/>
          </a:p>
        </p:txBody>
      </p:sp>
      <p:sp>
        <p:nvSpPr>
          <p:cNvPr id="4" name="Slide Number Placeholder 3"/>
          <p:cNvSpPr>
            <a:spLocks noGrp="1"/>
          </p:cNvSpPr>
          <p:nvPr>
            <p:ph type="sldNum" sz="quarter" idx="11"/>
          </p:nvPr>
        </p:nvSpPr>
        <p:spPr/>
        <p:txBody>
          <a:bodyPr/>
          <a:lstStyle/>
          <a:p>
            <a:fld id="{F3965DA4-7A5B-4DE7-81D4-CD720070DD81}" type="slidenum">
              <a:rPr lang="en-US" smtClean="0"/>
              <a:pPr/>
              <a:t>12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14723">
                                            <p:txEl>
                                              <p:pRg st="0" end="0"/>
                                            </p:txEl>
                                          </p:spTgt>
                                        </p:tgtEl>
                                        <p:attrNameLst>
                                          <p:attrName>style.visibility</p:attrName>
                                        </p:attrNameLst>
                                      </p:cBhvr>
                                      <p:to>
                                        <p:strVal val="visible"/>
                                      </p:to>
                                    </p:set>
                                    <p:animEffect transition="in" filter="fade">
                                      <p:cBhvr>
                                        <p:cTn id="7" dur="800" decel="100000"/>
                                        <p:tgtEl>
                                          <p:spTgt spid="414723">
                                            <p:txEl>
                                              <p:pRg st="0" end="0"/>
                                            </p:txEl>
                                          </p:spTgt>
                                        </p:tgtEl>
                                      </p:cBhvr>
                                    </p:animEffect>
                                    <p:anim calcmode="lin" valueType="num">
                                      <p:cBhvr>
                                        <p:cTn id="8" dur="800" decel="100000" fill="hold"/>
                                        <p:tgtEl>
                                          <p:spTgt spid="414723">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14723">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14723">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14723">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14723">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14723">
                                            <p:txEl>
                                              <p:pRg st="1" end="1"/>
                                            </p:txEl>
                                          </p:spTgt>
                                        </p:tgtEl>
                                        <p:attrNameLst>
                                          <p:attrName>style.visibility</p:attrName>
                                        </p:attrNameLst>
                                      </p:cBhvr>
                                      <p:to>
                                        <p:strVal val="visible"/>
                                      </p:to>
                                    </p:set>
                                    <p:animEffect transition="in" filter="fade">
                                      <p:cBhvr>
                                        <p:cTn id="17" dur="800" decel="100000"/>
                                        <p:tgtEl>
                                          <p:spTgt spid="414723">
                                            <p:txEl>
                                              <p:pRg st="1" end="1"/>
                                            </p:txEl>
                                          </p:spTgt>
                                        </p:tgtEl>
                                      </p:cBhvr>
                                    </p:animEffect>
                                    <p:anim calcmode="lin" valueType="num">
                                      <p:cBhvr>
                                        <p:cTn id="18" dur="800" decel="100000" fill="hold"/>
                                        <p:tgtEl>
                                          <p:spTgt spid="414723">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14723">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14723">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14723">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1472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14723">
                                            <p:txEl>
                                              <p:pRg st="2" end="2"/>
                                            </p:txEl>
                                          </p:spTgt>
                                        </p:tgtEl>
                                        <p:attrNameLst>
                                          <p:attrName>style.visibility</p:attrName>
                                        </p:attrNameLst>
                                      </p:cBhvr>
                                      <p:to>
                                        <p:strVal val="visible"/>
                                      </p:to>
                                    </p:set>
                                    <p:animEffect transition="in" filter="fade">
                                      <p:cBhvr>
                                        <p:cTn id="27" dur="800" decel="100000"/>
                                        <p:tgtEl>
                                          <p:spTgt spid="414723">
                                            <p:txEl>
                                              <p:pRg st="2" end="2"/>
                                            </p:txEl>
                                          </p:spTgt>
                                        </p:tgtEl>
                                      </p:cBhvr>
                                    </p:animEffect>
                                    <p:anim calcmode="lin" valueType="num">
                                      <p:cBhvr>
                                        <p:cTn id="28" dur="800" decel="100000" fill="hold"/>
                                        <p:tgtEl>
                                          <p:spTgt spid="414723">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14723">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14723">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14723">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14723">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14723">
                                            <p:txEl>
                                              <p:pRg st="3" end="3"/>
                                            </p:txEl>
                                          </p:spTgt>
                                        </p:tgtEl>
                                        <p:attrNameLst>
                                          <p:attrName>style.visibility</p:attrName>
                                        </p:attrNameLst>
                                      </p:cBhvr>
                                      <p:to>
                                        <p:strVal val="visible"/>
                                      </p:to>
                                    </p:set>
                                    <p:animEffect transition="in" filter="fade">
                                      <p:cBhvr>
                                        <p:cTn id="37" dur="800" decel="100000"/>
                                        <p:tgtEl>
                                          <p:spTgt spid="414723">
                                            <p:txEl>
                                              <p:pRg st="3" end="3"/>
                                            </p:txEl>
                                          </p:spTgt>
                                        </p:tgtEl>
                                      </p:cBhvr>
                                    </p:animEffect>
                                    <p:anim calcmode="lin" valueType="num">
                                      <p:cBhvr>
                                        <p:cTn id="38" dur="800" decel="100000" fill="hold"/>
                                        <p:tgtEl>
                                          <p:spTgt spid="414723">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14723">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14723">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14723">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14723">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414723">
                                            <p:txEl>
                                              <p:pRg st="4" end="4"/>
                                            </p:txEl>
                                          </p:spTgt>
                                        </p:tgtEl>
                                        <p:attrNameLst>
                                          <p:attrName>style.visibility</p:attrName>
                                        </p:attrNameLst>
                                      </p:cBhvr>
                                      <p:to>
                                        <p:strVal val="visible"/>
                                      </p:to>
                                    </p:set>
                                    <p:animEffect transition="in" filter="fade">
                                      <p:cBhvr>
                                        <p:cTn id="47" dur="800" decel="100000"/>
                                        <p:tgtEl>
                                          <p:spTgt spid="414723">
                                            <p:txEl>
                                              <p:pRg st="4" end="4"/>
                                            </p:txEl>
                                          </p:spTgt>
                                        </p:tgtEl>
                                      </p:cBhvr>
                                    </p:animEffect>
                                    <p:anim calcmode="lin" valueType="num">
                                      <p:cBhvr>
                                        <p:cTn id="48" dur="800" decel="100000" fill="hold"/>
                                        <p:tgtEl>
                                          <p:spTgt spid="414723">
                                            <p:txEl>
                                              <p:pRg st="4" end="4"/>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414723">
                                            <p:txEl>
                                              <p:pRg st="4" end="4"/>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414723">
                                            <p:txEl>
                                              <p:pRg st="4" end="4"/>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414723">
                                            <p:txEl>
                                              <p:pRg st="4" end="4"/>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414723">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nodeType="clickEffect">
                                  <p:stCondLst>
                                    <p:cond delay="0"/>
                                  </p:stCondLst>
                                  <p:childTnLst>
                                    <p:set>
                                      <p:cBhvr>
                                        <p:cTn id="56" dur="1" fill="hold">
                                          <p:stCondLst>
                                            <p:cond delay="0"/>
                                          </p:stCondLst>
                                        </p:cTn>
                                        <p:tgtEl>
                                          <p:spTgt spid="414723">
                                            <p:txEl>
                                              <p:pRg st="5" end="5"/>
                                            </p:txEl>
                                          </p:spTgt>
                                        </p:tgtEl>
                                        <p:attrNameLst>
                                          <p:attrName>style.visibility</p:attrName>
                                        </p:attrNameLst>
                                      </p:cBhvr>
                                      <p:to>
                                        <p:strVal val="visible"/>
                                      </p:to>
                                    </p:set>
                                    <p:animEffect transition="in" filter="fade">
                                      <p:cBhvr>
                                        <p:cTn id="57" dur="800" decel="100000"/>
                                        <p:tgtEl>
                                          <p:spTgt spid="414723">
                                            <p:txEl>
                                              <p:pRg st="5" end="5"/>
                                            </p:txEl>
                                          </p:spTgt>
                                        </p:tgtEl>
                                      </p:cBhvr>
                                    </p:animEffect>
                                    <p:anim calcmode="lin" valueType="num">
                                      <p:cBhvr>
                                        <p:cTn id="58" dur="800" decel="100000" fill="hold"/>
                                        <p:tgtEl>
                                          <p:spTgt spid="414723">
                                            <p:txEl>
                                              <p:pRg st="5" end="5"/>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414723">
                                            <p:txEl>
                                              <p:pRg st="5" end="5"/>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414723">
                                            <p:txEl>
                                              <p:pRg st="5" end="5"/>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414723">
                                            <p:txEl>
                                              <p:pRg st="5" end="5"/>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414723">
                                            <p:txEl>
                                              <p:pRg st="5" end="5"/>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pPr algn="l"/>
            <a:r>
              <a:rPr lang="en-US" dirty="0" smtClean="0"/>
              <a:t>(Cont.)</a:t>
            </a:r>
            <a:endParaRPr lang="en-US" dirty="0"/>
          </a:p>
        </p:txBody>
      </p:sp>
      <p:sp>
        <p:nvSpPr>
          <p:cNvPr id="416771" name="Rectangle 3"/>
          <p:cNvSpPr>
            <a:spLocks noGrp="1" noChangeArrowheads="1"/>
          </p:cNvSpPr>
          <p:nvPr>
            <p:ph idx="1"/>
          </p:nvPr>
        </p:nvSpPr>
        <p:spPr>
          <a:xfrm>
            <a:off x="457200" y="2362200"/>
            <a:ext cx="8229600" cy="2438400"/>
          </a:xfrm>
        </p:spPr>
        <p:txBody>
          <a:bodyPr/>
          <a:lstStyle/>
          <a:p>
            <a:pPr lvl="1"/>
            <a:r>
              <a:rPr lang="en-US" sz="3600" dirty="0"/>
              <a:t>Total utility is maximized when:</a:t>
            </a:r>
          </a:p>
          <a:p>
            <a:pPr lvl="1" algn="ctr"/>
            <a:r>
              <a:rPr lang="en-US" sz="3600" i="1" dirty="0"/>
              <a:t>MU</a:t>
            </a:r>
            <a:r>
              <a:rPr lang="en-US" sz="3600" i="1" baseline="-25000" dirty="0"/>
              <a:t>M</a:t>
            </a:r>
            <a:r>
              <a:rPr lang="en-US" sz="3600" dirty="0"/>
              <a:t>/</a:t>
            </a:r>
            <a:r>
              <a:rPr lang="en-US" sz="3600" i="1" dirty="0"/>
              <a:t>P</a:t>
            </a:r>
            <a:r>
              <a:rPr lang="en-US" sz="3600" i="1" baseline="-25000" dirty="0"/>
              <a:t>M </a:t>
            </a:r>
            <a:r>
              <a:rPr lang="en-US" sz="3600" dirty="0"/>
              <a:t>= </a:t>
            </a:r>
            <a:r>
              <a:rPr lang="en-US" sz="3600" i="1" dirty="0" smtClean="0"/>
              <a:t>MU</a:t>
            </a:r>
            <a:r>
              <a:rPr lang="en-US" sz="3600" i="1" baseline="-25000" dirty="0" smtClean="0"/>
              <a:t>S</a:t>
            </a:r>
            <a:r>
              <a:rPr lang="en-US" sz="3600" dirty="0" smtClean="0"/>
              <a:t>/</a:t>
            </a:r>
            <a:r>
              <a:rPr lang="en-US" sz="3600" i="1" dirty="0" smtClean="0"/>
              <a:t>P</a:t>
            </a:r>
            <a:r>
              <a:rPr lang="en-US" sz="3600" i="1" baseline="-25000" dirty="0" smtClean="0"/>
              <a:t>S</a:t>
            </a:r>
            <a:endParaRPr lang="en-US" sz="3600" dirty="0"/>
          </a:p>
        </p:txBody>
      </p:sp>
      <p:sp>
        <p:nvSpPr>
          <p:cNvPr id="4" name="Slide Number Placeholder 3"/>
          <p:cNvSpPr>
            <a:spLocks noGrp="1"/>
          </p:cNvSpPr>
          <p:nvPr>
            <p:ph type="sldNum" sz="quarter" idx="11"/>
          </p:nvPr>
        </p:nvSpPr>
        <p:spPr/>
        <p:txBody>
          <a:bodyPr/>
          <a:lstStyle/>
          <a:p>
            <a:fld id="{F3965DA4-7A5B-4DE7-81D4-CD720070DD81}" type="slidenum">
              <a:rPr lang="en-US" smtClean="0"/>
              <a:pPr/>
              <a:t>13</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fade">
                                      <p:cBhvr>
                                        <p:cTn id="7" dur="800" decel="100000"/>
                                        <p:tgtEl>
                                          <p:spTgt spid="416771">
                                            <p:txEl>
                                              <p:pRg st="0" end="0"/>
                                            </p:txEl>
                                          </p:spTgt>
                                        </p:tgtEl>
                                      </p:cBhvr>
                                    </p:animEffect>
                                    <p:anim calcmode="lin" valueType="num">
                                      <p:cBhvr>
                                        <p:cTn id="8" dur="800" decel="100000" fill="hold"/>
                                        <p:tgtEl>
                                          <p:spTgt spid="41677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1677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1677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1677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1677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16771">
                                            <p:txEl>
                                              <p:pRg st="1" end="1"/>
                                            </p:txEl>
                                          </p:spTgt>
                                        </p:tgtEl>
                                        <p:attrNameLst>
                                          <p:attrName>style.visibility</p:attrName>
                                        </p:attrNameLst>
                                      </p:cBhvr>
                                      <p:to>
                                        <p:strVal val="visible"/>
                                      </p:to>
                                    </p:set>
                                    <p:animEffect transition="in" filter="fade">
                                      <p:cBhvr>
                                        <p:cTn id="17" dur="800" decel="100000"/>
                                        <p:tgtEl>
                                          <p:spTgt spid="416771">
                                            <p:txEl>
                                              <p:pRg st="1" end="1"/>
                                            </p:txEl>
                                          </p:spTgt>
                                        </p:tgtEl>
                                      </p:cBhvr>
                                    </p:animEffect>
                                    <p:anim calcmode="lin" valueType="num">
                                      <p:cBhvr>
                                        <p:cTn id="18" dur="800" decel="100000" fill="hold"/>
                                        <p:tgtEl>
                                          <p:spTgt spid="416771">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16771">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16771">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16771">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16771">
                                            <p:txEl>
                                              <p:pRg st="1" end="1"/>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pPr algn="l"/>
            <a:r>
              <a:rPr lang="en-US" dirty="0" smtClean="0"/>
              <a:t>(Cont.)</a:t>
            </a:r>
            <a:endParaRPr lang="en-US" dirty="0"/>
          </a:p>
        </p:txBody>
      </p:sp>
      <p:sp>
        <p:nvSpPr>
          <p:cNvPr id="430083" name="Rectangle 3"/>
          <p:cNvSpPr>
            <a:spLocks noGrp="1" noChangeArrowheads="1"/>
          </p:cNvSpPr>
          <p:nvPr>
            <p:ph idx="1"/>
          </p:nvPr>
        </p:nvSpPr>
        <p:spPr>
          <a:xfrm>
            <a:off x="457200" y="1752600"/>
            <a:ext cx="3962400" cy="4373563"/>
          </a:xfrm>
        </p:spPr>
        <p:txBody>
          <a:bodyPr/>
          <a:lstStyle/>
          <a:p>
            <a:pPr lvl="1"/>
            <a:r>
              <a:rPr lang="en-US" dirty="0"/>
              <a:t>If </a:t>
            </a:r>
            <a:r>
              <a:rPr lang="en-US" i="1" dirty="0"/>
              <a:t>MU</a:t>
            </a:r>
            <a:r>
              <a:rPr lang="en-US" i="1" baseline="-25000" dirty="0"/>
              <a:t>M</a:t>
            </a:r>
            <a:r>
              <a:rPr lang="en-US" dirty="0"/>
              <a:t>/</a:t>
            </a:r>
            <a:r>
              <a:rPr lang="en-US" i="1" dirty="0"/>
              <a:t>P</a:t>
            </a:r>
            <a:r>
              <a:rPr lang="en-US" i="1" baseline="-25000" dirty="0"/>
              <a:t>M </a:t>
            </a:r>
            <a:r>
              <a:rPr lang="en-US" dirty="0"/>
              <a:t>&gt; </a:t>
            </a:r>
            <a:r>
              <a:rPr lang="en-US" i="1" dirty="0"/>
              <a:t>MU</a:t>
            </a:r>
            <a:r>
              <a:rPr lang="en-US" i="1" baseline="-25000" dirty="0"/>
              <a:t>S</a:t>
            </a:r>
            <a:r>
              <a:rPr lang="en-US" dirty="0"/>
              <a:t>/</a:t>
            </a:r>
            <a:r>
              <a:rPr lang="en-US" i="1" dirty="0"/>
              <a:t>P</a:t>
            </a:r>
            <a:r>
              <a:rPr lang="en-US" i="1" baseline="-25000" dirty="0"/>
              <a:t>S</a:t>
            </a:r>
            <a:r>
              <a:rPr lang="en-US" i="1" dirty="0"/>
              <a:t>,</a:t>
            </a:r>
            <a:r>
              <a:rPr lang="en-US" dirty="0"/>
              <a:t> then moving a dollar from soda to movies increases the total utility from movies by more than it decreases the total utility from soda, so total utility increases. </a:t>
            </a:r>
          </a:p>
        </p:txBody>
      </p:sp>
      <p:sp>
        <p:nvSpPr>
          <p:cNvPr id="8" name="Slide Number Placeholder 7"/>
          <p:cNvSpPr>
            <a:spLocks noGrp="1"/>
          </p:cNvSpPr>
          <p:nvPr>
            <p:ph type="sldNum" sz="quarter" idx="11"/>
          </p:nvPr>
        </p:nvSpPr>
        <p:spPr/>
        <p:txBody>
          <a:bodyPr/>
          <a:lstStyle/>
          <a:p>
            <a:fld id="{ABE96090-50D5-425C-B1EF-183FF710AA20}" type="slidenum">
              <a:rPr lang="en-US" smtClean="0"/>
              <a:pPr/>
              <a:t>14</a:t>
            </a:fld>
            <a:endParaRPr lang="en-US"/>
          </a:p>
        </p:txBody>
      </p:sp>
      <p:pic>
        <p:nvPicPr>
          <p:cNvPr id="430091" name="Picture 11" descr="Fig07"/>
          <p:cNvPicPr>
            <a:picLocks noChangeAspect="1" noChangeArrowheads="1"/>
          </p:cNvPicPr>
          <p:nvPr/>
        </p:nvPicPr>
        <p:blipFill>
          <a:blip r:embed="rId3" cstate="print"/>
          <a:srcRect/>
          <a:stretch>
            <a:fillRect/>
          </a:stretch>
        </p:blipFill>
        <p:spPr bwMode="auto">
          <a:xfrm>
            <a:off x="4648200" y="1905000"/>
            <a:ext cx="3794125" cy="3824288"/>
          </a:xfrm>
          <a:prstGeom prst="rect">
            <a:avLst/>
          </a:prstGeom>
          <a:noFill/>
        </p:spPr>
      </p:pic>
      <p:pic>
        <p:nvPicPr>
          <p:cNvPr id="430092" name="Picture 12" descr="Fig07"/>
          <p:cNvPicPr>
            <a:picLocks noChangeAspect="1" noChangeArrowheads="1"/>
          </p:cNvPicPr>
          <p:nvPr/>
        </p:nvPicPr>
        <p:blipFill>
          <a:blip r:embed="rId4" cstate="print"/>
          <a:srcRect/>
          <a:stretch>
            <a:fillRect/>
          </a:stretch>
        </p:blipFill>
        <p:spPr bwMode="auto">
          <a:xfrm>
            <a:off x="4648200" y="1905000"/>
            <a:ext cx="3794125" cy="3824288"/>
          </a:xfrm>
          <a:prstGeom prst="rect">
            <a:avLst/>
          </a:prstGeom>
          <a:noFill/>
        </p:spPr>
      </p:pic>
      <p:pic>
        <p:nvPicPr>
          <p:cNvPr id="430093" name="Picture 13" descr="Fig07"/>
          <p:cNvPicPr>
            <a:picLocks noChangeAspect="1" noChangeArrowheads="1"/>
          </p:cNvPicPr>
          <p:nvPr/>
        </p:nvPicPr>
        <p:blipFill>
          <a:blip r:embed="rId5" cstate="print"/>
          <a:srcRect/>
          <a:stretch>
            <a:fillRect/>
          </a:stretch>
        </p:blipFill>
        <p:spPr bwMode="auto">
          <a:xfrm>
            <a:off x="4648200" y="1905000"/>
            <a:ext cx="3794125" cy="3824288"/>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430092"/>
                                        </p:tgtEl>
                                        <p:attrNameLst>
                                          <p:attrName>style.visibility</p:attrName>
                                        </p:attrNameLst>
                                      </p:cBhvr>
                                      <p:to>
                                        <p:strVal val="visible"/>
                                      </p:to>
                                    </p:set>
                                    <p:animEffect transition="in" filter="box(out)">
                                      <p:cBhvr>
                                        <p:cTn id="7" dur="2000"/>
                                        <p:tgtEl>
                                          <p:spTgt spid="430092"/>
                                        </p:tgtEl>
                                      </p:cBhvr>
                                    </p:animEffect>
                                  </p:childTnLst>
                                </p:cTn>
                              </p:par>
                            </p:childTnLst>
                          </p:cTn>
                        </p:par>
                        <p:par>
                          <p:cTn id="8" fill="hold">
                            <p:stCondLst>
                              <p:cond delay="2000"/>
                            </p:stCondLst>
                            <p:childTnLst>
                              <p:par>
                                <p:cTn id="9" presetID="4" presetClass="entr" presetSubtype="32" fill="hold" nodeType="afterEffect">
                                  <p:stCondLst>
                                    <p:cond delay="0"/>
                                  </p:stCondLst>
                                  <p:childTnLst>
                                    <p:set>
                                      <p:cBhvr>
                                        <p:cTn id="10" dur="1" fill="hold">
                                          <p:stCondLst>
                                            <p:cond delay="0"/>
                                          </p:stCondLst>
                                        </p:cTn>
                                        <p:tgtEl>
                                          <p:spTgt spid="430093"/>
                                        </p:tgtEl>
                                        <p:attrNameLst>
                                          <p:attrName>style.visibility</p:attrName>
                                        </p:attrNameLst>
                                      </p:cBhvr>
                                      <p:to>
                                        <p:strVal val="visible"/>
                                      </p:to>
                                    </p:set>
                                    <p:animEffect transition="in" filter="box(out)">
                                      <p:cBhvr>
                                        <p:cTn id="11" dur="500"/>
                                        <p:tgtEl>
                                          <p:spTgt spid="430093"/>
                                        </p:tgtEl>
                                      </p:cBhvr>
                                    </p:animEffect>
                                  </p:childTnLst>
                                </p:cTn>
                              </p:par>
                            </p:childTnLst>
                          </p:cTn>
                        </p:par>
                      </p:childTnLst>
                    </p:cTn>
                  </p:par>
                  <p:par>
                    <p:cTn id="12" fill="hold">
                      <p:stCondLst>
                        <p:cond delay="indefinite"/>
                      </p:stCondLst>
                      <p:childTnLst>
                        <p:par>
                          <p:cTn id="13" fill="hold">
                            <p:stCondLst>
                              <p:cond delay="0"/>
                            </p:stCondLst>
                            <p:childTnLst>
                              <p:par>
                                <p:cTn id="14" presetID="30" presetClass="entr" presetSubtype="0" fill="hold" grpId="0" nodeType="clickEffect">
                                  <p:stCondLst>
                                    <p:cond delay="0"/>
                                  </p:stCondLst>
                                  <p:childTnLst>
                                    <p:set>
                                      <p:cBhvr>
                                        <p:cTn id="15" dur="1" fill="hold">
                                          <p:stCondLst>
                                            <p:cond delay="0"/>
                                          </p:stCondLst>
                                        </p:cTn>
                                        <p:tgtEl>
                                          <p:spTgt spid="430083">
                                            <p:txEl>
                                              <p:pRg st="0" end="0"/>
                                            </p:txEl>
                                          </p:spTgt>
                                        </p:tgtEl>
                                        <p:attrNameLst>
                                          <p:attrName>style.visibility</p:attrName>
                                        </p:attrNameLst>
                                      </p:cBhvr>
                                      <p:to>
                                        <p:strVal val="visible"/>
                                      </p:to>
                                    </p:set>
                                    <p:animEffect transition="in" filter="fade">
                                      <p:cBhvr>
                                        <p:cTn id="16" dur="800" decel="100000"/>
                                        <p:tgtEl>
                                          <p:spTgt spid="430083">
                                            <p:txEl>
                                              <p:pRg st="0" end="0"/>
                                            </p:txEl>
                                          </p:spTgt>
                                        </p:tgtEl>
                                      </p:cBhvr>
                                    </p:animEffect>
                                    <p:anim calcmode="lin" valueType="num">
                                      <p:cBhvr>
                                        <p:cTn id="17" dur="800" decel="100000" fill="hold"/>
                                        <p:tgtEl>
                                          <p:spTgt spid="430083">
                                            <p:txEl>
                                              <p:pRg st="0" end="0"/>
                                            </p:txEl>
                                          </p:spTgt>
                                        </p:tgtEl>
                                        <p:attrNameLst>
                                          <p:attrName>style.rotation</p:attrName>
                                        </p:attrNameLst>
                                      </p:cBhvr>
                                      <p:tavLst>
                                        <p:tav tm="0">
                                          <p:val>
                                            <p:fltVal val="-90"/>
                                          </p:val>
                                        </p:tav>
                                        <p:tav tm="100000">
                                          <p:val>
                                            <p:fltVal val="0"/>
                                          </p:val>
                                        </p:tav>
                                      </p:tavLst>
                                    </p:anim>
                                    <p:anim calcmode="lin" valueType="num">
                                      <p:cBhvr>
                                        <p:cTn id="18" dur="800" decel="100000" fill="hold"/>
                                        <p:tgtEl>
                                          <p:spTgt spid="430083">
                                            <p:txEl>
                                              <p:pRg st="0" end="0"/>
                                            </p:txEl>
                                          </p:spTgt>
                                        </p:tgtEl>
                                        <p:attrNameLst>
                                          <p:attrName>ppt_x</p:attrName>
                                        </p:attrNameLst>
                                      </p:cBhvr>
                                      <p:tavLst>
                                        <p:tav tm="0">
                                          <p:val>
                                            <p:strVal val="#ppt_x+0.4"/>
                                          </p:val>
                                        </p:tav>
                                        <p:tav tm="100000">
                                          <p:val>
                                            <p:strVal val="#ppt_x-0.05"/>
                                          </p:val>
                                        </p:tav>
                                      </p:tavLst>
                                    </p:anim>
                                    <p:anim calcmode="lin" valueType="num">
                                      <p:cBhvr>
                                        <p:cTn id="19" dur="800" decel="100000" fill="hold"/>
                                        <p:tgtEl>
                                          <p:spTgt spid="430083">
                                            <p:txEl>
                                              <p:pRg st="0" end="0"/>
                                            </p:txEl>
                                          </p:spTgt>
                                        </p:tgtEl>
                                        <p:attrNameLst>
                                          <p:attrName>ppt_y</p:attrName>
                                        </p:attrNameLst>
                                      </p:cBhvr>
                                      <p:tavLst>
                                        <p:tav tm="0">
                                          <p:val>
                                            <p:strVal val="#ppt_y-0.4"/>
                                          </p:val>
                                        </p:tav>
                                        <p:tav tm="100000">
                                          <p:val>
                                            <p:strVal val="#ppt_y+0.1"/>
                                          </p:val>
                                        </p:tav>
                                      </p:tavLst>
                                    </p:anim>
                                    <p:anim calcmode="lin" valueType="num">
                                      <p:cBhvr>
                                        <p:cTn id="20" dur="200" accel="100000" fill="hold">
                                          <p:stCondLst>
                                            <p:cond delay="800"/>
                                          </p:stCondLst>
                                        </p:cTn>
                                        <p:tgtEl>
                                          <p:spTgt spid="430083">
                                            <p:txEl>
                                              <p:pRg st="0" end="0"/>
                                            </p:txEl>
                                          </p:spTgt>
                                        </p:tgtEl>
                                        <p:attrNameLst>
                                          <p:attrName>ppt_x</p:attrName>
                                        </p:attrNameLst>
                                      </p:cBhvr>
                                      <p:tavLst>
                                        <p:tav tm="0">
                                          <p:val>
                                            <p:strVal val="#ppt_x-0.05"/>
                                          </p:val>
                                        </p:tav>
                                        <p:tav tm="100000">
                                          <p:val>
                                            <p:strVal val="#ppt_x"/>
                                          </p:val>
                                        </p:tav>
                                      </p:tavLst>
                                    </p:anim>
                                    <p:anim calcmode="lin" valueType="num">
                                      <p:cBhvr>
                                        <p:cTn id="21" dur="200" accel="100000" fill="hold">
                                          <p:stCondLst>
                                            <p:cond delay="800"/>
                                          </p:stCondLst>
                                        </p:cTn>
                                        <p:tgtEl>
                                          <p:spTgt spid="430083">
                                            <p:txEl>
                                              <p:pRg st="0" end="0"/>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(Cont.)</a:t>
            </a:r>
            <a:endParaRPr lang="en-US" dirty="0"/>
          </a:p>
        </p:txBody>
      </p:sp>
      <p:sp>
        <p:nvSpPr>
          <p:cNvPr id="5" name="Rectangle 10"/>
          <p:cNvSpPr>
            <a:spLocks noGrp="1" noChangeArrowheads="1"/>
          </p:cNvSpPr>
          <p:nvPr>
            <p:ph idx="1"/>
          </p:nvPr>
        </p:nvSpPr>
        <p:spPr bwMode="auto">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4000" dirty="0"/>
              <a:t>Only when </a:t>
            </a:r>
            <a:r>
              <a:rPr lang="en-US" sz="4000" i="1" dirty="0"/>
              <a:t>MU</a:t>
            </a:r>
            <a:r>
              <a:rPr lang="en-US" sz="4000" i="1" baseline="-25000" dirty="0"/>
              <a:t>M</a:t>
            </a:r>
            <a:r>
              <a:rPr lang="en-US" sz="4000" dirty="0"/>
              <a:t>/</a:t>
            </a:r>
            <a:r>
              <a:rPr lang="en-US" sz="4000" i="1" dirty="0"/>
              <a:t>P</a:t>
            </a:r>
            <a:r>
              <a:rPr lang="en-US" sz="4000" i="1" baseline="-25000" dirty="0"/>
              <a:t>M </a:t>
            </a:r>
            <a:r>
              <a:rPr lang="en-US" sz="4000" dirty="0"/>
              <a:t>= </a:t>
            </a:r>
            <a:r>
              <a:rPr lang="en-US" sz="4000" i="1" dirty="0"/>
              <a:t>MU</a:t>
            </a:r>
            <a:r>
              <a:rPr lang="en-US" sz="4000" i="1" baseline="-25000" dirty="0"/>
              <a:t>S</a:t>
            </a:r>
            <a:r>
              <a:rPr lang="en-US" sz="4000" dirty="0"/>
              <a:t>/</a:t>
            </a:r>
            <a:r>
              <a:rPr lang="en-US" sz="4000" i="1" dirty="0"/>
              <a:t>P</a:t>
            </a:r>
            <a:r>
              <a:rPr lang="en-US" sz="4000" i="1" baseline="-25000" dirty="0"/>
              <a:t>S</a:t>
            </a:r>
            <a:r>
              <a:rPr lang="en-US" sz="4000" i="1" dirty="0"/>
              <a:t>,</a:t>
            </a:r>
            <a:r>
              <a:rPr lang="en-US" sz="4000" dirty="0"/>
              <a:t> is it not possible to reallocate the budget and increase total utility.</a:t>
            </a:r>
          </a:p>
        </p:txBody>
      </p:sp>
      <p:sp>
        <p:nvSpPr>
          <p:cNvPr id="4" name="Slide Number Placeholder 3"/>
          <p:cNvSpPr>
            <a:spLocks noGrp="1"/>
          </p:cNvSpPr>
          <p:nvPr>
            <p:ph type="sldNum" sz="quarter" idx="11"/>
          </p:nvPr>
        </p:nvSpPr>
        <p:spPr/>
        <p:txBody>
          <a:bodyPr/>
          <a:lstStyle/>
          <a:p>
            <a:fld id="{F3965DA4-7A5B-4DE7-81D4-CD720070DD81}" type="slidenum">
              <a:rPr lang="en-US" smtClean="0"/>
              <a:pPr/>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pPr algn="l"/>
            <a:r>
              <a:rPr lang="en-US" dirty="0" smtClean="0"/>
              <a:t>(Cont.)</a:t>
            </a:r>
            <a:endParaRPr lang="en-US" dirty="0"/>
          </a:p>
        </p:txBody>
      </p:sp>
      <p:sp>
        <p:nvSpPr>
          <p:cNvPr id="431107" name="Rectangle 3"/>
          <p:cNvSpPr>
            <a:spLocks noGrp="1" noChangeArrowheads="1"/>
          </p:cNvSpPr>
          <p:nvPr>
            <p:ph idx="1"/>
          </p:nvPr>
        </p:nvSpPr>
        <p:spPr>
          <a:xfrm>
            <a:off x="457200" y="1752600"/>
            <a:ext cx="3962400" cy="3048000"/>
          </a:xfrm>
        </p:spPr>
        <p:txBody>
          <a:bodyPr/>
          <a:lstStyle/>
          <a:p>
            <a:pPr lvl="1"/>
            <a:r>
              <a:rPr lang="en-US" dirty="0"/>
              <a:t>Similarly, if </a:t>
            </a:r>
            <a:r>
              <a:rPr lang="en-US" i="1" dirty="0"/>
              <a:t>MU</a:t>
            </a:r>
            <a:r>
              <a:rPr lang="en-US" i="1" baseline="-25000" dirty="0"/>
              <a:t>S</a:t>
            </a:r>
            <a:r>
              <a:rPr lang="en-US" dirty="0"/>
              <a:t>/</a:t>
            </a:r>
            <a:r>
              <a:rPr lang="en-US" i="1" dirty="0"/>
              <a:t>P</a:t>
            </a:r>
            <a:r>
              <a:rPr lang="en-US" i="1" baseline="-25000" dirty="0"/>
              <a:t>S </a:t>
            </a:r>
            <a:r>
              <a:rPr lang="en-US" dirty="0"/>
              <a:t>&gt; </a:t>
            </a:r>
            <a:r>
              <a:rPr lang="en-US" i="1" dirty="0"/>
              <a:t>MU</a:t>
            </a:r>
            <a:r>
              <a:rPr lang="en-US" i="1" baseline="-25000" dirty="0"/>
              <a:t>M</a:t>
            </a:r>
            <a:r>
              <a:rPr lang="en-US" dirty="0"/>
              <a:t>/</a:t>
            </a:r>
            <a:r>
              <a:rPr lang="en-US" i="1" dirty="0"/>
              <a:t>P</a:t>
            </a:r>
            <a:r>
              <a:rPr lang="en-US" i="1" baseline="-25000" dirty="0"/>
              <a:t>M</a:t>
            </a:r>
            <a:r>
              <a:rPr lang="en-US" i="1" dirty="0"/>
              <a:t>, </a:t>
            </a:r>
            <a:r>
              <a:rPr lang="en-US" dirty="0"/>
              <a:t>then moving a dollar from movies to soda increases the total utility from soda by more than it decreases the total utility from movies, so total utility increases. </a:t>
            </a:r>
          </a:p>
        </p:txBody>
      </p:sp>
      <p:sp>
        <p:nvSpPr>
          <p:cNvPr id="11" name="Slide Number Placeholder 10"/>
          <p:cNvSpPr>
            <a:spLocks noGrp="1"/>
          </p:cNvSpPr>
          <p:nvPr>
            <p:ph type="sldNum" sz="quarter" idx="11"/>
          </p:nvPr>
        </p:nvSpPr>
        <p:spPr/>
        <p:txBody>
          <a:bodyPr/>
          <a:lstStyle/>
          <a:p>
            <a:fld id="{ABE96090-50D5-425C-B1EF-183FF710AA20}" type="slidenum">
              <a:rPr lang="en-US" smtClean="0"/>
              <a:pPr/>
              <a:t>16</a:t>
            </a:fld>
            <a:endParaRPr lang="en-US"/>
          </a:p>
        </p:txBody>
      </p:sp>
      <p:pic>
        <p:nvPicPr>
          <p:cNvPr id="431115" name="Picture 11" descr="Fig07"/>
          <p:cNvPicPr>
            <a:picLocks noChangeAspect="1" noChangeArrowheads="1"/>
          </p:cNvPicPr>
          <p:nvPr/>
        </p:nvPicPr>
        <p:blipFill>
          <a:blip r:embed="rId3" cstate="print"/>
          <a:srcRect/>
          <a:stretch>
            <a:fillRect/>
          </a:stretch>
        </p:blipFill>
        <p:spPr bwMode="auto">
          <a:xfrm>
            <a:off x="4648200" y="1905000"/>
            <a:ext cx="3794125" cy="3824288"/>
          </a:xfrm>
          <a:prstGeom prst="rect">
            <a:avLst/>
          </a:prstGeom>
          <a:noFill/>
        </p:spPr>
      </p:pic>
      <p:pic>
        <p:nvPicPr>
          <p:cNvPr id="431116" name="Picture 12" descr="Fig07"/>
          <p:cNvPicPr>
            <a:picLocks noChangeAspect="1" noChangeArrowheads="1"/>
          </p:cNvPicPr>
          <p:nvPr/>
        </p:nvPicPr>
        <p:blipFill>
          <a:blip r:embed="rId4" cstate="print"/>
          <a:srcRect/>
          <a:stretch>
            <a:fillRect/>
          </a:stretch>
        </p:blipFill>
        <p:spPr bwMode="auto">
          <a:xfrm>
            <a:off x="4648200" y="1905000"/>
            <a:ext cx="3794125" cy="3824288"/>
          </a:xfrm>
          <a:prstGeom prst="rect">
            <a:avLst/>
          </a:prstGeom>
          <a:noFill/>
        </p:spPr>
      </p:pic>
      <p:pic>
        <p:nvPicPr>
          <p:cNvPr id="431117" name="Picture 13" descr="Fig07"/>
          <p:cNvPicPr>
            <a:picLocks noChangeAspect="1" noChangeArrowheads="1"/>
          </p:cNvPicPr>
          <p:nvPr/>
        </p:nvPicPr>
        <p:blipFill>
          <a:blip r:embed="rId5" cstate="print"/>
          <a:srcRect/>
          <a:stretch>
            <a:fillRect/>
          </a:stretch>
        </p:blipFill>
        <p:spPr bwMode="auto">
          <a:xfrm>
            <a:off x="4648200" y="1905000"/>
            <a:ext cx="3794125" cy="3824288"/>
          </a:xfrm>
          <a:prstGeom prst="rect">
            <a:avLst/>
          </a:prstGeom>
          <a:noFill/>
        </p:spPr>
      </p:pic>
      <p:pic>
        <p:nvPicPr>
          <p:cNvPr id="431118" name="Picture 14" descr="Fig07"/>
          <p:cNvPicPr>
            <a:picLocks noChangeAspect="1" noChangeArrowheads="1"/>
          </p:cNvPicPr>
          <p:nvPr/>
        </p:nvPicPr>
        <p:blipFill>
          <a:blip r:embed="rId6" cstate="print"/>
          <a:srcRect/>
          <a:stretch>
            <a:fillRect/>
          </a:stretch>
        </p:blipFill>
        <p:spPr bwMode="auto">
          <a:xfrm>
            <a:off x="4648200" y="1905000"/>
            <a:ext cx="3794125" cy="3824288"/>
          </a:xfrm>
          <a:prstGeom prst="rect">
            <a:avLst/>
          </a:prstGeom>
          <a:noFill/>
        </p:spPr>
      </p:pic>
      <p:pic>
        <p:nvPicPr>
          <p:cNvPr id="431119" name="Picture 15" descr="Fig07"/>
          <p:cNvPicPr>
            <a:picLocks noChangeAspect="1" noChangeArrowheads="1"/>
          </p:cNvPicPr>
          <p:nvPr/>
        </p:nvPicPr>
        <p:blipFill>
          <a:blip r:embed="rId7" cstate="print"/>
          <a:srcRect/>
          <a:stretch>
            <a:fillRect/>
          </a:stretch>
        </p:blipFill>
        <p:spPr bwMode="auto">
          <a:xfrm>
            <a:off x="4648200" y="1905000"/>
            <a:ext cx="3794125" cy="3824288"/>
          </a:xfrm>
          <a:prstGeom prst="rect">
            <a:avLst/>
          </a:prstGeom>
          <a:noFill/>
        </p:spPr>
      </p:pic>
      <p:pic>
        <p:nvPicPr>
          <p:cNvPr id="431120" name="Picture 16" descr="Fig07"/>
          <p:cNvPicPr>
            <a:picLocks noChangeAspect="1" noChangeArrowheads="1"/>
          </p:cNvPicPr>
          <p:nvPr/>
        </p:nvPicPr>
        <p:blipFill>
          <a:blip r:embed="rId8" cstate="print"/>
          <a:srcRect/>
          <a:stretch>
            <a:fillRect/>
          </a:stretch>
        </p:blipFill>
        <p:spPr bwMode="auto">
          <a:xfrm>
            <a:off x="4648200" y="1905000"/>
            <a:ext cx="3794125" cy="3824288"/>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31118"/>
                                        </p:tgtEl>
                                        <p:attrNameLst>
                                          <p:attrName>style.visibility</p:attrName>
                                        </p:attrNameLst>
                                      </p:cBhvr>
                                      <p:to>
                                        <p:strVal val="visible"/>
                                      </p:to>
                                    </p:set>
                                    <p:animEffect transition="in" filter="dissolve">
                                      <p:cBhvr>
                                        <p:cTn id="7" dur="2000"/>
                                        <p:tgtEl>
                                          <p:spTgt spid="431118"/>
                                        </p:tgtEl>
                                      </p:cBhvr>
                                    </p:animEffect>
                                  </p:childTnLst>
                                </p:cTn>
                              </p:par>
                            </p:childTnLst>
                          </p:cTn>
                        </p:par>
                        <p:par>
                          <p:cTn id="8" fill="hold">
                            <p:stCondLst>
                              <p:cond delay="2000"/>
                            </p:stCondLst>
                            <p:childTnLst>
                              <p:par>
                                <p:cTn id="9" presetID="4" presetClass="entr" presetSubtype="32" fill="hold" nodeType="afterEffect">
                                  <p:stCondLst>
                                    <p:cond delay="0"/>
                                  </p:stCondLst>
                                  <p:childTnLst>
                                    <p:set>
                                      <p:cBhvr>
                                        <p:cTn id="10" dur="1" fill="hold">
                                          <p:stCondLst>
                                            <p:cond delay="0"/>
                                          </p:stCondLst>
                                        </p:cTn>
                                        <p:tgtEl>
                                          <p:spTgt spid="431119"/>
                                        </p:tgtEl>
                                        <p:attrNameLst>
                                          <p:attrName>style.visibility</p:attrName>
                                        </p:attrNameLst>
                                      </p:cBhvr>
                                      <p:to>
                                        <p:strVal val="visible"/>
                                      </p:to>
                                    </p:set>
                                    <p:animEffect transition="in" filter="box(out)">
                                      <p:cBhvr>
                                        <p:cTn id="11" dur="500"/>
                                        <p:tgtEl>
                                          <p:spTgt spid="431119"/>
                                        </p:tgtEl>
                                      </p:cBhvr>
                                    </p:animEffect>
                                  </p:childTnLst>
                                </p:cTn>
                              </p:par>
                            </p:childTnLst>
                          </p:cTn>
                        </p:par>
                        <p:par>
                          <p:cTn id="12" fill="hold">
                            <p:stCondLst>
                              <p:cond delay="2500"/>
                            </p:stCondLst>
                            <p:childTnLst>
                              <p:par>
                                <p:cTn id="13" presetID="4" presetClass="entr" presetSubtype="32" fill="hold" nodeType="afterEffect">
                                  <p:stCondLst>
                                    <p:cond delay="0"/>
                                  </p:stCondLst>
                                  <p:childTnLst>
                                    <p:set>
                                      <p:cBhvr>
                                        <p:cTn id="14" dur="1" fill="hold">
                                          <p:stCondLst>
                                            <p:cond delay="0"/>
                                          </p:stCondLst>
                                        </p:cTn>
                                        <p:tgtEl>
                                          <p:spTgt spid="431120"/>
                                        </p:tgtEl>
                                        <p:attrNameLst>
                                          <p:attrName>style.visibility</p:attrName>
                                        </p:attrNameLst>
                                      </p:cBhvr>
                                      <p:to>
                                        <p:strVal val="visible"/>
                                      </p:to>
                                    </p:set>
                                    <p:animEffect transition="in" filter="box(out)">
                                      <p:cBhvr>
                                        <p:cTn id="15" dur="500"/>
                                        <p:tgtEl>
                                          <p:spTgt spid="431120"/>
                                        </p:tgtEl>
                                      </p:cBhvr>
                                    </p:animEffect>
                                  </p:childTnLst>
                                </p:cTn>
                              </p:par>
                            </p:childTnLst>
                          </p:cTn>
                        </p:par>
                      </p:childTnLst>
                    </p:cTn>
                  </p:par>
                  <p:par>
                    <p:cTn id="16" fill="hold">
                      <p:stCondLst>
                        <p:cond delay="indefinite"/>
                      </p:stCondLst>
                      <p:childTnLst>
                        <p:par>
                          <p:cTn id="17" fill="hold">
                            <p:stCondLst>
                              <p:cond delay="0"/>
                            </p:stCondLst>
                            <p:childTnLst>
                              <p:par>
                                <p:cTn id="18" presetID="30" presetClass="entr" presetSubtype="0" fill="hold" grpId="0" nodeType="clickEffect">
                                  <p:stCondLst>
                                    <p:cond delay="0"/>
                                  </p:stCondLst>
                                  <p:childTnLst>
                                    <p:set>
                                      <p:cBhvr>
                                        <p:cTn id="19" dur="1" fill="hold">
                                          <p:stCondLst>
                                            <p:cond delay="0"/>
                                          </p:stCondLst>
                                        </p:cTn>
                                        <p:tgtEl>
                                          <p:spTgt spid="431107">
                                            <p:txEl>
                                              <p:pRg st="0" end="0"/>
                                            </p:txEl>
                                          </p:spTgt>
                                        </p:tgtEl>
                                        <p:attrNameLst>
                                          <p:attrName>style.visibility</p:attrName>
                                        </p:attrNameLst>
                                      </p:cBhvr>
                                      <p:to>
                                        <p:strVal val="visible"/>
                                      </p:to>
                                    </p:set>
                                    <p:animEffect transition="in" filter="fade">
                                      <p:cBhvr>
                                        <p:cTn id="20" dur="800" decel="100000"/>
                                        <p:tgtEl>
                                          <p:spTgt spid="431107">
                                            <p:txEl>
                                              <p:pRg st="0" end="0"/>
                                            </p:txEl>
                                          </p:spTgt>
                                        </p:tgtEl>
                                      </p:cBhvr>
                                    </p:animEffect>
                                    <p:anim calcmode="lin" valueType="num">
                                      <p:cBhvr>
                                        <p:cTn id="21" dur="800" decel="100000" fill="hold"/>
                                        <p:tgtEl>
                                          <p:spTgt spid="431107">
                                            <p:txEl>
                                              <p:pRg st="0" end="0"/>
                                            </p:txEl>
                                          </p:spTgt>
                                        </p:tgtEl>
                                        <p:attrNameLst>
                                          <p:attrName>style.rotation</p:attrName>
                                        </p:attrNameLst>
                                      </p:cBhvr>
                                      <p:tavLst>
                                        <p:tav tm="0">
                                          <p:val>
                                            <p:fltVal val="-90"/>
                                          </p:val>
                                        </p:tav>
                                        <p:tav tm="100000">
                                          <p:val>
                                            <p:fltVal val="0"/>
                                          </p:val>
                                        </p:tav>
                                      </p:tavLst>
                                    </p:anim>
                                    <p:anim calcmode="lin" valueType="num">
                                      <p:cBhvr>
                                        <p:cTn id="22" dur="800" decel="100000" fill="hold"/>
                                        <p:tgtEl>
                                          <p:spTgt spid="431107">
                                            <p:txEl>
                                              <p:pRg st="0" end="0"/>
                                            </p:txEl>
                                          </p:spTgt>
                                        </p:tgtEl>
                                        <p:attrNameLst>
                                          <p:attrName>ppt_x</p:attrName>
                                        </p:attrNameLst>
                                      </p:cBhvr>
                                      <p:tavLst>
                                        <p:tav tm="0">
                                          <p:val>
                                            <p:strVal val="#ppt_x+0.4"/>
                                          </p:val>
                                        </p:tav>
                                        <p:tav tm="100000">
                                          <p:val>
                                            <p:strVal val="#ppt_x-0.05"/>
                                          </p:val>
                                        </p:tav>
                                      </p:tavLst>
                                    </p:anim>
                                    <p:anim calcmode="lin" valueType="num">
                                      <p:cBhvr>
                                        <p:cTn id="23" dur="800" decel="100000" fill="hold"/>
                                        <p:tgtEl>
                                          <p:spTgt spid="431107">
                                            <p:txEl>
                                              <p:pRg st="0" end="0"/>
                                            </p:txEl>
                                          </p:spTgt>
                                        </p:tgtEl>
                                        <p:attrNameLst>
                                          <p:attrName>ppt_y</p:attrName>
                                        </p:attrNameLst>
                                      </p:cBhvr>
                                      <p:tavLst>
                                        <p:tav tm="0">
                                          <p:val>
                                            <p:strVal val="#ppt_y-0.4"/>
                                          </p:val>
                                        </p:tav>
                                        <p:tav tm="100000">
                                          <p:val>
                                            <p:strVal val="#ppt_y+0.1"/>
                                          </p:val>
                                        </p:tav>
                                      </p:tavLst>
                                    </p:anim>
                                    <p:anim calcmode="lin" valueType="num">
                                      <p:cBhvr>
                                        <p:cTn id="24" dur="200" accel="100000" fill="hold">
                                          <p:stCondLst>
                                            <p:cond delay="800"/>
                                          </p:stCondLst>
                                        </p:cTn>
                                        <p:tgtEl>
                                          <p:spTgt spid="431107">
                                            <p:txEl>
                                              <p:pRg st="0" end="0"/>
                                            </p:txEl>
                                          </p:spTgt>
                                        </p:tgtEl>
                                        <p:attrNameLst>
                                          <p:attrName>ppt_x</p:attrName>
                                        </p:attrNameLst>
                                      </p:cBhvr>
                                      <p:tavLst>
                                        <p:tav tm="0">
                                          <p:val>
                                            <p:strVal val="#ppt_x-0.05"/>
                                          </p:val>
                                        </p:tav>
                                        <p:tav tm="100000">
                                          <p:val>
                                            <p:strVal val="#ppt_x"/>
                                          </p:val>
                                        </p:tav>
                                      </p:tavLst>
                                    </p:anim>
                                    <p:anim calcmode="lin" valueType="num">
                                      <p:cBhvr>
                                        <p:cTn id="25" dur="200" accel="100000" fill="hold">
                                          <p:stCondLst>
                                            <p:cond delay="800"/>
                                          </p:stCondLst>
                                        </p:cTn>
                                        <p:tgtEl>
                                          <p:spTgt spid="431107">
                                            <p:txEl>
                                              <p:pRg st="0" end="0"/>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(Cont.)</a:t>
            </a:r>
            <a:endParaRPr lang="en-US" dirty="0"/>
          </a:p>
        </p:txBody>
      </p:sp>
      <p:sp>
        <p:nvSpPr>
          <p:cNvPr id="5" name="Rectangle 10"/>
          <p:cNvSpPr>
            <a:spLocks noGrp="1" noChangeArrowheads="1"/>
          </p:cNvSpPr>
          <p:nvPr>
            <p:ph idx="1"/>
          </p:nvPr>
        </p:nvSpPr>
        <p:spPr bwMode="auto">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4000" dirty="0"/>
              <a:t>Again, only when </a:t>
            </a:r>
            <a:r>
              <a:rPr lang="en-US" sz="4000" i="1" dirty="0"/>
              <a:t>MU</a:t>
            </a:r>
            <a:r>
              <a:rPr lang="en-US" sz="4000" i="1" baseline="-25000" dirty="0"/>
              <a:t>M</a:t>
            </a:r>
            <a:r>
              <a:rPr lang="en-US" sz="4000" dirty="0"/>
              <a:t>/</a:t>
            </a:r>
            <a:r>
              <a:rPr lang="en-US" sz="4000" i="1" dirty="0"/>
              <a:t>P</a:t>
            </a:r>
            <a:r>
              <a:rPr lang="en-US" sz="4000" i="1" baseline="-25000" dirty="0"/>
              <a:t>M </a:t>
            </a:r>
            <a:r>
              <a:rPr lang="en-US" sz="4000" dirty="0"/>
              <a:t>= </a:t>
            </a:r>
            <a:r>
              <a:rPr lang="en-US" sz="4000" i="1" dirty="0"/>
              <a:t>MU</a:t>
            </a:r>
            <a:r>
              <a:rPr lang="en-US" sz="4000" i="1" baseline="-25000" dirty="0"/>
              <a:t>S</a:t>
            </a:r>
            <a:r>
              <a:rPr lang="en-US" sz="4000" dirty="0"/>
              <a:t>/</a:t>
            </a:r>
            <a:r>
              <a:rPr lang="en-US" sz="4000" i="1" dirty="0"/>
              <a:t>P</a:t>
            </a:r>
            <a:r>
              <a:rPr lang="en-US" sz="4000" i="1" baseline="-25000" dirty="0"/>
              <a:t>S</a:t>
            </a:r>
            <a:r>
              <a:rPr lang="en-US" sz="4000" i="1" dirty="0"/>
              <a:t>,</a:t>
            </a:r>
            <a:r>
              <a:rPr lang="en-US" sz="4000" dirty="0"/>
              <a:t> is it not possible to reallocate the budget and increase total utility.</a:t>
            </a:r>
          </a:p>
        </p:txBody>
      </p:sp>
      <p:sp>
        <p:nvSpPr>
          <p:cNvPr id="4" name="Slide Number Placeholder 3"/>
          <p:cNvSpPr>
            <a:spLocks noGrp="1"/>
          </p:cNvSpPr>
          <p:nvPr>
            <p:ph type="sldNum" sz="quarter" idx="11"/>
          </p:nvPr>
        </p:nvSpPr>
        <p:spPr/>
        <p:txBody>
          <a:bodyPr/>
          <a:lstStyle/>
          <a:p>
            <a:fld id="{F3965DA4-7A5B-4DE7-81D4-CD720070DD81}" type="slidenum">
              <a:rPr lang="en-US" smtClean="0"/>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4"/>
          <p:cNvSpPr>
            <a:spLocks noGrp="1" noRot="1" noChangeArrowheads="1"/>
          </p:cNvSpPr>
          <p:nvPr>
            <p:ph type="title"/>
          </p:nvPr>
        </p:nvSpPr>
        <p:spPr>
          <a:xfrm>
            <a:off x="457200" y="228600"/>
            <a:ext cx="8305800" cy="1143000"/>
          </a:xfrm>
        </p:spPr>
        <p:txBody>
          <a:bodyPr/>
          <a:lstStyle/>
          <a:p>
            <a:pPr algn="l"/>
            <a:r>
              <a:rPr lang="en-US" u="sng" dirty="0">
                <a:latin typeface="+mn-lt"/>
              </a:rPr>
              <a:t>Numerical </a:t>
            </a:r>
            <a:r>
              <a:rPr lang="en-US" u="sng" dirty="0" smtClean="0">
                <a:latin typeface="+mn-lt"/>
              </a:rPr>
              <a:t>Illustration:</a:t>
            </a:r>
            <a:endParaRPr lang="en-US" u="sng" dirty="0">
              <a:latin typeface="+mn-lt"/>
            </a:endParaRPr>
          </a:p>
        </p:txBody>
      </p:sp>
      <p:sp>
        <p:nvSpPr>
          <p:cNvPr id="10" name="Slide Number Placeholder 9"/>
          <p:cNvSpPr>
            <a:spLocks noGrp="1"/>
          </p:cNvSpPr>
          <p:nvPr>
            <p:ph type="sldNum" sz="quarter" idx="12"/>
          </p:nvPr>
        </p:nvSpPr>
        <p:spPr/>
        <p:txBody>
          <a:bodyPr/>
          <a:lstStyle/>
          <a:p>
            <a:fld id="{C2853D87-12A8-4EAF-83DE-BC62986648ED}" type="slidenum">
              <a:rPr lang="en-US" smtClean="0"/>
              <a:pPr/>
              <a:t>18</a:t>
            </a:fld>
            <a:endParaRPr lang="en-US"/>
          </a:p>
        </p:txBody>
      </p:sp>
      <p:sp>
        <p:nvSpPr>
          <p:cNvPr id="23559" name="Rectangle 7"/>
          <p:cNvSpPr>
            <a:spLocks noChangeArrowheads="1"/>
          </p:cNvSpPr>
          <p:nvPr/>
        </p:nvSpPr>
        <p:spPr bwMode="auto">
          <a:xfrm>
            <a:off x="0" y="1493838"/>
            <a:ext cx="184150" cy="366712"/>
          </a:xfrm>
          <a:prstGeom prst="rect">
            <a:avLst/>
          </a:prstGeom>
          <a:noFill/>
          <a:ln w="9525">
            <a:noFill/>
            <a:miter lim="800000"/>
            <a:headEnd/>
            <a:tailEnd/>
          </a:ln>
          <a:effectLst/>
        </p:spPr>
        <p:txBody>
          <a:bodyPr wrap="none" anchor="ctr">
            <a:spAutoFit/>
          </a:bodyPr>
          <a:lstStyle/>
          <a:p>
            <a:endParaRPr lang="en-US">
              <a:latin typeface="Arial" charset="0"/>
            </a:endParaRPr>
          </a:p>
        </p:txBody>
      </p:sp>
      <p:sp>
        <p:nvSpPr>
          <p:cNvPr id="23563" name="Rectangle 11"/>
          <p:cNvSpPr>
            <a:spLocks noChangeArrowheads="1"/>
          </p:cNvSpPr>
          <p:nvPr/>
        </p:nvSpPr>
        <p:spPr bwMode="auto">
          <a:xfrm>
            <a:off x="0" y="1646238"/>
            <a:ext cx="731838" cy="0"/>
          </a:xfrm>
          <a:prstGeom prst="rect">
            <a:avLst/>
          </a:prstGeom>
          <a:noFill/>
          <a:ln w="9525">
            <a:noFill/>
            <a:miter lim="800000"/>
            <a:headEnd/>
            <a:tailEnd/>
          </a:ln>
          <a:effectLst/>
        </p:spPr>
        <p:txBody>
          <a:bodyPr wrap="none">
            <a:spAutoFit/>
          </a:bodyPr>
          <a:lstStyle/>
          <a:p>
            <a:endParaRPr lang="en-US"/>
          </a:p>
        </p:txBody>
      </p:sp>
      <p:sp>
        <p:nvSpPr>
          <p:cNvPr id="23568" name="Rectangle 16"/>
          <p:cNvSpPr>
            <a:spLocks noChangeArrowheads="1"/>
          </p:cNvSpPr>
          <p:nvPr/>
        </p:nvSpPr>
        <p:spPr bwMode="auto">
          <a:xfrm>
            <a:off x="0" y="1646238"/>
            <a:ext cx="731838" cy="0"/>
          </a:xfrm>
          <a:prstGeom prst="rect">
            <a:avLst/>
          </a:prstGeom>
          <a:noFill/>
          <a:ln w="9525">
            <a:noFill/>
            <a:miter lim="800000"/>
            <a:headEnd/>
            <a:tailEnd/>
          </a:ln>
          <a:effectLst/>
        </p:spPr>
        <p:txBody>
          <a:bodyPr wrap="none">
            <a:spAutoFit/>
          </a:bodyPr>
          <a:lstStyle/>
          <a:p>
            <a:endParaRPr lang="en-US"/>
          </a:p>
        </p:txBody>
      </p:sp>
      <p:graphicFrame>
        <p:nvGraphicFramePr>
          <p:cNvPr id="24017" name="Group 465"/>
          <p:cNvGraphicFramePr>
            <a:graphicFrameLocks noGrp="1"/>
          </p:cNvGraphicFramePr>
          <p:nvPr/>
        </p:nvGraphicFramePr>
        <p:xfrm>
          <a:off x="533400" y="1828800"/>
          <a:ext cx="8153400" cy="4191000"/>
        </p:xfrm>
        <a:graphic>
          <a:graphicData uri="http://schemas.openxmlformats.org/drawingml/2006/table">
            <a:tbl>
              <a:tblPr/>
              <a:tblGrid>
                <a:gridCol w="981075"/>
                <a:gridCol w="981075"/>
                <a:gridCol w="1103313"/>
                <a:gridCol w="973137"/>
                <a:gridCol w="866775"/>
                <a:gridCol w="981075"/>
                <a:gridCol w="1162050"/>
                <a:gridCol w="1104900"/>
              </a:tblGrid>
              <a:tr h="857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C000"/>
                          </a:solidFill>
                          <a:effectLst/>
                          <a:latin typeface="Arial" charset="0"/>
                          <a:cs typeface="Times New Roman" pitchFamily="18" charset="0"/>
                        </a:rPr>
                        <a:t>Q</a:t>
                      </a:r>
                      <a:r>
                        <a:rPr kumimoji="0" lang="en-US" sz="2400" b="1" i="0" u="none" strike="noStrike" cap="none" normalizeH="0" baseline="-30000" dirty="0" smtClean="0">
                          <a:ln>
                            <a:noFill/>
                          </a:ln>
                          <a:solidFill>
                            <a:srgbClr val="FFC000"/>
                          </a:solidFill>
                          <a:effectLst/>
                          <a:latin typeface="Arial" charset="0"/>
                          <a:cs typeface="Times New Roman" pitchFamily="18" charset="0"/>
                        </a:rPr>
                        <a:t>x</a:t>
                      </a:r>
                      <a:endParaRPr kumimoji="0" lang="en-US" sz="1800" b="1" i="0" u="none" strike="noStrike" cap="none" normalizeH="0" baseline="0" dirty="0" smtClean="0">
                        <a:ln>
                          <a:noFill/>
                        </a:ln>
                        <a:solidFill>
                          <a:srgbClr val="FFC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C000"/>
                          </a:solidFill>
                          <a:effectLst/>
                          <a:latin typeface="Arial" charset="0"/>
                          <a:cs typeface="Times New Roman" pitchFamily="18" charset="0"/>
                        </a:rPr>
                        <a:t>TU</a:t>
                      </a:r>
                      <a:r>
                        <a:rPr kumimoji="0" lang="en-US" sz="2400" b="1" i="0" u="none" strike="noStrike" cap="none" normalizeH="0" baseline="-30000" dirty="0" smtClean="0">
                          <a:ln>
                            <a:noFill/>
                          </a:ln>
                          <a:solidFill>
                            <a:srgbClr val="FFC000"/>
                          </a:solidFill>
                          <a:effectLst/>
                          <a:latin typeface="Arial" charset="0"/>
                          <a:cs typeface="Times New Roman" pitchFamily="18" charset="0"/>
                        </a:rPr>
                        <a:t>X</a:t>
                      </a:r>
                      <a:endParaRPr kumimoji="0" lang="en-US" sz="1800" b="1" i="0" u="none" strike="noStrike" cap="none" normalizeH="0" baseline="0" dirty="0" smtClean="0">
                        <a:ln>
                          <a:noFill/>
                        </a:ln>
                        <a:solidFill>
                          <a:srgbClr val="FFC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C000"/>
                          </a:solidFill>
                          <a:effectLst/>
                          <a:latin typeface="Arial" charset="0"/>
                          <a:cs typeface="Times New Roman" pitchFamily="18" charset="0"/>
                        </a:rPr>
                        <a:t>MU</a:t>
                      </a:r>
                      <a:r>
                        <a:rPr kumimoji="0" lang="en-US" sz="2400" b="1" i="0" u="none" strike="noStrike" cap="none" normalizeH="0" baseline="-30000" dirty="0" smtClean="0">
                          <a:ln>
                            <a:noFill/>
                          </a:ln>
                          <a:solidFill>
                            <a:srgbClr val="FFC000"/>
                          </a:solidFill>
                          <a:effectLst/>
                          <a:latin typeface="Arial" charset="0"/>
                          <a:cs typeface="Times New Roman" pitchFamily="18" charset="0"/>
                        </a:rPr>
                        <a:t>X</a:t>
                      </a:r>
                      <a:endParaRPr kumimoji="0" lang="en-US" sz="1800" b="1" i="0" u="none" strike="noStrike" cap="none" normalizeH="0" baseline="0" dirty="0" smtClean="0">
                        <a:ln>
                          <a:noFill/>
                        </a:ln>
                        <a:solidFill>
                          <a:srgbClr val="FFC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1" i="0" u="none" strike="noStrike" cap="none" normalizeH="0" baseline="0" dirty="0" smtClean="0">
                          <a:ln>
                            <a:noFill/>
                          </a:ln>
                          <a:solidFill>
                            <a:srgbClr val="FFC000"/>
                          </a:solidFill>
                          <a:effectLst/>
                          <a:latin typeface="Garamond" pitchFamily="18" charset="0"/>
                          <a:cs typeface="Arial" charset="0"/>
                        </a:rPr>
                        <a:t>MUx</a:t>
                      </a:r>
                      <a:r>
                        <a:rPr kumimoji="0" lang="en-US" sz="2400" b="1" i="0" u="sng" strike="noStrike" cap="none" normalizeH="0" baseline="0" dirty="0" smtClean="0">
                          <a:ln>
                            <a:noFill/>
                          </a:ln>
                          <a:solidFill>
                            <a:srgbClr val="FFC000"/>
                          </a:solidFill>
                          <a:effectLst/>
                          <a:latin typeface="Garamond" pitchFamily="18" charset="0"/>
                          <a:cs typeface="Arial" charset="0"/>
                        </a:rPr>
                        <a:t/>
                      </a:r>
                      <a:br>
                        <a:rPr kumimoji="0" lang="en-US" sz="2400" b="1" i="0" u="sng" strike="noStrike" cap="none" normalizeH="0" baseline="0" dirty="0" smtClean="0">
                          <a:ln>
                            <a:noFill/>
                          </a:ln>
                          <a:solidFill>
                            <a:srgbClr val="FFC000"/>
                          </a:solidFill>
                          <a:effectLst/>
                          <a:latin typeface="Garamond" pitchFamily="18" charset="0"/>
                          <a:cs typeface="Arial" charset="0"/>
                        </a:rPr>
                      </a:br>
                      <a:r>
                        <a:rPr kumimoji="0" lang="en-US" sz="2400" b="1" i="0" u="none" strike="noStrike" cap="none" normalizeH="0" baseline="0" dirty="0" smtClean="0">
                          <a:ln>
                            <a:noFill/>
                          </a:ln>
                          <a:solidFill>
                            <a:srgbClr val="FFC000"/>
                          </a:solidFill>
                          <a:effectLst/>
                          <a:latin typeface="Garamond" pitchFamily="18" charset="0"/>
                          <a:cs typeface="Arial" charset="0"/>
                        </a:rPr>
                        <a:t>Px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C000"/>
                          </a:solidFill>
                          <a:effectLst/>
                          <a:latin typeface="Arial" charset="0"/>
                          <a:cs typeface="Times New Roman" pitchFamily="18" charset="0"/>
                        </a:rPr>
                        <a:t>Q</a:t>
                      </a:r>
                      <a:r>
                        <a:rPr kumimoji="0" lang="en-US" sz="2400" b="1" i="0" u="none" strike="noStrike" cap="none" normalizeH="0" baseline="-30000" dirty="0" smtClean="0">
                          <a:ln>
                            <a:noFill/>
                          </a:ln>
                          <a:solidFill>
                            <a:srgbClr val="FFC000"/>
                          </a:solidFill>
                          <a:effectLst/>
                          <a:latin typeface="Arial" charset="0"/>
                          <a:cs typeface="Times New Roman" pitchFamily="18" charset="0"/>
                        </a:rPr>
                        <a:t>Y</a:t>
                      </a:r>
                      <a:endParaRPr kumimoji="0" lang="en-US" sz="1800" b="1" i="0" u="none" strike="noStrike" cap="none" normalizeH="0" baseline="0" dirty="0" smtClean="0">
                        <a:ln>
                          <a:noFill/>
                        </a:ln>
                        <a:solidFill>
                          <a:srgbClr val="FFC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C000"/>
                          </a:solidFill>
                          <a:effectLst/>
                          <a:latin typeface="Arial" charset="0"/>
                          <a:cs typeface="Times New Roman" pitchFamily="18" charset="0"/>
                        </a:rPr>
                        <a:t>TU</a:t>
                      </a:r>
                      <a:r>
                        <a:rPr kumimoji="0" lang="en-US" sz="2400" b="1" i="0" u="none" strike="noStrike" cap="none" normalizeH="0" baseline="-30000" dirty="0" smtClean="0">
                          <a:ln>
                            <a:noFill/>
                          </a:ln>
                          <a:solidFill>
                            <a:srgbClr val="FFC000"/>
                          </a:solidFill>
                          <a:effectLst/>
                          <a:latin typeface="Arial" charset="0"/>
                          <a:cs typeface="Times New Roman" pitchFamily="18" charset="0"/>
                        </a:rPr>
                        <a:t>Y</a:t>
                      </a:r>
                      <a:endParaRPr kumimoji="0" lang="en-US" sz="1800" b="1" i="0" u="none" strike="noStrike" cap="none" normalizeH="0" baseline="0" dirty="0" smtClean="0">
                        <a:ln>
                          <a:noFill/>
                        </a:ln>
                        <a:solidFill>
                          <a:srgbClr val="FFC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FFC000"/>
                          </a:solidFill>
                          <a:effectLst/>
                          <a:latin typeface="Arial" charset="0"/>
                          <a:cs typeface="Times New Roman" pitchFamily="18" charset="0"/>
                        </a:rPr>
                        <a:t>MU</a:t>
                      </a:r>
                      <a:r>
                        <a:rPr kumimoji="0" lang="en-US" sz="2400" b="1" i="0" u="none" strike="noStrike" cap="none" normalizeH="0" baseline="-30000" dirty="0" smtClean="0">
                          <a:ln>
                            <a:noFill/>
                          </a:ln>
                          <a:solidFill>
                            <a:srgbClr val="FFC000"/>
                          </a:solidFill>
                          <a:effectLst/>
                          <a:latin typeface="Arial" charset="0"/>
                          <a:cs typeface="Times New Roman" pitchFamily="18" charset="0"/>
                        </a:rPr>
                        <a:t>Y</a:t>
                      </a:r>
                      <a:endParaRPr kumimoji="0" lang="en-US" sz="1800" b="1" i="0" u="none" strike="noStrike" cap="none" normalizeH="0" baseline="0" dirty="0" smtClean="0">
                        <a:ln>
                          <a:noFill/>
                        </a:ln>
                        <a:solidFill>
                          <a:srgbClr val="FFC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1" i="0" u="none" strike="noStrike" cap="none" normalizeH="0" baseline="0" dirty="0" smtClean="0">
                          <a:ln>
                            <a:noFill/>
                          </a:ln>
                          <a:solidFill>
                            <a:srgbClr val="FFC000"/>
                          </a:solidFill>
                          <a:effectLst/>
                          <a:latin typeface="Garamond" pitchFamily="18" charset="0"/>
                          <a:cs typeface="Arial" charset="0"/>
                        </a:rPr>
                        <a:t>MU</a:t>
                      </a:r>
                      <a:r>
                        <a:rPr kumimoji="0" lang="en-US" sz="2400" b="1" i="0" u="none" strike="noStrike" cap="none" normalizeH="0" baseline="-25000" dirty="0" smtClean="0">
                          <a:ln>
                            <a:noFill/>
                          </a:ln>
                          <a:solidFill>
                            <a:srgbClr val="FFC000"/>
                          </a:solidFill>
                          <a:effectLst/>
                          <a:latin typeface="Garamond" pitchFamily="18" charset="0"/>
                          <a:cs typeface="Arial" charset="0"/>
                        </a:rPr>
                        <a:t>Y</a:t>
                      </a:r>
                      <a:r>
                        <a:rPr kumimoji="0" lang="en-US" sz="2400" b="1" i="0" u="sng" strike="noStrike" cap="none" normalizeH="0" baseline="0" dirty="0" smtClean="0">
                          <a:ln>
                            <a:noFill/>
                          </a:ln>
                          <a:solidFill>
                            <a:srgbClr val="FFC000"/>
                          </a:solidFill>
                          <a:effectLst/>
                          <a:latin typeface="Garamond" pitchFamily="18" charset="0"/>
                          <a:cs typeface="Arial" charset="0"/>
                        </a:rPr>
                        <a:t/>
                      </a:r>
                      <a:br>
                        <a:rPr kumimoji="0" lang="en-US" sz="2400" b="1" i="0" u="sng" strike="noStrike" cap="none" normalizeH="0" baseline="0" dirty="0" smtClean="0">
                          <a:ln>
                            <a:noFill/>
                          </a:ln>
                          <a:solidFill>
                            <a:srgbClr val="FFC000"/>
                          </a:solidFill>
                          <a:effectLst/>
                          <a:latin typeface="Garamond" pitchFamily="18" charset="0"/>
                          <a:cs typeface="Arial" charset="0"/>
                        </a:rPr>
                      </a:br>
                      <a:r>
                        <a:rPr kumimoji="0" lang="en-US" sz="2400" b="1" i="0" u="none" strike="noStrike" cap="none" normalizeH="0" baseline="0" dirty="0" smtClean="0">
                          <a:ln>
                            <a:noFill/>
                          </a:ln>
                          <a:solidFill>
                            <a:srgbClr val="FFC000"/>
                          </a:solidFill>
                          <a:effectLst/>
                          <a:latin typeface="Garamond" pitchFamily="18" charset="0"/>
                          <a:cs typeface="Arial" charset="0"/>
                        </a:rPr>
                        <a:t>P</a:t>
                      </a:r>
                      <a:r>
                        <a:rPr kumimoji="0" lang="en-US" sz="2400" b="1" i="0" u="none" strike="noStrike" cap="none" normalizeH="0" baseline="-25000" dirty="0" smtClean="0">
                          <a:ln>
                            <a:noFill/>
                          </a:ln>
                          <a:solidFill>
                            <a:srgbClr val="FFC000"/>
                          </a:solidFill>
                          <a:effectLst/>
                          <a:latin typeface="Garamond" pitchFamily="18" charset="0"/>
                          <a:cs typeface="Arial" charset="0"/>
                        </a:rPr>
                        <a:t>Y</a:t>
                      </a:r>
                      <a:endParaRPr kumimoji="0" lang="en-US" sz="2400" b="1" i="0" u="none" strike="noStrike" cap="none" normalizeH="0" baseline="0" dirty="0" smtClean="0">
                        <a:ln>
                          <a:noFill/>
                        </a:ln>
                        <a:solidFill>
                          <a:srgbClr val="FFC000"/>
                        </a:solidFill>
                        <a:effectLst/>
                        <a:latin typeface="Garamond" pitchFamily="18"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r>
              <a:tr h="555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1</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30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30</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15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1</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50</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50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5</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2</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39</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9</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4.5</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2</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95</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45</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4.5</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555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3</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45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6</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FFFF"/>
                          </a:solidFill>
                          <a:effectLst/>
                          <a:latin typeface="Arial" charset="0"/>
                          <a:cs typeface="Times New Roman" pitchFamily="18" charset="0"/>
                        </a:rPr>
                        <a:t>3</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3</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148</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43</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4.3</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4</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50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2.5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4</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178</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30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FFFF"/>
                          </a:solidFill>
                          <a:effectLst/>
                          <a:latin typeface="Arial" charset="0"/>
                          <a:cs typeface="Times New Roman" pitchFamily="18" charset="0"/>
                        </a:rPr>
                        <a:t>3</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50"/>
                    </a:solidFill>
                  </a:tcPr>
                </a:tc>
              </a:tr>
              <a:tr h="555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54</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4</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FFFF"/>
                          </a:solidFill>
                          <a:effectLst/>
                          <a:latin typeface="Arial" charset="0"/>
                          <a:cs typeface="Times New Roman" pitchFamily="18" charset="0"/>
                        </a:rPr>
                        <a:t>2</a:t>
                      </a:r>
                      <a:endParaRPr kumimoji="0" lang="en-US" sz="2400" b="0" i="0" u="none" strike="noStrike" cap="none" normalizeH="0" baseline="0" dirty="0" smtClean="0">
                        <a:ln>
                          <a:noFill/>
                        </a:ln>
                        <a:solidFill>
                          <a:srgbClr val="FFFFFF"/>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198</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20</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FFFF"/>
                          </a:solidFill>
                          <a:effectLst/>
                          <a:latin typeface="Arial" charset="0"/>
                          <a:cs typeface="Times New Roman" pitchFamily="18" charset="0"/>
                        </a:rPr>
                        <a:t>2</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0000"/>
                    </a:solidFill>
                  </a:tcPr>
                </a:tc>
              </a:tr>
              <a:tr h="555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6</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56</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2</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1</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6</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213</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cs typeface="Times New Roman" pitchFamily="18" charset="0"/>
                        </a:rPr>
                        <a:t>15</a:t>
                      </a:r>
                      <a:endParaRPr kumimoji="0" lang="en-US" sz="18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cs typeface="Times New Roman" pitchFamily="18" charset="0"/>
                        </a:rPr>
                        <a:t>1.5</a:t>
                      </a:r>
                      <a:endParaRPr kumimoji="0" lang="en-US" sz="1800" b="0" i="0" u="none" strike="noStrike" cap="none" normalizeH="0" baseline="0" dirty="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3908" name="Rectangle 356"/>
          <p:cNvSpPr>
            <a:spLocks noChangeArrowheads="1"/>
          </p:cNvSpPr>
          <p:nvPr/>
        </p:nvSpPr>
        <p:spPr bwMode="auto">
          <a:xfrm>
            <a:off x="0" y="5210175"/>
            <a:ext cx="9144000" cy="0"/>
          </a:xfrm>
          <a:prstGeom prst="rect">
            <a:avLst/>
          </a:prstGeom>
          <a:noFill/>
          <a:ln w="9525">
            <a:noFill/>
            <a:miter lim="800000"/>
            <a:headEnd/>
            <a:tailEnd/>
          </a:ln>
          <a:effectLst/>
        </p:spPr>
        <p:txBody>
          <a:bodyPr wrap="none" anchor="ctr">
            <a:spAutoFit/>
          </a:bodyPr>
          <a:lstStyle/>
          <a:p>
            <a:endParaRPr lang="en-US">
              <a:latin typeface="Arial" charset="0"/>
            </a:endParaRPr>
          </a:p>
        </p:txBody>
      </p:sp>
      <p:cxnSp>
        <p:nvCxnSpPr>
          <p:cNvPr id="11" name="Straight Connector 10"/>
          <p:cNvCxnSpPr/>
          <p:nvPr/>
        </p:nvCxnSpPr>
        <p:spPr>
          <a:xfrm>
            <a:off x="3810000" y="2209800"/>
            <a:ext cx="533400"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848600" y="2209800"/>
            <a:ext cx="533400"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33400" y="1219200"/>
            <a:ext cx="4648200" cy="369332"/>
          </a:xfrm>
          <a:prstGeom prst="rect">
            <a:avLst/>
          </a:prstGeom>
          <a:noFill/>
        </p:spPr>
        <p:txBody>
          <a:bodyPr wrap="square" rtlCol="0">
            <a:spAutoFit/>
          </a:bodyPr>
          <a:lstStyle/>
          <a:p>
            <a:r>
              <a:rPr lang="en-US" dirty="0" smtClean="0"/>
              <a:t>Assume price of X =  2;  Price of Y =  10</a:t>
            </a:r>
            <a:endParaRPr lang="en-US" dirty="0"/>
          </a:p>
        </p:txBody>
      </p:sp>
      <p:sp>
        <p:nvSpPr>
          <p:cNvPr id="12" name="TextBox 11"/>
          <p:cNvSpPr txBox="1"/>
          <p:nvPr/>
        </p:nvSpPr>
        <p:spPr>
          <a:xfrm>
            <a:off x="457200" y="6172200"/>
            <a:ext cx="5791200" cy="646331"/>
          </a:xfrm>
          <a:prstGeom prst="rect">
            <a:avLst/>
          </a:prstGeom>
          <a:noFill/>
        </p:spPr>
        <p:txBody>
          <a:bodyPr wrap="square" rtlCol="0">
            <a:spAutoFit/>
          </a:bodyPr>
          <a:lstStyle/>
          <a:p>
            <a:r>
              <a:rPr lang="en-US" dirty="0" smtClean="0"/>
              <a:t>TU is different for the different combinations. Choice of which combination will depend on income available.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800" decel="100000"/>
                                        <p:tgtEl>
                                          <p:spTgt spid="12">
                                            <p:txEl>
                                              <p:pRg st="0" end="0"/>
                                            </p:txEl>
                                          </p:spTgt>
                                        </p:tgtEl>
                                      </p:cBhvr>
                                    </p:animEffect>
                                    <p:anim calcmode="lin" valueType="num">
                                      <p:cBhvr>
                                        <p:cTn id="8" dur="800" decel="100000" fill="hold"/>
                                        <p:tgtEl>
                                          <p:spTgt spid="12">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2">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2">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2">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2">
                                            <p:txEl>
                                              <p:pRg st="0" end="0"/>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pPr algn="l"/>
            <a:r>
              <a:rPr lang="en-US" u="sng" dirty="0"/>
              <a:t>Predictions of Marginal Utility </a:t>
            </a:r>
            <a:r>
              <a:rPr lang="en-US" u="sng" dirty="0" smtClean="0"/>
              <a:t>Theory:</a:t>
            </a:r>
            <a:endParaRPr lang="en-US" u="sng" dirty="0"/>
          </a:p>
        </p:txBody>
      </p:sp>
      <p:sp>
        <p:nvSpPr>
          <p:cNvPr id="407555" name="Rectangle 3"/>
          <p:cNvSpPr>
            <a:spLocks noGrp="1" noChangeArrowheads="1"/>
          </p:cNvSpPr>
          <p:nvPr>
            <p:ph idx="1"/>
          </p:nvPr>
        </p:nvSpPr>
        <p:spPr/>
        <p:txBody>
          <a:bodyPr/>
          <a:lstStyle/>
          <a:p>
            <a:r>
              <a:rPr lang="en-US" dirty="0"/>
              <a:t>A Fall in the Price of a Movie</a:t>
            </a:r>
          </a:p>
          <a:p>
            <a:pPr lvl="1"/>
            <a:r>
              <a:rPr lang="en-US" dirty="0"/>
              <a:t>When the price of a good falls the quantity demanded of that good increases—the demand curve slopes downward. </a:t>
            </a:r>
          </a:p>
          <a:p>
            <a:pPr lvl="1"/>
            <a:r>
              <a:rPr lang="en-US" dirty="0"/>
              <a:t>For example, if the price of a movie falls, we know that </a:t>
            </a:r>
            <a:r>
              <a:rPr lang="en-US" i="1" dirty="0"/>
              <a:t>MU</a:t>
            </a:r>
            <a:r>
              <a:rPr lang="en-US" i="1" baseline="-25000" dirty="0"/>
              <a:t>M</a:t>
            </a:r>
            <a:r>
              <a:rPr lang="en-US" dirty="0"/>
              <a:t>/</a:t>
            </a:r>
            <a:r>
              <a:rPr lang="en-US" i="1" dirty="0"/>
              <a:t>P</a:t>
            </a:r>
            <a:r>
              <a:rPr lang="en-US" i="1" baseline="-25000" dirty="0"/>
              <a:t>M </a:t>
            </a:r>
            <a:r>
              <a:rPr lang="en-US" dirty="0"/>
              <a:t>rises, so before the consumer changes the quantities consumed, </a:t>
            </a:r>
            <a:r>
              <a:rPr lang="en-US" i="1" dirty="0"/>
              <a:t>MU</a:t>
            </a:r>
            <a:r>
              <a:rPr lang="en-US" i="1" baseline="-25000" dirty="0"/>
              <a:t>M</a:t>
            </a:r>
            <a:r>
              <a:rPr lang="en-US" dirty="0"/>
              <a:t>/</a:t>
            </a:r>
            <a:r>
              <a:rPr lang="en-US" i="1" dirty="0"/>
              <a:t>P</a:t>
            </a:r>
            <a:r>
              <a:rPr lang="en-US" i="1" baseline="-25000" dirty="0"/>
              <a:t>M </a:t>
            </a:r>
            <a:r>
              <a:rPr lang="en-US" dirty="0"/>
              <a:t>&gt; </a:t>
            </a:r>
            <a:r>
              <a:rPr lang="en-US" i="1" dirty="0"/>
              <a:t>MU</a:t>
            </a:r>
            <a:r>
              <a:rPr lang="en-US" i="1" baseline="-25000" dirty="0"/>
              <a:t>S</a:t>
            </a:r>
            <a:r>
              <a:rPr lang="en-US" dirty="0"/>
              <a:t>/</a:t>
            </a:r>
            <a:r>
              <a:rPr lang="en-US" i="1" dirty="0"/>
              <a:t>P</a:t>
            </a:r>
            <a:r>
              <a:rPr lang="en-US" i="1" baseline="-25000" dirty="0"/>
              <a:t>S</a:t>
            </a:r>
            <a:r>
              <a:rPr lang="en-US" i="1" dirty="0"/>
              <a:t>.</a:t>
            </a:r>
            <a:r>
              <a:rPr lang="en-US" dirty="0"/>
              <a:t> </a:t>
            </a:r>
          </a:p>
          <a:p>
            <a:pPr lvl="1"/>
            <a:r>
              <a:rPr lang="en-US" dirty="0"/>
              <a:t>To restore consumer equilibrium (maximum total utility), the consumer increases the quantity of movies consumed to drive down the </a:t>
            </a:r>
            <a:r>
              <a:rPr lang="en-US" i="1" dirty="0"/>
              <a:t>MU</a:t>
            </a:r>
            <a:r>
              <a:rPr lang="en-US" i="1" baseline="-25000" dirty="0"/>
              <a:t>M</a:t>
            </a:r>
            <a:r>
              <a:rPr lang="en-US" i="1" dirty="0"/>
              <a:t> </a:t>
            </a:r>
            <a:r>
              <a:rPr lang="en-US" dirty="0"/>
              <a:t>and restore </a:t>
            </a:r>
            <a:r>
              <a:rPr lang="en-US" i="1" dirty="0"/>
              <a:t>MU</a:t>
            </a:r>
            <a:r>
              <a:rPr lang="en-US" i="1" baseline="-25000" dirty="0"/>
              <a:t>M</a:t>
            </a:r>
            <a:r>
              <a:rPr lang="en-US" dirty="0"/>
              <a:t>/</a:t>
            </a:r>
            <a:r>
              <a:rPr lang="en-US" i="1" dirty="0"/>
              <a:t>P</a:t>
            </a:r>
            <a:r>
              <a:rPr lang="en-US" i="1" baseline="-25000" dirty="0"/>
              <a:t>M </a:t>
            </a:r>
            <a:r>
              <a:rPr lang="en-US" dirty="0"/>
              <a:t>= </a:t>
            </a:r>
            <a:r>
              <a:rPr lang="en-US" i="1" dirty="0"/>
              <a:t>MU</a:t>
            </a:r>
            <a:r>
              <a:rPr lang="en-US" i="1" baseline="-25000" dirty="0"/>
              <a:t>S</a:t>
            </a:r>
            <a:r>
              <a:rPr lang="en-US" dirty="0"/>
              <a:t>/</a:t>
            </a:r>
            <a:r>
              <a:rPr lang="en-US" i="1" dirty="0"/>
              <a:t>P</a:t>
            </a:r>
            <a:r>
              <a:rPr lang="en-US" i="1" baseline="-25000" dirty="0"/>
              <a:t>S</a:t>
            </a:r>
            <a:r>
              <a:rPr lang="en-US" dirty="0"/>
              <a:t>. </a:t>
            </a:r>
          </a:p>
        </p:txBody>
      </p:sp>
      <p:sp>
        <p:nvSpPr>
          <p:cNvPr id="4" name="Slide Number Placeholder 3"/>
          <p:cNvSpPr>
            <a:spLocks noGrp="1"/>
          </p:cNvSpPr>
          <p:nvPr>
            <p:ph type="sldNum" sz="quarter" idx="11"/>
          </p:nvPr>
        </p:nvSpPr>
        <p:spPr/>
        <p:txBody>
          <a:bodyPr/>
          <a:lstStyle/>
          <a:p>
            <a:fld id="{F3965DA4-7A5B-4DE7-81D4-CD720070DD81}" type="slidenum">
              <a:rPr lang="en-US" smtClean="0"/>
              <a:pPr/>
              <a:t>19</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07555">
                                            <p:txEl>
                                              <p:pRg st="0" end="0"/>
                                            </p:txEl>
                                          </p:spTgt>
                                        </p:tgtEl>
                                        <p:attrNameLst>
                                          <p:attrName>style.visibility</p:attrName>
                                        </p:attrNameLst>
                                      </p:cBhvr>
                                      <p:to>
                                        <p:strVal val="visible"/>
                                      </p:to>
                                    </p:set>
                                    <p:animEffect transition="in" filter="fade">
                                      <p:cBhvr>
                                        <p:cTn id="7" dur="800" decel="100000"/>
                                        <p:tgtEl>
                                          <p:spTgt spid="407555">
                                            <p:txEl>
                                              <p:pRg st="0" end="0"/>
                                            </p:txEl>
                                          </p:spTgt>
                                        </p:tgtEl>
                                      </p:cBhvr>
                                    </p:animEffect>
                                    <p:anim calcmode="lin" valueType="num">
                                      <p:cBhvr>
                                        <p:cTn id="8" dur="800" decel="100000" fill="hold"/>
                                        <p:tgtEl>
                                          <p:spTgt spid="407555">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07555">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07555">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07555">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07555">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07555">
                                            <p:txEl>
                                              <p:pRg st="1" end="1"/>
                                            </p:txEl>
                                          </p:spTgt>
                                        </p:tgtEl>
                                        <p:attrNameLst>
                                          <p:attrName>style.visibility</p:attrName>
                                        </p:attrNameLst>
                                      </p:cBhvr>
                                      <p:to>
                                        <p:strVal val="visible"/>
                                      </p:to>
                                    </p:set>
                                    <p:animEffect transition="in" filter="fade">
                                      <p:cBhvr>
                                        <p:cTn id="17" dur="800" decel="100000"/>
                                        <p:tgtEl>
                                          <p:spTgt spid="407555">
                                            <p:txEl>
                                              <p:pRg st="1" end="1"/>
                                            </p:txEl>
                                          </p:spTgt>
                                        </p:tgtEl>
                                      </p:cBhvr>
                                    </p:animEffect>
                                    <p:anim calcmode="lin" valueType="num">
                                      <p:cBhvr>
                                        <p:cTn id="18" dur="800" decel="100000" fill="hold"/>
                                        <p:tgtEl>
                                          <p:spTgt spid="407555">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07555">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07555">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07555">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07555">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07555">
                                            <p:txEl>
                                              <p:pRg st="2" end="2"/>
                                            </p:txEl>
                                          </p:spTgt>
                                        </p:tgtEl>
                                        <p:attrNameLst>
                                          <p:attrName>style.visibility</p:attrName>
                                        </p:attrNameLst>
                                      </p:cBhvr>
                                      <p:to>
                                        <p:strVal val="visible"/>
                                      </p:to>
                                    </p:set>
                                    <p:animEffect transition="in" filter="fade">
                                      <p:cBhvr>
                                        <p:cTn id="27" dur="800" decel="100000"/>
                                        <p:tgtEl>
                                          <p:spTgt spid="407555">
                                            <p:txEl>
                                              <p:pRg st="2" end="2"/>
                                            </p:txEl>
                                          </p:spTgt>
                                        </p:tgtEl>
                                      </p:cBhvr>
                                    </p:animEffect>
                                    <p:anim calcmode="lin" valueType="num">
                                      <p:cBhvr>
                                        <p:cTn id="28" dur="800" decel="100000" fill="hold"/>
                                        <p:tgtEl>
                                          <p:spTgt spid="407555">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07555">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07555">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07555">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07555">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07555">
                                            <p:txEl>
                                              <p:pRg st="3" end="3"/>
                                            </p:txEl>
                                          </p:spTgt>
                                        </p:tgtEl>
                                        <p:attrNameLst>
                                          <p:attrName>style.visibility</p:attrName>
                                        </p:attrNameLst>
                                      </p:cBhvr>
                                      <p:to>
                                        <p:strVal val="visible"/>
                                      </p:to>
                                    </p:set>
                                    <p:animEffect transition="in" filter="fade">
                                      <p:cBhvr>
                                        <p:cTn id="37" dur="800" decel="100000"/>
                                        <p:tgtEl>
                                          <p:spTgt spid="407555">
                                            <p:txEl>
                                              <p:pRg st="3" end="3"/>
                                            </p:txEl>
                                          </p:spTgt>
                                        </p:tgtEl>
                                      </p:cBhvr>
                                    </p:animEffect>
                                    <p:anim calcmode="lin" valueType="num">
                                      <p:cBhvr>
                                        <p:cTn id="38" dur="800" decel="100000" fill="hold"/>
                                        <p:tgtEl>
                                          <p:spTgt spid="407555">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07555">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07555">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07555">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07555">
                                            <p:txEl>
                                              <p:pRg st="3" end="3"/>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pPr algn="l"/>
            <a:r>
              <a:rPr lang="en-US" dirty="0" smtClean="0"/>
              <a:t>(Cont.)</a:t>
            </a:r>
            <a:endParaRPr lang="en-US" dirty="0"/>
          </a:p>
        </p:txBody>
      </p:sp>
      <p:sp>
        <p:nvSpPr>
          <p:cNvPr id="433155" name="Rectangle 3"/>
          <p:cNvSpPr>
            <a:spLocks noGrp="1" noChangeArrowheads="1"/>
          </p:cNvSpPr>
          <p:nvPr>
            <p:ph idx="1"/>
          </p:nvPr>
        </p:nvSpPr>
        <p:spPr/>
        <p:txBody>
          <a:bodyPr/>
          <a:lstStyle/>
          <a:p>
            <a:pPr lvl="1"/>
            <a:r>
              <a:rPr lang="en-US" sz="3000" dirty="0"/>
              <a:t>A change in the price of one good changes the demand for another good. </a:t>
            </a:r>
          </a:p>
          <a:p>
            <a:pPr lvl="1"/>
            <a:r>
              <a:rPr lang="en-US" sz="3000" dirty="0"/>
              <a:t>You’ve seen that if the price of a movie falls, </a:t>
            </a:r>
            <a:r>
              <a:rPr lang="en-US" sz="3000" i="1" dirty="0"/>
              <a:t>MU</a:t>
            </a:r>
            <a:r>
              <a:rPr lang="en-US" sz="3000" i="1" baseline="-25000" dirty="0"/>
              <a:t>M</a:t>
            </a:r>
            <a:r>
              <a:rPr lang="en-US" sz="3000" dirty="0"/>
              <a:t>/</a:t>
            </a:r>
            <a:r>
              <a:rPr lang="en-US" sz="3000" i="1" dirty="0"/>
              <a:t>P</a:t>
            </a:r>
            <a:r>
              <a:rPr lang="en-US" sz="3000" i="1" baseline="-25000" dirty="0"/>
              <a:t>M </a:t>
            </a:r>
            <a:r>
              <a:rPr lang="en-US" sz="3000" dirty="0"/>
              <a:t>rises, so before the consumer changes the quantities consumed, </a:t>
            </a:r>
            <a:r>
              <a:rPr lang="en-US" sz="3000" i="1" dirty="0"/>
              <a:t>MU</a:t>
            </a:r>
            <a:r>
              <a:rPr lang="en-US" sz="3000" i="1" baseline="-25000" dirty="0"/>
              <a:t>M</a:t>
            </a:r>
            <a:r>
              <a:rPr lang="en-US" sz="3000" dirty="0"/>
              <a:t>/</a:t>
            </a:r>
            <a:r>
              <a:rPr lang="en-US" sz="3000" i="1" dirty="0"/>
              <a:t>P</a:t>
            </a:r>
            <a:r>
              <a:rPr lang="en-US" sz="3000" i="1" baseline="-25000" dirty="0"/>
              <a:t>M </a:t>
            </a:r>
            <a:r>
              <a:rPr lang="en-US" sz="3000" dirty="0"/>
              <a:t>&gt; </a:t>
            </a:r>
            <a:r>
              <a:rPr lang="en-US" sz="3000" i="1" dirty="0"/>
              <a:t>MU</a:t>
            </a:r>
            <a:r>
              <a:rPr lang="en-US" sz="3000" i="1" baseline="-25000" dirty="0"/>
              <a:t>S</a:t>
            </a:r>
            <a:r>
              <a:rPr lang="en-US" sz="3000" dirty="0"/>
              <a:t>/</a:t>
            </a:r>
            <a:r>
              <a:rPr lang="en-US" sz="3000" i="1" dirty="0"/>
              <a:t>P</a:t>
            </a:r>
            <a:r>
              <a:rPr lang="en-US" sz="3000" i="1" baseline="-25000" dirty="0"/>
              <a:t>S</a:t>
            </a:r>
            <a:r>
              <a:rPr lang="en-US" sz="3000" i="1" dirty="0"/>
              <a:t>.</a:t>
            </a:r>
            <a:r>
              <a:rPr lang="en-US" sz="3000" dirty="0"/>
              <a:t> </a:t>
            </a:r>
          </a:p>
          <a:p>
            <a:pPr lvl="1"/>
            <a:r>
              <a:rPr lang="en-US" sz="3000" dirty="0"/>
              <a:t>To restore consumer equilibrium (maximum total utility) the consumer decreases the quantity of soda consumed to drive up the </a:t>
            </a:r>
            <a:r>
              <a:rPr lang="en-US" sz="3000" i="1" dirty="0"/>
              <a:t>MU</a:t>
            </a:r>
            <a:r>
              <a:rPr lang="en-US" sz="3000" i="1" baseline="-25000" dirty="0"/>
              <a:t>S</a:t>
            </a:r>
            <a:r>
              <a:rPr lang="en-US" sz="3000" i="1" dirty="0"/>
              <a:t> </a:t>
            </a:r>
            <a:r>
              <a:rPr lang="en-US" sz="3000" dirty="0"/>
              <a:t>and restore </a:t>
            </a:r>
            <a:r>
              <a:rPr lang="en-US" sz="3000" i="1" dirty="0"/>
              <a:t>MU</a:t>
            </a:r>
            <a:r>
              <a:rPr lang="en-US" sz="3000" i="1" baseline="-25000" dirty="0"/>
              <a:t>M</a:t>
            </a:r>
            <a:r>
              <a:rPr lang="en-US" sz="3000" dirty="0"/>
              <a:t>/</a:t>
            </a:r>
            <a:r>
              <a:rPr lang="en-US" sz="3000" i="1" dirty="0"/>
              <a:t>P</a:t>
            </a:r>
            <a:r>
              <a:rPr lang="en-US" sz="3000" i="1" baseline="-25000" dirty="0"/>
              <a:t>M </a:t>
            </a:r>
            <a:r>
              <a:rPr lang="en-US" sz="3000" dirty="0"/>
              <a:t>= </a:t>
            </a:r>
            <a:r>
              <a:rPr lang="en-US" sz="3000" i="1" dirty="0"/>
              <a:t>MU</a:t>
            </a:r>
            <a:r>
              <a:rPr lang="en-US" sz="3000" i="1" baseline="-25000" dirty="0"/>
              <a:t>S</a:t>
            </a:r>
            <a:r>
              <a:rPr lang="en-US" sz="3000" dirty="0"/>
              <a:t>/</a:t>
            </a:r>
            <a:r>
              <a:rPr lang="en-US" sz="3000" i="1" dirty="0"/>
              <a:t>P</a:t>
            </a:r>
            <a:r>
              <a:rPr lang="en-US" sz="3000" i="1" baseline="-25000" dirty="0"/>
              <a:t>S</a:t>
            </a:r>
            <a:r>
              <a:rPr lang="en-US" sz="3000" dirty="0"/>
              <a:t>. </a:t>
            </a:r>
          </a:p>
        </p:txBody>
      </p:sp>
      <p:sp>
        <p:nvSpPr>
          <p:cNvPr id="4" name="Slide Number Placeholder 3"/>
          <p:cNvSpPr>
            <a:spLocks noGrp="1"/>
          </p:cNvSpPr>
          <p:nvPr>
            <p:ph type="sldNum" sz="quarter" idx="11"/>
          </p:nvPr>
        </p:nvSpPr>
        <p:spPr/>
        <p:txBody>
          <a:bodyPr/>
          <a:lstStyle/>
          <a:p>
            <a:fld id="{F3965DA4-7A5B-4DE7-81D4-CD720070DD81}" type="slidenum">
              <a:rPr lang="en-US" smtClean="0"/>
              <a:pPr/>
              <a:t>20</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33155">
                                            <p:txEl>
                                              <p:pRg st="0" end="0"/>
                                            </p:txEl>
                                          </p:spTgt>
                                        </p:tgtEl>
                                        <p:attrNameLst>
                                          <p:attrName>style.visibility</p:attrName>
                                        </p:attrNameLst>
                                      </p:cBhvr>
                                      <p:to>
                                        <p:strVal val="visible"/>
                                      </p:to>
                                    </p:set>
                                    <p:animEffect transition="in" filter="fade">
                                      <p:cBhvr>
                                        <p:cTn id="7" dur="800" decel="100000"/>
                                        <p:tgtEl>
                                          <p:spTgt spid="433155">
                                            <p:txEl>
                                              <p:pRg st="0" end="0"/>
                                            </p:txEl>
                                          </p:spTgt>
                                        </p:tgtEl>
                                      </p:cBhvr>
                                    </p:animEffect>
                                    <p:anim calcmode="lin" valueType="num">
                                      <p:cBhvr>
                                        <p:cTn id="8" dur="800" decel="100000" fill="hold"/>
                                        <p:tgtEl>
                                          <p:spTgt spid="433155">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33155">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33155">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33155">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33155">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33155">
                                            <p:txEl>
                                              <p:pRg st="1" end="1"/>
                                            </p:txEl>
                                          </p:spTgt>
                                        </p:tgtEl>
                                        <p:attrNameLst>
                                          <p:attrName>style.visibility</p:attrName>
                                        </p:attrNameLst>
                                      </p:cBhvr>
                                      <p:to>
                                        <p:strVal val="visible"/>
                                      </p:to>
                                    </p:set>
                                    <p:animEffect transition="in" filter="fade">
                                      <p:cBhvr>
                                        <p:cTn id="17" dur="800" decel="100000"/>
                                        <p:tgtEl>
                                          <p:spTgt spid="433155">
                                            <p:txEl>
                                              <p:pRg st="1" end="1"/>
                                            </p:txEl>
                                          </p:spTgt>
                                        </p:tgtEl>
                                      </p:cBhvr>
                                    </p:animEffect>
                                    <p:anim calcmode="lin" valueType="num">
                                      <p:cBhvr>
                                        <p:cTn id="18" dur="800" decel="100000" fill="hold"/>
                                        <p:tgtEl>
                                          <p:spTgt spid="433155">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33155">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33155">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33155">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33155">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33155">
                                            <p:txEl>
                                              <p:pRg st="2" end="2"/>
                                            </p:txEl>
                                          </p:spTgt>
                                        </p:tgtEl>
                                        <p:attrNameLst>
                                          <p:attrName>style.visibility</p:attrName>
                                        </p:attrNameLst>
                                      </p:cBhvr>
                                      <p:to>
                                        <p:strVal val="visible"/>
                                      </p:to>
                                    </p:set>
                                    <p:animEffect transition="in" filter="fade">
                                      <p:cBhvr>
                                        <p:cTn id="27" dur="800" decel="100000"/>
                                        <p:tgtEl>
                                          <p:spTgt spid="433155">
                                            <p:txEl>
                                              <p:pRg st="2" end="2"/>
                                            </p:txEl>
                                          </p:spTgt>
                                        </p:tgtEl>
                                      </p:cBhvr>
                                    </p:animEffect>
                                    <p:anim calcmode="lin" valueType="num">
                                      <p:cBhvr>
                                        <p:cTn id="28" dur="800" decel="100000" fill="hold"/>
                                        <p:tgtEl>
                                          <p:spTgt spid="433155">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33155">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33155">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33155">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33155">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a:xfrm>
            <a:off x="304800" y="274638"/>
            <a:ext cx="8229600" cy="1143000"/>
          </a:xfrm>
        </p:spPr>
        <p:txBody>
          <a:bodyPr/>
          <a:lstStyle/>
          <a:p>
            <a:pPr algn="l"/>
            <a:r>
              <a:rPr lang="en-US" dirty="0" smtClean="0"/>
              <a:t>(Cont.)</a:t>
            </a:r>
            <a:endParaRPr lang="en-US" dirty="0"/>
          </a:p>
        </p:txBody>
      </p:sp>
      <p:sp>
        <p:nvSpPr>
          <p:cNvPr id="10" name="Content Placeholder 9"/>
          <p:cNvSpPr>
            <a:spLocks noGrp="1"/>
          </p:cNvSpPr>
          <p:nvPr>
            <p:ph idx="1"/>
          </p:nvPr>
        </p:nvSpPr>
        <p:spPr>
          <a:xfrm>
            <a:off x="457200" y="2057400"/>
            <a:ext cx="8229600" cy="4525963"/>
          </a:xfrm>
        </p:spPr>
        <p:txBody>
          <a:bodyPr/>
          <a:lstStyle/>
          <a:p>
            <a:pPr>
              <a:buNone/>
            </a:pPr>
            <a:endParaRPr lang="en-US" dirty="0"/>
          </a:p>
        </p:txBody>
      </p:sp>
      <p:sp>
        <p:nvSpPr>
          <p:cNvPr id="9" name="Slide Number Placeholder 8"/>
          <p:cNvSpPr>
            <a:spLocks noGrp="1"/>
          </p:cNvSpPr>
          <p:nvPr>
            <p:ph type="sldNum" sz="quarter" idx="11"/>
          </p:nvPr>
        </p:nvSpPr>
        <p:spPr/>
        <p:txBody>
          <a:bodyPr/>
          <a:lstStyle/>
          <a:p>
            <a:fld id="{ABE96090-50D5-425C-B1EF-183FF710AA20}" type="slidenum">
              <a:rPr lang="en-US" smtClean="0"/>
              <a:pPr/>
              <a:t>21</a:t>
            </a:fld>
            <a:endParaRPr lang="en-US"/>
          </a:p>
        </p:txBody>
      </p:sp>
      <p:pic>
        <p:nvPicPr>
          <p:cNvPr id="432132" name="Picture 4" descr="Fig07"/>
          <p:cNvPicPr>
            <a:picLocks noChangeAspect="1" noChangeArrowheads="1"/>
          </p:cNvPicPr>
          <p:nvPr/>
        </p:nvPicPr>
        <p:blipFill>
          <a:blip r:embed="rId3" cstate="print"/>
          <a:srcRect/>
          <a:stretch>
            <a:fillRect/>
          </a:stretch>
        </p:blipFill>
        <p:spPr bwMode="auto">
          <a:xfrm>
            <a:off x="5156200" y="457200"/>
            <a:ext cx="2540000" cy="6170613"/>
          </a:xfrm>
          <a:prstGeom prst="rect">
            <a:avLst/>
          </a:prstGeom>
          <a:noFill/>
        </p:spPr>
      </p:pic>
      <p:pic>
        <p:nvPicPr>
          <p:cNvPr id="432133" name="Picture 5" descr="Fig07"/>
          <p:cNvPicPr>
            <a:picLocks noChangeAspect="1" noChangeArrowheads="1"/>
          </p:cNvPicPr>
          <p:nvPr/>
        </p:nvPicPr>
        <p:blipFill>
          <a:blip r:embed="rId4" cstate="print"/>
          <a:srcRect/>
          <a:stretch>
            <a:fillRect/>
          </a:stretch>
        </p:blipFill>
        <p:spPr bwMode="auto">
          <a:xfrm>
            <a:off x="5156200" y="457200"/>
            <a:ext cx="2540000" cy="6170613"/>
          </a:xfrm>
          <a:prstGeom prst="rect">
            <a:avLst/>
          </a:prstGeom>
          <a:noFill/>
        </p:spPr>
      </p:pic>
      <p:pic>
        <p:nvPicPr>
          <p:cNvPr id="432134" name="Picture 6" descr="Fig07"/>
          <p:cNvPicPr>
            <a:picLocks noChangeAspect="1" noChangeArrowheads="1"/>
          </p:cNvPicPr>
          <p:nvPr/>
        </p:nvPicPr>
        <p:blipFill>
          <a:blip r:embed="rId5" cstate="print"/>
          <a:srcRect/>
          <a:stretch>
            <a:fillRect/>
          </a:stretch>
        </p:blipFill>
        <p:spPr bwMode="auto">
          <a:xfrm>
            <a:off x="5156200" y="457200"/>
            <a:ext cx="2540000" cy="6172200"/>
          </a:xfrm>
          <a:prstGeom prst="rect">
            <a:avLst/>
          </a:prstGeom>
          <a:noFill/>
        </p:spPr>
      </p:pic>
      <p:sp>
        <p:nvSpPr>
          <p:cNvPr id="432135" name="Rectangle 7"/>
          <p:cNvSpPr>
            <a:spLocks noChangeArrowheads="1"/>
          </p:cNvSpPr>
          <p:nvPr/>
        </p:nvSpPr>
        <p:spPr bwMode="auto">
          <a:xfrm>
            <a:off x="457200" y="2895600"/>
            <a:ext cx="4191000" cy="1981200"/>
          </a:xfrm>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2800" dirty="0">
                <a:latin typeface="+mn-lt"/>
              </a:rPr>
              <a:t>A fall in the price of a movie increases the quantity of movies demanded—a movement along the demand curve for movies,</a:t>
            </a:r>
          </a:p>
        </p:txBody>
      </p:sp>
      <p:sp>
        <p:nvSpPr>
          <p:cNvPr id="432136" name="Rectangle 8"/>
          <p:cNvSpPr>
            <a:spLocks noChangeArrowheads="1"/>
          </p:cNvSpPr>
          <p:nvPr/>
        </p:nvSpPr>
        <p:spPr bwMode="auto">
          <a:xfrm>
            <a:off x="457200" y="5029200"/>
            <a:ext cx="4191000" cy="1371600"/>
          </a:xfrm>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2800" dirty="0">
                <a:latin typeface="+mn-lt"/>
              </a:rPr>
              <a:t>and decreases the demand for soda—a shift of the demand curve for soda.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2135"/>
                                        </p:tgtEl>
                                        <p:attrNameLst>
                                          <p:attrName>style.visibility</p:attrName>
                                        </p:attrNameLst>
                                      </p:cBhvr>
                                      <p:to>
                                        <p:strVal val="visible"/>
                                      </p:to>
                                    </p:set>
                                    <p:animEffect transition="in" filter="wipe(left)">
                                      <p:cBhvr>
                                        <p:cTn id="7" dur="1000"/>
                                        <p:tgtEl>
                                          <p:spTgt spid="432135"/>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32133"/>
                                        </p:tgtEl>
                                        <p:attrNameLst>
                                          <p:attrName>style.visibility</p:attrName>
                                        </p:attrNameLst>
                                      </p:cBhvr>
                                      <p:to>
                                        <p:strVal val="visible"/>
                                      </p:to>
                                    </p:set>
                                    <p:animEffect transition="in" filter="wipe(left)">
                                      <p:cBhvr>
                                        <p:cTn id="11" dur="500"/>
                                        <p:tgtEl>
                                          <p:spTgt spid="43213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32136"/>
                                        </p:tgtEl>
                                        <p:attrNameLst>
                                          <p:attrName>style.visibility</p:attrName>
                                        </p:attrNameLst>
                                      </p:cBhvr>
                                      <p:to>
                                        <p:strVal val="visible"/>
                                      </p:to>
                                    </p:set>
                                    <p:animEffect transition="in" filter="wipe(left)">
                                      <p:cBhvr>
                                        <p:cTn id="16" dur="1000"/>
                                        <p:tgtEl>
                                          <p:spTgt spid="432136"/>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432134"/>
                                        </p:tgtEl>
                                        <p:attrNameLst>
                                          <p:attrName>style.visibility</p:attrName>
                                        </p:attrNameLst>
                                      </p:cBhvr>
                                      <p:to>
                                        <p:strVal val="visible"/>
                                      </p:to>
                                    </p:set>
                                    <p:animEffect transition="in" filter="wipe(right)">
                                      <p:cBhvr>
                                        <p:cTn id="20" dur="500"/>
                                        <p:tgtEl>
                                          <p:spTgt spid="432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5" grpId="0"/>
      <p:bldP spid="43213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pPr algn="l"/>
            <a:r>
              <a:rPr lang="en-US" dirty="0" smtClean="0"/>
              <a:t>(Cont.)</a:t>
            </a:r>
            <a:endParaRPr lang="en-US" dirty="0"/>
          </a:p>
        </p:txBody>
      </p:sp>
      <p:sp>
        <p:nvSpPr>
          <p:cNvPr id="418819" name="Rectangle 3"/>
          <p:cNvSpPr>
            <a:spLocks noGrp="1" noChangeArrowheads="1"/>
          </p:cNvSpPr>
          <p:nvPr>
            <p:ph idx="1"/>
          </p:nvPr>
        </p:nvSpPr>
        <p:spPr/>
        <p:txBody>
          <a:bodyPr/>
          <a:lstStyle/>
          <a:p>
            <a:r>
              <a:rPr lang="en-US" dirty="0"/>
              <a:t>A Rise in the Price of Soda</a:t>
            </a:r>
          </a:p>
          <a:p>
            <a:pPr lvl="1"/>
            <a:r>
              <a:rPr lang="en-US" dirty="0"/>
              <a:t>Now suppose the price of soda rises.</a:t>
            </a:r>
          </a:p>
          <a:p>
            <a:pPr lvl="1"/>
            <a:r>
              <a:rPr lang="en-US" dirty="0"/>
              <a:t>We know that </a:t>
            </a:r>
            <a:r>
              <a:rPr lang="en-US" i="1" dirty="0"/>
              <a:t>MU</a:t>
            </a:r>
            <a:r>
              <a:rPr lang="en-US" i="1" baseline="-25000" dirty="0"/>
              <a:t>S</a:t>
            </a:r>
            <a:r>
              <a:rPr lang="en-US" dirty="0"/>
              <a:t>/</a:t>
            </a:r>
            <a:r>
              <a:rPr lang="en-US" i="1" dirty="0"/>
              <a:t>P</a:t>
            </a:r>
            <a:r>
              <a:rPr lang="en-US" i="1" baseline="-25000" dirty="0"/>
              <a:t>S </a:t>
            </a:r>
            <a:r>
              <a:rPr lang="en-US" dirty="0"/>
              <a:t>falls, so before the consumer changes the quantities consumed, </a:t>
            </a:r>
            <a:r>
              <a:rPr lang="en-US" i="1" dirty="0"/>
              <a:t>MU</a:t>
            </a:r>
            <a:r>
              <a:rPr lang="en-US" i="1" baseline="-25000" dirty="0"/>
              <a:t>S</a:t>
            </a:r>
            <a:r>
              <a:rPr lang="en-US" dirty="0"/>
              <a:t>/</a:t>
            </a:r>
            <a:r>
              <a:rPr lang="en-US" i="1" dirty="0"/>
              <a:t>P</a:t>
            </a:r>
            <a:r>
              <a:rPr lang="en-US" i="1" baseline="-25000" dirty="0"/>
              <a:t>S </a:t>
            </a:r>
            <a:r>
              <a:rPr lang="en-US" dirty="0"/>
              <a:t>&lt; </a:t>
            </a:r>
            <a:r>
              <a:rPr lang="en-US" i="1" dirty="0"/>
              <a:t>MU</a:t>
            </a:r>
            <a:r>
              <a:rPr lang="en-US" i="1" baseline="-25000" dirty="0"/>
              <a:t>M</a:t>
            </a:r>
            <a:r>
              <a:rPr lang="en-US" dirty="0"/>
              <a:t>/</a:t>
            </a:r>
            <a:r>
              <a:rPr lang="en-US" i="1" dirty="0"/>
              <a:t>P</a:t>
            </a:r>
            <a:r>
              <a:rPr lang="en-US" i="1" baseline="-25000" dirty="0"/>
              <a:t>M</a:t>
            </a:r>
            <a:r>
              <a:rPr lang="en-US" i="1" dirty="0"/>
              <a:t>.</a:t>
            </a:r>
            <a:r>
              <a:rPr lang="en-US" dirty="0"/>
              <a:t> </a:t>
            </a:r>
          </a:p>
          <a:p>
            <a:pPr lvl="1"/>
            <a:r>
              <a:rPr lang="en-US" dirty="0"/>
              <a:t>To restore consumer equilibrium (maximum total utility) the consumer decreases the quantity of soda consumed to drive up the </a:t>
            </a:r>
            <a:r>
              <a:rPr lang="en-US" i="1" dirty="0"/>
              <a:t>MU</a:t>
            </a:r>
            <a:r>
              <a:rPr lang="en-US" i="1" baseline="-25000" dirty="0"/>
              <a:t>S</a:t>
            </a:r>
            <a:r>
              <a:rPr lang="en-US" i="1" dirty="0"/>
              <a:t> </a:t>
            </a:r>
            <a:r>
              <a:rPr lang="en-US" dirty="0"/>
              <a:t>and increases the quantity of movies consumed to drive down </a:t>
            </a:r>
            <a:r>
              <a:rPr lang="en-US" i="1" dirty="0"/>
              <a:t>MU</a:t>
            </a:r>
            <a:r>
              <a:rPr lang="en-US" i="1" baseline="-25000" dirty="0"/>
              <a:t>M.</a:t>
            </a:r>
            <a:r>
              <a:rPr lang="en-US" dirty="0"/>
              <a:t> These changes restore </a:t>
            </a:r>
            <a:r>
              <a:rPr lang="en-US" i="1" dirty="0"/>
              <a:t>MU</a:t>
            </a:r>
            <a:r>
              <a:rPr lang="en-US" i="1" baseline="-25000" dirty="0"/>
              <a:t>M</a:t>
            </a:r>
            <a:r>
              <a:rPr lang="en-US" dirty="0"/>
              <a:t>/</a:t>
            </a:r>
            <a:r>
              <a:rPr lang="en-US" i="1" dirty="0"/>
              <a:t>P</a:t>
            </a:r>
            <a:r>
              <a:rPr lang="en-US" i="1" baseline="-25000" dirty="0"/>
              <a:t>M </a:t>
            </a:r>
            <a:r>
              <a:rPr lang="en-US" dirty="0"/>
              <a:t>= </a:t>
            </a:r>
            <a:r>
              <a:rPr lang="en-US" i="1" dirty="0"/>
              <a:t>MU</a:t>
            </a:r>
            <a:r>
              <a:rPr lang="en-US" i="1" baseline="-25000" dirty="0"/>
              <a:t>S</a:t>
            </a:r>
            <a:r>
              <a:rPr lang="en-US" dirty="0"/>
              <a:t>/</a:t>
            </a:r>
            <a:r>
              <a:rPr lang="en-US" i="1" dirty="0"/>
              <a:t>P</a:t>
            </a:r>
            <a:r>
              <a:rPr lang="en-US" i="1" baseline="-25000" dirty="0"/>
              <a:t>S</a:t>
            </a:r>
            <a:r>
              <a:rPr lang="en-US" dirty="0"/>
              <a:t>. </a:t>
            </a:r>
          </a:p>
        </p:txBody>
      </p:sp>
      <p:sp>
        <p:nvSpPr>
          <p:cNvPr id="4" name="Slide Number Placeholder 3"/>
          <p:cNvSpPr>
            <a:spLocks noGrp="1"/>
          </p:cNvSpPr>
          <p:nvPr>
            <p:ph type="sldNum" sz="quarter" idx="11"/>
          </p:nvPr>
        </p:nvSpPr>
        <p:spPr/>
        <p:txBody>
          <a:bodyPr/>
          <a:lstStyle/>
          <a:p>
            <a:fld id="{F3965DA4-7A5B-4DE7-81D4-CD720070DD81}" type="slidenum">
              <a:rPr lang="en-US" smtClean="0"/>
              <a:pPr/>
              <a:t>22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18819">
                                            <p:txEl>
                                              <p:pRg st="0" end="0"/>
                                            </p:txEl>
                                          </p:spTgt>
                                        </p:tgtEl>
                                        <p:attrNameLst>
                                          <p:attrName>style.visibility</p:attrName>
                                        </p:attrNameLst>
                                      </p:cBhvr>
                                      <p:to>
                                        <p:strVal val="visible"/>
                                      </p:to>
                                    </p:set>
                                    <p:animEffect transition="in" filter="fade">
                                      <p:cBhvr>
                                        <p:cTn id="7" dur="800" decel="100000"/>
                                        <p:tgtEl>
                                          <p:spTgt spid="418819">
                                            <p:txEl>
                                              <p:pRg st="0" end="0"/>
                                            </p:txEl>
                                          </p:spTgt>
                                        </p:tgtEl>
                                      </p:cBhvr>
                                    </p:animEffect>
                                    <p:anim calcmode="lin" valueType="num">
                                      <p:cBhvr>
                                        <p:cTn id="8" dur="800" decel="100000" fill="hold"/>
                                        <p:tgtEl>
                                          <p:spTgt spid="418819">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18819">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18819">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18819">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18819">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18819">
                                            <p:txEl>
                                              <p:pRg st="1" end="1"/>
                                            </p:txEl>
                                          </p:spTgt>
                                        </p:tgtEl>
                                        <p:attrNameLst>
                                          <p:attrName>style.visibility</p:attrName>
                                        </p:attrNameLst>
                                      </p:cBhvr>
                                      <p:to>
                                        <p:strVal val="visible"/>
                                      </p:to>
                                    </p:set>
                                    <p:animEffect transition="in" filter="fade">
                                      <p:cBhvr>
                                        <p:cTn id="17" dur="800" decel="100000"/>
                                        <p:tgtEl>
                                          <p:spTgt spid="418819">
                                            <p:txEl>
                                              <p:pRg st="1" end="1"/>
                                            </p:txEl>
                                          </p:spTgt>
                                        </p:tgtEl>
                                      </p:cBhvr>
                                    </p:animEffect>
                                    <p:anim calcmode="lin" valueType="num">
                                      <p:cBhvr>
                                        <p:cTn id="18" dur="800" decel="100000" fill="hold"/>
                                        <p:tgtEl>
                                          <p:spTgt spid="418819">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18819">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18819">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18819">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18819">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18819">
                                            <p:txEl>
                                              <p:pRg st="2" end="2"/>
                                            </p:txEl>
                                          </p:spTgt>
                                        </p:tgtEl>
                                        <p:attrNameLst>
                                          <p:attrName>style.visibility</p:attrName>
                                        </p:attrNameLst>
                                      </p:cBhvr>
                                      <p:to>
                                        <p:strVal val="visible"/>
                                      </p:to>
                                    </p:set>
                                    <p:animEffect transition="in" filter="fade">
                                      <p:cBhvr>
                                        <p:cTn id="27" dur="800" decel="100000"/>
                                        <p:tgtEl>
                                          <p:spTgt spid="418819">
                                            <p:txEl>
                                              <p:pRg st="2" end="2"/>
                                            </p:txEl>
                                          </p:spTgt>
                                        </p:tgtEl>
                                      </p:cBhvr>
                                    </p:animEffect>
                                    <p:anim calcmode="lin" valueType="num">
                                      <p:cBhvr>
                                        <p:cTn id="28" dur="800" decel="100000" fill="hold"/>
                                        <p:tgtEl>
                                          <p:spTgt spid="418819">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18819">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18819">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18819">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18819">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418819">
                                            <p:txEl>
                                              <p:pRg st="3" end="3"/>
                                            </p:txEl>
                                          </p:spTgt>
                                        </p:tgtEl>
                                        <p:attrNameLst>
                                          <p:attrName>style.visibility</p:attrName>
                                        </p:attrNameLst>
                                      </p:cBhvr>
                                      <p:to>
                                        <p:strVal val="visible"/>
                                      </p:to>
                                    </p:set>
                                    <p:animEffect transition="in" filter="fade">
                                      <p:cBhvr>
                                        <p:cTn id="37" dur="800" decel="100000"/>
                                        <p:tgtEl>
                                          <p:spTgt spid="418819">
                                            <p:txEl>
                                              <p:pRg st="3" end="3"/>
                                            </p:txEl>
                                          </p:spTgt>
                                        </p:tgtEl>
                                      </p:cBhvr>
                                    </p:animEffect>
                                    <p:anim calcmode="lin" valueType="num">
                                      <p:cBhvr>
                                        <p:cTn id="38" dur="800" decel="100000" fill="hold"/>
                                        <p:tgtEl>
                                          <p:spTgt spid="418819">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418819">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418819">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418819">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418819">
                                            <p:txEl>
                                              <p:pRg st="3" end="3"/>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pPr algn="l"/>
            <a:r>
              <a:rPr lang="en-US" dirty="0" smtClean="0"/>
              <a:t>(Cont.)</a:t>
            </a:r>
            <a:endParaRPr lang="en-US" dirty="0"/>
          </a:p>
        </p:txBody>
      </p:sp>
      <p:sp>
        <p:nvSpPr>
          <p:cNvPr id="10" name="Content Placeholder 9"/>
          <p:cNvSpPr>
            <a:spLocks noGrp="1"/>
          </p:cNvSpPr>
          <p:nvPr>
            <p:ph idx="1"/>
          </p:nvPr>
        </p:nvSpPr>
        <p:spPr/>
        <p:txBody>
          <a:bodyPr/>
          <a:lstStyle/>
          <a:p>
            <a:endParaRPr lang="en-US" dirty="0"/>
          </a:p>
        </p:txBody>
      </p:sp>
      <p:sp>
        <p:nvSpPr>
          <p:cNvPr id="9" name="Slide Number Placeholder 8"/>
          <p:cNvSpPr>
            <a:spLocks noGrp="1"/>
          </p:cNvSpPr>
          <p:nvPr>
            <p:ph type="sldNum" sz="quarter" idx="11"/>
          </p:nvPr>
        </p:nvSpPr>
        <p:spPr/>
        <p:txBody>
          <a:bodyPr/>
          <a:lstStyle/>
          <a:p>
            <a:fld id="{ABE96090-50D5-425C-B1EF-183FF710AA20}" type="slidenum">
              <a:rPr lang="en-US" smtClean="0"/>
              <a:pPr/>
              <a:t>23</a:t>
            </a:fld>
            <a:endParaRPr lang="en-US"/>
          </a:p>
        </p:txBody>
      </p:sp>
      <p:sp>
        <p:nvSpPr>
          <p:cNvPr id="434183" name="Rectangle 7"/>
          <p:cNvSpPr>
            <a:spLocks noChangeArrowheads="1"/>
          </p:cNvSpPr>
          <p:nvPr/>
        </p:nvSpPr>
        <p:spPr bwMode="auto">
          <a:xfrm>
            <a:off x="457200" y="2895600"/>
            <a:ext cx="4191000" cy="1981200"/>
          </a:xfrm>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2800" dirty="0">
                <a:latin typeface="+mn-lt"/>
              </a:rPr>
              <a:t>A rise in the price of soda decreases the quantity of soda demanded—a movement along the demand curve for soda,</a:t>
            </a:r>
          </a:p>
        </p:txBody>
      </p:sp>
      <p:sp>
        <p:nvSpPr>
          <p:cNvPr id="434184" name="Rectangle 8"/>
          <p:cNvSpPr>
            <a:spLocks noChangeArrowheads="1"/>
          </p:cNvSpPr>
          <p:nvPr/>
        </p:nvSpPr>
        <p:spPr bwMode="auto">
          <a:xfrm>
            <a:off x="457200" y="5029200"/>
            <a:ext cx="4191000" cy="1371600"/>
          </a:xfrm>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2800" dirty="0">
                <a:latin typeface="+mn-lt"/>
              </a:rPr>
              <a:t>and increases the demand for movies—a shift of the demand curve for movies.</a:t>
            </a:r>
          </a:p>
        </p:txBody>
      </p:sp>
      <p:pic>
        <p:nvPicPr>
          <p:cNvPr id="434185" name="Picture 9" descr="Fig07"/>
          <p:cNvPicPr>
            <a:picLocks noChangeAspect="1" noChangeArrowheads="1"/>
          </p:cNvPicPr>
          <p:nvPr/>
        </p:nvPicPr>
        <p:blipFill>
          <a:blip r:embed="rId3" cstate="print"/>
          <a:srcRect/>
          <a:stretch>
            <a:fillRect/>
          </a:stretch>
        </p:blipFill>
        <p:spPr bwMode="auto">
          <a:xfrm>
            <a:off x="5181600" y="531813"/>
            <a:ext cx="2587625" cy="6097587"/>
          </a:xfrm>
          <a:prstGeom prst="rect">
            <a:avLst/>
          </a:prstGeom>
          <a:noFill/>
        </p:spPr>
      </p:pic>
      <p:pic>
        <p:nvPicPr>
          <p:cNvPr id="434186" name="Picture 10" descr="Fig07"/>
          <p:cNvPicPr>
            <a:picLocks noChangeAspect="1" noChangeArrowheads="1"/>
          </p:cNvPicPr>
          <p:nvPr/>
        </p:nvPicPr>
        <p:blipFill>
          <a:blip r:embed="rId4" cstate="print"/>
          <a:srcRect/>
          <a:stretch>
            <a:fillRect/>
          </a:stretch>
        </p:blipFill>
        <p:spPr bwMode="auto">
          <a:xfrm>
            <a:off x="5181600" y="531813"/>
            <a:ext cx="2587625" cy="6097587"/>
          </a:xfrm>
          <a:prstGeom prst="rect">
            <a:avLst/>
          </a:prstGeom>
          <a:noFill/>
        </p:spPr>
      </p:pic>
      <p:pic>
        <p:nvPicPr>
          <p:cNvPr id="434187" name="Picture 11" descr="Fig07"/>
          <p:cNvPicPr>
            <a:picLocks noChangeAspect="1" noChangeArrowheads="1"/>
          </p:cNvPicPr>
          <p:nvPr/>
        </p:nvPicPr>
        <p:blipFill>
          <a:blip r:embed="rId5" cstate="print"/>
          <a:srcRect/>
          <a:stretch>
            <a:fillRect/>
          </a:stretch>
        </p:blipFill>
        <p:spPr bwMode="auto">
          <a:xfrm>
            <a:off x="5181600" y="531813"/>
            <a:ext cx="2587625" cy="6096000"/>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4183"/>
                                        </p:tgtEl>
                                        <p:attrNameLst>
                                          <p:attrName>style.visibility</p:attrName>
                                        </p:attrNameLst>
                                      </p:cBhvr>
                                      <p:to>
                                        <p:strVal val="visible"/>
                                      </p:to>
                                    </p:set>
                                    <p:animEffect transition="in" filter="wipe(left)">
                                      <p:cBhvr>
                                        <p:cTn id="7" dur="1000"/>
                                        <p:tgtEl>
                                          <p:spTgt spid="434183"/>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434186"/>
                                        </p:tgtEl>
                                        <p:attrNameLst>
                                          <p:attrName>style.visibility</p:attrName>
                                        </p:attrNameLst>
                                      </p:cBhvr>
                                      <p:to>
                                        <p:strVal val="visible"/>
                                      </p:to>
                                    </p:set>
                                    <p:animEffect transition="in" filter="wipe(right)">
                                      <p:cBhvr>
                                        <p:cTn id="11" dur="500"/>
                                        <p:tgtEl>
                                          <p:spTgt spid="43418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34184"/>
                                        </p:tgtEl>
                                        <p:attrNameLst>
                                          <p:attrName>style.visibility</p:attrName>
                                        </p:attrNameLst>
                                      </p:cBhvr>
                                      <p:to>
                                        <p:strVal val="visible"/>
                                      </p:to>
                                    </p:set>
                                    <p:animEffect transition="in" filter="wipe(left)">
                                      <p:cBhvr>
                                        <p:cTn id="16" dur="1000"/>
                                        <p:tgtEl>
                                          <p:spTgt spid="434184"/>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434187"/>
                                        </p:tgtEl>
                                        <p:attrNameLst>
                                          <p:attrName>style.visibility</p:attrName>
                                        </p:attrNameLst>
                                      </p:cBhvr>
                                      <p:to>
                                        <p:strVal val="visible"/>
                                      </p:to>
                                    </p:set>
                                    <p:animEffect transition="in" filter="wipe(left)">
                                      <p:cBhvr>
                                        <p:cTn id="20" dur="500"/>
                                        <p:tgtEl>
                                          <p:spTgt spid="434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83" grpId="0"/>
      <p:bldP spid="43418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pPr algn="l"/>
            <a:r>
              <a:rPr lang="en-US" dirty="0" smtClean="0"/>
              <a:t>(Cont.)</a:t>
            </a:r>
            <a:endParaRPr lang="en-US" dirty="0"/>
          </a:p>
        </p:txBody>
      </p:sp>
      <p:sp>
        <p:nvSpPr>
          <p:cNvPr id="420867" name="Rectangle 3"/>
          <p:cNvSpPr>
            <a:spLocks noGrp="1" noChangeArrowheads="1"/>
          </p:cNvSpPr>
          <p:nvPr>
            <p:ph idx="1"/>
          </p:nvPr>
        </p:nvSpPr>
        <p:spPr/>
        <p:txBody>
          <a:bodyPr/>
          <a:lstStyle/>
          <a:p>
            <a:r>
              <a:rPr lang="en-US" sz="3600" dirty="0"/>
              <a:t>Individual Demand and Market Demand</a:t>
            </a:r>
          </a:p>
          <a:p>
            <a:pPr lvl="1"/>
            <a:r>
              <a:rPr lang="en-US" sz="3200" dirty="0"/>
              <a:t>The market demand for a good is the relationship between the price of the good and total quantity demanded of that good. </a:t>
            </a:r>
          </a:p>
          <a:p>
            <a:pPr lvl="1"/>
            <a:r>
              <a:rPr lang="en-US" sz="3200" dirty="0"/>
              <a:t>The individual demand for a good is the relationship between the price of the good and the quantity demanded by one person. </a:t>
            </a:r>
          </a:p>
        </p:txBody>
      </p:sp>
      <p:sp>
        <p:nvSpPr>
          <p:cNvPr id="4" name="Slide Number Placeholder 3"/>
          <p:cNvSpPr>
            <a:spLocks noGrp="1"/>
          </p:cNvSpPr>
          <p:nvPr>
            <p:ph type="sldNum" sz="quarter" idx="11"/>
          </p:nvPr>
        </p:nvSpPr>
        <p:spPr/>
        <p:txBody>
          <a:bodyPr/>
          <a:lstStyle/>
          <a:p>
            <a:fld id="{F3965DA4-7A5B-4DE7-81D4-CD720070DD81}" type="slidenum">
              <a:rPr lang="en-US" smtClean="0"/>
              <a:pPr/>
              <a:t>24</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20867">
                                            <p:txEl>
                                              <p:pRg st="0" end="0"/>
                                            </p:txEl>
                                          </p:spTgt>
                                        </p:tgtEl>
                                        <p:attrNameLst>
                                          <p:attrName>style.visibility</p:attrName>
                                        </p:attrNameLst>
                                      </p:cBhvr>
                                      <p:to>
                                        <p:strVal val="visible"/>
                                      </p:to>
                                    </p:set>
                                    <p:animEffect transition="in" filter="fade">
                                      <p:cBhvr>
                                        <p:cTn id="7" dur="800" decel="100000"/>
                                        <p:tgtEl>
                                          <p:spTgt spid="420867">
                                            <p:txEl>
                                              <p:pRg st="0" end="0"/>
                                            </p:txEl>
                                          </p:spTgt>
                                        </p:tgtEl>
                                      </p:cBhvr>
                                    </p:animEffect>
                                    <p:anim calcmode="lin" valueType="num">
                                      <p:cBhvr>
                                        <p:cTn id="8" dur="800" decel="100000" fill="hold"/>
                                        <p:tgtEl>
                                          <p:spTgt spid="420867">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20867">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20867">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20867">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2086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20867">
                                            <p:txEl>
                                              <p:pRg st="1" end="1"/>
                                            </p:txEl>
                                          </p:spTgt>
                                        </p:tgtEl>
                                        <p:attrNameLst>
                                          <p:attrName>style.visibility</p:attrName>
                                        </p:attrNameLst>
                                      </p:cBhvr>
                                      <p:to>
                                        <p:strVal val="visible"/>
                                      </p:to>
                                    </p:set>
                                    <p:animEffect transition="in" filter="fade">
                                      <p:cBhvr>
                                        <p:cTn id="17" dur="800" decel="100000"/>
                                        <p:tgtEl>
                                          <p:spTgt spid="420867">
                                            <p:txEl>
                                              <p:pRg st="1" end="1"/>
                                            </p:txEl>
                                          </p:spTgt>
                                        </p:tgtEl>
                                      </p:cBhvr>
                                    </p:animEffect>
                                    <p:anim calcmode="lin" valueType="num">
                                      <p:cBhvr>
                                        <p:cTn id="18" dur="800" decel="100000" fill="hold"/>
                                        <p:tgtEl>
                                          <p:spTgt spid="420867">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20867">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20867">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20867">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20867">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20867">
                                            <p:txEl>
                                              <p:pRg st="2" end="2"/>
                                            </p:txEl>
                                          </p:spTgt>
                                        </p:tgtEl>
                                        <p:attrNameLst>
                                          <p:attrName>style.visibility</p:attrName>
                                        </p:attrNameLst>
                                      </p:cBhvr>
                                      <p:to>
                                        <p:strVal val="visible"/>
                                      </p:to>
                                    </p:set>
                                    <p:animEffect transition="in" filter="fade">
                                      <p:cBhvr>
                                        <p:cTn id="27" dur="800" decel="100000"/>
                                        <p:tgtEl>
                                          <p:spTgt spid="420867">
                                            <p:txEl>
                                              <p:pRg st="2" end="2"/>
                                            </p:txEl>
                                          </p:spTgt>
                                        </p:tgtEl>
                                      </p:cBhvr>
                                    </p:animEffect>
                                    <p:anim calcmode="lin" valueType="num">
                                      <p:cBhvr>
                                        <p:cTn id="28" dur="800" decel="100000" fill="hold"/>
                                        <p:tgtEl>
                                          <p:spTgt spid="420867">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20867">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20867">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20867">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20867">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pPr algn="l"/>
            <a:r>
              <a:rPr lang="en-US" dirty="0" smtClean="0"/>
              <a:t>(Cont.)</a:t>
            </a:r>
            <a:endParaRPr lang="en-US" dirty="0"/>
          </a:p>
        </p:txBody>
      </p:sp>
      <p:sp>
        <p:nvSpPr>
          <p:cNvPr id="9" name="Slide Number Placeholder 8"/>
          <p:cNvSpPr>
            <a:spLocks noGrp="1"/>
          </p:cNvSpPr>
          <p:nvPr>
            <p:ph type="sldNum" sz="quarter" idx="11"/>
          </p:nvPr>
        </p:nvSpPr>
        <p:spPr/>
        <p:txBody>
          <a:bodyPr/>
          <a:lstStyle/>
          <a:p>
            <a:fld id="{F3965DA4-7A5B-4DE7-81D4-CD720070DD81}" type="slidenum">
              <a:rPr lang="en-US" smtClean="0"/>
              <a:pPr/>
              <a:t>25</a:t>
            </a:fld>
            <a:endParaRPr lang="en-US"/>
          </a:p>
        </p:txBody>
      </p:sp>
      <p:pic>
        <p:nvPicPr>
          <p:cNvPr id="435205" name="Picture 5" descr="Fig07"/>
          <p:cNvPicPr>
            <a:picLocks noChangeAspect="1" noChangeArrowheads="1"/>
          </p:cNvPicPr>
          <p:nvPr/>
        </p:nvPicPr>
        <p:blipFill>
          <a:blip r:embed="rId3" cstate="print"/>
          <a:srcRect/>
          <a:stretch>
            <a:fillRect/>
          </a:stretch>
        </p:blipFill>
        <p:spPr bwMode="auto">
          <a:xfrm>
            <a:off x="609600" y="2433638"/>
            <a:ext cx="7815263" cy="2976562"/>
          </a:xfrm>
          <a:prstGeom prst="rect">
            <a:avLst/>
          </a:prstGeom>
          <a:noFill/>
        </p:spPr>
      </p:pic>
      <p:pic>
        <p:nvPicPr>
          <p:cNvPr id="435206" name="Picture 6" descr="Fig07"/>
          <p:cNvPicPr>
            <a:picLocks noChangeAspect="1" noChangeArrowheads="1"/>
          </p:cNvPicPr>
          <p:nvPr/>
        </p:nvPicPr>
        <p:blipFill>
          <a:blip r:embed="rId4" cstate="print"/>
          <a:srcRect/>
          <a:stretch>
            <a:fillRect/>
          </a:stretch>
        </p:blipFill>
        <p:spPr bwMode="auto">
          <a:xfrm>
            <a:off x="609600" y="2433638"/>
            <a:ext cx="7815263" cy="2976562"/>
          </a:xfrm>
          <a:prstGeom prst="rect">
            <a:avLst/>
          </a:prstGeom>
          <a:noFill/>
        </p:spPr>
      </p:pic>
      <p:pic>
        <p:nvPicPr>
          <p:cNvPr id="435207" name="Picture 7" descr="Fig07"/>
          <p:cNvPicPr>
            <a:picLocks noChangeAspect="1" noChangeArrowheads="1"/>
          </p:cNvPicPr>
          <p:nvPr/>
        </p:nvPicPr>
        <p:blipFill>
          <a:blip r:embed="rId5" cstate="print"/>
          <a:srcRect/>
          <a:stretch>
            <a:fillRect/>
          </a:stretch>
        </p:blipFill>
        <p:spPr bwMode="auto">
          <a:xfrm>
            <a:off x="609600" y="2433638"/>
            <a:ext cx="7815263" cy="2976562"/>
          </a:xfrm>
          <a:prstGeom prst="rect">
            <a:avLst/>
          </a:prstGeom>
          <a:noFill/>
        </p:spPr>
      </p:pic>
      <p:pic>
        <p:nvPicPr>
          <p:cNvPr id="435208" name="Picture 8" descr="Fig07"/>
          <p:cNvPicPr>
            <a:picLocks noChangeAspect="1" noChangeArrowheads="1"/>
          </p:cNvPicPr>
          <p:nvPr/>
        </p:nvPicPr>
        <p:blipFill>
          <a:blip r:embed="rId6" cstate="print"/>
          <a:srcRect/>
          <a:stretch>
            <a:fillRect/>
          </a:stretch>
        </p:blipFill>
        <p:spPr bwMode="auto">
          <a:xfrm>
            <a:off x="609600" y="2433638"/>
            <a:ext cx="7815263" cy="2976562"/>
          </a:xfrm>
          <a:prstGeom prst="rect">
            <a:avLst/>
          </a:prstGeom>
          <a:noFill/>
        </p:spPr>
      </p:pic>
      <p:pic>
        <p:nvPicPr>
          <p:cNvPr id="435209" name="Picture 9" descr="Fig07"/>
          <p:cNvPicPr>
            <a:picLocks noChangeAspect="1" noChangeArrowheads="1"/>
          </p:cNvPicPr>
          <p:nvPr/>
        </p:nvPicPr>
        <p:blipFill>
          <a:blip r:embed="rId7" cstate="print"/>
          <a:srcRect/>
          <a:stretch>
            <a:fillRect/>
          </a:stretch>
        </p:blipFill>
        <p:spPr bwMode="auto">
          <a:xfrm>
            <a:off x="609600" y="2433638"/>
            <a:ext cx="7815263" cy="2976562"/>
          </a:xfrm>
          <a:prstGeom prst="rect">
            <a:avLst/>
          </a:prstGeom>
          <a:noFill/>
        </p:spPr>
      </p:pic>
      <p:pic>
        <p:nvPicPr>
          <p:cNvPr id="435210" name="Picture 10" descr="Fig07"/>
          <p:cNvPicPr>
            <a:picLocks noChangeAspect="1" noChangeArrowheads="1"/>
          </p:cNvPicPr>
          <p:nvPr/>
        </p:nvPicPr>
        <p:blipFill>
          <a:blip r:embed="rId8" cstate="print"/>
          <a:srcRect/>
          <a:stretch>
            <a:fillRect/>
          </a:stretch>
        </p:blipFill>
        <p:spPr bwMode="auto">
          <a:xfrm>
            <a:off x="609600" y="2433638"/>
            <a:ext cx="7815263" cy="2976562"/>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5206"/>
                                        </p:tgtEl>
                                        <p:attrNameLst>
                                          <p:attrName>style.visibility</p:attrName>
                                        </p:attrNameLst>
                                      </p:cBhvr>
                                      <p:to>
                                        <p:strVal val="visible"/>
                                      </p:to>
                                    </p:set>
                                    <p:animEffect transition="in" filter="wipe(left)">
                                      <p:cBhvr>
                                        <p:cTn id="7" dur="500"/>
                                        <p:tgtEl>
                                          <p:spTgt spid="4352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5207"/>
                                        </p:tgtEl>
                                        <p:attrNameLst>
                                          <p:attrName>style.visibility</p:attrName>
                                        </p:attrNameLst>
                                      </p:cBhvr>
                                      <p:to>
                                        <p:strVal val="visible"/>
                                      </p:to>
                                    </p:set>
                                    <p:animEffect transition="in" filter="wipe(left)">
                                      <p:cBhvr>
                                        <p:cTn id="12" dur="500"/>
                                        <p:tgtEl>
                                          <p:spTgt spid="4352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35208"/>
                                        </p:tgtEl>
                                        <p:attrNameLst>
                                          <p:attrName>style.visibility</p:attrName>
                                        </p:attrNameLst>
                                      </p:cBhvr>
                                      <p:to>
                                        <p:strVal val="visible"/>
                                      </p:to>
                                    </p:set>
                                    <p:animEffect transition="in" filter="wipe(left)">
                                      <p:cBhvr>
                                        <p:cTn id="17" dur="500"/>
                                        <p:tgtEl>
                                          <p:spTgt spid="4352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35209"/>
                                        </p:tgtEl>
                                        <p:attrNameLst>
                                          <p:attrName>style.visibility</p:attrName>
                                        </p:attrNameLst>
                                      </p:cBhvr>
                                      <p:to>
                                        <p:strVal val="visible"/>
                                      </p:to>
                                    </p:set>
                                    <p:animEffect transition="in" filter="wipe(left)">
                                      <p:cBhvr>
                                        <p:cTn id="22" dur="500"/>
                                        <p:tgtEl>
                                          <p:spTgt spid="43520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35210"/>
                                        </p:tgtEl>
                                        <p:attrNameLst>
                                          <p:attrName>style.visibility</p:attrName>
                                        </p:attrNameLst>
                                      </p:cBhvr>
                                      <p:to>
                                        <p:strVal val="visible"/>
                                      </p:to>
                                    </p:set>
                                    <p:animEffect transition="in" filter="wipe(left)">
                                      <p:cBhvr>
                                        <p:cTn id="27" dur="500"/>
                                        <p:tgtEl>
                                          <p:spTgt spid="435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pPr algn="l"/>
            <a:r>
              <a:rPr lang="en-US" dirty="0" smtClean="0"/>
              <a:t>(Cont.)</a:t>
            </a:r>
            <a:endParaRPr lang="en-US" dirty="0"/>
          </a:p>
        </p:txBody>
      </p:sp>
      <p:sp>
        <p:nvSpPr>
          <p:cNvPr id="421891" name="Rectangle 3"/>
          <p:cNvSpPr>
            <a:spLocks noGrp="1" noChangeArrowheads="1"/>
          </p:cNvSpPr>
          <p:nvPr>
            <p:ph idx="1"/>
          </p:nvPr>
        </p:nvSpPr>
        <p:spPr/>
        <p:txBody>
          <a:bodyPr/>
          <a:lstStyle/>
          <a:p>
            <a:r>
              <a:rPr lang="en-US" sz="3600" dirty="0"/>
              <a:t>Marginal Utility and Elasticity</a:t>
            </a:r>
          </a:p>
          <a:p>
            <a:pPr lvl="1"/>
            <a:r>
              <a:rPr lang="en-US" sz="3200" dirty="0"/>
              <a:t>We can predict the price elasticity of demand for a good by knowing the characteristics of the marginal utility of the good. </a:t>
            </a:r>
          </a:p>
          <a:p>
            <a:pPr lvl="1"/>
            <a:r>
              <a:rPr lang="en-US" sz="3200" dirty="0"/>
              <a:t>If as the quantity consumed, marginal utility diminishes rapidly, then a given price change will bring a small quantity change to restore consumer equilibrium, and demand will be inelastic.</a:t>
            </a:r>
          </a:p>
        </p:txBody>
      </p:sp>
      <p:sp>
        <p:nvSpPr>
          <p:cNvPr id="4" name="Slide Number Placeholder 3"/>
          <p:cNvSpPr>
            <a:spLocks noGrp="1"/>
          </p:cNvSpPr>
          <p:nvPr>
            <p:ph type="sldNum" sz="quarter" idx="11"/>
          </p:nvPr>
        </p:nvSpPr>
        <p:spPr/>
        <p:txBody>
          <a:bodyPr/>
          <a:lstStyle/>
          <a:p>
            <a:fld id="{F3965DA4-7A5B-4DE7-81D4-CD720070DD81}" type="slidenum">
              <a:rPr lang="en-US" smtClean="0"/>
              <a:pPr/>
              <a:t>26</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21891">
                                            <p:txEl>
                                              <p:pRg st="0" end="0"/>
                                            </p:txEl>
                                          </p:spTgt>
                                        </p:tgtEl>
                                        <p:attrNameLst>
                                          <p:attrName>style.visibility</p:attrName>
                                        </p:attrNameLst>
                                      </p:cBhvr>
                                      <p:to>
                                        <p:strVal val="visible"/>
                                      </p:to>
                                    </p:set>
                                    <p:animEffect transition="in" filter="fade">
                                      <p:cBhvr>
                                        <p:cTn id="7" dur="800" decel="100000"/>
                                        <p:tgtEl>
                                          <p:spTgt spid="421891">
                                            <p:txEl>
                                              <p:pRg st="0" end="0"/>
                                            </p:txEl>
                                          </p:spTgt>
                                        </p:tgtEl>
                                      </p:cBhvr>
                                    </p:animEffect>
                                    <p:anim calcmode="lin" valueType="num">
                                      <p:cBhvr>
                                        <p:cTn id="8" dur="800" decel="100000" fill="hold"/>
                                        <p:tgtEl>
                                          <p:spTgt spid="42189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2189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2189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2189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2189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21891">
                                            <p:txEl>
                                              <p:pRg st="1" end="1"/>
                                            </p:txEl>
                                          </p:spTgt>
                                        </p:tgtEl>
                                        <p:attrNameLst>
                                          <p:attrName>style.visibility</p:attrName>
                                        </p:attrNameLst>
                                      </p:cBhvr>
                                      <p:to>
                                        <p:strVal val="visible"/>
                                      </p:to>
                                    </p:set>
                                    <p:animEffect transition="in" filter="fade">
                                      <p:cBhvr>
                                        <p:cTn id="17" dur="800" decel="100000"/>
                                        <p:tgtEl>
                                          <p:spTgt spid="421891">
                                            <p:txEl>
                                              <p:pRg st="1" end="1"/>
                                            </p:txEl>
                                          </p:spTgt>
                                        </p:tgtEl>
                                      </p:cBhvr>
                                    </p:animEffect>
                                    <p:anim calcmode="lin" valueType="num">
                                      <p:cBhvr>
                                        <p:cTn id="18" dur="800" decel="100000" fill="hold"/>
                                        <p:tgtEl>
                                          <p:spTgt spid="421891">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21891">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21891">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21891">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21891">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21891">
                                            <p:txEl>
                                              <p:pRg st="2" end="2"/>
                                            </p:txEl>
                                          </p:spTgt>
                                        </p:tgtEl>
                                        <p:attrNameLst>
                                          <p:attrName>style.visibility</p:attrName>
                                        </p:attrNameLst>
                                      </p:cBhvr>
                                      <p:to>
                                        <p:strVal val="visible"/>
                                      </p:to>
                                    </p:set>
                                    <p:animEffect transition="in" filter="fade">
                                      <p:cBhvr>
                                        <p:cTn id="27" dur="800" decel="100000"/>
                                        <p:tgtEl>
                                          <p:spTgt spid="421891">
                                            <p:txEl>
                                              <p:pRg st="2" end="2"/>
                                            </p:txEl>
                                          </p:spTgt>
                                        </p:tgtEl>
                                      </p:cBhvr>
                                    </p:animEffect>
                                    <p:anim calcmode="lin" valueType="num">
                                      <p:cBhvr>
                                        <p:cTn id="28" dur="800" decel="100000" fill="hold"/>
                                        <p:tgtEl>
                                          <p:spTgt spid="421891">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21891">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21891">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21891">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21891">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pPr algn="l"/>
            <a:r>
              <a:rPr lang="en-US" u="sng" dirty="0" smtClean="0"/>
              <a:t>The Paradox of Value:</a:t>
            </a:r>
            <a:endParaRPr lang="en-US" u="sng" dirty="0"/>
          </a:p>
        </p:txBody>
      </p:sp>
      <p:sp>
        <p:nvSpPr>
          <p:cNvPr id="422915" name="Rectangle 3"/>
          <p:cNvSpPr>
            <a:spLocks noGrp="1" noChangeArrowheads="1"/>
          </p:cNvSpPr>
          <p:nvPr>
            <p:ph idx="1"/>
          </p:nvPr>
        </p:nvSpPr>
        <p:spPr/>
        <p:txBody>
          <a:bodyPr/>
          <a:lstStyle/>
          <a:p>
            <a:pPr lvl="1"/>
            <a:r>
              <a:rPr lang="en-US" sz="3600" dirty="0" smtClean="0"/>
              <a:t>The </a:t>
            </a:r>
            <a:r>
              <a:rPr lang="en-US" sz="3600" dirty="0"/>
              <a:t>paradox of value “Why is water, which is essential to life, far cheaper than diamonds, which are not essential?” is resolved by distinguishing between total utility and marginal utility. </a:t>
            </a:r>
            <a:endParaRPr lang="en-US" sz="3600" dirty="0" smtClean="0"/>
          </a:p>
        </p:txBody>
      </p:sp>
      <p:sp>
        <p:nvSpPr>
          <p:cNvPr id="4" name="Slide Number Placeholder 3"/>
          <p:cNvSpPr>
            <a:spLocks noGrp="1"/>
          </p:cNvSpPr>
          <p:nvPr>
            <p:ph type="sldNum" sz="quarter" idx="11"/>
          </p:nvPr>
        </p:nvSpPr>
        <p:spPr/>
        <p:txBody>
          <a:bodyPr/>
          <a:lstStyle/>
          <a:p>
            <a:fld id="{F3965DA4-7A5B-4DE7-81D4-CD720070DD81}" type="slidenum">
              <a:rPr lang="en-US" smtClean="0"/>
              <a:pPr/>
              <a:t>27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22915">
                                            <p:txEl>
                                              <p:pRg st="0" end="0"/>
                                            </p:txEl>
                                          </p:spTgt>
                                        </p:tgtEl>
                                        <p:attrNameLst>
                                          <p:attrName>style.visibility</p:attrName>
                                        </p:attrNameLst>
                                      </p:cBhvr>
                                      <p:to>
                                        <p:strVal val="visible"/>
                                      </p:to>
                                    </p:set>
                                    <p:animEffect transition="in" filter="fade">
                                      <p:cBhvr>
                                        <p:cTn id="7" dur="800" decel="100000"/>
                                        <p:tgtEl>
                                          <p:spTgt spid="422915">
                                            <p:txEl>
                                              <p:pRg st="0" end="0"/>
                                            </p:txEl>
                                          </p:spTgt>
                                        </p:tgtEl>
                                      </p:cBhvr>
                                    </p:animEffect>
                                    <p:anim calcmode="lin" valueType="num">
                                      <p:cBhvr>
                                        <p:cTn id="8" dur="800" decel="100000" fill="hold"/>
                                        <p:tgtEl>
                                          <p:spTgt spid="422915">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22915">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22915">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22915">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22915">
                                            <p:txEl>
                                              <p:pRg st="0" end="0"/>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pPr algn="l"/>
            <a:r>
              <a:rPr lang="en-US" dirty="0" smtClean="0"/>
              <a:t>(Cont.)</a:t>
            </a:r>
            <a:endParaRPr lang="en-US" dirty="0"/>
          </a:p>
        </p:txBody>
      </p:sp>
      <p:sp>
        <p:nvSpPr>
          <p:cNvPr id="3" name="Content Placeholder 2"/>
          <p:cNvSpPr>
            <a:spLocks noGrp="1"/>
          </p:cNvSpPr>
          <p:nvPr>
            <p:ph idx="1"/>
          </p:nvPr>
        </p:nvSpPr>
        <p:spPr>
          <a:xfrm>
            <a:off x="-457200" y="990600"/>
            <a:ext cx="9448800" cy="4525963"/>
          </a:xfrm>
        </p:spPr>
        <p:txBody>
          <a:bodyPr/>
          <a:lstStyle/>
          <a:p>
            <a:pPr lvl="1"/>
            <a:r>
              <a:rPr lang="en-US" sz="2600" dirty="0" smtClean="0"/>
              <a:t>Because water is plentiful and we consume much of it, total utility is large but the marginal utility of an extra unit (liter)  is small. Hence, according to the law of diminishing marginal utility, consumers will be willing to pay only a small price for the extra (marginal) unit. </a:t>
            </a:r>
          </a:p>
          <a:p>
            <a:pPr lvl="1"/>
            <a:r>
              <a:rPr lang="en-US" sz="2600" dirty="0" smtClean="0"/>
              <a:t>If consumers are offered an all-or-nothing choice for water consumption (e.g. SDG100 for 1000 gallons or no water) they will conserve a lot on water consumption. Hence, the first few gallons will have a high marginal utility and therefore a high price. This is the reason why water yields a large consumer surplus.</a:t>
            </a:r>
          </a:p>
          <a:p>
            <a:pPr lvl="1"/>
            <a:r>
              <a:rPr lang="en-US" sz="2600" dirty="0" smtClean="0"/>
              <a:t>Diamonds, on the other hand, are scarce, and according to the law of diminishing marginal utility their marginal utility will be high (total utility small) and hence consumers  will be willing to pay a high price for them.</a:t>
            </a:r>
          </a:p>
          <a:p>
            <a:pPr>
              <a:buNone/>
            </a:pPr>
            <a:endParaRPr lang="en-US" dirty="0"/>
          </a:p>
        </p:txBody>
      </p:sp>
      <p:sp>
        <p:nvSpPr>
          <p:cNvPr id="4" name="Slide Number Placeholder 3"/>
          <p:cNvSpPr>
            <a:spLocks noGrp="1"/>
          </p:cNvSpPr>
          <p:nvPr>
            <p:ph type="sldNum" sz="quarter" idx="11"/>
          </p:nvPr>
        </p:nvSpPr>
        <p:spPr/>
        <p:txBody>
          <a:bodyPr/>
          <a:lstStyle/>
          <a:p>
            <a:fld id="{F3965DA4-7A5B-4DE7-81D4-CD720070DD81}" type="slidenum">
              <a:rPr lang="en-US" smtClean="0"/>
              <a:pPr/>
              <a:t>28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800" decel="100000"/>
                                        <p:tgtEl>
                                          <p:spTgt spid="3">
                                            <p:txEl>
                                              <p:pRg st="0" end="0"/>
                                            </p:txEl>
                                          </p:spTgt>
                                        </p:tgtEl>
                                      </p:cBhvr>
                                    </p:animEffect>
                                    <p:anim calcmode="lin" valueType="num">
                                      <p:cBhvr>
                                        <p:cTn id="8" dur="800" decel="100000" fill="hold"/>
                                        <p:tgtEl>
                                          <p:spTgt spid="3">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3">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3">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800" decel="100000"/>
                                        <p:tgtEl>
                                          <p:spTgt spid="3">
                                            <p:txEl>
                                              <p:pRg st="1" end="1"/>
                                            </p:txEl>
                                          </p:spTgt>
                                        </p:tgtEl>
                                      </p:cBhvr>
                                    </p:animEffect>
                                    <p:anim calcmode="lin" valueType="num">
                                      <p:cBhvr>
                                        <p:cTn id="18" dur="800" decel="100000" fill="hold"/>
                                        <p:tgtEl>
                                          <p:spTgt spid="3">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3">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3">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3">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800" decel="100000"/>
                                        <p:tgtEl>
                                          <p:spTgt spid="3">
                                            <p:txEl>
                                              <p:pRg st="2" end="2"/>
                                            </p:txEl>
                                          </p:spTgt>
                                        </p:tgtEl>
                                      </p:cBhvr>
                                    </p:animEffect>
                                    <p:anim calcmode="lin" valueType="num">
                                      <p:cBhvr>
                                        <p:cTn id="28" dur="800" decel="100000" fill="hold"/>
                                        <p:tgtEl>
                                          <p:spTgt spid="3">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3">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3">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3">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3">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pPr algn="l"/>
            <a:r>
              <a:rPr lang="en-US" dirty="0" smtClean="0"/>
              <a:t>(Cont.)</a:t>
            </a:r>
            <a:endParaRPr lang="en-US" dirty="0"/>
          </a:p>
        </p:txBody>
      </p:sp>
      <p:sp>
        <p:nvSpPr>
          <p:cNvPr id="436227" name="Rectangle 3"/>
          <p:cNvSpPr>
            <a:spLocks noGrp="1" noChangeArrowheads="1"/>
          </p:cNvSpPr>
          <p:nvPr>
            <p:ph idx="1"/>
          </p:nvPr>
        </p:nvSpPr>
        <p:spPr>
          <a:xfrm>
            <a:off x="457200" y="1371600"/>
            <a:ext cx="3962400" cy="2057400"/>
          </a:xfrm>
        </p:spPr>
        <p:txBody>
          <a:bodyPr/>
          <a:lstStyle/>
          <a:p>
            <a:pPr lvl="1"/>
            <a:r>
              <a:rPr lang="en-US" dirty="0"/>
              <a:t>The total utility and consumer surplus from water is large but the marginal utility and price of water is small. </a:t>
            </a:r>
          </a:p>
        </p:txBody>
      </p:sp>
      <p:sp>
        <p:nvSpPr>
          <p:cNvPr id="8" name="Slide Number Placeholder 7"/>
          <p:cNvSpPr>
            <a:spLocks noGrp="1"/>
          </p:cNvSpPr>
          <p:nvPr>
            <p:ph type="sldNum" sz="quarter" idx="11"/>
          </p:nvPr>
        </p:nvSpPr>
        <p:spPr/>
        <p:txBody>
          <a:bodyPr/>
          <a:lstStyle/>
          <a:p>
            <a:fld id="{ABE96090-50D5-425C-B1EF-183FF710AA20}" type="slidenum">
              <a:rPr lang="en-US" smtClean="0"/>
              <a:pPr/>
              <a:t>29</a:t>
            </a:fld>
            <a:endParaRPr lang="en-US"/>
          </a:p>
        </p:txBody>
      </p:sp>
      <p:pic>
        <p:nvPicPr>
          <p:cNvPr id="436228" name="Picture 4" descr="Fig07"/>
          <p:cNvPicPr>
            <a:picLocks noChangeAspect="1" noChangeArrowheads="1"/>
          </p:cNvPicPr>
          <p:nvPr/>
        </p:nvPicPr>
        <p:blipFill>
          <a:blip r:embed="rId2" cstate="print"/>
          <a:srcRect/>
          <a:stretch>
            <a:fillRect/>
          </a:stretch>
        </p:blipFill>
        <p:spPr bwMode="auto">
          <a:xfrm>
            <a:off x="6096000" y="533400"/>
            <a:ext cx="2566988" cy="6094413"/>
          </a:xfrm>
          <a:prstGeom prst="rect">
            <a:avLst/>
          </a:prstGeom>
          <a:noFill/>
        </p:spPr>
      </p:pic>
      <p:pic>
        <p:nvPicPr>
          <p:cNvPr id="436229" name="Picture 5" descr="Fig07"/>
          <p:cNvPicPr>
            <a:picLocks noChangeAspect="1" noChangeArrowheads="1"/>
          </p:cNvPicPr>
          <p:nvPr/>
        </p:nvPicPr>
        <p:blipFill>
          <a:blip r:embed="rId3" cstate="print"/>
          <a:srcRect/>
          <a:stretch>
            <a:fillRect/>
          </a:stretch>
        </p:blipFill>
        <p:spPr bwMode="auto">
          <a:xfrm>
            <a:off x="6096000" y="533400"/>
            <a:ext cx="2566988" cy="6094413"/>
          </a:xfrm>
          <a:prstGeom prst="rect">
            <a:avLst/>
          </a:prstGeom>
          <a:noFill/>
        </p:spPr>
      </p:pic>
      <p:pic>
        <p:nvPicPr>
          <p:cNvPr id="436230" name="Picture 6" descr="Fig07"/>
          <p:cNvPicPr>
            <a:picLocks noChangeAspect="1" noChangeArrowheads="1"/>
          </p:cNvPicPr>
          <p:nvPr/>
        </p:nvPicPr>
        <p:blipFill>
          <a:blip r:embed="rId4" cstate="print"/>
          <a:srcRect/>
          <a:stretch>
            <a:fillRect/>
          </a:stretch>
        </p:blipFill>
        <p:spPr bwMode="auto">
          <a:xfrm>
            <a:off x="6096000" y="533400"/>
            <a:ext cx="2566988" cy="6096000"/>
          </a:xfrm>
          <a:prstGeom prst="rect">
            <a:avLst/>
          </a:prstGeom>
          <a:noFill/>
        </p:spPr>
      </p:pic>
      <p:sp>
        <p:nvSpPr>
          <p:cNvPr id="436231" name="Rectangle 7"/>
          <p:cNvSpPr>
            <a:spLocks noChangeArrowheads="1"/>
          </p:cNvSpPr>
          <p:nvPr/>
        </p:nvSpPr>
        <p:spPr bwMode="auto">
          <a:xfrm>
            <a:off x="457200" y="4114800"/>
            <a:ext cx="3962400" cy="1981200"/>
          </a:xfrm>
          <a:prstGeom prst="rect">
            <a:avLst/>
          </a:prstGeom>
          <a:noFill/>
          <a:ln w="9525">
            <a:noFill/>
            <a:miter lim="800000"/>
            <a:headEnd/>
            <a:tailEnd/>
          </a:ln>
          <a:effectLst/>
        </p:spPr>
        <p:txBody>
          <a:bodyPr/>
          <a:lstStyle/>
          <a:p>
            <a:pPr marL="114300" lvl="1">
              <a:spcBef>
                <a:spcPct val="20000"/>
              </a:spcBef>
              <a:spcAft>
                <a:spcPct val="20000"/>
              </a:spcAft>
              <a:buClr>
                <a:srgbClr val="FF0000"/>
              </a:buClr>
              <a:buFont typeface="Wingdings" pitchFamily="2" charset="2"/>
              <a:buNone/>
            </a:pPr>
            <a:r>
              <a:rPr lang="en-US" sz="2800" dirty="0">
                <a:latin typeface="+mn-lt"/>
              </a:rPr>
              <a:t>In contrast, the total utility and consumer surplus from diamonds is small but the marginal utility and price of a diamond is large.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36229"/>
                                        </p:tgtEl>
                                        <p:attrNameLst>
                                          <p:attrName>style.visibility</p:attrName>
                                        </p:attrNameLst>
                                      </p:cBhvr>
                                      <p:to>
                                        <p:strVal val="visible"/>
                                      </p:to>
                                    </p:set>
                                    <p:animEffect transition="in" filter="dissolve">
                                      <p:cBhvr>
                                        <p:cTn id="7" dur="2000"/>
                                        <p:tgtEl>
                                          <p:spTgt spid="4362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6231"/>
                                        </p:tgtEl>
                                        <p:attrNameLst>
                                          <p:attrName>style.visibility</p:attrName>
                                        </p:attrNameLst>
                                      </p:cBhvr>
                                      <p:to>
                                        <p:strVal val="visible"/>
                                      </p:to>
                                    </p:set>
                                    <p:animEffect transition="in" filter="wipe(left)">
                                      <p:cBhvr>
                                        <p:cTn id="12" dur="1000"/>
                                        <p:tgtEl>
                                          <p:spTgt spid="436231"/>
                                        </p:tgtEl>
                                      </p:cBhvr>
                                    </p:animEffect>
                                  </p:childTnLst>
                                </p:cTn>
                              </p:par>
                            </p:childTnLst>
                          </p:cTn>
                        </p:par>
                        <p:par>
                          <p:cTn id="13" fill="hold">
                            <p:stCondLst>
                              <p:cond delay="1000"/>
                            </p:stCondLst>
                            <p:childTnLst>
                              <p:par>
                                <p:cTn id="14" presetID="9" presetClass="entr" presetSubtype="0" fill="hold" nodeType="afterEffect">
                                  <p:stCondLst>
                                    <p:cond delay="0"/>
                                  </p:stCondLst>
                                  <p:childTnLst>
                                    <p:set>
                                      <p:cBhvr>
                                        <p:cTn id="15" dur="1" fill="hold">
                                          <p:stCondLst>
                                            <p:cond delay="0"/>
                                          </p:stCondLst>
                                        </p:cTn>
                                        <p:tgtEl>
                                          <p:spTgt spid="436230"/>
                                        </p:tgtEl>
                                        <p:attrNameLst>
                                          <p:attrName>style.visibility</p:attrName>
                                        </p:attrNameLst>
                                      </p:cBhvr>
                                      <p:to>
                                        <p:strVal val="visible"/>
                                      </p:to>
                                    </p:set>
                                    <p:animEffect transition="in" filter="dissolve">
                                      <p:cBhvr>
                                        <p:cTn id="16" dur="2000"/>
                                        <p:tgtEl>
                                          <p:spTgt spid="436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342900" lvl="1" indent="-342900">
              <a:buClr>
                <a:schemeClr val="hlink"/>
              </a:buClr>
              <a:buNone/>
            </a:pPr>
            <a:r>
              <a:rPr lang="en-US" b="1" u="sng" dirty="0" smtClean="0"/>
              <a:t>Readings:</a:t>
            </a:r>
            <a:r>
              <a:rPr lang="en-US" b="1" dirty="0" smtClean="0"/>
              <a:t> Samuelson &amp; </a:t>
            </a:r>
            <a:r>
              <a:rPr lang="en-US" b="1" dirty="0" err="1" smtClean="0"/>
              <a:t>Nordhaus</a:t>
            </a:r>
            <a:r>
              <a:rPr lang="en-US" b="1" dirty="0" smtClean="0"/>
              <a:t>, Ch. </a:t>
            </a:r>
            <a:r>
              <a:rPr lang="en-US" b="1" smtClean="0"/>
              <a:t>5</a:t>
            </a:r>
            <a:endParaRPr lang="en-US" b="1" u="sng" smtClean="0"/>
          </a:p>
          <a:p>
            <a:pPr>
              <a:buNone/>
            </a:pPr>
            <a:endParaRPr lang="en-US" dirty="0"/>
          </a:p>
        </p:txBody>
      </p:sp>
      <p:sp>
        <p:nvSpPr>
          <p:cNvPr id="4" name="Slide Number Placeholder 3"/>
          <p:cNvSpPr>
            <a:spLocks noGrp="1"/>
          </p:cNvSpPr>
          <p:nvPr>
            <p:ph type="sldNum" sz="quarter" idx="11"/>
          </p:nvPr>
        </p:nvSpPr>
        <p:spPr/>
        <p:txBody>
          <a:bodyPr/>
          <a:lstStyle/>
          <a:p>
            <a:fld id="{F3965DA4-7A5B-4DE7-81D4-CD720070DD81}" type="slidenum">
              <a:rPr lang="en-US" smtClean="0"/>
              <a:pPr/>
              <a:t>30</a:t>
            </a:fld>
            <a:endParaRPr lang="en-US"/>
          </a:p>
        </p:txBody>
      </p:sp>
    </p:spTree>
  </p:cSld>
  <p:clrMapOvr>
    <a:masterClrMapping/>
  </p:clrMapOvr>
</p:sld>
</file>

<file path=ppt/theme/theme1.xml><?xml version="1.0" encoding="utf-8"?>
<a:theme xmlns:a="http://schemas.openxmlformats.org/drawingml/2006/main" name="US6e">
  <a:themeElements>
    <a:clrScheme name="US6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S6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S6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S6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S6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S6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S6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S6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S6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S6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S6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S6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S6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S6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Default Design">
  <a:themeElements>
    <a:clrScheme name="3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heme4">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Stream">
      <a:majorFont>
        <a:latin typeface="Garamond"/>
        <a:ea typeface=""/>
        <a:cs typeface="Arial"/>
      </a:majorFont>
      <a:minorFont>
        <a:latin typeface="Garamond"/>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3694</TotalTime>
  <Words>2709</Words>
  <Application>Microsoft Office PowerPoint</Application>
  <PresentationFormat>On-screen Show (4:3)</PresentationFormat>
  <Paragraphs>233</Paragraphs>
  <Slides>30</Slides>
  <Notes>25</Notes>
  <HiddenSlides>0</HiddenSlides>
  <MMClips>0</MMClips>
  <ScaleCrop>false</ScaleCrop>
  <HeadingPairs>
    <vt:vector size="4" baseType="variant">
      <vt:variant>
        <vt:lpstr>Theme</vt:lpstr>
      </vt:variant>
      <vt:variant>
        <vt:i4>5</vt:i4>
      </vt:variant>
      <vt:variant>
        <vt:lpstr>Slide Titles</vt:lpstr>
      </vt:variant>
      <vt:variant>
        <vt:i4>30</vt:i4>
      </vt:variant>
    </vt:vector>
  </HeadingPairs>
  <TitlesOfParts>
    <vt:vector size="35" baseType="lpstr">
      <vt:lpstr>US6e</vt:lpstr>
      <vt:lpstr>1_Default Design</vt:lpstr>
      <vt:lpstr>2_Default Design</vt:lpstr>
      <vt:lpstr>3_Default Design</vt:lpstr>
      <vt:lpstr>Theme4</vt:lpstr>
      <vt:lpstr>UTILITY &amp; DEMAND</vt:lpstr>
      <vt:lpstr>Objectives</vt:lpstr>
      <vt:lpstr>Water, Water, Everywhere</vt:lpstr>
      <vt:lpstr>Household Consumption Choices</vt:lpstr>
      <vt:lpstr>(Cont.)</vt:lpstr>
      <vt:lpstr>(Cont.)</vt:lpstr>
      <vt:lpstr>(Cont.)</vt:lpstr>
      <vt:lpstr>(Cont.)</vt:lpstr>
      <vt:lpstr>(Cont.)</vt:lpstr>
      <vt:lpstr>Maximizing Utility:</vt:lpstr>
      <vt:lpstr>(Cont.)</vt:lpstr>
      <vt:lpstr>(Cont.)</vt:lpstr>
      <vt:lpstr>(Cont.)</vt:lpstr>
      <vt:lpstr>(Cont.)</vt:lpstr>
      <vt:lpstr>(Cont.)</vt:lpstr>
      <vt:lpstr>(Cont.)</vt:lpstr>
      <vt:lpstr>(Cont.)</vt:lpstr>
      <vt:lpstr>Numerical Illustration:</vt:lpstr>
      <vt:lpstr>Predictions of Marginal Utility Theory:</vt:lpstr>
      <vt:lpstr>(Cont.)</vt:lpstr>
      <vt:lpstr>(Cont.)</vt:lpstr>
      <vt:lpstr>(Cont.)</vt:lpstr>
      <vt:lpstr>(Cont.)</vt:lpstr>
      <vt:lpstr>(Cont.)</vt:lpstr>
      <vt:lpstr>(Cont.)</vt:lpstr>
      <vt:lpstr>(Cont.)</vt:lpstr>
      <vt:lpstr>The Paradox of Value:</vt:lpstr>
      <vt:lpstr>(Cont.)</vt:lpstr>
      <vt:lpstr>(Cont.)</vt:lpstr>
      <vt:lpstr>Slide 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Choice, Change, Challenge, and Opportunity</dc:title>
  <dc:creator>Michael</dc:creator>
  <cp:lastModifiedBy>ProBook</cp:lastModifiedBy>
  <cp:revision>74</cp:revision>
  <dcterms:created xsi:type="dcterms:W3CDTF">2002-06-09T00:26:05Z</dcterms:created>
  <dcterms:modified xsi:type="dcterms:W3CDTF">2016-06-11T10:27:13Z</dcterms:modified>
</cp:coreProperties>
</file>