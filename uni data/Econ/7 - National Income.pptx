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wmf" ContentType="image/x-wmf"/>
  <Default Extension="xls" ContentType="application/vnd.ms-exce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3.xml" ContentType="application/vnd.openxmlformats-officedocument.presentationml.slideLayout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slideLayouts/slideLayout10.xml" ContentType="application/vnd.openxmlformats-officedocument.presentationml.slideLayout+xml"/>
  <Default Extension="vml" ContentType="application/vnd.openxmlformats-officedocument.vmlDrawing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Default Extension="bin" ContentType="application/vnd.openxmlformats-officedocument.oleObject"/>
  <Override PartName="/ppt/notesSlides/notesSlide3.xml" ContentType="application/vnd.openxmlformats-officedocument.presentationml.notesSlide+xml"/>
  <Default Extension="png" ContentType="image/png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  <Default Extension="emf" ContentType="image/x-emf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14.xml" ContentType="application/vnd.openxmlformats-officedocument.presentationml.slideLayout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72" r:id="rId1"/>
  </p:sldMasterIdLst>
  <p:notesMasterIdLst>
    <p:notesMasterId r:id="rId23"/>
  </p:notesMasterIdLst>
  <p:sldIdLst>
    <p:sldId id="257" r:id="rId2"/>
    <p:sldId id="298" r:id="rId3"/>
    <p:sldId id="315" r:id="rId4"/>
    <p:sldId id="316" r:id="rId5"/>
    <p:sldId id="299" r:id="rId6"/>
    <p:sldId id="300" r:id="rId7"/>
    <p:sldId id="302" r:id="rId8"/>
    <p:sldId id="303" r:id="rId9"/>
    <p:sldId id="304" r:id="rId10"/>
    <p:sldId id="305" r:id="rId11"/>
    <p:sldId id="306" r:id="rId12"/>
    <p:sldId id="307" r:id="rId13"/>
    <p:sldId id="308" r:id="rId14"/>
    <p:sldId id="309" r:id="rId15"/>
    <p:sldId id="310" r:id="rId16"/>
    <p:sldId id="311" r:id="rId17"/>
    <p:sldId id="312" r:id="rId18"/>
    <p:sldId id="317" r:id="rId19"/>
    <p:sldId id="260" r:id="rId20"/>
    <p:sldId id="268" r:id="rId21"/>
    <p:sldId id="318" r:id="rId2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50" d="100"/>
          <a:sy n="50" d="100"/>
        </p:scale>
        <p:origin x="-1872" y="-3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2.wmf"/><Relationship Id="rId1" Type="http://schemas.openxmlformats.org/officeDocument/2006/relationships/image" Target="../media/image1.jpeg"/></Relationships>
</file>

<file path=ppt/drawings/_rels/vmlDrawing2.v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image" Target="../media/image3.jpeg"/></Relationships>
</file>

<file path=ppt/drawings/_rels/vmlDrawing3.v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image" Target="../media/image5.jpeg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e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e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9160B30-0298-45B1-AD24-C9739259E359}" type="datetimeFigureOut">
              <a:rPr lang="en-US" smtClean="0"/>
              <a:pPr/>
              <a:t>11-Jun-16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30BCBEA-E281-40B8-8FC0-C313402297A3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F3C4928-1296-4D23-B52B-81239235C11A}" type="slidenum">
              <a:rPr lang="en-US"/>
              <a:pPr/>
              <a:t>2</a:t>
            </a:fld>
            <a:endParaRPr lang="en-US" dirty="0"/>
          </a:p>
        </p:txBody>
      </p:sp>
      <p:sp>
        <p:nvSpPr>
          <p:cNvPr id="706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06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C084F52-5925-4115-848E-5AB87E7D400D}" type="slidenum">
              <a:rPr lang="en-US"/>
              <a:pPr/>
              <a:t>3</a:t>
            </a:fld>
            <a:endParaRPr lang="en-US"/>
          </a:p>
        </p:txBody>
      </p:sp>
      <p:sp>
        <p:nvSpPr>
          <p:cNvPr id="829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9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9B8DD8C-24ED-4F6E-948D-D552FEBD0605}" type="slidenum">
              <a:rPr lang="en-US"/>
              <a:pPr/>
              <a:t>4</a:t>
            </a:fld>
            <a:endParaRPr lang="en-US"/>
          </a:p>
        </p:txBody>
      </p:sp>
      <p:sp>
        <p:nvSpPr>
          <p:cNvPr id="839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39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DC845CE-08FD-4525-AEE3-E89419B402B9}" type="slidenum">
              <a:rPr lang="en-US" smtClean="0"/>
              <a:pPr/>
              <a:t>6</a:t>
            </a:fld>
            <a:endParaRPr lang="en-US" smtClean="0"/>
          </a:p>
        </p:txBody>
      </p:sp>
      <p:sp>
        <p:nvSpPr>
          <p:cNvPr id="1433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336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4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633D621-393D-4CB8-ACC1-F91FC427DC20}" type="slidenum">
              <a:rPr lang="en-US" smtClean="0"/>
              <a:pPr/>
              <a:t>7</a:t>
            </a:fld>
            <a:endParaRPr lang="en-US" smtClean="0"/>
          </a:p>
        </p:txBody>
      </p:sp>
      <p:sp>
        <p:nvSpPr>
          <p:cNvPr id="1454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54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4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2E0C02D9-2CFB-4EBB-8230-97BBB7001CB5}" type="slidenum">
              <a:rPr lang="en-US" smtClean="0"/>
              <a:pPr/>
              <a:t>8</a:t>
            </a:fld>
            <a:endParaRPr lang="en-US" smtClean="0"/>
          </a:p>
        </p:txBody>
      </p:sp>
      <p:sp>
        <p:nvSpPr>
          <p:cNvPr id="1464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64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4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71FF884-13F3-4B3E-A7C7-664D701909AA}" type="slidenum">
              <a:rPr lang="en-US" smtClean="0"/>
              <a:pPr/>
              <a:t>9</a:t>
            </a:fld>
            <a:endParaRPr lang="en-US" smtClean="0"/>
          </a:p>
        </p:txBody>
      </p:sp>
      <p:sp>
        <p:nvSpPr>
          <p:cNvPr id="1474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74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4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B35CAA7-5307-4821-A1CB-1507ED98A763}" type="slidenum">
              <a:rPr lang="en-US" smtClean="0"/>
              <a:pPr/>
              <a:t>10</a:t>
            </a:fld>
            <a:endParaRPr lang="en-US" smtClean="0"/>
          </a:p>
        </p:txBody>
      </p:sp>
      <p:sp>
        <p:nvSpPr>
          <p:cNvPr id="1484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848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5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2C487FF-593C-4703-AD5C-49AD1885DC2B}" type="slidenum">
              <a:rPr lang="en-US" smtClean="0"/>
              <a:pPr/>
              <a:t>11</a:t>
            </a:fld>
            <a:endParaRPr lang="en-US" smtClean="0"/>
          </a:p>
        </p:txBody>
      </p:sp>
      <p:sp>
        <p:nvSpPr>
          <p:cNvPr id="1495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95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5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E8BFA6C-FD42-4DC9-AC2D-D995BF7F0DFA}" type="slidenum">
              <a:rPr lang="en-US" smtClean="0"/>
              <a:pPr/>
              <a:t>12</a:t>
            </a:fld>
            <a:endParaRPr lang="en-US" smtClean="0"/>
          </a:p>
        </p:txBody>
      </p:sp>
      <p:sp>
        <p:nvSpPr>
          <p:cNvPr id="1505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053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5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A6E7481-1A50-4627-970C-CA69F0BC784E}" type="slidenum">
              <a:rPr lang="en-US" smtClean="0"/>
              <a:pPr/>
              <a:t>13</a:t>
            </a:fld>
            <a:endParaRPr lang="en-US" smtClean="0"/>
          </a:p>
        </p:txBody>
      </p:sp>
      <p:sp>
        <p:nvSpPr>
          <p:cNvPr id="1515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15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F8AC8FE-5050-4EBB-BE5D-777B654FF244}" type="slidenum">
              <a:rPr lang="en-US" smtClean="0"/>
              <a:pPr/>
              <a:t>14</a:t>
            </a:fld>
            <a:endParaRPr lang="en-US" smtClean="0"/>
          </a:p>
        </p:txBody>
      </p:sp>
      <p:sp>
        <p:nvSpPr>
          <p:cNvPr id="152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25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dirty="0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0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53603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smtClean="0"/>
          </a:p>
        </p:txBody>
      </p:sp>
      <p:sp>
        <p:nvSpPr>
          <p:cNvPr id="15360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6C12A86-6DB1-450E-ADDC-7B74CED03385}" type="slidenum">
              <a:rPr lang="en-US" smtClean="0"/>
              <a:pPr/>
              <a:t>15</a:t>
            </a:fld>
            <a:endParaRPr lang="en-US" smtClean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54627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smtClean="0"/>
          </a:p>
        </p:txBody>
      </p:sp>
      <p:sp>
        <p:nvSpPr>
          <p:cNvPr id="15462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11D4409-4BB8-4BC9-878C-323BCC16AAA9}" type="slidenum">
              <a:rPr lang="en-US" smtClean="0"/>
              <a:pPr/>
              <a:t>16</a:t>
            </a:fld>
            <a:endParaRPr lang="en-US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/>
          </p:cNvGrpSpPr>
          <p:nvPr/>
        </p:nvGrpSpPr>
        <p:grpSpPr bwMode="auto">
          <a:xfrm>
            <a:off x="0" y="0"/>
            <a:ext cx="9140825" cy="6850063"/>
            <a:chOff x="0" y="0"/>
            <a:chExt cx="5758" cy="4315"/>
          </a:xfrm>
        </p:grpSpPr>
        <p:grpSp>
          <p:nvGrpSpPr>
            <p:cNvPr id="3" name="Group 3"/>
            <p:cNvGrpSpPr>
              <a:grpSpLocks/>
            </p:cNvGrpSpPr>
            <p:nvPr userDrawn="1"/>
          </p:nvGrpSpPr>
          <p:grpSpPr bwMode="auto">
            <a:xfrm>
              <a:off x="1728" y="2230"/>
              <a:ext cx="4027" cy="2085"/>
              <a:chOff x="1728" y="2230"/>
              <a:chExt cx="4027" cy="2085"/>
            </a:xfrm>
          </p:grpSpPr>
          <p:sp>
            <p:nvSpPr>
              <p:cNvPr id="174084" name="Freeform 4"/>
              <p:cNvSpPr>
                <a:spLocks/>
              </p:cNvSpPr>
              <p:nvPr/>
            </p:nvSpPr>
            <p:spPr bwMode="hidden">
              <a:xfrm>
                <a:off x="1728" y="2644"/>
                <a:ext cx="2882" cy="1671"/>
              </a:xfrm>
              <a:custGeom>
                <a:avLst/>
                <a:gdLst/>
                <a:ahLst/>
                <a:cxnLst>
                  <a:cxn ang="0">
                    <a:pos x="2740" y="528"/>
                  </a:cxn>
                  <a:cxn ang="0">
                    <a:pos x="2632" y="484"/>
                  </a:cxn>
                  <a:cxn ang="0">
                    <a:pos x="2480" y="424"/>
                  </a:cxn>
                  <a:cxn ang="0">
                    <a:pos x="2203" y="343"/>
                  </a:cxn>
                  <a:cxn ang="0">
                    <a:pos x="1970" y="277"/>
                  </a:cxn>
                  <a:cxn ang="0">
                    <a:pos x="1807" y="212"/>
                  </a:cxn>
                  <a:cxn ang="0">
                    <a:pos x="1693" y="152"/>
                  </a:cxn>
                  <a:cxn ang="0">
                    <a:pos x="1628" y="103"/>
                  </a:cxn>
                  <a:cxn ang="0">
                    <a:pos x="1590" y="60"/>
                  </a:cxn>
                  <a:cxn ang="0">
                    <a:pos x="1579" y="27"/>
                  </a:cxn>
                  <a:cxn ang="0">
                    <a:pos x="1585" y="0"/>
                  </a:cxn>
                  <a:cxn ang="0">
                    <a:pos x="1557" y="49"/>
                  </a:cxn>
                  <a:cxn ang="0">
                    <a:pos x="1568" y="98"/>
                  </a:cxn>
                  <a:cxn ang="0">
                    <a:pos x="1617" y="141"/>
                  </a:cxn>
                  <a:cxn ang="0">
                    <a:pos x="1688" y="185"/>
                  </a:cxn>
                  <a:cxn ang="0">
                    <a:pos x="1791" y="228"/>
                  </a:cxn>
                  <a:cxn ang="0">
                    <a:pos x="2040" y="310"/>
                  </a:cxn>
                  <a:cxn ang="0">
                    <a:pos x="2285" y="381"/>
                  </a:cxn>
                  <a:cxn ang="0">
                    <a:pos x="2464" y="435"/>
                  </a:cxn>
                  <a:cxn ang="0">
                    <a:pos x="2605" y="484"/>
                  </a:cxn>
                  <a:cxn ang="0">
                    <a:pos x="2708" y="528"/>
                  </a:cxn>
                  <a:cxn ang="0">
                    <a:pos x="2768" y="560"/>
                  </a:cxn>
                  <a:cxn ang="0">
                    <a:pos x="2795" y="593"/>
                  </a:cxn>
                  <a:cxn ang="0">
                    <a:pos x="2795" y="642"/>
                  </a:cxn>
                  <a:cxn ang="0">
                    <a:pos x="2762" y="691"/>
                  </a:cxn>
                  <a:cxn ang="0">
                    <a:pos x="2692" y="735"/>
                  </a:cxn>
                  <a:cxn ang="0">
                    <a:pos x="2589" y="778"/>
                  </a:cxn>
                  <a:cxn ang="0">
                    <a:pos x="2458" y="822"/>
                  </a:cxn>
                  <a:cxn ang="0">
                    <a:pos x="2301" y="865"/>
                  </a:cxn>
                  <a:cxn ang="0">
                    <a:pos x="2030" y="930"/>
                  </a:cxn>
                  <a:cxn ang="0">
                    <a:pos x="1606" y="1034"/>
                  </a:cxn>
                  <a:cxn ang="0">
                    <a:pos x="1145" y="1164"/>
                  </a:cxn>
                  <a:cxn ang="0">
                    <a:pos x="673" y="1328"/>
                  </a:cxn>
                  <a:cxn ang="0">
                    <a:pos x="217" y="1545"/>
                  </a:cxn>
                  <a:cxn ang="0">
                    <a:pos x="353" y="1671"/>
                  </a:cxn>
                  <a:cxn ang="0">
                    <a:pos x="754" y="1469"/>
                  </a:cxn>
                  <a:cxn ang="0">
                    <a:pos x="1145" y="1311"/>
                  </a:cxn>
                  <a:cxn ang="0">
                    <a:pos x="1519" y="1186"/>
                  </a:cxn>
                  <a:cxn ang="0">
                    <a:pos x="1861" y="1083"/>
                  </a:cxn>
                  <a:cxn ang="0">
                    <a:pos x="2165" y="1007"/>
                  </a:cxn>
                  <a:cxn ang="0">
                    <a:pos x="2426" y="947"/>
                  </a:cxn>
                  <a:cxn ang="0">
                    <a:pos x="2626" y="892"/>
                  </a:cxn>
                  <a:cxn ang="0">
                    <a:pos x="2762" y="838"/>
                  </a:cxn>
                  <a:cxn ang="0">
                    <a:pos x="2827" y="794"/>
                  </a:cxn>
                  <a:cxn ang="0">
                    <a:pos x="2865" y="745"/>
                  </a:cxn>
                  <a:cxn ang="0">
                    <a:pos x="2882" y="702"/>
                  </a:cxn>
                  <a:cxn ang="0">
                    <a:pos x="2854" y="620"/>
                  </a:cxn>
                  <a:cxn ang="0">
                    <a:pos x="2800" y="560"/>
                  </a:cxn>
                  <a:cxn ang="0">
                    <a:pos x="2773" y="544"/>
                  </a:cxn>
                </a:cxnLst>
                <a:rect l="0" t="0" r="r" b="b"/>
                <a:pathLst>
                  <a:path w="2882" h="1671">
                    <a:moveTo>
                      <a:pt x="2773" y="544"/>
                    </a:moveTo>
                    <a:lnTo>
                      <a:pt x="2740" y="528"/>
                    </a:lnTo>
                    <a:lnTo>
                      <a:pt x="2692" y="506"/>
                    </a:lnTo>
                    <a:lnTo>
                      <a:pt x="2632" y="484"/>
                    </a:lnTo>
                    <a:lnTo>
                      <a:pt x="2561" y="457"/>
                    </a:lnTo>
                    <a:lnTo>
                      <a:pt x="2480" y="424"/>
                    </a:lnTo>
                    <a:lnTo>
                      <a:pt x="2388" y="397"/>
                    </a:lnTo>
                    <a:lnTo>
                      <a:pt x="2203" y="343"/>
                    </a:lnTo>
                    <a:lnTo>
                      <a:pt x="2078" y="310"/>
                    </a:lnTo>
                    <a:lnTo>
                      <a:pt x="1970" y="277"/>
                    </a:lnTo>
                    <a:lnTo>
                      <a:pt x="1878" y="245"/>
                    </a:lnTo>
                    <a:lnTo>
                      <a:pt x="1807" y="212"/>
                    </a:lnTo>
                    <a:lnTo>
                      <a:pt x="1742" y="179"/>
                    </a:lnTo>
                    <a:lnTo>
                      <a:pt x="1693" y="152"/>
                    </a:lnTo>
                    <a:lnTo>
                      <a:pt x="1655" y="125"/>
                    </a:lnTo>
                    <a:lnTo>
                      <a:pt x="1628" y="103"/>
                    </a:lnTo>
                    <a:lnTo>
                      <a:pt x="1606" y="81"/>
                    </a:lnTo>
                    <a:lnTo>
                      <a:pt x="1590" y="60"/>
                    </a:lnTo>
                    <a:lnTo>
                      <a:pt x="1585" y="43"/>
                    </a:lnTo>
                    <a:lnTo>
                      <a:pt x="1579" y="27"/>
                    </a:lnTo>
                    <a:lnTo>
                      <a:pt x="1585" y="5"/>
                    </a:lnTo>
                    <a:lnTo>
                      <a:pt x="1585" y="0"/>
                    </a:lnTo>
                    <a:lnTo>
                      <a:pt x="1568" y="27"/>
                    </a:lnTo>
                    <a:lnTo>
                      <a:pt x="1557" y="49"/>
                    </a:lnTo>
                    <a:lnTo>
                      <a:pt x="1557" y="76"/>
                    </a:lnTo>
                    <a:lnTo>
                      <a:pt x="1568" y="98"/>
                    </a:lnTo>
                    <a:lnTo>
                      <a:pt x="1590" y="120"/>
                    </a:lnTo>
                    <a:lnTo>
                      <a:pt x="1617" y="141"/>
                    </a:lnTo>
                    <a:lnTo>
                      <a:pt x="1650" y="163"/>
                    </a:lnTo>
                    <a:lnTo>
                      <a:pt x="1688" y="185"/>
                    </a:lnTo>
                    <a:lnTo>
                      <a:pt x="1737" y="207"/>
                    </a:lnTo>
                    <a:lnTo>
                      <a:pt x="1791" y="228"/>
                    </a:lnTo>
                    <a:lnTo>
                      <a:pt x="1905" y="267"/>
                    </a:lnTo>
                    <a:lnTo>
                      <a:pt x="2040" y="310"/>
                    </a:lnTo>
                    <a:lnTo>
                      <a:pt x="2182" y="348"/>
                    </a:lnTo>
                    <a:lnTo>
                      <a:pt x="2285" y="381"/>
                    </a:lnTo>
                    <a:lnTo>
                      <a:pt x="2382" y="408"/>
                    </a:lnTo>
                    <a:lnTo>
                      <a:pt x="2464" y="435"/>
                    </a:lnTo>
                    <a:lnTo>
                      <a:pt x="2540" y="462"/>
                    </a:lnTo>
                    <a:lnTo>
                      <a:pt x="2605" y="484"/>
                    </a:lnTo>
                    <a:lnTo>
                      <a:pt x="2659" y="506"/>
                    </a:lnTo>
                    <a:lnTo>
                      <a:pt x="2708" y="528"/>
                    </a:lnTo>
                    <a:lnTo>
                      <a:pt x="2740" y="544"/>
                    </a:lnTo>
                    <a:lnTo>
                      <a:pt x="2768" y="560"/>
                    </a:lnTo>
                    <a:lnTo>
                      <a:pt x="2784" y="577"/>
                    </a:lnTo>
                    <a:lnTo>
                      <a:pt x="2795" y="593"/>
                    </a:lnTo>
                    <a:lnTo>
                      <a:pt x="2800" y="615"/>
                    </a:lnTo>
                    <a:lnTo>
                      <a:pt x="2795" y="642"/>
                    </a:lnTo>
                    <a:lnTo>
                      <a:pt x="2784" y="664"/>
                    </a:lnTo>
                    <a:lnTo>
                      <a:pt x="2762" y="691"/>
                    </a:lnTo>
                    <a:lnTo>
                      <a:pt x="2730" y="713"/>
                    </a:lnTo>
                    <a:lnTo>
                      <a:pt x="2692" y="735"/>
                    </a:lnTo>
                    <a:lnTo>
                      <a:pt x="2643" y="756"/>
                    </a:lnTo>
                    <a:lnTo>
                      <a:pt x="2589" y="778"/>
                    </a:lnTo>
                    <a:lnTo>
                      <a:pt x="2529" y="800"/>
                    </a:lnTo>
                    <a:lnTo>
                      <a:pt x="2458" y="822"/>
                    </a:lnTo>
                    <a:lnTo>
                      <a:pt x="2382" y="843"/>
                    </a:lnTo>
                    <a:lnTo>
                      <a:pt x="2301" y="865"/>
                    </a:lnTo>
                    <a:lnTo>
                      <a:pt x="2214" y="887"/>
                    </a:lnTo>
                    <a:lnTo>
                      <a:pt x="2030" y="930"/>
                    </a:lnTo>
                    <a:lnTo>
                      <a:pt x="1823" y="979"/>
                    </a:lnTo>
                    <a:lnTo>
                      <a:pt x="1606" y="1034"/>
                    </a:lnTo>
                    <a:lnTo>
                      <a:pt x="1378" y="1094"/>
                    </a:lnTo>
                    <a:lnTo>
                      <a:pt x="1145" y="1164"/>
                    </a:lnTo>
                    <a:lnTo>
                      <a:pt x="912" y="1241"/>
                    </a:lnTo>
                    <a:lnTo>
                      <a:pt x="673" y="1328"/>
                    </a:lnTo>
                    <a:lnTo>
                      <a:pt x="440" y="1431"/>
                    </a:lnTo>
                    <a:lnTo>
                      <a:pt x="217" y="1545"/>
                    </a:lnTo>
                    <a:lnTo>
                      <a:pt x="0" y="1671"/>
                    </a:lnTo>
                    <a:lnTo>
                      <a:pt x="353" y="1671"/>
                    </a:lnTo>
                    <a:lnTo>
                      <a:pt x="554" y="1567"/>
                    </a:lnTo>
                    <a:lnTo>
                      <a:pt x="754" y="1469"/>
                    </a:lnTo>
                    <a:lnTo>
                      <a:pt x="955" y="1388"/>
                    </a:lnTo>
                    <a:lnTo>
                      <a:pt x="1145" y="1311"/>
                    </a:lnTo>
                    <a:lnTo>
                      <a:pt x="1335" y="1241"/>
                    </a:lnTo>
                    <a:lnTo>
                      <a:pt x="1519" y="1186"/>
                    </a:lnTo>
                    <a:lnTo>
                      <a:pt x="1693" y="1132"/>
                    </a:lnTo>
                    <a:lnTo>
                      <a:pt x="1861" y="1083"/>
                    </a:lnTo>
                    <a:lnTo>
                      <a:pt x="2019" y="1045"/>
                    </a:lnTo>
                    <a:lnTo>
                      <a:pt x="2165" y="1007"/>
                    </a:lnTo>
                    <a:lnTo>
                      <a:pt x="2301" y="974"/>
                    </a:lnTo>
                    <a:lnTo>
                      <a:pt x="2426" y="947"/>
                    </a:lnTo>
                    <a:lnTo>
                      <a:pt x="2534" y="914"/>
                    </a:lnTo>
                    <a:lnTo>
                      <a:pt x="2626" y="892"/>
                    </a:lnTo>
                    <a:lnTo>
                      <a:pt x="2702" y="865"/>
                    </a:lnTo>
                    <a:lnTo>
                      <a:pt x="2762" y="838"/>
                    </a:lnTo>
                    <a:lnTo>
                      <a:pt x="2800" y="816"/>
                    </a:lnTo>
                    <a:lnTo>
                      <a:pt x="2827" y="794"/>
                    </a:lnTo>
                    <a:lnTo>
                      <a:pt x="2849" y="767"/>
                    </a:lnTo>
                    <a:lnTo>
                      <a:pt x="2865" y="745"/>
                    </a:lnTo>
                    <a:lnTo>
                      <a:pt x="2876" y="724"/>
                    </a:lnTo>
                    <a:lnTo>
                      <a:pt x="2882" y="702"/>
                    </a:lnTo>
                    <a:lnTo>
                      <a:pt x="2876" y="658"/>
                    </a:lnTo>
                    <a:lnTo>
                      <a:pt x="2854" y="620"/>
                    </a:lnTo>
                    <a:lnTo>
                      <a:pt x="2833" y="588"/>
                    </a:lnTo>
                    <a:lnTo>
                      <a:pt x="2800" y="560"/>
                    </a:lnTo>
                    <a:lnTo>
                      <a:pt x="2773" y="544"/>
                    </a:lnTo>
                    <a:lnTo>
                      <a:pt x="2773" y="544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90980"/>
                      <a:invGamma/>
                    </a:schemeClr>
                  </a:gs>
                </a:gsLst>
                <a:lin ang="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4085" name="Freeform 5"/>
              <p:cNvSpPr>
                <a:spLocks/>
              </p:cNvSpPr>
              <p:nvPr/>
            </p:nvSpPr>
            <p:spPr bwMode="hidden">
              <a:xfrm>
                <a:off x="4170" y="2671"/>
                <a:ext cx="1259" cy="811"/>
              </a:xfrm>
              <a:custGeom>
                <a:avLst/>
                <a:gdLst/>
                <a:ahLst/>
                <a:cxnLst>
                  <a:cxn ang="0">
                    <a:pos x="1259" y="615"/>
                  </a:cxn>
                  <a:cxn ang="0">
                    <a:pos x="1248" y="588"/>
                  </a:cxn>
                  <a:cxn ang="0">
                    <a:pos x="1237" y="566"/>
                  </a:cxn>
                  <a:cxn ang="0">
                    <a:pos x="1216" y="539"/>
                  </a:cxn>
                  <a:cxn ang="0">
                    <a:pos x="1188" y="517"/>
                  </a:cxn>
                  <a:cxn ang="0">
                    <a:pos x="1123" y="479"/>
                  </a:cxn>
                  <a:cxn ang="0">
                    <a:pos x="1042" y="441"/>
                  </a:cxn>
                  <a:cxn ang="0">
                    <a:pos x="944" y="408"/>
                  </a:cxn>
                  <a:cxn ang="0">
                    <a:pos x="841" y="381"/>
                  </a:cxn>
                  <a:cxn ang="0">
                    <a:pos x="727" y="348"/>
                  </a:cxn>
                  <a:cxn ang="0">
                    <a:pos x="613" y="321"/>
                  </a:cxn>
                  <a:cxn ang="0">
                    <a:pos x="499" y="294"/>
                  </a:cxn>
                  <a:cxn ang="0">
                    <a:pos x="391" y="261"/>
                  </a:cxn>
                  <a:cxn ang="0">
                    <a:pos x="288" y="229"/>
                  </a:cxn>
                  <a:cxn ang="0">
                    <a:pos x="195" y="196"/>
                  </a:cxn>
                  <a:cxn ang="0">
                    <a:pos x="119" y="152"/>
                  </a:cxn>
                  <a:cxn ang="0">
                    <a:pos x="54" y="109"/>
                  </a:cxn>
                  <a:cxn ang="0">
                    <a:pos x="33" y="87"/>
                  </a:cxn>
                  <a:cxn ang="0">
                    <a:pos x="16" y="60"/>
                  </a:cxn>
                  <a:cxn ang="0">
                    <a:pos x="5" y="33"/>
                  </a:cxn>
                  <a:cxn ang="0">
                    <a:pos x="0" y="0"/>
                  </a:cxn>
                  <a:cxn ang="0">
                    <a:pos x="0" y="6"/>
                  </a:cxn>
                  <a:cxn ang="0">
                    <a:pos x="0" y="11"/>
                  </a:cxn>
                  <a:cxn ang="0">
                    <a:pos x="0" y="38"/>
                  </a:cxn>
                  <a:cxn ang="0">
                    <a:pos x="5" y="60"/>
                  </a:cxn>
                  <a:cxn ang="0">
                    <a:pos x="16" y="87"/>
                  </a:cxn>
                  <a:cxn ang="0">
                    <a:pos x="33" y="114"/>
                  </a:cxn>
                  <a:cxn ang="0">
                    <a:pos x="54" y="142"/>
                  </a:cxn>
                  <a:cxn ang="0">
                    <a:pos x="87" y="174"/>
                  </a:cxn>
                  <a:cxn ang="0">
                    <a:pos x="125" y="207"/>
                  </a:cxn>
                  <a:cxn ang="0">
                    <a:pos x="179" y="240"/>
                  </a:cxn>
                  <a:cxn ang="0">
                    <a:pos x="244" y="278"/>
                  </a:cxn>
                  <a:cxn ang="0">
                    <a:pos x="326" y="310"/>
                  </a:cxn>
                  <a:cxn ang="0">
                    <a:pos x="418" y="348"/>
                  </a:cxn>
                  <a:cxn ang="0">
                    <a:pos x="526" y="381"/>
                  </a:cxn>
                  <a:cxn ang="0">
                    <a:pos x="657" y="414"/>
                  </a:cxn>
                  <a:cxn ang="0">
                    <a:pos x="749" y="435"/>
                  </a:cxn>
                  <a:cxn ang="0">
                    <a:pos x="830" y="463"/>
                  </a:cxn>
                  <a:cxn ang="0">
                    <a:pos x="901" y="490"/>
                  </a:cxn>
                  <a:cxn ang="0">
                    <a:pos x="966" y="512"/>
                  </a:cxn>
                  <a:cxn ang="0">
                    <a:pos x="1015" y="539"/>
                  </a:cxn>
                  <a:cxn ang="0">
                    <a:pos x="1053" y="566"/>
                  </a:cxn>
                  <a:cxn ang="0">
                    <a:pos x="1080" y="593"/>
                  </a:cxn>
                  <a:cxn ang="0">
                    <a:pos x="1102" y="620"/>
                  </a:cxn>
                  <a:cxn ang="0">
                    <a:pos x="1112" y="648"/>
                  </a:cxn>
                  <a:cxn ang="0">
                    <a:pos x="1118" y="675"/>
                  </a:cxn>
                  <a:cxn ang="0">
                    <a:pos x="1112" y="697"/>
                  </a:cxn>
                  <a:cxn ang="0">
                    <a:pos x="1096" y="724"/>
                  </a:cxn>
                  <a:cxn ang="0">
                    <a:pos x="1080" y="746"/>
                  </a:cxn>
                  <a:cxn ang="0">
                    <a:pos x="1053" y="767"/>
                  </a:cxn>
                  <a:cxn ang="0">
                    <a:pos x="1015" y="789"/>
                  </a:cxn>
                  <a:cxn ang="0">
                    <a:pos x="977" y="811"/>
                  </a:cxn>
                  <a:cxn ang="0">
                    <a:pos x="1047" y="789"/>
                  </a:cxn>
                  <a:cxn ang="0">
                    <a:pos x="1107" y="767"/>
                  </a:cxn>
                  <a:cxn ang="0">
                    <a:pos x="1156" y="746"/>
                  </a:cxn>
                  <a:cxn ang="0">
                    <a:pos x="1199" y="724"/>
                  </a:cxn>
                  <a:cxn ang="0">
                    <a:pos x="1226" y="702"/>
                  </a:cxn>
                  <a:cxn ang="0">
                    <a:pos x="1248" y="675"/>
                  </a:cxn>
                  <a:cxn ang="0">
                    <a:pos x="1259" y="648"/>
                  </a:cxn>
                  <a:cxn ang="0">
                    <a:pos x="1259" y="615"/>
                  </a:cxn>
                  <a:cxn ang="0">
                    <a:pos x="1259" y="615"/>
                  </a:cxn>
                </a:cxnLst>
                <a:rect l="0" t="0" r="r" b="b"/>
                <a:pathLst>
                  <a:path w="1259" h="811">
                    <a:moveTo>
                      <a:pt x="1259" y="615"/>
                    </a:moveTo>
                    <a:lnTo>
                      <a:pt x="1248" y="588"/>
                    </a:lnTo>
                    <a:lnTo>
                      <a:pt x="1237" y="566"/>
                    </a:lnTo>
                    <a:lnTo>
                      <a:pt x="1216" y="539"/>
                    </a:lnTo>
                    <a:lnTo>
                      <a:pt x="1188" y="517"/>
                    </a:lnTo>
                    <a:lnTo>
                      <a:pt x="1123" y="479"/>
                    </a:lnTo>
                    <a:lnTo>
                      <a:pt x="1042" y="441"/>
                    </a:lnTo>
                    <a:lnTo>
                      <a:pt x="944" y="408"/>
                    </a:lnTo>
                    <a:lnTo>
                      <a:pt x="841" y="381"/>
                    </a:lnTo>
                    <a:lnTo>
                      <a:pt x="727" y="348"/>
                    </a:lnTo>
                    <a:lnTo>
                      <a:pt x="613" y="321"/>
                    </a:lnTo>
                    <a:lnTo>
                      <a:pt x="499" y="294"/>
                    </a:lnTo>
                    <a:lnTo>
                      <a:pt x="391" y="261"/>
                    </a:lnTo>
                    <a:lnTo>
                      <a:pt x="288" y="229"/>
                    </a:lnTo>
                    <a:lnTo>
                      <a:pt x="195" y="196"/>
                    </a:lnTo>
                    <a:lnTo>
                      <a:pt x="119" y="152"/>
                    </a:lnTo>
                    <a:lnTo>
                      <a:pt x="54" y="109"/>
                    </a:lnTo>
                    <a:lnTo>
                      <a:pt x="33" y="87"/>
                    </a:lnTo>
                    <a:lnTo>
                      <a:pt x="16" y="60"/>
                    </a:lnTo>
                    <a:lnTo>
                      <a:pt x="5" y="33"/>
                    </a:lnTo>
                    <a:lnTo>
                      <a:pt x="0" y="0"/>
                    </a:lnTo>
                    <a:lnTo>
                      <a:pt x="0" y="6"/>
                    </a:lnTo>
                    <a:lnTo>
                      <a:pt x="0" y="11"/>
                    </a:lnTo>
                    <a:lnTo>
                      <a:pt x="0" y="38"/>
                    </a:lnTo>
                    <a:lnTo>
                      <a:pt x="5" y="60"/>
                    </a:lnTo>
                    <a:lnTo>
                      <a:pt x="16" y="87"/>
                    </a:lnTo>
                    <a:lnTo>
                      <a:pt x="33" y="114"/>
                    </a:lnTo>
                    <a:lnTo>
                      <a:pt x="54" y="142"/>
                    </a:lnTo>
                    <a:lnTo>
                      <a:pt x="87" y="174"/>
                    </a:lnTo>
                    <a:lnTo>
                      <a:pt x="125" y="207"/>
                    </a:lnTo>
                    <a:lnTo>
                      <a:pt x="179" y="240"/>
                    </a:lnTo>
                    <a:lnTo>
                      <a:pt x="244" y="278"/>
                    </a:lnTo>
                    <a:lnTo>
                      <a:pt x="326" y="310"/>
                    </a:lnTo>
                    <a:lnTo>
                      <a:pt x="418" y="348"/>
                    </a:lnTo>
                    <a:lnTo>
                      <a:pt x="526" y="381"/>
                    </a:lnTo>
                    <a:lnTo>
                      <a:pt x="657" y="414"/>
                    </a:lnTo>
                    <a:lnTo>
                      <a:pt x="749" y="435"/>
                    </a:lnTo>
                    <a:lnTo>
                      <a:pt x="830" y="463"/>
                    </a:lnTo>
                    <a:lnTo>
                      <a:pt x="901" y="490"/>
                    </a:lnTo>
                    <a:lnTo>
                      <a:pt x="966" y="512"/>
                    </a:lnTo>
                    <a:lnTo>
                      <a:pt x="1015" y="539"/>
                    </a:lnTo>
                    <a:lnTo>
                      <a:pt x="1053" y="566"/>
                    </a:lnTo>
                    <a:lnTo>
                      <a:pt x="1080" y="593"/>
                    </a:lnTo>
                    <a:lnTo>
                      <a:pt x="1102" y="620"/>
                    </a:lnTo>
                    <a:lnTo>
                      <a:pt x="1112" y="648"/>
                    </a:lnTo>
                    <a:lnTo>
                      <a:pt x="1118" y="675"/>
                    </a:lnTo>
                    <a:lnTo>
                      <a:pt x="1112" y="697"/>
                    </a:lnTo>
                    <a:lnTo>
                      <a:pt x="1096" y="724"/>
                    </a:lnTo>
                    <a:lnTo>
                      <a:pt x="1080" y="746"/>
                    </a:lnTo>
                    <a:lnTo>
                      <a:pt x="1053" y="767"/>
                    </a:lnTo>
                    <a:lnTo>
                      <a:pt x="1015" y="789"/>
                    </a:lnTo>
                    <a:lnTo>
                      <a:pt x="977" y="811"/>
                    </a:lnTo>
                    <a:lnTo>
                      <a:pt x="1047" y="789"/>
                    </a:lnTo>
                    <a:lnTo>
                      <a:pt x="1107" y="767"/>
                    </a:lnTo>
                    <a:lnTo>
                      <a:pt x="1156" y="746"/>
                    </a:lnTo>
                    <a:lnTo>
                      <a:pt x="1199" y="724"/>
                    </a:lnTo>
                    <a:lnTo>
                      <a:pt x="1226" y="702"/>
                    </a:lnTo>
                    <a:lnTo>
                      <a:pt x="1248" y="675"/>
                    </a:lnTo>
                    <a:lnTo>
                      <a:pt x="1259" y="648"/>
                    </a:lnTo>
                    <a:lnTo>
                      <a:pt x="1259" y="615"/>
                    </a:lnTo>
                    <a:lnTo>
                      <a:pt x="1259" y="615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90980"/>
                      <a:invGamma/>
                    </a:schemeClr>
                  </a:gs>
                </a:gsLst>
                <a:lin ang="27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4086" name="Freeform 6"/>
              <p:cNvSpPr>
                <a:spLocks/>
              </p:cNvSpPr>
              <p:nvPr/>
            </p:nvSpPr>
            <p:spPr bwMode="hidden">
              <a:xfrm>
                <a:off x="2900" y="3346"/>
                <a:ext cx="2849" cy="969"/>
              </a:xfrm>
              <a:custGeom>
                <a:avLst/>
                <a:gdLst/>
                <a:ahLst/>
                <a:cxnLst>
                  <a:cxn ang="0">
                    <a:pos x="92" y="958"/>
                  </a:cxn>
                  <a:cxn ang="0">
                    <a:pos x="0" y="969"/>
                  </a:cxn>
                  <a:cxn ang="0">
                    <a:pos x="391" y="969"/>
                  </a:cxn>
                  <a:cxn ang="0">
                    <a:pos x="434" y="947"/>
                  </a:cxn>
                  <a:cxn ang="0">
                    <a:pos x="483" y="914"/>
                  </a:cxn>
                  <a:cxn ang="0">
                    <a:pos x="554" y="876"/>
                  </a:cxn>
                  <a:cxn ang="0">
                    <a:pos x="635" y="838"/>
                  </a:cxn>
                  <a:cxn ang="0">
                    <a:pos x="727" y="794"/>
                  </a:cxn>
                  <a:cxn ang="0">
                    <a:pos x="836" y="745"/>
                  </a:cxn>
                  <a:cxn ang="0">
                    <a:pos x="961" y="696"/>
                  </a:cxn>
                  <a:cxn ang="0">
                    <a:pos x="1102" y="642"/>
                  </a:cxn>
                  <a:cxn ang="0">
                    <a:pos x="1259" y="582"/>
                  </a:cxn>
                  <a:cxn ang="0">
                    <a:pos x="1433" y="522"/>
                  </a:cxn>
                  <a:cxn ang="0">
                    <a:pos x="1623" y="462"/>
                  </a:cxn>
                  <a:cxn ang="0">
                    <a:pos x="1829" y="403"/>
                  </a:cxn>
                  <a:cxn ang="0">
                    <a:pos x="2057" y="343"/>
                  </a:cxn>
                  <a:cxn ang="0">
                    <a:pos x="2301" y="283"/>
                  </a:cxn>
                  <a:cxn ang="0">
                    <a:pos x="2567" y="223"/>
                  </a:cxn>
                  <a:cxn ang="0">
                    <a:pos x="2849" y="163"/>
                  </a:cxn>
                  <a:cxn ang="0">
                    <a:pos x="2849" y="0"/>
                  </a:cxn>
                  <a:cxn ang="0">
                    <a:pos x="2817" y="16"/>
                  </a:cxn>
                  <a:cxn ang="0">
                    <a:pos x="2773" y="33"/>
                  </a:cxn>
                  <a:cxn ang="0">
                    <a:pos x="2719" y="54"/>
                  </a:cxn>
                  <a:cxn ang="0">
                    <a:pos x="2648" y="76"/>
                  </a:cxn>
                  <a:cxn ang="0">
                    <a:pos x="2572" y="98"/>
                  </a:cxn>
                  <a:cxn ang="0">
                    <a:pos x="2491" y="120"/>
                  </a:cxn>
                  <a:cxn ang="0">
                    <a:pos x="2399" y="147"/>
                  </a:cxn>
                  <a:cxn ang="0">
                    <a:pos x="2301" y="169"/>
                  </a:cxn>
                  <a:cxn ang="0">
                    <a:pos x="2095" y="223"/>
                  </a:cxn>
                  <a:cxn ang="0">
                    <a:pos x="1889" y="277"/>
                  </a:cxn>
                  <a:cxn ang="0">
                    <a:pos x="1688" y="326"/>
                  </a:cxn>
                  <a:cxn ang="0">
                    <a:pos x="1590" y="354"/>
                  </a:cxn>
                  <a:cxn ang="0">
                    <a:pos x="1503" y="381"/>
                  </a:cxn>
                  <a:cxn ang="0">
                    <a:pos x="1107" y="506"/>
                  </a:cxn>
                  <a:cxn ang="0">
                    <a:pos x="912" y="577"/>
                  </a:cxn>
                  <a:cxn ang="0">
                    <a:pos x="727" y="647"/>
                  </a:cxn>
                  <a:cxn ang="0">
                    <a:pos x="548" y="718"/>
                  </a:cxn>
                  <a:cxn ang="0">
                    <a:pos x="380" y="794"/>
                  </a:cxn>
                  <a:cxn ang="0">
                    <a:pos x="228" y="876"/>
                  </a:cxn>
                  <a:cxn ang="0">
                    <a:pos x="92" y="958"/>
                  </a:cxn>
                  <a:cxn ang="0">
                    <a:pos x="92" y="958"/>
                  </a:cxn>
                </a:cxnLst>
                <a:rect l="0" t="0" r="r" b="b"/>
                <a:pathLst>
                  <a:path w="2849" h="969">
                    <a:moveTo>
                      <a:pt x="92" y="958"/>
                    </a:moveTo>
                    <a:lnTo>
                      <a:pt x="0" y="969"/>
                    </a:lnTo>
                    <a:lnTo>
                      <a:pt x="391" y="969"/>
                    </a:lnTo>
                    <a:lnTo>
                      <a:pt x="434" y="947"/>
                    </a:lnTo>
                    <a:lnTo>
                      <a:pt x="483" y="914"/>
                    </a:lnTo>
                    <a:lnTo>
                      <a:pt x="554" y="876"/>
                    </a:lnTo>
                    <a:lnTo>
                      <a:pt x="635" y="838"/>
                    </a:lnTo>
                    <a:lnTo>
                      <a:pt x="727" y="794"/>
                    </a:lnTo>
                    <a:lnTo>
                      <a:pt x="836" y="745"/>
                    </a:lnTo>
                    <a:lnTo>
                      <a:pt x="961" y="696"/>
                    </a:lnTo>
                    <a:lnTo>
                      <a:pt x="1102" y="642"/>
                    </a:lnTo>
                    <a:lnTo>
                      <a:pt x="1259" y="582"/>
                    </a:lnTo>
                    <a:lnTo>
                      <a:pt x="1433" y="522"/>
                    </a:lnTo>
                    <a:lnTo>
                      <a:pt x="1623" y="462"/>
                    </a:lnTo>
                    <a:lnTo>
                      <a:pt x="1829" y="403"/>
                    </a:lnTo>
                    <a:lnTo>
                      <a:pt x="2057" y="343"/>
                    </a:lnTo>
                    <a:lnTo>
                      <a:pt x="2301" y="283"/>
                    </a:lnTo>
                    <a:lnTo>
                      <a:pt x="2567" y="223"/>
                    </a:lnTo>
                    <a:lnTo>
                      <a:pt x="2849" y="163"/>
                    </a:lnTo>
                    <a:lnTo>
                      <a:pt x="2849" y="0"/>
                    </a:lnTo>
                    <a:lnTo>
                      <a:pt x="2817" y="16"/>
                    </a:lnTo>
                    <a:lnTo>
                      <a:pt x="2773" y="33"/>
                    </a:lnTo>
                    <a:lnTo>
                      <a:pt x="2719" y="54"/>
                    </a:lnTo>
                    <a:lnTo>
                      <a:pt x="2648" y="76"/>
                    </a:lnTo>
                    <a:lnTo>
                      <a:pt x="2572" y="98"/>
                    </a:lnTo>
                    <a:lnTo>
                      <a:pt x="2491" y="120"/>
                    </a:lnTo>
                    <a:lnTo>
                      <a:pt x="2399" y="147"/>
                    </a:lnTo>
                    <a:lnTo>
                      <a:pt x="2301" y="169"/>
                    </a:lnTo>
                    <a:lnTo>
                      <a:pt x="2095" y="223"/>
                    </a:lnTo>
                    <a:lnTo>
                      <a:pt x="1889" y="277"/>
                    </a:lnTo>
                    <a:lnTo>
                      <a:pt x="1688" y="326"/>
                    </a:lnTo>
                    <a:lnTo>
                      <a:pt x="1590" y="354"/>
                    </a:lnTo>
                    <a:lnTo>
                      <a:pt x="1503" y="381"/>
                    </a:lnTo>
                    <a:lnTo>
                      <a:pt x="1107" y="506"/>
                    </a:lnTo>
                    <a:lnTo>
                      <a:pt x="912" y="577"/>
                    </a:lnTo>
                    <a:lnTo>
                      <a:pt x="727" y="647"/>
                    </a:lnTo>
                    <a:lnTo>
                      <a:pt x="548" y="718"/>
                    </a:lnTo>
                    <a:lnTo>
                      <a:pt x="380" y="794"/>
                    </a:lnTo>
                    <a:lnTo>
                      <a:pt x="228" y="876"/>
                    </a:lnTo>
                    <a:lnTo>
                      <a:pt x="92" y="958"/>
                    </a:lnTo>
                    <a:lnTo>
                      <a:pt x="92" y="958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>
                      <a:gamma/>
                      <a:shade val="81961"/>
                      <a:invGamma/>
                    </a:schemeClr>
                  </a:gs>
                  <a:gs pos="100000">
                    <a:schemeClr val="bg1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4087" name="Freeform 7"/>
              <p:cNvSpPr>
                <a:spLocks/>
              </p:cNvSpPr>
              <p:nvPr/>
            </p:nvSpPr>
            <p:spPr bwMode="hidden">
              <a:xfrm>
                <a:off x="2748" y="2230"/>
                <a:ext cx="3007" cy="2085"/>
              </a:xfrm>
              <a:custGeom>
                <a:avLst/>
                <a:gdLst/>
                <a:ahLst/>
                <a:cxnLst>
                  <a:cxn ang="0">
                    <a:pos x="1433" y="474"/>
                  </a:cxn>
                  <a:cxn ang="0">
                    <a:pos x="1460" y="528"/>
                  </a:cxn>
                  <a:cxn ang="0">
                    <a:pos x="1541" y="593"/>
                  </a:cxn>
                  <a:cxn ang="0">
                    <a:pos x="1715" y="670"/>
                  </a:cxn>
                  <a:cxn ang="0">
                    <a:pos x="1927" y="735"/>
                  </a:cxn>
                  <a:cxn ang="0">
                    <a:pos x="2155" y="789"/>
                  </a:cxn>
                  <a:cxn ang="0">
                    <a:pos x="2372" y="849"/>
                  </a:cxn>
                  <a:cxn ang="0">
                    <a:pos x="2551" y="920"/>
                  </a:cxn>
                  <a:cxn ang="0">
                    <a:pos x="2638" y="980"/>
                  </a:cxn>
                  <a:cxn ang="0">
                    <a:pos x="2676" y="1029"/>
                  </a:cxn>
                  <a:cxn ang="0">
                    <a:pos x="2681" y="1083"/>
                  </a:cxn>
                  <a:cxn ang="0">
                    <a:pos x="2665" y="1127"/>
                  </a:cxn>
                  <a:cxn ang="0">
                    <a:pos x="2616" y="1170"/>
                  </a:cxn>
                  <a:cxn ang="0">
                    <a:pos x="2545" y="1208"/>
                  </a:cxn>
                  <a:cxn ang="0">
                    <a:pos x="2448" y="1241"/>
                  </a:cxn>
                  <a:cxn ang="0">
                    <a:pos x="2328" y="1274"/>
                  </a:cxn>
                  <a:cxn ang="0">
                    <a:pos x="2106" y="1328"/>
                  </a:cxn>
                  <a:cxn ang="0">
                    <a:pos x="1742" y="1421"/>
                  </a:cxn>
                  <a:cxn ang="0">
                    <a:pos x="1308" y="1540"/>
                  </a:cxn>
                  <a:cxn ang="0">
                    <a:pos x="820" y="1709"/>
                  </a:cxn>
                  <a:cxn ang="0">
                    <a:pos x="282" y="1943"/>
                  </a:cxn>
                  <a:cxn ang="0">
                    <a:pos x="152" y="2085"/>
                  </a:cxn>
                  <a:cxn ang="0">
                    <a:pos x="386" y="1992"/>
                  </a:cxn>
                  <a:cxn ang="0">
                    <a:pos x="700" y="1834"/>
                  </a:cxn>
                  <a:cxn ang="0">
                    <a:pos x="1064" y="1693"/>
                  </a:cxn>
                  <a:cxn ang="0">
                    <a:pos x="1661" y="1497"/>
                  </a:cxn>
                  <a:cxn ang="0">
                    <a:pos x="1845" y="1442"/>
                  </a:cxn>
                  <a:cxn ang="0">
                    <a:pos x="2252" y="1339"/>
                  </a:cxn>
                  <a:cxn ang="0">
                    <a:pos x="2551" y="1263"/>
                  </a:cxn>
                  <a:cxn ang="0">
                    <a:pos x="2730" y="1214"/>
                  </a:cxn>
                  <a:cxn ang="0">
                    <a:pos x="2876" y="1170"/>
                  </a:cxn>
                  <a:cxn ang="0">
                    <a:pos x="2974" y="1132"/>
                  </a:cxn>
                  <a:cxn ang="0">
                    <a:pos x="3007" y="871"/>
                  </a:cxn>
                  <a:cxn ang="0">
                    <a:pos x="2860" y="844"/>
                  </a:cxn>
                  <a:cxn ang="0">
                    <a:pos x="2670" y="806"/>
                  </a:cxn>
                  <a:cxn ang="0">
                    <a:pos x="2458" y="757"/>
                  </a:cxn>
                  <a:cxn ang="0">
                    <a:pos x="2138" y="670"/>
                  </a:cxn>
                  <a:cxn ang="0">
                    <a:pos x="1959" y="604"/>
                  </a:cxn>
                  <a:cxn ang="0">
                    <a:pos x="1824" y="534"/>
                  </a:cxn>
                  <a:cxn ang="0">
                    <a:pos x="1769" y="474"/>
                  </a:cxn>
                  <a:cxn ang="0">
                    <a:pos x="1753" y="436"/>
                  </a:cxn>
                  <a:cxn ang="0">
                    <a:pos x="1780" y="381"/>
                  </a:cxn>
                  <a:cxn ang="0">
                    <a:pos x="1862" y="316"/>
                  </a:cxn>
                  <a:cxn ang="0">
                    <a:pos x="1986" y="267"/>
                  </a:cxn>
                  <a:cxn ang="0">
                    <a:pos x="2149" y="229"/>
                  </a:cxn>
                  <a:cxn ang="0">
                    <a:pos x="2431" y="180"/>
                  </a:cxn>
                  <a:cxn ang="0">
                    <a:pos x="2827" y="125"/>
                  </a:cxn>
                  <a:cxn ang="0">
                    <a:pos x="3007" y="87"/>
                  </a:cxn>
                  <a:cxn ang="0">
                    <a:pos x="2909" y="22"/>
                  </a:cxn>
                  <a:cxn ang="0">
                    <a:pos x="2676" y="66"/>
                  </a:cxn>
                  <a:cxn ang="0">
                    <a:pos x="2285" y="120"/>
                  </a:cxn>
                  <a:cxn ang="0">
                    <a:pos x="2030" y="158"/>
                  </a:cxn>
                  <a:cxn ang="0">
                    <a:pos x="1791" y="202"/>
                  </a:cxn>
                  <a:cxn ang="0">
                    <a:pos x="1601" y="261"/>
                  </a:cxn>
                  <a:cxn ang="0">
                    <a:pos x="1471" y="338"/>
                  </a:cxn>
                  <a:cxn ang="0">
                    <a:pos x="1438" y="387"/>
                  </a:cxn>
                  <a:cxn ang="0">
                    <a:pos x="1427" y="441"/>
                  </a:cxn>
                </a:cxnLst>
                <a:rect l="0" t="0" r="r" b="b"/>
                <a:pathLst>
                  <a:path w="3007" h="2085">
                    <a:moveTo>
                      <a:pt x="1427" y="441"/>
                    </a:moveTo>
                    <a:lnTo>
                      <a:pt x="1433" y="474"/>
                    </a:lnTo>
                    <a:lnTo>
                      <a:pt x="1444" y="501"/>
                    </a:lnTo>
                    <a:lnTo>
                      <a:pt x="1460" y="528"/>
                    </a:lnTo>
                    <a:lnTo>
                      <a:pt x="1482" y="550"/>
                    </a:lnTo>
                    <a:lnTo>
                      <a:pt x="1541" y="593"/>
                    </a:lnTo>
                    <a:lnTo>
                      <a:pt x="1623" y="637"/>
                    </a:lnTo>
                    <a:lnTo>
                      <a:pt x="1715" y="670"/>
                    </a:lnTo>
                    <a:lnTo>
                      <a:pt x="1818" y="702"/>
                    </a:lnTo>
                    <a:lnTo>
                      <a:pt x="1927" y="735"/>
                    </a:lnTo>
                    <a:lnTo>
                      <a:pt x="2041" y="762"/>
                    </a:lnTo>
                    <a:lnTo>
                      <a:pt x="2155" y="789"/>
                    </a:lnTo>
                    <a:lnTo>
                      <a:pt x="2269" y="822"/>
                    </a:lnTo>
                    <a:lnTo>
                      <a:pt x="2372" y="849"/>
                    </a:lnTo>
                    <a:lnTo>
                      <a:pt x="2464" y="882"/>
                    </a:lnTo>
                    <a:lnTo>
                      <a:pt x="2551" y="920"/>
                    </a:lnTo>
                    <a:lnTo>
                      <a:pt x="2616" y="958"/>
                    </a:lnTo>
                    <a:lnTo>
                      <a:pt x="2638" y="980"/>
                    </a:lnTo>
                    <a:lnTo>
                      <a:pt x="2659" y="1007"/>
                    </a:lnTo>
                    <a:lnTo>
                      <a:pt x="2676" y="1029"/>
                    </a:lnTo>
                    <a:lnTo>
                      <a:pt x="2681" y="1056"/>
                    </a:lnTo>
                    <a:lnTo>
                      <a:pt x="2681" y="1083"/>
                    </a:lnTo>
                    <a:lnTo>
                      <a:pt x="2676" y="1105"/>
                    </a:lnTo>
                    <a:lnTo>
                      <a:pt x="2665" y="1127"/>
                    </a:lnTo>
                    <a:lnTo>
                      <a:pt x="2643" y="1149"/>
                    </a:lnTo>
                    <a:lnTo>
                      <a:pt x="2616" y="1170"/>
                    </a:lnTo>
                    <a:lnTo>
                      <a:pt x="2583" y="1187"/>
                    </a:lnTo>
                    <a:lnTo>
                      <a:pt x="2545" y="1208"/>
                    </a:lnTo>
                    <a:lnTo>
                      <a:pt x="2502" y="1225"/>
                    </a:lnTo>
                    <a:lnTo>
                      <a:pt x="2448" y="1241"/>
                    </a:lnTo>
                    <a:lnTo>
                      <a:pt x="2388" y="1257"/>
                    </a:lnTo>
                    <a:lnTo>
                      <a:pt x="2328" y="1274"/>
                    </a:lnTo>
                    <a:lnTo>
                      <a:pt x="2258" y="1290"/>
                    </a:lnTo>
                    <a:lnTo>
                      <a:pt x="2106" y="1328"/>
                    </a:lnTo>
                    <a:lnTo>
                      <a:pt x="1932" y="1372"/>
                    </a:lnTo>
                    <a:lnTo>
                      <a:pt x="1742" y="1421"/>
                    </a:lnTo>
                    <a:lnTo>
                      <a:pt x="1531" y="1475"/>
                    </a:lnTo>
                    <a:lnTo>
                      <a:pt x="1308" y="1540"/>
                    </a:lnTo>
                    <a:lnTo>
                      <a:pt x="1069" y="1617"/>
                    </a:lnTo>
                    <a:lnTo>
                      <a:pt x="820" y="1709"/>
                    </a:lnTo>
                    <a:lnTo>
                      <a:pt x="554" y="1818"/>
                    </a:lnTo>
                    <a:lnTo>
                      <a:pt x="282" y="1943"/>
                    </a:lnTo>
                    <a:lnTo>
                      <a:pt x="0" y="2085"/>
                    </a:lnTo>
                    <a:lnTo>
                      <a:pt x="152" y="2085"/>
                    </a:lnTo>
                    <a:lnTo>
                      <a:pt x="244" y="2074"/>
                    </a:lnTo>
                    <a:lnTo>
                      <a:pt x="386" y="1992"/>
                    </a:lnTo>
                    <a:lnTo>
                      <a:pt x="537" y="1910"/>
                    </a:lnTo>
                    <a:lnTo>
                      <a:pt x="700" y="1834"/>
                    </a:lnTo>
                    <a:lnTo>
                      <a:pt x="879" y="1763"/>
                    </a:lnTo>
                    <a:lnTo>
                      <a:pt x="1064" y="1693"/>
                    </a:lnTo>
                    <a:lnTo>
                      <a:pt x="1259" y="1622"/>
                    </a:lnTo>
                    <a:lnTo>
                      <a:pt x="1661" y="1497"/>
                    </a:lnTo>
                    <a:lnTo>
                      <a:pt x="1748" y="1470"/>
                    </a:lnTo>
                    <a:lnTo>
                      <a:pt x="1845" y="1442"/>
                    </a:lnTo>
                    <a:lnTo>
                      <a:pt x="2046" y="1393"/>
                    </a:lnTo>
                    <a:lnTo>
                      <a:pt x="2252" y="1339"/>
                    </a:lnTo>
                    <a:lnTo>
                      <a:pt x="2458" y="1285"/>
                    </a:lnTo>
                    <a:lnTo>
                      <a:pt x="2551" y="1263"/>
                    </a:lnTo>
                    <a:lnTo>
                      <a:pt x="2643" y="1236"/>
                    </a:lnTo>
                    <a:lnTo>
                      <a:pt x="2730" y="1214"/>
                    </a:lnTo>
                    <a:lnTo>
                      <a:pt x="2806" y="1192"/>
                    </a:lnTo>
                    <a:lnTo>
                      <a:pt x="2876" y="1170"/>
                    </a:lnTo>
                    <a:lnTo>
                      <a:pt x="2931" y="1149"/>
                    </a:lnTo>
                    <a:lnTo>
                      <a:pt x="2974" y="1132"/>
                    </a:lnTo>
                    <a:lnTo>
                      <a:pt x="3007" y="1116"/>
                    </a:lnTo>
                    <a:lnTo>
                      <a:pt x="3007" y="871"/>
                    </a:lnTo>
                    <a:lnTo>
                      <a:pt x="2941" y="860"/>
                    </a:lnTo>
                    <a:lnTo>
                      <a:pt x="2860" y="844"/>
                    </a:lnTo>
                    <a:lnTo>
                      <a:pt x="2773" y="827"/>
                    </a:lnTo>
                    <a:lnTo>
                      <a:pt x="2670" y="806"/>
                    </a:lnTo>
                    <a:lnTo>
                      <a:pt x="2567" y="784"/>
                    </a:lnTo>
                    <a:lnTo>
                      <a:pt x="2458" y="757"/>
                    </a:lnTo>
                    <a:lnTo>
                      <a:pt x="2241" y="702"/>
                    </a:lnTo>
                    <a:lnTo>
                      <a:pt x="2138" y="670"/>
                    </a:lnTo>
                    <a:lnTo>
                      <a:pt x="2046" y="637"/>
                    </a:lnTo>
                    <a:lnTo>
                      <a:pt x="1959" y="604"/>
                    </a:lnTo>
                    <a:lnTo>
                      <a:pt x="1883" y="566"/>
                    </a:lnTo>
                    <a:lnTo>
                      <a:pt x="1824" y="534"/>
                    </a:lnTo>
                    <a:lnTo>
                      <a:pt x="1780" y="495"/>
                    </a:lnTo>
                    <a:lnTo>
                      <a:pt x="1769" y="474"/>
                    </a:lnTo>
                    <a:lnTo>
                      <a:pt x="1758" y="457"/>
                    </a:lnTo>
                    <a:lnTo>
                      <a:pt x="1753" y="436"/>
                    </a:lnTo>
                    <a:lnTo>
                      <a:pt x="1758" y="419"/>
                    </a:lnTo>
                    <a:lnTo>
                      <a:pt x="1780" y="381"/>
                    </a:lnTo>
                    <a:lnTo>
                      <a:pt x="1813" y="343"/>
                    </a:lnTo>
                    <a:lnTo>
                      <a:pt x="1862" y="316"/>
                    </a:lnTo>
                    <a:lnTo>
                      <a:pt x="1921" y="289"/>
                    </a:lnTo>
                    <a:lnTo>
                      <a:pt x="1986" y="267"/>
                    </a:lnTo>
                    <a:lnTo>
                      <a:pt x="2062" y="245"/>
                    </a:lnTo>
                    <a:lnTo>
                      <a:pt x="2149" y="229"/>
                    </a:lnTo>
                    <a:lnTo>
                      <a:pt x="2236" y="213"/>
                    </a:lnTo>
                    <a:lnTo>
                      <a:pt x="2431" y="180"/>
                    </a:lnTo>
                    <a:lnTo>
                      <a:pt x="2627" y="158"/>
                    </a:lnTo>
                    <a:lnTo>
                      <a:pt x="2827" y="125"/>
                    </a:lnTo>
                    <a:lnTo>
                      <a:pt x="2920" y="109"/>
                    </a:lnTo>
                    <a:lnTo>
                      <a:pt x="3007" y="87"/>
                    </a:lnTo>
                    <a:lnTo>
                      <a:pt x="3007" y="0"/>
                    </a:lnTo>
                    <a:lnTo>
                      <a:pt x="2909" y="22"/>
                    </a:lnTo>
                    <a:lnTo>
                      <a:pt x="2795" y="44"/>
                    </a:lnTo>
                    <a:lnTo>
                      <a:pt x="2676" y="66"/>
                    </a:lnTo>
                    <a:lnTo>
                      <a:pt x="2551" y="82"/>
                    </a:lnTo>
                    <a:lnTo>
                      <a:pt x="2285" y="120"/>
                    </a:lnTo>
                    <a:lnTo>
                      <a:pt x="2155" y="136"/>
                    </a:lnTo>
                    <a:lnTo>
                      <a:pt x="2030" y="158"/>
                    </a:lnTo>
                    <a:lnTo>
                      <a:pt x="1905" y="174"/>
                    </a:lnTo>
                    <a:lnTo>
                      <a:pt x="1791" y="202"/>
                    </a:lnTo>
                    <a:lnTo>
                      <a:pt x="1688" y="229"/>
                    </a:lnTo>
                    <a:lnTo>
                      <a:pt x="1601" y="261"/>
                    </a:lnTo>
                    <a:lnTo>
                      <a:pt x="1525" y="300"/>
                    </a:lnTo>
                    <a:lnTo>
                      <a:pt x="1471" y="338"/>
                    </a:lnTo>
                    <a:lnTo>
                      <a:pt x="1455" y="359"/>
                    </a:lnTo>
                    <a:lnTo>
                      <a:pt x="1438" y="387"/>
                    </a:lnTo>
                    <a:lnTo>
                      <a:pt x="1427" y="414"/>
                    </a:lnTo>
                    <a:lnTo>
                      <a:pt x="1427" y="441"/>
                    </a:lnTo>
                    <a:lnTo>
                      <a:pt x="1427" y="441"/>
                    </a:lnTo>
                    <a:close/>
                  </a:path>
                </a:pathLst>
              </a:custGeom>
              <a:solidFill>
                <a:schemeClr val="bg1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4088" name="Freeform 8"/>
              <p:cNvSpPr>
                <a:spLocks/>
              </p:cNvSpPr>
              <p:nvPr/>
            </p:nvSpPr>
            <p:spPr bwMode="hidden">
              <a:xfrm>
                <a:off x="4501" y="2317"/>
                <a:ext cx="1248" cy="539"/>
              </a:xfrm>
              <a:custGeom>
                <a:avLst/>
                <a:gdLst/>
                <a:ahLst/>
                <a:cxnLst>
                  <a:cxn ang="0">
                    <a:pos x="0" y="332"/>
                  </a:cxn>
                  <a:cxn ang="0">
                    <a:pos x="0" y="360"/>
                  </a:cxn>
                  <a:cxn ang="0">
                    <a:pos x="5" y="387"/>
                  </a:cxn>
                  <a:cxn ang="0">
                    <a:pos x="27" y="414"/>
                  </a:cxn>
                  <a:cxn ang="0">
                    <a:pos x="54" y="436"/>
                  </a:cxn>
                  <a:cxn ang="0">
                    <a:pos x="92" y="463"/>
                  </a:cxn>
                  <a:cxn ang="0">
                    <a:pos x="141" y="490"/>
                  </a:cxn>
                  <a:cxn ang="0">
                    <a:pos x="195" y="512"/>
                  </a:cxn>
                  <a:cxn ang="0">
                    <a:pos x="255" y="539"/>
                  </a:cxn>
                  <a:cxn ang="0">
                    <a:pos x="212" y="517"/>
                  </a:cxn>
                  <a:cxn ang="0">
                    <a:pos x="179" y="490"/>
                  </a:cxn>
                  <a:cxn ang="0">
                    <a:pos x="157" y="468"/>
                  </a:cxn>
                  <a:cxn ang="0">
                    <a:pos x="141" y="447"/>
                  </a:cxn>
                  <a:cxn ang="0">
                    <a:pos x="136" y="425"/>
                  </a:cxn>
                  <a:cxn ang="0">
                    <a:pos x="136" y="403"/>
                  </a:cxn>
                  <a:cxn ang="0">
                    <a:pos x="141" y="381"/>
                  </a:cxn>
                  <a:cxn ang="0">
                    <a:pos x="157" y="365"/>
                  </a:cxn>
                  <a:cxn ang="0">
                    <a:pos x="179" y="343"/>
                  </a:cxn>
                  <a:cxn ang="0">
                    <a:pos x="201" y="327"/>
                  </a:cxn>
                  <a:cxn ang="0">
                    <a:pos x="266" y="294"/>
                  </a:cxn>
                  <a:cxn ang="0">
                    <a:pos x="353" y="262"/>
                  </a:cxn>
                  <a:cxn ang="0">
                    <a:pos x="445" y="234"/>
                  </a:cxn>
                  <a:cxn ang="0">
                    <a:pos x="554" y="213"/>
                  </a:cxn>
                  <a:cxn ang="0">
                    <a:pos x="662" y="191"/>
                  </a:cxn>
                  <a:cxn ang="0">
                    <a:pos x="890" y="153"/>
                  </a:cxn>
                  <a:cxn ang="0">
                    <a:pos x="993" y="136"/>
                  </a:cxn>
                  <a:cxn ang="0">
                    <a:pos x="1091" y="120"/>
                  </a:cxn>
                  <a:cxn ang="0">
                    <a:pos x="1178" y="115"/>
                  </a:cxn>
                  <a:cxn ang="0">
                    <a:pos x="1248" y="104"/>
                  </a:cxn>
                  <a:cxn ang="0">
                    <a:pos x="1248" y="0"/>
                  </a:cxn>
                  <a:cxn ang="0">
                    <a:pos x="1161" y="22"/>
                  </a:cxn>
                  <a:cxn ang="0">
                    <a:pos x="1069" y="38"/>
                  </a:cxn>
                  <a:cxn ang="0">
                    <a:pos x="874" y="71"/>
                  </a:cxn>
                  <a:cxn ang="0">
                    <a:pos x="673" y="93"/>
                  </a:cxn>
                  <a:cxn ang="0">
                    <a:pos x="483" y="126"/>
                  </a:cxn>
                  <a:cxn ang="0">
                    <a:pos x="391" y="142"/>
                  </a:cxn>
                  <a:cxn ang="0">
                    <a:pos x="309" y="158"/>
                  </a:cxn>
                  <a:cxn ang="0">
                    <a:pos x="228" y="180"/>
                  </a:cxn>
                  <a:cxn ang="0">
                    <a:pos x="163" y="202"/>
                  </a:cxn>
                  <a:cxn ang="0">
                    <a:pos x="103" y="229"/>
                  </a:cxn>
                  <a:cxn ang="0">
                    <a:pos x="54" y="256"/>
                  </a:cxn>
                  <a:cxn ang="0">
                    <a:pos x="22" y="294"/>
                  </a:cxn>
                  <a:cxn ang="0">
                    <a:pos x="0" y="332"/>
                  </a:cxn>
                  <a:cxn ang="0">
                    <a:pos x="0" y="332"/>
                  </a:cxn>
                </a:cxnLst>
                <a:rect l="0" t="0" r="r" b="b"/>
                <a:pathLst>
                  <a:path w="1248" h="539">
                    <a:moveTo>
                      <a:pt x="0" y="332"/>
                    </a:moveTo>
                    <a:lnTo>
                      <a:pt x="0" y="360"/>
                    </a:lnTo>
                    <a:lnTo>
                      <a:pt x="5" y="387"/>
                    </a:lnTo>
                    <a:lnTo>
                      <a:pt x="27" y="414"/>
                    </a:lnTo>
                    <a:lnTo>
                      <a:pt x="54" y="436"/>
                    </a:lnTo>
                    <a:lnTo>
                      <a:pt x="92" y="463"/>
                    </a:lnTo>
                    <a:lnTo>
                      <a:pt x="141" y="490"/>
                    </a:lnTo>
                    <a:lnTo>
                      <a:pt x="195" y="512"/>
                    </a:lnTo>
                    <a:lnTo>
                      <a:pt x="255" y="539"/>
                    </a:lnTo>
                    <a:lnTo>
                      <a:pt x="212" y="517"/>
                    </a:lnTo>
                    <a:lnTo>
                      <a:pt x="179" y="490"/>
                    </a:lnTo>
                    <a:lnTo>
                      <a:pt x="157" y="468"/>
                    </a:lnTo>
                    <a:lnTo>
                      <a:pt x="141" y="447"/>
                    </a:lnTo>
                    <a:lnTo>
                      <a:pt x="136" y="425"/>
                    </a:lnTo>
                    <a:lnTo>
                      <a:pt x="136" y="403"/>
                    </a:lnTo>
                    <a:lnTo>
                      <a:pt x="141" y="381"/>
                    </a:lnTo>
                    <a:lnTo>
                      <a:pt x="157" y="365"/>
                    </a:lnTo>
                    <a:lnTo>
                      <a:pt x="179" y="343"/>
                    </a:lnTo>
                    <a:lnTo>
                      <a:pt x="201" y="327"/>
                    </a:lnTo>
                    <a:lnTo>
                      <a:pt x="266" y="294"/>
                    </a:lnTo>
                    <a:lnTo>
                      <a:pt x="353" y="262"/>
                    </a:lnTo>
                    <a:lnTo>
                      <a:pt x="445" y="234"/>
                    </a:lnTo>
                    <a:lnTo>
                      <a:pt x="554" y="213"/>
                    </a:lnTo>
                    <a:lnTo>
                      <a:pt x="662" y="191"/>
                    </a:lnTo>
                    <a:lnTo>
                      <a:pt x="890" y="153"/>
                    </a:lnTo>
                    <a:lnTo>
                      <a:pt x="993" y="136"/>
                    </a:lnTo>
                    <a:lnTo>
                      <a:pt x="1091" y="120"/>
                    </a:lnTo>
                    <a:lnTo>
                      <a:pt x="1178" y="115"/>
                    </a:lnTo>
                    <a:lnTo>
                      <a:pt x="1248" y="104"/>
                    </a:lnTo>
                    <a:lnTo>
                      <a:pt x="1248" y="0"/>
                    </a:lnTo>
                    <a:lnTo>
                      <a:pt x="1161" y="22"/>
                    </a:lnTo>
                    <a:lnTo>
                      <a:pt x="1069" y="38"/>
                    </a:lnTo>
                    <a:lnTo>
                      <a:pt x="874" y="71"/>
                    </a:lnTo>
                    <a:lnTo>
                      <a:pt x="673" y="93"/>
                    </a:lnTo>
                    <a:lnTo>
                      <a:pt x="483" y="126"/>
                    </a:lnTo>
                    <a:lnTo>
                      <a:pt x="391" y="142"/>
                    </a:lnTo>
                    <a:lnTo>
                      <a:pt x="309" y="158"/>
                    </a:lnTo>
                    <a:lnTo>
                      <a:pt x="228" y="180"/>
                    </a:lnTo>
                    <a:lnTo>
                      <a:pt x="163" y="202"/>
                    </a:lnTo>
                    <a:lnTo>
                      <a:pt x="103" y="229"/>
                    </a:lnTo>
                    <a:lnTo>
                      <a:pt x="54" y="256"/>
                    </a:lnTo>
                    <a:lnTo>
                      <a:pt x="22" y="294"/>
                    </a:lnTo>
                    <a:lnTo>
                      <a:pt x="0" y="332"/>
                    </a:lnTo>
                    <a:lnTo>
                      <a:pt x="0" y="332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>
                      <a:gamma/>
                      <a:shade val="87843"/>
                      <a:invGamma/>
                    </a:schemeClr>
                  </a:gs>
                  <a:gs pos="100000">
                    <a:schemeClr val="bg1"/>
                  </a:gs>
                </a:gsLst>
                <a:lin ang="27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174089" name="Freeform 9"/>
            <p:cNvSpPr>
              <a:spLocks/>
            </p:cNvSpPr>
            <p:nvPr/>
          </p:nvSpPr>
          <p:spPr bwMode="hidden">
            <a:xfrm>
              <a:off x="3322" y="1341"/>
              <a:ext cx="1825" cy="1537"/>
            </a:xfrm>
            <a:custGeom>
              <a:avLst/>
              <a:gdLst/>
              <a:ahLst/>
              <a:cxnLst>
                <a:cxn ang="0">
                  <a:pos x="982" y="1061"/>
                </a:cxn>
                <a:cxn ang="0">
                  <a:pos x="1357" y="1012"/>
                </a:cxn>
                <a:cxn ang="0">
                  <a:pos x="1666" y="957"/>
                </a:cxn>
                <a:cxn ang="0">
                  <a:pos x="1916" y="897"/>
                </a:cxn>
                <a:cxn ang="0">
                  <a:pos x="2100" y="832"/>
                </a:cxn>
                <a:cxn ang="0">
                  <a:pos x="2220" y="756"/>
                </a:cxn>
                <a:cxn ang="0">
                  <a:pos x="2285" y="669"/>
                </a:cxn>
                <a:cxn ang="0">
                  <a:pos x="2290" y="560"/>
                </a:cxn>
                <a:cxn ang="0">
                  <a:pos x="2241" y="457"/>
                </a:cxn>
                <a:cxn ang="0">
                  <a:pos x="2144" y="364"/>
                </a:cxn>
                <a:cxn ang="0">
                  <a:pos x="2008" y="277"/>
                </a:cxn>
                <a:cxn ang="0">
                  <a:pos x="1769" y="157"/>
                </a:cxn>
                <a:cxn ang="0">
                  <a:pos x="1612" y="92"/>
                </a:cxn>
                <a:cxn ang="0">
                  <a:pos x="1476" y="43"/>
                </a:cxn>
                <a:cxn ang="0">
                  <a:pos x="1384" y="10"/>
                </a:cxn>
                <a:cxn ang="0">
                  <a:pos x="1346" y="0"/>
                </a:cxn>
                <a:cxn ang="0">
                  <a:pos x="1655" y="119"/>
                </a:cxn>
                <a:cxn ang="0">
                  <a:pos x="1948" y="255"/>
                </a:cxn>
                <a:cxn ang="0">
                  <a:pos x="2068" y="326"/>
                </a:cxn>
                <a:cxn ang="0">
                  <a:pos x="2171" y="402"/>
                </a:cxn>
                <a:cxn ang="0">
                  <a:pos x="2236" y="478"/>
                </a:cxn>
                <a:cxn ang="0">
                  <a:pos x="2263" y="560"/>
                </a:cxn>
                <a:cxn ang="0">
                  <a:pos x="2241" y="636"/>
                </a:cxn>
                <a:cxn ang="0">
                  <a:pos x="2171" y="702"/>
                </a:cxn>
                <a:cxn ang="0">
                  <a:pos x="2062" y="756"/>
                </a:cxn>
                <a:cxn ang="0">
                  <a:pos x="1921" y="800"/>
                </a:cxn>
                <a:cxn ang="0">
                  <a:pos x="1748" y="843"/>
                </a:cxn>
                <a:cxn ang="0">
                  <a:pos x="1351" y="908"/>
                </a:cxn>
                <a:cxn ang="0">
                  <a:pos x="923" y="968"/>
                </a:cxn>
                <a:cxn ang="0">
                  <a:pos x="521" y="1028"/>
                </a:cxn>
                <a:cxn ang="0">
                  <a:pos x="353" y="1066"/>
                </a:cxn>
                <a:cxn ang="0">
                  <a:pos x="206" y="1104"/>
                </a:cxn>
                <a:cxn ang="0">
                  <a:pos x="92" y="1148"/>
                </a:cxn>
                <a:cxn ang="0">
                  <a:pos x="22" y="1202"/>
                </a:cxn>
                <a:cxn ang="0">
                  <a:pos x="0" y="1262"/>
                </a:cxn>
                <a:cxn ang="0">
                  <a:pos x="27" y="1327"/>
                </a:cxn>
                <a:cxn ang="0">
                  <a:pos x="98" y="1382"/>
                </a:cxn>
                <a:cxn ang="0">
                  <a:pos x="196" y="1425"/>
                </a:cxn>
                <a:cxn ang="0">
                  <a:pos x="326" y="1469"/>
                </a:cxn>
                <a:cxn ang="0">
                  <a:pos x="217" y="1414"/>
                </a:cxn>
                <a:cxn ang="0">
                  <a:pos x="147" y="1360"/>
                </a:cxn>
                <a:cxn ang="0">
                  <a:pos x="120" y="1306"/>
                </a:cxn>
                <a:cxn ang="0">
                  <a:pos x="141" y="1257"/>
                </a:cxn>
                <a:cxn ang="0">
                  <a:pos x="212" y="1208"/>
                </a:cxn>
                <a:cxn ang="0">
                  <a:pos x="342" y="1164"/>
                </a:cxn>
                <a:cxn ang="0">
                  <a:pos x="527" y="1121"/>
                </a:cxn>
                <a:cxn ang="0">
                  <a:pos x="771" y="1088"/>
                </a:cxn>
              </a:cxnLst>
              <a:rect l="0" t="0" r="r" b="b"/>
              <a:pathLst>
                <a:path w="2296" h="1469">
                  <a:moveTo>
                    <a:pt x="771" y="1088"/>
                  </a:moveTo>
                  <a:lnTo>
                    <a:pt x="982" y="1061"/>
                  </a:lnTo>
                  <a:lnTo>
                    <a:pt x="1178" y="1034"/>
                  </a:lnTo>
                  <a:lnTo>
                    <a:pt x="1357" y="1012"/>
                  </a:lnTo>
                  <a:lnTo>
                    <a:pt x="1520" y="985"/>
                  </a:lnTo>
                  <a:lnTo>
                    <a:pt x="1666" y="957"/>
                  </a:lnTo>
                  <a:lnTo>
                    <a:pt x="1796" y="930"/>
                  </a:lnTo>
                  <a:lnTo>
                    <a:pt x="1916" y="897"/>
                  </a:lnTo>
                  <a:lnTo>
                    <a:pt x="2013" y="870"/>
                  </a:lnTo>
                  <a:lnTo>
                    <a:pt x="2100" y="832"/>
                  </a:lnTo>
                  <a:lnTo>
                    <a:pt x="2171" y="800"/>
                  </a:lnTo>
                  <a:lnTo>
                    <a:pt x="2220" y="756"/>
                  </a:lnTo>
                  <a:lnTo>
                    <a:pt x="2263" y="712"/>
                  </a:lnTo>
                  <a:lnTo>
                    <a:pt x="2285" y="669"/>
                  </a:lnTo>
                  <a:lnTo>
                    <a:pt x="2296" y="614"/>
                  </a:lnTo>
                  <a:lnTo>
                    <a:pt x="2290" y="560"/>
                  </a:lnTo>
                  <a:lnTo>
                    <a:pt x="2269" y="500"/>
                  </a:lnTo>
                  <a:lnTo>
                    <a:pt x="2241" y="457"/>
                  </a:lnTo>
                  <a:lnTo>
                    <a:pt x="2198" y="408"/>
                  </a:lnTo>
                  <a:lnTo>
                    <a:pt x="2144" y="364"/>
                  </a:lnTo>
                  <a:lnTo>
                    <a:pt x="2079" y="321"/>
                  </a:lnTo>
                  <a:lnTo>
                    <a:pt x="2008" y="277"/>
                  </a:lnTo>
                  <a:lnTo>
                    <a:pt x="1927" y="234"/>
                  </a:lnTo>
                  <a:lnTo>
                    <a:pt x="1769" y="157"/>
                  </a:lnTo>
                  <a:lnTo>
                    <a:pt x="1688" y="125"/>
                  </a:lnTo>
                  <a:lnTo>
                    <a:pt x="1612" y="92"/>
                  </a:lnTo>
                  <a:lnTo>
                    <a:pt x="1536" y="65"/>
                  </a:lnTo>
                  <a:lnTo>
                    <a:pt x="1476" y="43"/>
                  </a:lnTo>
                  <a:lnTo>
                    <a:pt x="1422" y="27"/>
                  </a:lnTo>
                  <a:lnTo>
                    <a:pt x="1384" y="10"/>
                  </a:lnTo>
                  <a:lnTo>
                    <a:pt x="1357" y="5"/>
                  </a:lnTo>
                  <a:lnTo>
                    <a:pt x="1346" y="0"/>
                  </a:lnTo>
                  <a:lnTo>
                    <a:pt x="1498" y="54"/>
                  </a:lnTo>
                  <a:lnTo>
                    <a:pt x="1655" y="119"/>
                  </a:lnTo>
                  <a:lnTo>
                    <a:pt x="1807" y="185"/>
                  </a:lnTo>
                  <a:lnTo>
                    <a:pt x="1948" y="255"/>
                  </a:lnTo>
                  <a:lnTo>
                    <a:pt x="2013" y="288"/>
                  </a:lnTo>
                  <a:lnTo>
                    <a:pt x="2068" y="326"/>
                  </a:lnTo>
                  <a:lnTo>
                    <a:pt x="2122" y="364"/>
                  </a:lnTo>
                  <a:lnTo>
                    <a:pt x="2171" y="402"/>
                  </a:lnTo>
                  <a:lnTo>
                    <a:pt x="2209" y="440"/>
                  </a:lnTo>
                  <a:lnTo>
                    <a:pt x="2236" y="478"/>
                  </a:lnTo>
                  <a:lnTo>
                    <a:pt x="2252" y="522"/>
                  </a:lnTo>
                  <a:lnTo>
                    <a:pt x="2263" y="560"/>
                  </a:lnTo>
                  <a:lnTo>
                    <a:pt x="2258" y="598"/>
                  </a:lnTo>
                  <a:lnTo>
                    <a:pt x="2241" y="636"/>
                  </a:lnTo>
                  <a:lnTo>
                    <a:pt x="2214" y="669"/>
                  </a:lnTo>
                  <a:lnTo>
                    <a:pt x="2171" y="702"/>
                  </a:lnTo>
                  <a:lnTo>
                    <a:pt x="2122" y="729"/>
                  </a:lnTo>
                  <a:lnTo>
                    <a:pt x="2062" y="756"/>
                  </a:lnTo>
                  <a:lnTo>
                    <a:pt x="1997" y="778"/>
                  </a:lnTo>
                  <a:lnTo>
                    <a:pt x="1921" y="800"/>
                  </a:lnTo>
                  <a:lnTo>
                    <a:pt x="1834" y="821"/>
                  </a:lnTo>
                  <a:lnTo>
                    <a:pt x="1748" y="843"/>
                  </a:lnTo>
                  <a:lnTo>
                    <a:pt x="1552" y="876"/>
                  </a:lnTo>
                  <a:lnTo>
                    <a:pt x="1351" y="908"/>
                  </a:lnTo>
                  <a:lnTo>
                    <a:pt x="1134" y="941"/>
                  </a:lnTo>
                  <a:lnTo>
                    <a:pt x="923" y="968"/>
                  </a:lnTo>
                  <a:lnTo>
                    <a:pt x="716" y="995"/>
                  </a:lnTo>
                  <a:lnTo>
                    <a:pt x="521" y="1028"/>
                  </a:lnTo>
                  <a:lnTo>
                    <a:pt x="434" y="1044"/>
                  </a:lnTo>
                  <a:lnTo>
                    <a:pt x="353" y="1066"/>
                  </a:lnTo>
                  <a:lnTo>
                    <a:pt x="277" y="1082"/>
                  </a:lnTo>
                  <a:lnTo>
                    <a:pt x="206" y="1104"/>
                  </a:lnTo>
                  <a:lnTo>
                    <a:pt x="147" y="1126"/>
                  </a:lnTo>
                  <a:lnTo>
                    <a:pt x="92" y="1148"/>
                  </a:lnTo>
                  <a:lnTo>
                    <a:pt x="54" y="1175"/>
                  </a:lnTo>
                  <a:lnTo>
                    <a:pt x="22" y="1202"/>
                  </a:lnTo>
                  <a:lnTo>
                    <a:pt x="6" y="1229"/>
                  </a:lnTo>
                  <a:lnTo>
                    <a:pt x="0" y="1262"/>
                  </a:lnTo>
                  <a:lnTo>
                    <a:pt x="11" y="1295"/>
                  </a:lnTo>
                  <a:lnTo>
                    <a:pt x="27" y="1327"/>
                  </a:lnTo>
                  <a:lnTo>
                    <a:pt x="54" y="1355"/>
                  </a:lnTo>
                  <a:lnTo>
                    <a:pt x="98" y="1382"/>
                  </a:lnTo>
                  <a:lnTo>
                    <a:pt x="141" y="1404"/>
                  </a:lnTo>
                  <a:lnTo>
                    <a:pt x="196" y="1425"/>
                  </a:lnTo>
                  <a:lnTo>
                    <a:pt x="261" y="1447"/>
                  </a:lnTo>
                  <a:lnTo>
                    <a:pt x="326" y="1469"/>
                  </a:lnTo>
                  <a:lnTo>
                    <a:pt x="266" y="1442"/>
                  </a:lnTo>
                  <a:lnTo>
                    <a:pt x="217" y="1414"/>
                  </a:lnTo>
                  <a:lnTo>
                    <a:pt x="174" y="1387"/>
                  </a:lnTo>
                  <a:lnTo>
                    <a:pt x="147" y="1360"/>
                  </a:lnTo>
                  <a:lnTo>
                    <a:pt x="125" y="1333"/>
                  </a:lnTo>
                  <a:lnTo>
                    <a:pt x="120" y="1306"/>
                  </a:lnTo>
                  <a:lnTo>
                    <a:pt x="125" y="1278"/>
                  </a:lnTo>
                  <a:lnTo>
                    <a:pt x="141" y="1257"/>
                  </a:lnTo>
                  <a:lnTo>
                    <a:pt x="174" y="1229"/>
                  </a:lnTo>
                  <a:lnTo>
                    <a:pt x="212" y="1208"/>
                  </a:lnTo>
                  <a:lnTo>
                    <a:pt x="272" y="1186"/>
                  </a:lnTo>
                  <a:lnTo>
                    <a:pt x="342" y="1164"/>
                  </a:lnTo>
                  <a:lnTo>
                    <a:pt x="423" y="1142"/>
                  </a:lnTo>
                  <a:lnTo>
                    <a:pt x="527" y="1121"/>
                  </a:lnTo>
                  <a:lnTo>
                    <a:pt x="641" y="1104"/>
                  </a:lnTo>
                  <a:lnTo>
                    <a:pt x="771" y="1088"/>
                  </a:lnTo>
                  <a:lnTo>
                    <a:pt x="771" y="1088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84706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4090" name="Freeform 10"/>
            <p:cNvSpPr>
              <a:spLocks/>
            </p:cNvSpPr>
            <p:nvPr/>
          </p:nvSpPr>
          <p:spPr bwMode="hidden">
            <a:xfrm>
              <a:off x="0" y="0"/>
              <a:ext cx="5758" cy="1776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1906"/>
                </a:cxn>
                <a:cxn ang="0">
                  <a:pos x="5740" y="1906"/>
                </a:cxn>
                <a:cxn ang="0">
                  <a:pos x="574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5740" h="1906">
                  <a:moveTo>
                    <a:pt x="0" y="0"/>
                  </a:moveTo>
                  <a:lnTo>
                    <a:pt x="0" y="1906"/>
                  </a:lnTo>
                  <a:lnTo>
                    <a:pt x="5740" y="1906"/>
                  </a:lnTo>
                  <a:lnTo>
                    <a:pt x="5740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74091" name="Rectangle 11"/>
          <p:cNvSpPr>
            <a:spLocks noGrp="1" noChangeArrowheads="1"/>
          </p:cNvSpPr>
          <p:nvPr>
            <p:ph type="ctrTitle" sz="quarter"/>
          </p:nvPr>
        </p:nvSpPr>
        <p:spPr>
          <a:xfrm>
            <a:off x="685800" y="1736725"/>
            <a:ext cx="7772400" cy="1920875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74092" name="Rectangle 12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174093" name="Rectangle 13"/>
          <p:cNvSpPr>
            <a:spLocks noGrp="1" noChangeArrowheads="1"/>
          </p:cNvSpPr>
          <p:nvPr>
            <p:ph type="dt" sz="quarter" idx="2"/>
          </p:nvPr>
        </p:nvSpPr>
        <p:spPr>
          <a:xfrm>
            <a:off x="457200" y="6248400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fld id="{C2EAE4F2-51F8-47D1-8D01-C5F1E2BE2DB6}" type="datetime1">
              <a:rPr lang="en-US" smtClean="0"/>
              <a:pPr/>
              <a:t>11-Jun-16</a:t>
            </a:fld>
            <a:endParaRPr lang="en-US"/>
          </a:p>
        </p:txBody>
      </p:sp>
      <p:sp>
        <p:nvSpPr>
          <p:cNvPr id="174094" name="Rectangle 14"/>
          <p:cNvSpPr>
            <a:spLocks noGrp="1" noChangeArrowheads="1"/>
          </p:cNvSpPr>
          <p:nvPr>
            <p:ph type="ftr" sz="quarter" idx="3"/>
          </p:nvPr>
        </p:nvSpPr>
        <p:spPr>
          <a:xfrm>
            <a:off x="3124200" y="6251575"/>
            <a:ext cx="2895600" cy="47625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174095" name="Rectangle 15"/>
          <p:cNvSpPr>
            <a:spLocks noGrp="1" noChangeArrowheads="1"/>
          </p:cNvSpPr>
          <p:nvPr>
            <p:ph type="sldNum" sz="quarter" idx="4"/>
          </p:nvPr>
        </p:nvSpPr>
        <p:spPr>
          <a:xfrm>
            <a:off x="6553200" y="6254750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fld id="{EFDDF116-4DF1-4A14-9DCD-24790FF55EB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FE8A85D3-635C-4D56-ABA2-C9DCD57B1749}" type="datetime1">
              <a:rPr lang="en-US" smtClean="0"/>
              <a:pPr/>
              <a:t>11-Jun-16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EFDDF116-4DF1-4A14-9DCD-24790FF55EB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9CEB820-5706-4AAB-90DC-F2A22B060FD8}" type="datetime1">
              <a:rPr lang="en-US" smtClean="0"/>
              <a:pPr/>
              <a:t>11-Jun-16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EFDDF116-4DF1-4A14-9DCD-24790FF55EB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816FB200-BCD6-44A8-A5B7-AECCD26F962C}" type="datetime1">
              <a:rPr lang="en-US" smtClean="0"/>
              <a:pPr/>
              <a:t>11-Jun-16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EFDDF116-4DF1-4A14-9DCD-24790FF55EB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A1378FB8-60FC-4128-9C86-2D321171824D}" type="datetime1">
              <a:rPr lang="en-US" smtClean="0"/>
              <a:pPr/>
              <a:t>11-Jun-16</a:t>
            </a:fld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EFDDF116-4DF1-4A14-9DCD-24790FF55EB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B147A83-3BC4-4CEF-8469-804E6C777A9F}" type="datetime1">
              <a:rPr lang="en-US" smtClean="0"/>
              <a:pPr/>
              <a:t>11-Jun-16</a:t>
            </a:fld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EFDDF116-4DF1-4A14-9DCD-24790FF55EB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58E6CEE9-8F2D-42BC-B1FD-C79E9942A292}" type="datetime1">
              <a:rPr lang="en-US" smtClean="0"/>
              <a:pPr/>
              <a:t>11-Jun-16</a:t>
            </a:fld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EFDDF116-4DF1-4A14-9DCD-24790FF55EB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5C213398-5C32-46CB-9390-1FB65221EA47}" type="datetime1">
              <a:rPr lang="en-US" smtClean="0"/>
              <a:pPr/>
              <a:t>11-Jun-16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EFDDF116-4DF1-4A14-9DCD-24790FF55EB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B1AB408-33F8-4BFC-8C20-2C2EA60801BF}" type="datetime1">
              <a:rPr lang="en-US" smtClean="0"/>
              <a:pPr/>
              <a:t>11-Jun-16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EFDDF116-4DF1-4A14-9DCD-24790FF55EB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331ACB1-AA45-4C63-BC27-FC523771977D}" type="datetime1">
              <a:rPr lang="en-US" smtClean="0"/>
              <a:pPr/>
              <a:t>11-Jun-16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EFDDF116-4DF1-4A14-9DCD-24790FF55EB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74DED4A-2BBC-4A10-B9C6-5AE20D7A39DB}" type="datetime1">
              <a:rPr lang="en-US" smtClean="0"/>
              <a:pPr/>
              <a:t>11-Jun-16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EFDDF116-4DF1-4A14-9DCD-24790FF55EB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25157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fld id="{B126F579-B613-40F4-9087-6D321A13B125}" type="datetime1">
              <a:rPr lang="en-US" smtClean="0"/>
              <a:pPr/>
              <a:t>11-Jun-16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>
          <a:xfrm>
            <a:off x="6553200" y="6248400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fld id="{EFDDF116-4DF1-4A14-9DCD-24790FF55EB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2"/>
          </p:nvPr>
        </p:nvSpPr>
        <p:spPr>
          <a:xfrm>
            <a:off x="3124200" y="6248400"/>
            <a:ext cx="2895600" cy="47625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r>
              <a:rPr lang="en-US" smtClean="0"/>
              <a:t>Click icon to add table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25157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fld id="{32DD54AF-648E-4FA7-BC75-A795082562FE}" type="datetime1">
              <a:rPr lang="en-US" smtClean="0"/>
              <a:pPr/>
              <a:t>11-Jun-16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>
          <a:xfrm>
            <a:off x="6553200" y="6248400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fld id="{EFDDF116-4DF1-4A14-9DCD-24790FF55EB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>
          <a:xfrm>
            <a:off x="3124200" y="6248400"/>
            <a:ext cx="2895600" cy="47625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chart">
  <p:cSld name="Title and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33400"/>
            <a:ext cx="82296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hart Placeholder 2"/>
          <p:cNvSpPr>
            <a:spLocks noGrp="1"/>
          </p:cNvSpPr>
          <p:nvPr>
            <p:ph type="chart" idx="1"/>
          </p:nvPr>
        </p:nvSpPr>
        <p:spPr>
          <a:xfrm>
            <a:off x="457200" y="1828800"/>
            <a:ext cx="8229600" cy="4302125"/>
          </a:xfrm>
        </p:spPr>
        <p:txBody>
          <a:bodyPr/>
          <a:lstStyle/>
          <a:p>
            <a:pPr lvl="0"/>
            <a:endParaRPr lang="en-US" noProof="0" smtClean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BC4DDBF-F4B1-41AF-813C-403C54461704}" type="datetime1">
              <a:rPr lang="en-US" smtClean="0"/>
              <a:pPr>
                <a:defRPr/>
              </a:pPr>
              <a:t>11-Jun-16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64CD318-2E77-4975-BCF2-08E9620645C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058" name="Rectangle 2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5157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/>
            </a:lvl1pPr>
          </a:lstStyle>
          <a:p>
            <a:fld id="{B853AAFC-843A-4CD0-88B1-6F0EEA3249E5}" type="datetime1">
              <a:rPr lang="en-US" smtClean="0"/>
              <a:pPr/>
              <a:t>11-Jun-16</a:t>
            </a:fld>
            <a:endParaRPr lang="en-US"/>
          </a:p>
        </p:txBody>
      </p:sp>
      <p:sp>
        <p:nvSpPr>
          <p:cNvPr id="173059" name="Rectangle 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fld id="{EFDDF116-4DF1-4A14-9DCD-24790FF55EB2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0" y="0"/>
            <a:ext cx="9140825" cy="6850063"/>
            <a:chOff x="0" y="0"/>
            <a:chExt cx="5758" cy="4315"/>
          </a:xfrm>
        </p:grpSpPr>
        <p:grpSp>
          <p:nvGrpSpPr>
            <p:cNvPr id="3" name="Group 5"/>
            <p:cNvGrpSpPr>
              <a:grpSpLocks/>
            </p:cNvGrpSpPr>
            <p:nvPr userDrawn="1"/>
          </p:nvGrpSpPr>
          <p:grpSpPr bwMode="auto">
            <a:xfrm>
              <a:off x="1728" y="2230"/>
              <a:ext cx="4027" cy="2085"/>
              <a:chOff x="1728" y="2230"/>
              <a:chExt cx="4027" cy="2085"/>
            </a:xfrm>
          </p:grpSpPr>
          <p:sp>
            <p:nvSpPr>
              <p:cNvPr id="173062" name="Freeform 6"/>
              <p:cNvSpPr>
                <a:spLocks/>
              </p:cNvSpPr>
              <p:nvPr/>
            </p:nvSpPr>
            <p:spPr bwMode="hidden">
              <a:xfrm>
                <a:off x="1728" y="2644"/>
                <a:ext cx="2882" cy="1671"/>
              </a:xfrm>
              <a:custGeom>
                <a:avLst/>
                <a:gdLst/>
                <a:ahLst/>
                <a:cxnLst>
                  <a:cxn ang="0">
                    <a:pos x="2740" y="528"/>
                  </a:cxn>
                  <a:cxn ang="0">
                    <a:pos x="2632" y="484"/>
                  </a:cxn>
                  <a:cxn ang="0">
                    <a:pos x="2480" y="424"/>
                  </a:cxn>
                  <a:cxn ang="0">
                    <a:pos x="2203" y="343"/>
                  </a:cxn>
                  <a:cxn ang="0">
                    <a:pos x="1970" y="277"/>
                  </a:cxn>
                  <a:cxn ang="0">
                    <a:pos x="1807" y="212"/>
                  </a:cxn>
                  <a:cxn ang="0">
                    <a:pos x="1693" y="152"/>
                  </a:cxn>
                  <a:cxn ang="0">
                    <a:pos x="1628" y="103"/>
                  </a:cxn>
                  <a:cxn ang="0">
                    <a:pos x="1590" y="60"/>
                  </a:cxn>
                  <a:cxn ang="0">
                    <a:pos x="1579" y="27"/>
                  </a:cxn>
                  <a:cxn ang="0">
                    <a:pos x="1585" y="0"/>
                  </a:cxn>
                  <a:cxn ang="0">
                    <a:pos x="1557" y="49"/>
                  </a:cxn>
                  <a:cxn ang="0">
                    <a:pos x="1568" y="98"/>
                  </a:cxn>
                  <a:cxn ang="0">
                    <a:pos x="1617" y="141"/>
                  </a:cxn>
                  <a:cxn ang="0">
                    <a:pos x="1688" y="185"/>
                  </a:cxn>
                  <a:cxn ang="0">
                    <a:pos x="1791" y="228"/>
                  </a:cxn>
                  <a:cxn ang="0">
                    <a:pos x="2040" y="310"/>
                  </a:cxn>
                  <a:cxn ang="0">
                    <a:pos x="2285" y="381"/>
                  </a:cxn>
                  <a:cxn ang="0">
                    <a:pos x="2464" y="435"/>
                  </a:cxn>
                  <a:cxn ang="0">
                    <a:pos x="2605" y="484"/>
                  </a:cxn>
                  <a:cxn ang="0">
                    <a:pos x="2708" y="528"/>
                  </a:cxn>
                  <a:cxn ang="0">
                    <a:pos x="2768" y="560"/>
                  </a:cxn>
                  <a:cxn ang="0">
                    <a:pos x="2795" y="593"/>
                  </a:cxn>
                  <a:cxn ang="0">
                    <a:pos x="2795" y="642"/>
                  </a:cxn>
                  <a:cxn ang="0">
                    <a:pos x="2762" y="691"/>
                  </a:cxn>
                  <a:cxn ang="0">
                    <a:pos x="2692" y="735"/>
                  </a:cxn>
                  <a:cxn ang="0">
                    <a:pos x="2589" y="778"/>
                  </a:cxn>
                  <a:cxn ang="0">
                    <a:pos x="2458" y="822"/>
                  </a:cxn>
                  <a:cxn ang="0">
                    <a:pos x="2301" y="865"/>
                  </a:cxn>
                  <a:cxn ang="0">
                    <a:pos x="2030" y="930"/>
                  </a:cxn>
                  <a:cxn ang="0">
                    <a:pos x="1606" y="1034"/>
                  </a:cxn>
                  <a:cxn ang="0">
                    <a:pos x="1145" y="1164"/>
                  </a:cxn>
                  <a:cxn ang="0">
                    <a:pos x="673" y="1328"/>
                  </a:cxn>
                  <a:cxn ang="0">
                    <a:pos x="217" y="1545"/>
                  </a:cxn>
                  <a:cxn ang="0">
                    <a:pos x="353" y="1671"/>
                  </a:cxn>
                  <a:cxn ang="0">
                    <a:pos x="754" y="1469"/>
                  </a:cxn>
                  <a:cxn ang="0">
                    <a:pos x="1145" y="1311"/>
                  </a:cxn>
                  <a:cxn ang="0">
                    <a:pos x="1519" y="1186"/>
                  </a:cxn>
                  <a:cxn ang="0">
                    <a:pos x="1861" y="1083"/>
                  </a:cxn>
                  <a:cxn ang="0">
                    <a:pos x="2165" y="1007"/>
                  </a:cxn>
                  <a:cxn ang="0">
                    <a:pos x="2426" y="947"/>
                  </a:cxn>
                  <a:cxn ang="0">
                    <a:pos x="2626" y="892"/>
                  </a:cxn>
                  <a:cxn ang="0">
                    <a:pos x="2762" y="838"/>
                  </a:cxn>
                  <a:cxn ang="0">
                    <a:pos x="2827" y="794"/>
                  </a:cxn>
                  <a:cxn ang="0">
                    <a:pos x="2865" y="745"/>
                  </a:cxn>
                  <a:cxn ang="0">
                    <a:pos x="2882" y="702"/>
                  </a:cxn>
                  <a:cxn ang="0">
                    <a:pos x="2854" y="620"/>
                  </a:cxn>
                  <a:cxn ang="0">
                    <a:pos x="2800" y="560"/>
                  </a:cxn>
                  <a:cxn ang="0">
                    <a:pos x="2773" y="544"/>
                  </a:cxn>
                </a:cxnLst>
                <a:rect l="0" t="0" r="r" b="b"/>
                <a:pathLst>
                  <a:path w="2882" h="1671">
                    <a:moveTo>
                      <a:pt x="2773" y="544"/>
                    </a:moveTo>
                    <a:lnTo>
                      <a:pt x="2740" y="528"/>
                    </a:lnTo>
                    <a:lnTo>
                      <a:pt x="2692" y="506"/>
                    </a:lnTo>
                    <a:lnTo>
                      <a:pt x="2632" y="484"/>
                    </a:lnTo>
                    <a:lnTo>
                      <a:pt x="2561" y="457"/>
                    </a:lnTo>
                    <a:lnTo>
                      <a:pt x="2480" y="424"/>
                    </a:lnTo>
                    <a:lnTo>
                      <a:pt x="2388" y="397"/>
                    </a:lnTo>
                    <a:lnTo>
                      <a:pt x="2203" y="343"/>
                    </a:lnTo>
                    <a:lnTo>
                      <a:pt x="2078" y="310"/>
                    </a:lnTo>
                    <a:lnTo>
                      <a:pt x="1970" y="277"/>
                    </a:lnTo>
                    <a:lnTo>
                      <a:pt x="1878" y="245"/>
                    </a:lnTo>
                    <a:lnTo>
                      <a:pt x="1807" y="212"/>
                    </a:lnTo>
                    <a:lnTo>
                      <a:pt x="1742" y="179"/>
                    </a:lnTo>
                    <a:lnTo>
                      <a:pt x="1693" y="152"/>
                    </a:lnTo>
                    <a:lnTo>
                      <a:pt x="1655" y="125"/>
                    </a:lnTo>
                    <a:lnTo>
                      <a:pt x="1628" y="103"/>
                    </a:lnTo>
                    <a:lnTo>
                      <a:pt x="1606" y="81"/>
                    </a:lnTo>
                    <a:lnTo>
                      <a:pt x="1590" y="60"/>
                    </a:lnTo>
                    <a:lnTo>
                      <a:pt x="1585" y="43"/>
                    </a:lnTo>
                    <a:lnTo>
                      <a:pt x="1579" y="27"/>
                    </a:lnTo>
                    <a:lnTo>
                      <a:pt x="1585" y="5"/>
                    </a:lnTo>
                    <a:lnTo>
                      <a:pt x="1585" y="0"/>
                    </a:lnTo>
                    <a:lnTo>
                      <a:pt x="1568" y="27"/>
                    </a:lnTo>
                    <a:lnTo>
                      <a:pt x="1557" y="49"/>
                    </a:lnTo>
                    <a:lnTo>
                      <a:pt x="1557" y="76"/>
                    </a:lnTo>
                    <a:lnTo>
                      <a:pt x="1568" y="98"/>
                    </a:lnTo>
                    <a:lnTo>
                      <a:pt x="1590" y="120"/>
                    </a:lnTo>
                    <a:lnTo>
                      <a:pt x="1617" y="141"/>
                    </a:lnTo>
                    <a:lnTo>
                      <a:pt x="1650" y="163"/>
                    </a:lnTo>
                    <a:lnTo>
                      <a:pt x="1688" y="185"/>
                    </a:lnTo>
                    <a:lnTo>
                      <a:pt x="1737" y="207"/>
                    </a:lnTo>
                    <a:lnTo>
                      <a:pt x="1791" y="228"/>
                    </a:lnTo>
                    <a:lnTo>
                      <a:pt x="1905" y="267"/>
                    </a:lnTo>
                    <a:lnTo>
                      <a:pt x="2040" y="310"/>
                    </a:lnTo>
                    <a:lnTo>
                      <a:pt x="2182" y="348"/>
                    </a:lnTo>
                    <a:lnTo>
                      <a:pt x="2285" y="381"/>
                    </a:lnTo>
                    <a:lnTo>
                      <a:pt x="2382" y="408"/>
                    </a:lnTo>
                    <a:lnTo>
                      <a:pt x="2464" y="435"/>
                    </a:lnTo>
                    <a:lnTo>
                      <a:pt x="2540" y="462"/>
                    </a:lnTo>
                    <a:lnTo>
                      <a:pt x="2605" y="484"/>
                    </a:lnTo>
                    <a:lnTo>
                      <a:pt x="2659" y="506"/>
                    </a:lnTo>
                    <a:lnTo>
                      <a:pt x="2708" y="528"/>
                    </a:lnTo>
                    <a:lnTo>
                      <a:pt x="2740" y="544"/>
                    </a:lnTo>
                    <a:lnTo>
                      <a:pt x="2768" y="560"/>
                    </a:lnTo>
                    <a:lnTo>
                      <a:pt x="2784" y="577"/>
                    </a:lnTo>
                    <a:lnTo>
                      <a:pt x="2795" y="593"/>
                    </a:lnTo>
                    <a:lnTo>
                      <a:pt x="2800" y="615"/>
                    </a:lnTo>
                    <a:lnTo>
                      <a:pt x="2795" y="642"/>
                    </a:lnTo>
                    <a:lnTo>
                      <a:pt x="2784" y="664"/>
                    </a:lnTo>
                    <a:lnTo>
                      <a:pt x="2762" y="691"/>
                    </a:lnTo>
                    <a:lnTo>
                      <a:pt x="2730" y="713"/>
                    </a:lnTo>
                    <a:lnTo>
                      <a:pt x="2692" y="735"/>
                    </a:lnTo>
                    <a:lnTo>
                      <a:pt x="2643" y="756"/>
                    </a:lnTo>
                    <a:lnTo>
                      <a:pt x="2589" y="778"/>
                    </a:lnTo>
                    <a:lnTo>
                      <a:pt x="2529" y="800"/>
                    </a:lnTo>
                    <a:lnTo>
                      <a:pt x="2458" y="822"/>
                    </a:lnTo>
                    <a:lnTo>
                      <a:pt x="2382" y="843"/>
                    </a:lnTo>
                    <a:lnTo>
                      <a:pt x="2301" y="865"/>
                    </a:lnTo>
                    <a:lnTo>
                      <a:pt x="2214" y="887"/>
                    </a:lnTo>
                    <a:lnTo>
                      <a:pt x="2030" y="930"/>
                    </a:lnTo>
                    <a:lnTo>
                      <a:pt x="1823" y="979"/>
                    </a:lnTo>
                    <a:lnTo>
                      <a:pt x="1606" y="1034"/>
                    </a:lnTo>
                    <a:lnTo>
                      <a:pt x="1378" y="1094"/>
                    </a:lnTo>
                    <a:lnTo>
                      <a:pt x="1145" y="1164"/>
                    </a:lnTo>
                    <a:lnTo>
                      <a:pt x="912" y="1241"/>
                    </a:lnTo>
                    <a:lnTo>
                      <a:pt x="673" y="1328"/>
                    </a:lnTo>
                    <a:lnTo>
                      <a:pt x="440" y="1431"/>
                    </a:lnTo>
                    <a:lnTo>
                      <a:pt x="217" y="1545"/>
                    </a:lnTo>
                    <a:lnTo>
                      <a:pt x="0" y="1671"/>
                    </a:lnTo>
                    <a:lnTo>
                      <a:pt x="353" y="1671"/>
                    </a:lnTo>
                    <a:lnTo>
                      <a:pt x="554" y="1567"/>
                    </a:lnTo>
                    <a:lnTo>
                      <a:pt x="754" y="1469"/>
                    </a:lnTo>
                    <a:lnTo>
                      <a:pt x="955" y="1388"/>
                    </a:lnTo>
                    <a:lnTo>
                      <a:pt x="1145" y="1311"/>
                    </a:lnTo>
                    <a:lnTo>
                      <a:pt x="1335" y="1241"/>
                    </a:lnTo>
                    <a:lnTo>
                      <a:pt x="1519" y="1186"/>
                    </a:lnTo>
                    <a:lnTo>
                      <a:pt x="1693" y="1132"/>
                    </a:lnTo>
                    <a:lnTo>
                      <a:pt x="1861" y="1083"/>
                    </a:lnTo>
                    <a:lnTo>
                      <a:pt x="2019" y="1045"/>
                    </a:lnTo>
                    <a:lnTo>
                      <a:pt x="2165" y="1007"/>
                    </a:lnTo>
                    <a:lnTo>
                      <a:pt x="2301" y="974"/>
                    </a:lnTo>
                    <a:lnTo>
                      <a:pt x="2426" y="947"/>
                    </a:lnTo>
                    <a:lnTo>
                      <a:pt x="2534" y="914"/>
                    </a:lnTo>
                    <a:lnTo>
                      <a:pt x="2626" y="892"/>
                    </a:lnTo>
                    <a:lnTo>
                      <a:pt x="2702" y="865"/>
                    </a:lnTo>
                    <a:lnTo>
                      <a:pt x="2762" y="838"/>
                    </a:lnTo>
                    <a:lnTo>
                      <a:pt x="2800" y="816"/>
                    </a:lnTo>
                    <a:lnTo>
                      <a:pt x="2827" y="794"/>
                    </a:lnTo>
                    <a:lnTo>
                      <a:pt x="2849" y="767"/>
                    </a:lnTo>
                    <a:lnTo>
                      <a:pt x="2865" y="745"/>
                    </a:lnTo>
                    <a:lnTo>
                      <a:pt x="2876" y="724"/>
                    </a:lnTo>
                    <a:lnTo>
                      <a:pt x="2882" y="702"/>
                    </a:lnTo>
                    <a:lnTo>
                      <a:pt x="2876" y="658"/>
                    </a:lnTo>
                    <a:lnTo>
                      <a:pt x="2854" y="620"/>
                    </a:lnTo>
                    <a:lnTo>
                      <a:pt x="2833" y="588"/>
                    </a:lnTo>
                    <a:lnTo>
                      <a:pt x="2800" y="560"/>
                    </a:lnTo>
                    <a:lnTo>
                      <a:pt x="2773" y="544"/>
                    </a:lnTo>
                    <a:lnTo>
                      <a:pt x="2773" y="544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90980"/>
                      <a:invGamma/>
                    </a:schemeClr>
                  </a:gs>
                </a:gsLst>
                <a:lin ang="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3063" name="Freeform 7"/>
              <p:cNvSpPr>
                <a:spLocks/>
              </p:cNvSpPr>
              <p:nvPr/>
            </p:nvSpPr>
            <p:spPr bwMode="hidden">
              <a:xfrm>
                <a:off x="4170" y="2671"/>
                <a:ext cx="1259" cy="811"/>
              </a:xfrm>
              <a:custGeom>
                <a:avLst/>
                <a:gdLst/>
                <a:ahLst/>
                <a:cxnLst>
                  <a:cxn ang="0">
                    <a:pos x="1259" y="615"/>
                  </a:cxn>
                  <a:cxn ang="0">
                    <a:pos x="1248" y="588"/>
                  </a:cxn>
                  <a:cxn ang="0">
                    <a:pos x="1237" y="566"/>
                  </a:cxn>
                  <a:cxn ang="0">
                    <a:pos x="1216" y="539"/>
                  </a:cxn>
                  <a:cxn ang="0">
                    <a:pos x="1188" y="517"/>
                  </a:cxn>
                  <a:cxn ang="0">
                    <a:pos x="1123" y="479"/>
                  </a:cxn>
                  <a:cxn ang="0">
                    <a:pos x="1042" y="441"/>
                  </a:cxn>
                  <a:cxn ang="0">
                    <a:pos x="944" y="408"/>
                  </a:cxn>
                  <a:cxn ang="0">
                    <a:pos x="841" y="381"/>
                  </a:cxn>
                  <a:cxn ang="0">
                    <a:pos x="727" y="348"/>
                  </a:cxn>
                  <a:cxn ang="0">
                    <a:pos x="613" y="321"/>
                  </a:cxn>
                  <a:cxn ang="0">
                    <a:pos x="499" y="294"/>
                  </a:cxn>
                  <a:cxn ang="0">
                    <a:pos x="391" y="261"/>
                  </a:cxn>
                  <a:cxn ang="0">
                    <a:pos x="288" y="229"/>
                  </a:cxn>
                  <a:cxn ang="0">
                    <a:pos x="195" y="196"/>
                  </a:cxn>
                  <a:cxn ang="0">
                    <a:pos x="119" y="152"/>
                  </a:cxn>
                  <a:cxn ang="0">
                    <a:pos x="54" y="109"/>
                  </a:cxn>
                  <a:cxn ang="0">
                    <a:pos x="33" y="87"/>
                  </a:cxn>
                  <a:cxn ang="0">
                    <a:pos x="16" y="60"/>
                  </a:cxn>
                  <a:cxn ang="0">
                    <a:pos x="5" y="33"/>
                  </a:cxn>
                  <a:cxn ang="0">
                    <a:pos x="0" y="0"/>
                  </a:cxn>
                  <a:cxn ang="0">
                    <a:pos x="0" y="6"/>
                  </a:cxn>
                  <a:cxn ang="0">
                    <a:pos x="0" y="11"/>
                  </a:cxn>
                  <a:cxn ang="0">
                    <a:pos x="0" y="38"/>
                  </a:cxn>
                  <a:cxn ang="0">
                    <a:pos x="5" y="60"/>
                  </a:cxn>
                  <a:cxn ang="0">
                    <a:pos x="16" y="87"/>
                  </a:cxn>
                  <a:cxn ang="0">
                    <a:pos x="33" y="114"/>
                  </a:cxn>
                  <a:cxn ang="0">
                    <a:pos x="54" y="142"/>
                  </a:cxn>
                  <a:cxn ang="0">
                    <a:pos x="87" y="174"/>
                  </a:cxn>
                  <a:cxn ang="0">
                    <a:pos x="125" y="207"/>
                  </a:cxn>
                  <a:cxn ang="0">
                    <a:pos x="179" y="240"/>
                  </a:cxn>
                  <a:cxn ang="0">
                    <a:pos x="244" y="278"/>
                  </a:cxn>
                  <a:cxn ang="0">
                    <a:pos x="326" y="310"/>
                  </a:cxn>
                  <a:cxn ang="0">
                    <a:pos x="418" y="348"/>
                  </a:cxn>
                  <a:cxn ang="0">
                    <a:pos x="526" y="381"/>
                  </a:cxn>
                  <a:cxn ang="0">
                    <a:pos x="657" y="414"/>
                  </a:cxn>
                  <a:cxn ang="0">
                    <a:pos x="749" y="435"/>
                  </a:cxn>
                  <a:cxn ang="0">
                    <a:pos x="830" y="463"/>
                  </a:cxn>
                  <a:cxn ang="0">
                    <a:pos x="901" y="490"/>
                  </a:cxn>
                  <a:cxn ang="0">
                    <a:pos x="966" y="512"/>
                  </a:cxn>
                  <a:cxn ang="0">
                    <a:pos x="1015" y="539"/>
                  </a:cxn>
                  <a:cxn ang="0">
                    <a:pos x="1053" y="566"/>
                  </a:cxn>
                  <a:cxn ang="0">
                    <a:pos x="1080" y="593"/>
                  </a:cxn>
                  <a:cxn ang="0">
                    <a:pos x="1102" y="620"/>
                  </a:cxn>
                  <a:cxn ang="0">
                    <a:pos x="1112" y="648"/>
                  </a:cxn>
                  <a:cxn ang="0">
                    <a:pos x="1118" y="675"/>
                  </a:cxn>
                  <a:cxn ang="0">
                    <a:pos x="1112" y="697"/>
                  </a:cxn>
                  <a:cxn ang="0">
                    <a:pos x="1096" y="724"/>
                  </a:cxn>
                  <a:cxn ang="0">
                    <a:pos x="1080" y="746"/>
                  </a:cxn>
                  <a:cxn ang="0">
                    <a:pos x="1053" y="767"/>
                  </a:cxn>
                  <a:cxn ang="0">
                    <a:pos x="1015" y="789"/>
                  </a:cxn>
                  <a:cxn ang="0">
                    <a:pos x="977" y="811"/>
                  </a:cxn>
                  <a:cxn ang="0">
                    <a:pos x="1047" y="789"/>
                  </a:cxn>
                  <a:cxn ang="0">
                    <a:pos x="1107" y="767"/>
                  </a:cxn>
                  <a:cxn ang="0">
                    <a:pos x="1156" y="746"/>
                  </a:cxn>
                  <a:cxn ang="0">
                    <a:pos x="1199" y="724"/>
                  </a:cxn>
                  <a:cxn ang="0">
                    <a:pos x="1226" y="702"/>
                  </a:cxn>
                  <a:cxn ang="0">
                    <a:pos x="1248" y="675"/>
                  </a:cxn>
                  <a:cxn ang="0">
                    <a:pos x="1259" y="648"/>
                  </a:cxn>
                  <a:cxn ang="0">
                    <a:pos x="1259" y="615"/>
                  </a:cxn>
                  <a:cxn ang="0">
                    <a:pos x="1259" y="615"/>
                  </a:cxn>
                </a:cxnLst>
                <a:rect l="0" t="0" r="r" b="b"/>
                <a:pathLst>
                  <a:path w="1259" h="811">
                    <a:moveTo>
                      <a:pt x="1259" y="615"/>
                    </a:moveTo>
                    <a:lnTo>
                      <a:pt x="1248" y="588"/>
                    </a:lnTo>
                    <a:lnTo>
                      <a:pt x="1237" y="566"/>
                    </a:lnTo>
                    <a:lnTo>
                      <a:pt x="1216" y="539"/>
                    </a:lnTo>
                    <a:lnTo>
                      <a:pt x="1188" y="517"/>
                    </a:lnTo>
                    <a:lnTo>
                      <a:pt x="1123" y="479"/>
                    </a:lnTo>
                    <a:lnTo>
                      <a:pt x="1042" y="441"/>
                    </a:lnTo>
                    <a:lnTo>
                      <a:pt x="944" y="408"/>
                    </a:lnTo>
                    <a:lnTo>
                      <a:pt x="841" y="381"/>
                    </a:lnTo>
                    <a:lnTo>
                      <a:pt x="727" y="348"/>
                    </a:lnTo>
                    <a:lnTo>
                      <a:pt x="613" y="321"/>
                    </a:lnTo>
                    <a:lnTo>
                      <a:pt x="499" y="294"/>
                    </a:lnTo>
                    <a:lnTo>
                      <a:pt x="391" y="261"/>
                    </a:lnTo>
                    <a:lnTo>
                      <a:pt x="288" y="229"/>
                    </a:lnTo>
                    <a:lnTo>
                      <a:pt x="195" y="196"/>
                    </a:lnTo>
                    <a:lnTo>
                      <a:pt x="119" y="152"/>
                    </a:lnTo>
                    <a:lnTo>
                      <a:pt x="54" y="109"/>
                    </a:lnTo>
                    <a:lnTo>
                      <a:pt x="33" y="87"/>
                    </a:lnTo>
                    <a:lnTo>
                      <a:pt x="16" y="60"/>
                    </a:lnTo>
                    <a:lnTo>
                      <a:pt x="5" y="33"/>
                    </a:lnTo>
                    <a:lnTo>
                      <a:pt x="0" y="0"/>
                    </a:lnTo>
                    <a:lnTo>
                      <a:pt x="0" y="6"/>
                    </a:lnTo>
                    <a:lnTo>
                      <a:pt x="0" y="11"/>
                    </a:lnTo>
                    <a:lnTo>
                      <a:pt x="0" y="38"/>
                    </a:lnTo>
                    <a:lnTo>
                      <a:pt x="5" y="60"/>
                    </a:lnTo>
                    <a:lnTo>
                      <a:pt x="16" y="87"/>
                    </a:lnTo>
                    <a:lnTo>
                      <a:pt x="33" y="114"/>
                    </a:lnTo>
                    <a:lnTo>
                      <a:pt x="54" y="142"/>
                    </a:lnTo>
                    <a:lnTo>
                      <a:pt x="87" y="174"/>
                    </a:lnTo>
                    <a:lnTo>
                      <a:pt x="125" y="207"/>
                    </a:lnTo>
                    <a:lnTo>
                      <a:pt x="179" y="240"/>
                    </a:lnTo>
                    <a:lnTo>
                      <a:pt x="244" y="278"/>
                    </a:lnTo>
                    <a:lnTo>
                      <a:pt x="326" y="310"/>
                    </a:lnTo>
                    <a:lnTo>
                      <a:pt x="418" y="348"/>
                    </a:lnTo>
                    <a:lnTo>
                      <a:pt x="526" y="381"/>
                    </a:lnTo>
                    <a:lnTo>
                      <a:pt x="657" y="414"/>
                    </a:lnTo>
                    <a:lnTo>
                      <a:pt x="749" y="435"/>
                    </a:lnTo>
                    <a:lnTo>
                      <a:pt x="830" y="463"/>
                    </a:lnTo>
                    <a:lnTo>
                      <a:pt x="901" y="490"/>
                    </a:lnTo>
                    <a:lnTo>
                      <a:pt x="966" y="512"/>
                    </a:lnTo>
                    <a:lnTo>
                      <a:pt x="1015" y="539"/>
                    </a:lnTo>
                    <a:lnTo>
                      <a:pt x="1053" y="566"/>
                    </a:lnTo>
                    <a:lnTo>
                      <a:pt x="1080" y="593"/>
                    </a:lnTo>
                    <a:lnTo>
                      <a:pt x="1102" y="620"/>
                    </a:lnTo>
                    <a:lnTo>
                      <a:pt x="1112" y="648"/>
                    </a:lnTo>
                    <a:lnTo>
                      <a:pt x="1118" y="675"/>
                    </a:lnTo>
                    <a:lnTo>
                      <a:pt x="1112" y="697"/>
                    </a:lnTo>
                    <a:lnTo>
                      <a:pt x="1096" y="724"/>
                    </a:lnTo>
                    <a:lnTo>
                      <a:pt x="1080" y="746"/>
                    </a:lnTo>
                    <a:lnTo>
                      <a:pt x="1053" y="767"/>
                    </a:lnTo>
                    <a:lnTo>
                      <a:pt x="1015" y="789"/>
                    </a:lnTo>
                    <a:lnTo>
                      <a:pt x="977" y="811"/>
                    </a:lnTo>
                    <a:lnTo>
                      <a:pt x="1047" y="789"/>
                    </a:lnTo>
                    <a:lnTo>
                      <a:pt x="1107" y="767"/>
                    </a:lnTo>
                    <a:lnTo>
                      <a:pt x="1156" y="746"/>
                    </a:lnTo>
                    <a:lnTo>
                      <a:pt x="1199" y="724"/>
                    </a:lnTo>
                    <a:lnTo>
                      <a:pt x="1226" y="702"/>
                    </a:lnTo>
                    <a:lnTo>
                      <a:pt x="1248" y="675"/>
                    </a:lnTo>
                    <a:lnTo>
                      <a:pt x="1259" y="648"/>
                    </a:lnTo>
                    <a:lnTo>
                      <a:pt x="1259" y="615"/>
                    </a:lnTo>
                    <a:lnTo>
                      <a:pt x="1259" y="615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90980"/>
                      <a:invGamma/>
                    </a:schemeClr>
                  </a:gs>
                </a:gsLst>
                <a:lin ang="27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3064" name="Freeform 8"/>
              <p:cNvSpPr>
                <a:spLocks/>
              </p:cNvSpPr>
              <p:nvPr/>
            </p:nvSpPr>
            <p:spPr bwMode="hidden">
              <a:xfrm>
                <a:off x="2900" y="3346"/>
                <a:ext cx="2849" cy="969"/>
              </a:xfrm>
              <a:custGeom>
                <a:avLst/>
                <a:gdLst/>
                <a:ahLst/>
                <a:cxnLst>
                  <a:cxn ang="0">
                    <a:pos x="92" y="958"/>
                  </a:cxn>
                  <a:cxn ang="0">
                    <a:pos x="0" y="969"/>
                  </a:cxn>
                  <a:cxn ang="0">
                    <a:pos x="391" y="969"/>
                  </a:cxn>
                  <a:cxn ang="0">
                    <a:pos x="434" y="947"/>
                  </a:cxn>
                  <a:cxn ang="0">
                    <a:pos x="483" y="914"/>
                  </a:cxn>
                  <a:cxn ang="0">
                    <a:pos x="554" y="876"/>
                  </a:cxn>
                  <a:cxn ang="0">
                    <a:pos x="635" y="838"/>
                  </a:cxn>
                  <a:cxn ang="0">
                    <a:pos x="727" y="794"/>
                  </a:cxn>
                  <a:cxn ang="0">
                    <a:pos x="836" y="745"/>
                  </a:cxn>
                  <a:cxn ang="0">
                    <a:pos x="961" y="696"/>
                  </a:cxn>
                  <a:cxn ang="0">
                    <a:pos x="1102" y="642"/>
                  </a:cxn>
                  <a:cxn ang="0">
                    <a:pos x="1259" y="582"/>
                  </a:cxn>
                  <a:cxn ang="0">
                    <a:pos x="1433" y="522"/>
                  </a:cxn>
                  <a:cxn ang="0">
                    <a:pos x="1623" y="462"/>
                  </a:cxn>
                  <a:cxn ang="0">
                    <a:pos x="1829" y="403"/>
                  </a:cxn>
                  <a:cxn ang="0">
                    <a:pos x="2057" y="343"/>
                  </a:cxn>
                  <a:cxn ang="0">
                    <a:pos x="2301" y="283"/>
                  </a:cxn>
                  <a:cxn ang="0">
                    <a:pos x="2567" y="223"/>
                  </a:cxn>
                  <a:cxn ang="0">
                    <a:pos x="2849" y="163"/>
                  </a:cxn>
                  <a:cxn ang="0">
                    <a:pos x="2849" y="0"/>
                  </a:cxn>
                  <a:cxn ang="0">
                    <a:pos x="2817" y="16"/>
                  </a:cxn>
                  <a:cxn ang="0">
                    <a:pos x="2773" y="33"/>
                  </a:cxn>
                  <a:cxn ang="0">
                    <a:pos x="2719" y="54"/>
                  </a:cxn>
                  <a:cxn ang="0">
                    <a:pos x="2648" y="76"/>
                  </a:cxn>
                  <a:cxn ang="0">
                    <a:pos x="2572" y="98"/>
                  </a:cxn>
                  <a:cxn ang="0">
                    <a:pos x="2491" y="120"/>
                  </a:cxn>
                  <a:cxn ang="0">
                    <a:pos x="2399" y="147"/>
                  </a:cxn>
                  <a:cxn ang="0">
                    <a:pos x="2301" y="169"/>
                  </a:cxn>
                  <a:cxn ang="0">
                    <a:pos x="2095" y="223"/>
                  </a:cxn>
                  <a:cxn ang="0">
                    <a:pos x="1889" y="277"/>
                  </a:cxn>
                  <a:cxn ang="0">
                    <a:pos x="1688" y="326"/>
                  </a:cxn>
                  <a:cxn ang="0">
                    <a:pos x="1590" y="354"/>
                  </a:cxn>
                  <a:cxn ang="0">
                    <a:pos x="1503" y="381"/>
                  </a:cxn>
                  <a:cxn ang="0">
                    <a:pos x="1107" y="506"/>
                  </a:cxn>
                  <a:cxn ang="0">
                    <a:pos x="912" y="577"/>
                  </a:cxn>
                  <a:cxn ang="0">
                    <a:pos x="727" y="647"/>
                  </a:cxn>
                  <a:cxn ang="0">
                    <a:pos x="548" y="718"/>
                  </a:cxn>
                  <a:cxn ang="0">
                    <a:pos x="380" y="794"/>
                  </a:cxn>
                  <a:cxn ang="0">
                    <a:pos x="228" y="876"/>
                  </a:cxn>
                  <a:cxn ang="0">
                    <a:pos x="92" y="958"/>
                  </a:cxn>
                  <a:cxn ang="0">
                    <a:pos x="92" y="958"/>
                  </a:cxn>
                </a:cxnLst>
                <a:rect l="0" t="0" r="r" b="b"/>
                <a:pathLst>
                  <a:path w="2849" h="969">
                    <a:moveTo>
                      <a:pt x="92" y="958"/>
                    </a:moveTo>
                    <a:lnTo>
                      <a:pt x="0" y="969"/>
                    </a:lnTo>
                    <a:lnTo>
                      <a:pt x="391" y="969"/>
                    </a:lnTo>
                    <a:lnTo>
                      <a:pt x="434" y="947"/>
                    </a:lnTo>
                    <a:lnTo>
                      <a:pt x="483" y="914"/>
                    </a:lnTo>
                    <a:lnTo>
                      <a:pt x="554" y="876"/>
                    </a:lnTo>
                    <a:lnTo>
                      <a:pt x="635" y="838"/>
                    </a:lnTo>
                    <a:lnTo>
                      <a:pt x="727" y="794"/>
                    </a:lnTo>
                    <a:lnTo>
                      <a:pt x="836" y="745"/>
                    </a:lnTo>
                    <a:lnTo>
                      <a:pt x="961" y="696"/>
                    </a:lnTo>
                    <a:lnTo>
                      <a:pt x="1102" y="642"/>
                    </a:lnTo>
                    <a:lnTo>
                      <a:pt x="1259" y="582"/>
                    </a:lnTo>
                    <a:lnTo>
                      <a:pt x="1433" y="522"/>
                    </a:lnTo>
                    <a:lnTo>
                      <a:pt x="1623" y="462"/>
                    </a:lnTo>
                    <a:lnTo>
                      <a:pt x="1829" y="403"/>
                    </a:lnTo>
                    <a:lnTo>
                      <a:pt x="2057" y="343"/>
                    </a:lnTo>
                    <a:lnTo>
                      <a:pt x="2301" y="283"/>
                    </a:lnTo>
                    <a:lnTo>
                      <a:pt x="2567" y="223"/>
                    </a:lnTo>
                    <a:lnTo>
                      <a:pt x="2849" y="163"/>
                    </a:lnTo>
                    <a:lnTo>
                      <a:pt x="2849" y="0"/>
                    </a:lnTo>
                    <a:lnTo>
                      <a:pt x="2817" y="16"/>
                    </a:lnTo>
                    <a:lnTo>
                      <a:pt x="2773" y="33"/>
                    </a:lnTo>
                    <a:lnTo>
                      <a:pt x="2719" y="54"/>
                    </a:lnTo>
                    <a:lnTo>
                      <a:pt x="2648" y="76"/>
                    </a:lnTo>
                    <a:lnTo>
                      <a:pt x="2572" y="98"/>
                    </a:lnTo>
                    <a:lnTo>
                      <a:pt x="2491" y="120"/>
                    </a:lnTo>
                    <a:lnTo>
                      <a:pt x="2399" y="147"/>
                    </a:lnTo>
                    <a:lnTo>
                      <a:pt x="2301" y="169"/>
                    </a:lnTo>
                    <a:lnTo>
                      <a:pt x="2095" y="223"/>
                    </a:lnTo>
                    <a:lnTo>
                      <a:pt x="1889" y="277"/>
                    </a:lnTo>
                    <a:lnTo>
                      <a:pt x="1688" y="326"/>
                    </a:lnTo>
                    <a:lnTo>
                      <a:pt x="1590" y="354"/>
                    </a:lnTo>
                    <a:lnTo>
                      <a:pt x="1503" y="381"/>
                    </a:lnTo>
                    <a:lnTo>
                      <a:pt x="1107" y="506"/>
                    </a:lnTo>
                    <a:lnTo>
                      <a:pt x="912" y="577"/>
                    </a:lnTo>
                    <a:lnTo>
                      <a:pt x="727" y="647"/>
                    </a:lnTo>
                    <a:lnTo>
                      <a:pt x="548" y="718"/>
                    </a:lnTo>
                    <a:lnTo>
                      <a:pt x="380" y="794"/>
                    </a:lnTo>
                    <a:lnTo>
                      <a:pt x="228" y="876"/>
                    </a:lnTo>
                    <a:lnTo>
                      <a:pt x="92" y="958"/>
                    </a:lnTo>
                    <a:lnTo>
                      <a:pt x="92" y="958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>
                      <a:gamma/>
                      <a:shade val="81961"/>
                      <a:invGamma/>
                    </a:schemeClr>
                  </a:gs>
                  <a:gs pos="100000">
                    <a:schemeClr val="bg1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3065" name="Freeform 9"/>
              <p:cNvSpPr>
                <a:spLocks/>
              </p:cNvSpPr>
              <p:nvPr/>
            </p:nvSpPr>
            <p:spPr bwMode="hidden">
              <a:xfrm>
                <a:off x="2748" y="2230"/>
                <a:ext cx="3007" cy="2085"/>
              </a:xfrm>
              <a:custGeom>
                <a:avLst/>
                <a:gdLst/>
                <a:ahLst/>
                <a:cxnLst>
                  <a:cxn ang="0">
                    <a:pos x="1433" y="474"/>
                  </a:cxn>
                  <a:cxn ang="0">
                    <a:pos x="1460" y="528"/>
                  </a:cxn>
                  <a:cxn ang="0">
                    <a:pos x="1541" y="593"/>
                  </a:cxn>
                  <a:cxn ang="0">
                    <a:pos x="1715" y="670"/>
                  </a:cxn>
                  <a:cxn ang="0">
                    <a:pos x="1927" y="735"/>
                  </a:cxn>
                  <a:cxn ang="0">
                    <a:pos x="2155" y="789"/>
                  </a:cxn>
                  <a:cxn ang="0">
                    <a:pos x="2372" y="849"/>
                  </a:cxn>
                  <a:cxn ang="0">
                    <a:pos x="2551" y="920"/>
                  </a:cxn>
                  <a:cxn ang="0">
                    <a:pos x="2638" y="980"/>
                  </a:cxn>
                  <a:cxn ang="0">
                    <a:pos x="2676" y="1029"/>
                  </a:cxn>
                  <a:cxn ang="0">
                    <a:pos x="2681" y="1083"/>
                  </a:cxn>
                  <a:cxn ang="0">
                    <a:pos x="2665" y="1127"/>
                  </a:cxn>
                  <a:cxn ang="0">
                    <a:pos x="2616" y="1170"/>
                  </a:cxn>
                  <a:cxn ang="0">
                    <a:pos x="2545" y="1208"/>
                  </a:cxn>
                  <a:cxn ang="0">
                    <a:pos x="2448" y="1241"/>
                  </a:cxn>
                  <a:cxn ang="0">
                    <a:pos x="2328" y="1274"/>
                  </a:cxn>
                  <a:cxn ang="0">
                    <a:pos x="2106" y="1328"/>
                  </a:cxn>
                  <a:cxn ang="0">
                    <a:pos x="1742" y="1421"/>
                  </a:cxn>
                  <a:cxn ang="0">
                    <a:pos x="1308" y="1540"/>
                  </a:cxn>
                  <a:cxn ang="0">
                    <a:pos x="820" y="1709"/>
                  </a:cxn>
                  <a:cxn ang="0">
                    <a:pos x="282" y="1943"/>
                  </a:cxn>
                  <a:cxn ang="0">
                    <a:pos x="152" y="2085"/>
                  </a:cxn>
                  <a:cxn ang="0">
                    <a:pos x="386" y="1992"/>
                  </a:cxn>
                  <a:cxn ang="0">
                    <a:pos x="700" y="1834"/>
                  </a:cxn>
                  <a:cxn ang="0">
                    <a:pos x="1064" y="1693"/>
                  </a:cxn>
                  <a:cxn ang="0">
                    <a:pos x="1661" y="1497"/>
                  </a:cxn>
                  <a:cxn ang="0">
                    <a:pos x="1845" y="1442"/>
                  </a:cxn>
                  <a:cxn ang="0">
                    <a:pos x="2252" y="1339"/>
                  </a:cxn>
                  <a:cxn ang="0">
                    <a:pos x="2551" y="1263"/>
                  </a:cxn>
                  <a:cxn ang="0">
                    <a:pos x="2730" y="1214"/>
                  </a:cxn>
                  <a:cxn ang="0">
                    <a:pos x="2876" y="1170"/>
                  </a:cxn>
                  <a:cxn ang="0">
                    <a:pos x="2974" y="1132"/>
                  </a:cxn>
                  <a:cxn ang="0">
                    <a:pos x="3007" y="871"/>
                  </a:cxn>
                  <a:cxn ang="0">
                    <a:pos x="2860" y="844"/>
                  </a:cxn>
                  <a:cxn ang="0">
                    <a:pos x="2670" y="806"/>
                  </a:cxn>
                  <a:cxn ang="0">
                    <a:pos x="2458" y="757"/>
                  </a:cxn>
                  <a:cxn ang="0">
                    <a:pos x="2138" y="670"/>
                  </a:cxn>
                  <a:cxn ang="0">
                    <a:pos x="1959" y="604"/>
                  </a:cxn>
                  <a:cxn ang="0">
                    <a:pos x="1824" y="534"/>
                  </a:cxn>
                  <a:cxn ang="0">
                    <a:pos x="1769" y="474"/>
                  </a:cxn>
                  <a:cxn ang="0">
                    <a:pos x="1753" y="436"/>
                  </a:cxn>
                  <a:cxn ang="0">
                    <a:pos x="1780" y="381"/>
                  </a:cxn>
                  <a:cxn ang="0">
                    <a:pos x="1862" y="316"/>
                  </a:cxn>
                  <a:cxn ang="0">
                    <a:pos x="1986" y="267"/>
                  </a:cxn>
                  <a:cxn ang="0">
                    <a:pos x="2149" y="229"/>
                  </a:cxn>
                  <a:cxn ang="0">
                    <a:pos x="2431" y="180"/>
                  </a:cxn>
                  <a:cxn ang="0">
                    <a:pos x="2827" y="125"/>
                  </a:cxn>
                  <a:cxn ang="0">
                    <a:pos x="3007" y="87"/>
                  </a:cxn>
                  <a:cxn ang="0">
                    <a:pos x="2909" y="22"/>
                  </a:cxn>
                  <a:cxn ang="0">
                    <a:pos x="2676" y="66"/>
                  </a:cxn>
                  <a:cxn ang="0">
                    <a:pos x="2285" y="120"/>
                  </a:cxn>
                  <a:cxn ang="0">
                    <a:pos x="2030" y="158"/>
                  </a:cxn>
                  <a:cxn ang="0">
                    <a:pos x="1791" y="202"/>
                  </a:cxn>
                  <a:cxn ang="0">
                    <a:pos x="1601" y="261"/>
                  </a:cxn>
                  <a:cxn ang="0">
                    <a:pos x="1471" y="338"/>
                  </a:cxn>
                  <a:cxn ang="0">
                    <a:pos x="1438" y="387"/>
                  </a:cxn>
                  <a:cxn ang="0">
                    <a:pos x="1427" y="441"/>
                  </a:cxn>
                </a:cxnLst>
                <a:rect l="0" t="0" r="r" b="b"/>
                <a:pathLst>
                  <a:path w="3007" h="2085">
                    <a:moveTo>
                      <a:pt x="1427" y="441"/>
                    </a:moveTo>
                    <a:lnTo>
                      <a:pt x="1433" y="474"/>
                    </a:lnTo>
                    <a:lnTo>
                      <a:pt x="1444" y="501"/>
                    </a:lnTo>
                    <a:lnTo>
                      <a:pt x="1460" y="528"/>
                    </a:lnTo>
                    <a:lnTo>
                      <a:pt x="1482" y="550"/>
                    </a:lnTo>
                    <a:lnTo>
                      <a:pt x="1541" y="593"/>
                    </a:lnTo>
                    <a:lnTo>
                      <a:pt x="1623" y="637"/>
                    </a:lnTo>
                    <a:lnTo>
                      <a:pt x="1715" y="670"/>
                    </a:lnTo>
                    <a:lnTo>
                      <a:pt x="1818" y="702"/>
                    </a:lnTo>
                    <a:lnTo>
                      <a:pt x="1927" y="735"/>
                    </a:lnTo>
                    <a:lnTo>
                      <a:pt x="2041" y="762"/>
                    </a:lnTo>
                    <a:lnTo>
                      <a:pt x="2155" y="789"/>
                    </a:lnTo>
                    <a:lnTo>
                      <a:pt x="2269" y="822"/>
                    </a:lnTo>
                    <a:lnTo>
                      <a:pt x="2372" y="849"/>
                    </a:lnTo>
                    <a:lnTo>
                      <a:pt x="2464" y="882"/>
                    </a:lnTo>
                    <a:lnTo>
                      <a:pt x="2551" y="920"/>
                    </a:lnTo>
                    <a:lnTo>
                      <a:pt x="2616" y="958"/>
                    </a:lnTo>
                    <a:lnTo>
                      <a:pt x="2638" y="980"/>
                    </a:lnTo>
                    <a:lnTo>
                      <a:pt x="2659" y="1007"/>
                    </a:lnTo>
                    <a:lnTo>
                      <a:pt x="2676" y="1029"/>
                    </a:lnTo>
                    <a:lnTo>
                      <a:pt x="2681" y="1056"/>
                    </a:lnTo>
                    <a:lnTo>
                      <a:pt x="2681" y="1083"/>
                    </a:lnTo>
                    <a:lnTo>
                      <a:pt x="2676" y="1105"/>
                    </a:lnTo>
                    <a:lnTo>
                      <a:pt x="2665" y="1127"/>
                    </a:lnTo>
                    <a:lnTo>
                      <a:pt x="2643" y="1149"/>
                    </a:lnTo>
                    <a:lnTo>
                      <a:pt x="2616" y="1170"/>
                    </a:lnTo>
                    <a:lnTo>
                      <a:pt x="2583" y="1187"/>
                    </a:lnTo>
                    <a:lnTo>
                      <a:pt x="2545" y="1208"/>
                    </a:lnTo>
                    <a:lnTo>
                      <a:pt x="2502" y="1225"/>
                    </a:lnTo>
                    <a:lnTo>
                      <a:pt x="2448" y="1241"/>
                    </a:lnTo>
                    <a:lnTo>
                      <a:pt x="2388" y="1257"/>
                    </a:lnTo>
                    <a:lnTo>
                      <a:pt x="2328" y="1274"/>
                    </a:lnTo>
                    <a:lnTo>
                      <a:pt x="2258" y="1290"/>
                    </a:lnTo>
                    <a:lnTo>
                      <a:pt x="2106" y="1328"/>
                    </a:lnTo>
                    <a:lnTo>
                      <a:pt x="1932" y="1372"/>
                    </a:lnTo>
                    <a:lnTo>
                      <a:pt x="1742" y="1421"/>
                    </a:lnTo>
                    <a:lnTo>
                      <a:pt x="1531" y="1475"/>
                    </a:lnTo>
                    <a:lnTo>
                      <a:pt x="1308" y="1540"/>
                    </a:lnTo>
                    <a:lnTo>
                      <a:pt x="1069" y="1617"/>
                    </a:lnTo>
                    <a:lnTo>
                      <a:pt x="820" y="1709"/>
                    </a:lnTo>
                    <a:lnTo>
                      <a:pt x="554" y="1818"/>
                    </a:lnTo>
                    <a:lnTo>
                      <a:pt x="282" y="1943"/>
                    </a:lnTo>
                    <a:lnTo>
                      <a:pt x="0" y="2085"/>
                    </a:lnTo>
                    <a:lnTo>
                      <a:pt x="152" y="2085"/>
                    </a:lnTo>
                    <a:lnTo>
                      <a:pt x="244" y="2074"/>
                    </a:lnTo>
                    <a:lnTo>
                      <a:pt x="386" y="1992"/>
                    </a:lnTo>
                    <a:lnTo>
                      <a:pt x="537" y="1910"/>
                    </a:lnTo>
                    <a:lnTo>
                      <a:pt x="700" y="1834"/>
                    </a:lnTo>
                    <a:lnTo>
                      <a:pt x="879" y="1763"/>
                    </a:lnTo>
                    <a:lnTo>
                      <a:pt x="1064" y="1693"/>
                    </a:lnTo>
                    <a:lnTo>
                      <a:pt x="1259" y="1622"/>
                    </a:lnTo>
                    <a:lnTo>
                      <a:pt x="1661" y="1497"/>
                    </a:lnTo>
                    <a:lnTo>
                      <a:pt x="1748" y="1470"/>
                    </a:lnTo>
                    <a:lnTo>
                      <a:pt x="1845" y="1442"/>
                    </a:lnTo>
                    <a:lnTo>
                      <a:pt x="2046" y="1393"/>
                    </a:lnTo>
                    <a:lnTo>
                      <a:pt x="2252" y="1339"/>
                    </a:lnTo>
                    <a:lnTo>
                      <a:pt x="2458" y="1285"/>
                    </a:lnTo>
                    <a:lnTo>
                      <a:pt x="2551" y="1263"/>
                    </a:lnTo>
                    <a:lnTo>
                      <a:pt x="2643" y="1236"/>
                    </a:lnTo>
                    <a:lnTo>
                      <a:pt x="2730" y="1214"/>
                    </a:lnTo>
                    <a:lnTo>
                      <a:pt x="2806" y="1192"/>
                    </a:lnTo>
                    <a:lnTo>
                      <a:pt x="2876" y="1170"/>
                    </a:lnTo>
                    <a:lnTo>
                      <a:pt x="2931" y="1149"/>
                    </a:lnTo>
                    <a:lnTo>
                      <a:pt x="2974" y="1132"/>
                    </a:lnTo>
                    <a:lnTo>
                      <a:pt x="3007" y="1116"/>
                    </a:lnTo>
                    <a:lnTo>
                      <a:pt x="3007" y="871"/>
                    </a:lnTo>
                    <a:lnTo>
                      <a:pt x="2941" y="860"/>
                    </a:lnTo>
                    <a:lnTo>
                      <a:pt x="2860" y="844"/>
                    </a:lnTo>
                    <a:lnTo>
                      <a:pt x="2773" y="827"/>
                    </a:lnTo>
                    <a:lnTo>
                      <a:pt x="2670" y="806"/>
                    </a:lnTo>
                    <a:lnTo>
                      <a:pt x="2567" y="784"/>
                    </a:lnTo>
                    <a:lnTo>
                      <a:pt x="2458" y="757"/>
                    </a:lnTo>
                    <a:lnTo>
                      <a:pt x="2241" y="702"/>
                    </a:lnTo>
                    <a:lnTo>
                      <a:pt x="2138" y="670"/>
                    </a:lnTo>
                    <a:lnTo>
                      <a:pt x="2046" y="637"/>
                    </a:lnTo>
                    <a:lnTo>
                      <a:pt x="1959" y="604"/>
                    </a:lnTo>
                    <a:lnTo>
                      <a:pt x="1883" y="566"/>
                    </a:lnTo>
                    <a:lnTo>
                      <a:pt x="1824" y="534"/>
                    </a:lnTo>
                    <a:lnTo>
                      <a:pt x="1780" y="495"/>
                    </a:lnTo>
                    <a:lnTo>
                      <a:pt x="1769" y="474"/>
                    </a:lnTo>
                    <a:lnTo>
                      <a:pt x="1758" y="457"/>
                    </a:lnTo>
                    <a:lnTo>
                      <a:pt x="1753" y="436"/>
                    </a:lnTo>
                    <a:lnTo>
                      <a:pt x="1758" y="419"/>
                    </a:lnTo>
                    <a:lnTo>
                      <a:pt x="1780" y="381"/>
                    </a:lnTo>
                    <a:lnTo>
                      <a:pt x="1813" y="343"/>
                    </a:lnTo>
                    <a:lnTo>
                      <a:pt x="1862" y="316"/>
                    </a:lnTo>
                    <a:lnTo>
                      <a:pt x="1921" y="289"/>
                    </a:lnTo>
                    <a:lnTo>
                      <a:pt x="1986" y="267"/>
                    </a:lnTo>
                    <a:lnTo>
                      <a:pt x="2062" y="245"/>
                    </a:lnTo>
                    <a:lnTo>
                      <a:pt x="2149" y="229"/>
                    </a:lnTo>
                    <a:lnTo>
                      <a:pt x="2236" y="213"/>
                    </a:lnTo>
                    <a:lnTo>
                      <a:pt x="2431" y="180"/>
                    </a:lnTo>
                    <a:lnTo>
                      <a:pt x="2627" y="158"/>
                    </a:lnTo>
                    <a:lnTo>
                      <a:pt x="2827" y="125"/>
                    </a:lnTo>
                    <a:lnTo>
                      <a:pt x="2920" y="109"/>
                    </a:lnTo>
                    <a:lnTo>
                      <a:pt x="3007" y="87"/>
                    </a:lnTo>
                    <a:lnTo>
                      <a:pt x="3007" y="0"/>
                    </a:lnTo>
                    <a:lnTo>
                      <a:pt x="2909" y="22"/>
                    </a:lnTo>
                    <a:lnTo>
                      <a:pt x="2795" y="44"/>
                    </a:lnTo>
                    <a:lnTo>
                      <a:pt x="2676" y="66"/>
                    </a:lnTo>
                    <a:lnTo>
                      <a:pt x="2551" y="82"/>
                    </a:lnTo>
                    <a:lnTo>
                      <a:pt x="2285" y="120"/>
                    </a:lnTo>
                    <a:lnTo>
                      <a:pt x="2155" y="136"/>
                    </a:lnTo>
                    <a:lnTo>
                      <a:pt x="2030" y="158"/>
                    </a:lnTo>
                    <a:lnTo>
                      <a:pt x="1905" y="174"/>
                    </a:lnTo>
                    <a:lnTo>
                      <a:pt x="1791" y="202"/>
                    </a:lnTo>
                    <a:lnTo>
                      <a:pt x="1688" y="229"/>
                    </a:lnTo>
                    <a:lnTo>
                      <a:pt x="1601" y="261"/>
                    </a:lnTo>
                    <a:lnTo>
                      <a:pt x="1525" y="300"/>
                    </a:lnTo>
                    <a:lnTo>
                      <a:pt x="1471" y="338"/>
                    </a:lnTo>
                    <a:lnTo>
                      <a:pt x="1455" y="359"/>
                    </a:lnTo>
                    <a:lnTo>
                      <a:pt x="1438" y="387"/>
                    </a:lnTo>
                    <a:lnTo>
                      <a:pt x="1427" y="414"/>
                    </a:lnTo>
                    <a:lnTo>
                      <a:pt x="1427" y="441"/>
                    </a:lnTo>
                    <a:lnTo>
                      <a:pt x="1427" y="441"/>
                    </a:lnTo>
                    <a:close/>
                  </a:path>
                </a:pathLst>
              </a:custGeom>
              <a:solidFill>
                <a:schemeClr val="bg1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3066" name="Freeform 10"/>
              <p:cNvSpPr>
                <a:spLocks/>
              </p:cNvSpPr>
              <p:nvPr/>
            </p:nvSpPr>
            <p:spPr bwMode="hidden">
              <a:xfrm>
                <a:off x="4501" y="2317"/>
                <a:ext cx="1248" cy="539"/>
              </a:xfrm>
              <a:custGeom>
                <a:avLst/>
                <a:gdLst/>
                <a:ahLst/>
                <a:cxnLst>
                  <a:cxn ang="0">
                    <a:pos x="0" y="332"/>
                  </a:cxn>
                  <a:cxn ang="0">
                    <a:pos x="0" y="360"/>
                  </a:cxn>
                  <a:cxn ang="0">
                    <a:pos x="5" y="387"/>
                  </a:cxn>
                  <a:cxn ang="0">
                    <a:pos x="27" y="414"/>
                  </a:cxn>
                  <a:cxn ang="0">
                    <a:pos x="54" y="436"/>
                  </a:cxn>
                  <a:cxn ang="0">
                    <a:pos x="92" y="463"/>
                  </a:cxn>
                  <a:cxn ang="0">
                    <a:pos x="141" y="490"/>
                  </a:cxn>
                  <a:cxn ang="0">
                    <a:pos x="195" y="512"/>
                  </a:cxn>
                  <a:cxn ang="0">
                    <a:pos x="255" y="539"/>
                  </a:cxn>
                  <a:cxn ang="0">
                    <a:pos x="212" y="517"/>
                  </a:cxn>
                  <a:cxn ang="0">
                    <a:pos x="179" y="490"/>
                  </a:cxn>
                  <a:cxn ang="0">
                    <a:pos x="157" y="468"/>
                  </a:cxn>
                  <a:cxn ang="0">
                    <a:pos x="141" y="447"/>
                  </a:cxn>
                  <a:cxn ang="0">
                    <a:pos x="136" y="425"/>
                  </a:cxn>
                  <a:cxn ang="0">
                    <a:pos x="136" y="403"/>
                  </a:cxn>
                  <a:cxn ang="0">
                    <a:pos x="141" y="381"/>
                  </a:cxn>
                  <a:cxn ang="0">
                    <a:pos x="157" y="365"/>
                  </a:cxn>
                  <a:cxn ang="0">
                    <a:pos x="179" y="343"/>
                  </a:cxn>
                  <a:cxn ang="0">
                    <a:pos x="201" y="327"/>
                  </a:cxn>
                  <a:cxn ang="0">
                    <a:pos x="266" y="294"/>
                  </a:cxn>
                  <a:cxn ang="0">
                    <a:pos x="353" y="262"/>
                  </a:cxn>
                  <a:cxn ang="0">
                    <a:pos x="445" y="234"/>
                  </a:cxn>
                  <a:cxn ang="0">
                    <a:pos x="554" y="213"/>
                  </a:cxn>
                  <a:cxn ang="0">
                    <a:pos x="662" y="191"/>
                  </a:cxn>
                  <a:cxn ang="0">
                    <a:pos x="890" y="153"/>
                  </a:cxn>
                  <a:cxn ang="0">
                    <a:pos x="993" y="136"/>
                  </a:cxn>
                  <a:cxn ang="0">
                    <a:pos x="1091" y="120"/>
                  </a:cxn>
                  <a:cxn ang="0">
                    <a:pos x="1178" y="115"/>
                  </a:cxn>
                  <a:cxn ang="0">
                    <a:pos x="1248" y="104"/>
                  </a:cxn>
                  <a:cxn ang="0">
                    <a:pos x="1248" y="0"/>
                  </a:cxn>
                  <a:cxn ang="0">
                    <a:pos x="1161" y="22"/>
                  </a:cxn>
                  <a:cxn ang="0">
                    <a:pos x="1069" y="38"/>
                  </a:cxn>
                  <a:cxn ang="0">
                    <a:pos x="874" y="71"/>
                  </a:cxn>
                  <a:cxn ang="0">
                    <a:pos x="673" y="93"/>
                  </a:cxn>
                  <a:cxn ang="0">
                    <a:pos x="483" y="126"/>
                  </a:cxn>
                  <a:cxn ang="0">
                    <a:pos x="391" y="142"/>
                  </a:cxn>
                  <a:cxn ang="0">
                    <a:pos x="309" y="158"/>
                  </a:cxn>
                  <a:cxn ang="0">
                    <a:pos x="228" y="180"/>
                  </a:cxn>
                  <a:cxn ang="0">
                    <a:pos x="163" y="202"/>
                  </a:cxn>
                  <a:cxn ang="0">
                    <a:pos x="103" y="229"/>
                  </a:cxn>
                  <a:cxn ang="0">
                    <a:pos x="54" y="256"/>
                  </a:cxn>
                  <a:cxn ang="0">
                    <a:pos x="22" y="294"/>
                  </a:cxn>
                  <a:cxn ang="0">
                    <a:pos x="0" y="332"/>
                  </a:cxn>
                  <a:cxn ang="0">
                    <a:pos x="0" y="332"/>
                  </a:cxn>
                </a:cxnLst>
                <a:rect l="0" t="0" r="r" b="b"/>
                <a:pathLst>
                  <a:path w="1248" h="539">
                    <a:moveTo>
                      <a:pt x="0" y="332"/>
                    </a:moveTo>
                    <a:lnTo>
                      <a:pt x="0" y="360"/>
                    </a:lnTo>
                    <a:lnTo>
                      <a:pt x="5" y="387"/>
                    </a:lnTo>
                    <a:lnTo>
                      <a:pt x="27" y="414"/>
                    </a:lnTo>
                    <a:lnTo>
                      <a:pt x="54" y="436"/>
                    </a:lnTo>
                    <a:lnTo>
                      <a:pt x="92" y="463"/>
                    </a:lnTo>
                    <a:lnTo>
                      <a:pt x="141" y="490"/>
                    </a:lnTo>
                    <a:lnTo>
                      <a:pt x="195" y="512"/>
                    </a:lnTo>
                    <a:lnTo>
                      <a:pt x="255" y="539"/>
                    </a:lnTo>
                    <a:lnTo>
                      <a:pt x="212" y="517"/>
                    </a:lnTo>
                    <a:lnTo>
                      <a:pt x="179" y="490"/>
                    </a:lnTo>
                    <a:lnTo>
                      <a:pt x="157" y="468"/>
                    </a:lnTo>
                    <a:lnTo>
                      <a:pt x="141" y="447"/>
                    </a:lnTo>
                    <a:lnTo>
                      <a:pt x="136" y="425"/>
                    </a:lnTo>
                    <a:lnTo>
                      <a:pt x="136" y="403"/>
                    </a:lnTo>
                    <a:lnTo>
                      <a:pt x="141" y="381"/>
                    </a:lnTo>
                    <a:lnTo>
                      <a:pt x="157" y="365"/>
                    </a:lnTo>
                    <a:lnTo>
                      <a:pt x="179" y="343"/>
                    </a:lnTo>
                    <a:lnTo>
                      <a:pt x="201" y="327"/>
                    </a:lnTo>
                    <a:lnTo>
                      <a:pt x="266" y="294"/>
                    </a:lnTo>
                    <a:lnTo>
                      <a:pt x="353" y="262"/>
                    </a:lnTo>
                    <a:lnTo>
                      <a:pt x="445" y="234"/>
                    </a:lnTo>
                    <a:lnTo>
                      <a:pt x="554" y="213"/>
                    </a:lnTo>
                    <a:lnTo>
                      <a:pt x="662" y="191"/>
                    </a:lnTo>
                    <a:lnTo>
                      <a:pt x="890" y="153"/>
                    </a:lnTo>
                    <a:lnTo>
                      <a:pt x="993" y="136"/>
                    </a:lnTo>
                    <a:lnTo>
                      <a:pt x="1091" y="120"/>
                    </a:lnTo>
                    <a:lnTo>
                      <a:pt x="1178" y="115"/>
                    </a:lnTo>
                    <a:lnTo>
                      <a:pt x="1248" y="104"/>
                    </a:lnTo>
                    <a:lnTo>
                      <a:pt x="1248" y="0"/>
                    </a:lnTo>
                    <a:lnTo>
                      <a:pt x="1161" y="22"/>
                    </a:lnTo>
                    <a:lnTo>
                      <a:pt x="1069" y="38"/>
                    </a:lnTo>
                    <a:lnTo>
                      <a:pt x="874" y="71"/>
                    </a:lnTo>
                    <a:lnTo>
                      <a:pt x="673" y="93"/>
                    </a:lnTo>
                    <a:lnTo>
                      <a:pt x="483" y="126"/>
                    </a:lnTo>
                    <a:lnTo>
                      <a:pt x="391" y="142"/>
                    </a:lnTo>
                    <a:lnTo>
                      <a:pt x="309" y="158"/>
                    </a:lnTo>
                    <a:lnTo>
                      <a:pt x="228" y="180"/>
                    </a:lnTo>
                    <a:lnTo>
                      <a:pt x="163" y="202"/>
                    </a:lnTo>
                    <a:lnTo>
                      <a:pt x="103" y="229"/>
                    </a:lnTo>
                    <a:lnTo>
                      <a:pt x="54" y="256"/>
                    </a:lnTo>
                    <a:lnTo>
                      <a:pt x="22" y="294"/>
                    </a:lnTo>
                    <a:lnTo>
                      <a:pt x="0" y="332"/>
                    </a:lnTo>
                    <a:lnTo>
                      <a:pt x="0" y="332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>
                      <a:gamma/>
                      <a:shade val="87843"/>
                      <a:invGamma/>
                    </a:schemeClr>
                  </a:gs>
                  <a:gs pos="100000">
                    <a:schemeClr val="bg1"/>
                  </a:gs>
                </a:gsLst>
                <a:lin ang="27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173067" name="Freeform 11"/>
            <p:cNvSpPr>
              <a:spLocks/>
            </p:cNvSpPr>
            <p:nvPr/>
          </p:nvSpPr>
          <p:spPr bwMode="hidden">
            <a:xfrm>
              <a:off x="3322" y="1341"/>
              <a:ext cx="1825" cy="1537"/>
            </a:xfrm>
            <a:custGeom>
              <a:avLst/>
              <a:gdLst/>
              <a:ahLst/>
              <a:cxnLst>
                <a:cxn ang="0">
                  <a:pos x="982" y="1061"/>
                </a:cxn>
                <a:cxn ang="0">
                  <a:pos x="1357" y="1012"/>
                </a:cxn>
                <a:cxn ang="0">
                  <a:pos x="1666" y="957"/>
                </a:cxn>
                <a:cxn ang="0">
                  <a:pos x="1916" y="897"/>
                </a:cxn>
                <a:cxn ang="0">
                  <a:pos x="2100" y="832"/>
                </a:cxn>
                <a:cxn ang="0">
                  <a:pos x="2220" y="756"/>
                </a:cxn>
                <a:cxn ang="0">
                  <a:pos x="2285" y="669"/>
                </a:cxn>
                <a:cxn ang="0">
                  <a:pos x="2290" y="560"/>
                </a:cxn>
                <a:cxn ang="0">
                  <a:pos x="2241" y="457"/>
                </a:cxn>
                <a:cxn ang="0">
                  <a:pos x="2144" y="364"/>
                </a:cxn>
                <a:cxn ang="0">
                  <a:pos x="2008" y="277"/>
                </a:cxn>
                <a:cxn ang="0">
                  <a:pos x="1769" y="157"/>
                </a:cxn>
                <a:cxn ang="0">
                  <a:pos x="1612" y="92"/>
                </a:cxn>
                <a:cxn ang="0">
                  <a:pos x="1476" y="43"/>
                </a:cxn>
                <a:cxn ang="0">
                  <a:pos x="1384" y="10"/>
                </a:cxn>
                <a:cxn ang="0">
                  <a:pos x="1346" y="0"/>
                </a:cxn>
                <a:cxn ang="0">
                  <a:pos x="1655" y="119"/>
                </a:cxn>
                <a:cxn ang="0">
                  <a:pos x="1948" y="255"/>
                </a:cxn>
                <a:cxn ang="0">
                  <a:pos x="2068" y="326"/>
                </a:cxn>
                <a:cxn ang="0">
                  <a:pos x="2171" y="402"/>
                </a:cxn>
                <a:cxn ang="0">
                  <a:pos x="2236" y="478"/>
                </a:cxn>
                <a:cxn ang="0">
                  <a:pos x="2263" y="560"/>
                </a:cxn>
                <a:cxn ang="0">
                  <a:pos x="2241" y="636"/>
                </a:cxn>
                <a:cxn ang="0">
                  <a:pos x="2171" y="702"/>
                </a:cxn>
                <a:cxn ang="0">
                  <a:pos x="2062" y="756"/>
                </a:cxn>
                <a:cxn ang="0">
                  <a:pos x="1921" y="800"/>
                </a:cxn>
                <a:cxn ang="0">
                  <a:pos x="1748" y="843"/>
                </a:cxn>
                <a:cxn ang="0">
                  <a:pos x="1351" y="908"/>
                </a:cxn>
                <a:cxn ang="0">
                  <a:pos x="923" y="968"/>
                </a:cxn>
                <a:cxn ang="0">
                  <a:pos x="521" y="1028"/>
                </a:cxn>
                <a:cxn ang="0">
                  <a:pos x="353" y="1066"/>
                </a:cxn>
                <a:cxn ang="0">
                  <a:pos x="206" y="1104"/>
                </a:cxn>
                <a:cxn ang="0">
                  <a:pos x="92" y="1148"/>
                </a:cxn>
                <a:cxn ang="0">
                  <a:pos x="22" y="1202"/>
                </a:cxn>
                <a:cxn ang="0">
                  <a:pos x="0" y="1262"/>
                </a:cxn>
                <a:cxn ang="0">
                  <a:pos x="27" y="1327"/>
                </a:cxn>
                <a:cxn ang="0">
                  <a:pos x="98" y="1382"/>
                </a:cxn>
                <a:cxn ang="0">
                  <a:pos x="196" y="1425"/>
                </a:cxn>
                <a:cxn ang="0">
                  <a:pos x="326" y="1469"/>
                </a:cxn>
                <a:cxn ang="0">
                  <a:pos x="217" y="1414"/>
                </a:cxn>
                <a:cxn ang="0">
                  <a:pos x="147" y="1360"/>
                </a:cxn>
                <a:cxn ang="0">
                  <a:pos x="120" y="1306"/>
                </a:cxn>
                <a:cxn ang="0">
                  <a:pos x="141" y="1257"/>
                </a:cxn>
                <a:cxn ang="0">
                  <a:pos x="212" y="1208"/>
                </a:cxn>
                <a:cxn ang="0">
                  <a:pos x="342" y="1164"/>
                </a:cxn>
                <a:cxn ang="0">
                  <a:pos x="527" y="1121"/>
                </a:cxn>
                <a:cxn ang="0">
                  <a:pos x="771" y="1088"/>
                </a:cxn>
              </a:cxnLst>
              <a:rect l="0" t="0" r="r" b="b"/>
              <a:pathLst>
                <a:path w="2296" h="1469">
                  <a:moveTo>
                    <a:pt x="771" y="1088"/>
                  </a:moveTo>
                  <a:lnTo>
                    <a:pt x="982" y="1061"/>
                  </a:lnTo>
                  <a:lnTo>
                    <a:pt x="1178" y="1034"/>
                  </a:lnTo>
                  <a:lnTo>
                    <a:pt x="1357" y="1012"/>
                  </a:lnTo>
                  <a:lnTo>
                    <a:pt x="1520" y="985"/>
                  </a:lnTo>
                  <a:lnTo>
                    <a:pt x="1666" y="957"/>
                  </a:lnTo>
                  <a:lnTo>
                    <a:pt x="1796" y="930"/>
                  </a:lnTo>
                  <a:lnTo>
                    <a:pt x="1916" y="897"/>
                  </a:lnTo>
                  <a:lnTo>
                    <a:pt x="2013" y="870"/>
                  </a:lnTo>
                  <a:lnTo>
                    <a:pt x="2100" y="832"/>
                  </a:lnTo>
                  <a:lnTo>
                    <a:pt x="2171" y="800"/>
                  </a:lnTo>
                  <a:lnTo>
                    <a:pt x="2220" y="756"/>
                  </a:lnTo>
                  <a:lnTo>
                    <a:pt x="2263" y="712"/>
                  </a:lnTo>
                  <a:lnTo>
                    <a:pt x="2285" y="669"/>
                  </a:lnTo>
                  <a:lnTo>
                    <a:pt x="2296" y="614"/>
                  </a:lnTo>
                  <a:lnTo>
                    <a:pt x="2290" y="560"/>
                  </a:lnTo>
                  <a:lnTo>
                    <a:pt x="2269" y="500"/>
                  </a:lnTo>
                  <a:lnTo>
                    <a:pt x="2241" y="457"/>
                  </a:lnTo>
                  <a:lnTo>
                    <a:pt x="2198" y="408"/>
                  </a:lnTo>
                  <a:lnTo>
                    <a:pt x="2144" y="364"/>
                  </a:lnTo>
                  <a:lnTo>
                    <a:pt x="2079" y="321"/>
                  </a:lnTo>
                  <a:lnTo>
                    <a:pt x="2008" y="277"/>
                  </a:lnTo>
                  <a:lnTo>
                    <a:pt x="1927" y="234"/>
                  </a:lnTo>
                  <a:lnTo>
                    <a:pt x="1769" y="157"/>
                  </a:lnTo>
                  <a:lnTo>
                    <a:pt x="1688" y="125"/>
                  </a:lnTo>
                  <a:lnTo>
                    <a:pt x="1612" y="92"/>
                  </a:lnTo>
                  <a:lnTo>
                    <a:pt x="1536" y="65"/>
                  </a:lnTo>
                  <a:lnTo>
                    <a:pt x="1476" y="43"/>
                  </a:lnTo>
                  <a:lnTo>
                    <a:pt x="1422" y="27"/>
                  </a:lnTo>
                  <a:lnTo>
                    <a:pt x="1384" y="10"/>
                  </a:lnTo>
                  <a:lnTo>
                    <a:pt x="1357" y="5"/>
                  </a:lnTo>
                  <a:lnTo>
                    <a:pt x="1346" y="0"/>
                  </a:lnTo>
                  <a:lnTo>
                    <a:pt x="1498" y="54"/>
                  </a:lnTo>
                  <a:lnTo>
                    <a:pt x="1655" y="119"/>
                  </a:lnTo>
                  <a:lnTo>
                    <a:pt x="1807" y="185"/>
                  </a:lnTo>
                  <a:lnTo>
                    <a:pt x="1948" y="255"/>
                  </a:lnTo>
                  <a:lnTo>
                    <a:pt x="2013" y="288"/>
                  </a:lnTo>
                  <a:lnTo>
                    <a:pt x="2068" y="326"/>
                  </a:lnTo>
                  <a:lnTo>
                    <a:pt x="2122" y="364"/>
                  </a:lnTo>
                  <a:lnTo>
                    <a:pt x="2171" y="402"/>
                  </a:lnTo>
                  <a:lnTo>
                    <a:pt x="2209" y="440"/>
                  </a:lnTo>
                  <a:lnTo>
                    <a:pt x="2236" y="478"/>
                  </a:lnTo>
                  <a:lnTo>
                    <a:pt x="2252" y="522"/>
                  </a:lnTo>
                  <a:lnTo>
                    <a:pt x="2263" y="560"/>
                  </a:lnTo>
                  <a:lnTo>
                    <a:pt x="2258" y="598"/>
                  </a:lnTo>
                  <a:lnTo>
                    <a:pt x="2241" y="636"/>
                  </a:lnTo>
                  <a:lnTo>
                    <a:pt x="2214" y="669"/>
                  </a:lnTo>
                  <a:lnTo>
                    <a:pt x="2171" y="702"/>
                  </a:lnTo>
                  <a:lnTo>
                    <a:pt x="2122" y="729"/>
                  </a:lnTo>
                  <a:lnTo>
                    <a:pt x="2062" y="756"/>
                  </a:lnTo>
                  <a:lnTo>
                    <a:pt x="1997" y="778"/>
                  </a:lnTo>
                  <a:lnTo>
                    <a:pt x="1921" y="800"/>
                  </a:lnTo>
                  <a:lnTo>
                    <a:pt x="1834" y="821"/>
                  </a:lnTo>
                  <a:lnTo>
                    <a:pt x="1748" y="843"/>
                  </a:lnTo>
                  <a:lnTo>
                    <a:pt x="1552" y="876"/>
                  </a:lnTo>
                  <a:lnTo>
                    <a:pt x="1351" y="908"/>
                  </a:lnTo>
                  <a:lnTo>
                    <a:pt x="1134" y="941"/>
                  </a:lnTo>
                  <a:lnTo>
                    <a:pt x="923" y="968"/>
                  </a:lnTo>
                  <a:lnTo>
                    <a:pt x="716" y="995"/>
                  </a:lnTo>
                  <a:lnTo>
                    <a:pt x="521" y="1028"/>
                  </a:lnTo>
                  <a:lnTo>
                    <a:pt x="434" y="1044"/>
                  </a:lnTo>
                  <a:lnTo>
                    <a:pt x="353" y="1066"/>
                  </a:lnTo>
                  <a:lnTo>
                    <a:pt x="277" y="1082"/>
                  </a:lnTo>
                  <a:lnTo>
                    <a:pt x="206" y="1104"/>
                  </a:lnTo>
                  <a:lnTo>
                    <a:pt x="147" y="1126"/>
                  </a:lnTo>
                  <a:lnTo>
                    <a:pt x="92" y="1148"/>
                  </a:lnTo>
                  <a:lnTo>
                    <a:pt x="54" y="1175"/>
                  </a:lnTo>
                  <a:lnTo>
                    <a:pt x="22" y="1202"/>
                  </a:lnTo>
                  <a:lnTo>
                    <a:pt x="6" y="1229"/>
                  </a:lnTo>
                  <a:lnTo>
                    <a:pt x="0" y="1262"/>
                  </a:lnTo>
                  <a:lnTo>
                    <a:pt x="11" y="1295"/>
                  </a:lnTo>
                  <a:lnTo>
                    <a:pt x="27" y="1327"/>
                  </a:lnTo>
                  <a:lnTo>
                    <a:pt x="54" y="1355"/>
                  </a:lnTo>
                  <a:lnTo>
                    <a:pt x="98" y="1382"/>
                  </a:lnTo>
                  <a:lnTo>
                    <a:pt x="141" y="1404"/>
                  </a:lnTo>
                  <a:lnTo>
                    <a:pt x="196" y="1425"/>
                  </a:lnTo>
                  <a:lnTo>
                    <a:pt x="261" y="1447"/>
                  </a:lnTo>
                  <a:lnTo>
                    <a:pt x="326" y="1469"/>
                  </a:lnTo>
                  <a:lnTo>
                    <a:pt x="266" y="1442"/>
                  </a:lnTo>
                  <a:lnTo>
                    <a:pt x="217" y="1414"/>
                  </a:lnTo>
                  <a:lnTo>
                    <a:pt x="174" y="1387"/>
                  </a:lnTo>
                  <a:lnTo>
                    <a:pt x="147" y="1360"/>
                  </a:lnTo>
                  <a:lnTo>
                    <a:pt x="125" y="1333"/>
                  </a:lnTo>
                  <a:lnTo>
                    <a:pt x="120" y="1306"/>
                  </a:lnTo>
                  <a:lnTo>
                    <a:pt x="125" y="1278"/>
                  </a:lnTo>
                  <a:lnTo>
                    <a:pt x="141" y="1257"/>
                  </a:lnTo>
                  <a:lnTo>
                    <a:pt x="174" y="1229"/>
                  </a:lnTo>
                  <a:lnTo>
                    <a:pt x="212" y="1208"/>
                  </a:lnTo>
                  <a:lnTo>
                    <a:pt x="272" y="1186"/>
                  </a:lnTo>
                  <a:lnTo>
                    <a:pt x="342" y="1164"/>
                  </a:lnTo>
                  <a:lnTo>
                    <a:pt x="423" y="1142"/>
                  </a:lnTo>
                  <a:lnTo>
                    <a:pt x="527" y="1121"/>
                  </a:lnTo>
                  <a:lnTo>
                    <a:pt x="641" y="1104"/>
                  </a:lnTo>
                  <a:lnTo>
                    <a:pt x="771" y="1088"/>
                  </a:lnTo>
                  <a:lnTo>
                    <a:pt x="771" y="1088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84706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3068" name="Freeform 12"/>
            <p:cNvSpPr>
              <a:spLocks/>
            </p:cNvSpPr>
            <p:nvPr/>
          </p:nvSpPr>
          <p:spPr bwMode="hidden">
            <a:xfrm>
              <a:off x="0" y="0"/>
              <a:ext cx="5758" cy="1776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1906"/>
                </a:cxn>
                <a:cxn ang="0">
                  <a:pos x="5740" y="1906"/>
                </a:cxn>
                <a:cxn ang="0">
                  <a:pos x="574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5740" h="1906">
                  <a:moveTo>
                    <a:pt x="0" y="0"/>
                  </a:moveTo>
                  <a:lnTo>
                    <a:pt x="0" y="1906"/>
                  </a:lnTo>
                  <a:lnTo>
                    <a:pt x="5740" y="1906"/>
                  </a:lnTo>
                  <a:lnTo>
                    <a:pt x="5740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73069" name="Rectangle 13"/>
          <p:cNvSpPr>
            <a:spLocks noGrp="1" noRot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73070" name="Rectangle 14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defRPr sz="1200"/>
            </a:lvl1pPr>
          </a:lstStyle>
          <a:p>
            <a:endParaRPr lang="en-US"/>
          </a:p>
        </p:txBody>
      </p:sp>
      <p:sp>
        <p:nvSpPr>
          <p:cNvPr id="173071" name="Rectangle 15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</p:sldLayoutIdLst>
  <p:timing>
    <p:tnLst>
      <p:par>
        <p:cTn id="1" dur="indefinite" restart="never" nodeType="tmRoot"/>
      </p:par>
    </p:tnLst>
  </p:timing>
  <p:hf hdr="0" ft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Garamond" pitchFamily="18" charset="0"/>
          <a:cs typeface="Arial" pitchFamily="34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Garamond" pitchFamily="18" charset="0"/>
          <a:cs typeface="Arial" pitchFamily="34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Garamond" pitchFamily="18" charset="0"/>
          <a:cs typeface="Arial" pitchFamily="34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Garamond" pitchFamily="18" charset="0"/>
          <a:cs typeface="Arial" pitchFamily="34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Garamond" pitchFamily="18" charset="0"/>
          <a:cs typeface="Arial" pitchFamily="34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Garamond" pitchFamily="18" charset="0"/>
          <a:cs typeface="Arial" pitchFamily="34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Garamond" pitchFamily="18" charset="0"/>
          <a:cs typeface="Arial" pitchFamily="34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Garamond" pitchFamily="18" charset="0"/>
          <a:cs typeface="Arial" pitchFamily="34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chemeClr val="hlink"/>
        </a:buClr>
        <a:buSzPct val="70000"/>
        <a:buFont typeface="Wingdings" pitchFamily="2" charset="2"/>
        <a:buChar char="n"/>
        <a:defRPr sz="3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n"/>
        <a:defRPr sz="28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cs typeface="+mn-cs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SzPct val="70000"/>
        <a:buFont typeface="Wingdings" pitchFamily="2" charset="2"/>
        <a:buChar char="n"/>
        <a:defRPr sz="24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cs typeface="+mn-cs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cs typeface="+mn-cs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lr>
          <a:schemeClr val="hlink"/>
        </a:buClr>
        <a:buSzPct val="70000"/>
        <a:buFont typeface="Wingdings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cs typeface="+mn-cs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lr>
          <a:schemeClr val="hlink"/>
        </a:buClr>
        <a:buSzPct val="70000"/>
        <a:buFont typeface="Wingdings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cs typeface="+mn-cs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lr>
          <a:schemeClr val="hlink"/>
        </a:buClr>
        <a:buSzPct val="70000"/>
        <a:buFont typeface="Wingdings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cs typeface="+mn-cs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lr>
          <a:schemeClr val="hlink"/>
        </a:buClr>
        <a:buSzPct val="70000"/>
        <a:buFont typeface="Wingdings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cs typeface="+mn-cs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lr>
          <a:schemeClr val="hlink"/>
        </a:buClr>
        <a:buSzPct val="70000"/>
        <a:buFont typeface="Wingdings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4" Type="http://schemas.openxmlformats.org/officeDocument/2006/relationships/oleObject" Target="../embeddings/oleObject1.bin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2.vml"/><Relationship Id="rId4" Type="http://schemas.openxmlformats.org/officeDocument/2006/relationships/oleObject" Target="../embeddings/Microsoft_Office_Excel_97-2003_Worksheet1.xls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3.vml"/><Relationship Id="rId4" Type="http://schemas.openxmlformats.org/officeDocument/2006/relationships/oleObject" Target="../embeddings/Microsoft_Office_Excel_97-2003_Worksheet2.xls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4" Type="http://schemas.openxmlformats.org/officeDocument/2006/relationships/oleObject" Target="../embeddings/Microsoft_Office_Excel_97-2003_Worksheet3.xls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4.xml"/><Relationship Id="rId1" Type="http://schemas.openxmlformats.org/officeDocument/2006/relationships/vmlDrawing" Target="../drawings/vmlDrawing5.vml"/><Relationship Id="rId4" Type="http://schemas.openxmlformats.org/officeDocument/2006/relationships/oleObject" Target="../embeddings/Microsoft_Office_Excel_97-2003_Worksheet4.xls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4.xml"/><Relationship Id="rId1" Type="http://schemas.openxmlformats.org/officeDocument/2006/relationships/vmlDrawing" Target="../drawings/vmlDrawing6.vml"/><Relationship Id="rId4" Type="http://schemas.openxmlformats.org/officeDocument/2006/relationships/oleObject" Target="../embeddings/Microsoft_Office_Excel_97-2003_Worksheet5.xls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hyperlink" Target="http://1.bp.blogspot.com/-r_0ZB3Vxr_M/TmaGJ23sOCI/AAAAAAAAAMs/8kWFRUSadCU/s1600/Circular_flow_of_goods_income.png" TargetMode="Externa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sz="quarter"/>
          </p:nvPr>
        </p:nvSpPr>
        <p:spPr/>
        <p:txBody>
          <a:bodyPr/>
          <a:lstStyle/>
          <a:p>
            <a:pPr algn="ctr"/>
            <a:r>
              <a:rPr lang="en-US" sz="6000" b="0" u="sng" dirty="0" smtClean="0">
                <a:effectLst/>
                <a:latin typeface="Constantia" pitchFamily="18" charset="0"/>
              </a:rPr>
              <a:t>NATIONAL  INCOME</a:t>
            </a:r>
            <a:endParaRPr lang="en-US" sz="6000" b="0" u="sng" dirty="0">
              <a:effectLst/>
              <a:latin typeface="Constantia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sz="quarter" idx="1"/>
          </p:nvPr>
        </p:nvSpPr>
        <p:spPr/>
        <p:txBody>
          <a:bodyPr/>
          <a:lstStyle/>
          <a:p>
            <a:pPr algn="ctr"/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sz="4000" u="sng" dirty="0"/>
              <a:t>National </a:t>
            </a:r>
            <a:r>
              <a:rPr lang="en-US" sz="4000" u="sng" dirty="0" smtClean="0"/>
              <a:t>Income </a:t>
            </a:r>
            <a:r>
              <a:rPr lang="en-US" sz="4000" u="sng" dirty="0"/>
              <a:t>A</a:t>
            </a:r>
            <a:r>
              <a:rPr lang="en-US" sz="4000" u="sng" dirty="0" smtClean="0"/>
              <a:t>ccounting </a:t>
            </a:r>
            <a:r>
              <a:rPr lang="en-US" sz="4000" u="sng" dirty="0"/>
              <a:t>(NIA)</a:t>
            </a:r>
            <a:r>
              <a:rPr lang="en-US" u="sng" dirty="0"/>
              <a:t> 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>
                <a:effectLst/>
              </a:rPr>
              <a:t>NIA is </a:t>
            </a:r>
            <a:r>
              <a:rPr lang="en-US" dirty="0">
                <a:effectLst/>
              </a:rPr>
              <a:t>the measurement of indicators of national output/income; .e.g. </a:t>
            </a:r>
            <a:r>
              <a:rPr lang="en-US" dirty="0" smtClean="0">
                <a:effectLst/>
              </a:rPr>
              <a:t>GDP.</a:t>
            </a:r>
          </a:p>
          <a:p>
            <a:pPr lvl="0"/>
            <a:r>
              <a:rPr lang="en-US" dirty="0" smtClean="0">
                <a:effectLst/>
              </a:rPr>
              <a:t>GDP (Gross Domestic Product) is one of the most important concepts in economics. It measures the total market value of output of a nation. It is the total money value of goods and services produced in an economy during a given period of time, usually a year.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A555D1-1D33-4A4E-8C25-538D3A12DE2D}" type="slidenum">
              <a:rPr lang="en-US" smtClean="0"/>
              <a:pPr/>
              <a:t>2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2000"/>
                                        <p:tgtEl>
                                          <p:spTgt spid="5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0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800" decel="100000"/>
                                        <p:tgtEl>
                                          <p:spTgt spid="51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800" decel="100000" fill="hold"/>
                                        <p:tgtEl>
                                          <p:spTgt spid="51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800" decel="100000" fill="hold"/>
                                        <p:tgtEl>
                                          <p:spTgt spid="51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800" decel="100000" fill="hold"/>
                                        <p:tgtEl>
                                          <p:spTgt spid="51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0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800" decel="100000"/>
                                        <p:tgtEl>
                                          <p:spTgt spid="51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800" decel="100000" fill="hold"/>
                                        <p:tgtEl>
                                          <p:spTgt spid="51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800" decel="100000" fill="hold"/>
                                        <p:tgtEl>
                                          <p:spTgt spid="51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800" decel="100000" fill="hold"/>
                                        <p:tgtEl>
                                          <p:spTgt spid="51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2" grpId="0"/>
      <p:bldP spid="5123" grpI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u="sng" dirty="0"/>
              <a:t>Definition of </a:t>
            </a:r>
            <a:r>
              <a:rPr lang="en-US" u="sng" dirty="0" smtClean="0"/>
              <a:t>GDP:</a:t>
            </a:r>
            <a:endParaRPr lang="en-US" u="sng" dirty="0"/>
          </a:p>
        </p:txBody>
      </p:sp>
      <p:sp>
        <p:nvSpPr>
          <p:cNvPr id="25603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pPr algn="just">
              <a:spcBef>
                <a:spcPts val="600"/>
              </a:spcBef>
            </a:pPr>
            <a:r>
              <a:rPr lang="en-US" sz="2800" dirty="0"/>
              <a:t>The market value of good </a:t>
            </a:r>
            <a:r>
              <a:rPr lang="en-US" sz="2800" dirty="0" err="1"/>
              <a:t>i</a:t>
            </a:r>
            <a:r>
              <a:rPr lang="en-US" sz="2800" dirty="0"/>
              <a:t> (V</a:t>
            </a:r>
            <a:r>
              <a:rPr lang="en-US" sz="2800" baseline="-25000" dirty="0"/>
              <a:t>i</a:t>
            </a:r>
            <a:r>
              <a:rPr lang="en-US" sz="2800" dirty="0"/>
              <a:t>) is equal to </a:t>
            </a:r>
            <a:r>
              <a:rPr lang="en-US" sz="2800" dirty="0" smtClean="0"/>
              <a:t>P</a:t>
            </a:r>
            <a:r>
              <a:rPr lang="en-US" sz="2800" baseline="-25000" dirty="0" smtClean="0"/>
              <a:t>i </a:t>
            </a:r>
            <a:r>
              <a:rPr lang="en-US" sz="2800" dirty="0" smtClean="0">
                <a:sym typeface="Symbol" pitchFamily="18" charset="2"/>
              </a:rPr>
              <a:t>. </a:t>
            </a:r>
            <a:r>
              <a:rPr lang="en-US" sz="2800" dirty="0" err="1" smtClean="0"/>
              <a:t>Q</a:t>
            </a:r>
            <a:r>
              <a:rPr lang="en-US" sz="2800" baseline="-25000" dirty="0" err="1" smtClean="0"/>
              <a:t>i</a:t>
            </a:r>
            <a:endParaRPr lang="en-US" sz="2800" dirty="0"/>
          </a:p>
          <a:p>
            <a:pPr algn="just">
              <a:spcBef>
                <a:spcPts val="600"/>
              </a:spcBef>
            </a:pPr>
            <a:r>
              <a:rPr lang="en-US" sz="2800" dirty="0"/>
              <a:t>GDP = sum of the market values of all </a:t>
            </a:r>
            <a:r>
              <a:rPr lang="en-US" sz="2800" b="1" dirty="0">
                <a:solidFill>
                  <a:srgbClr val="FFFF00"/>
                </a:solidFill>
              </a:rPr>
              <a:t>final</a:t>
            </a:r>
            <a:r>
              <a:rPr lang="en-US" sz="2800" dirty="0">
                <a:solidFill>
                  <a:srgbClr val="FFC000"/>
                </a:solidFill>
              </a:rPr>
              <a:t> </a:t>
            </a:r>
            <a:r>
              <a:rPr lang="en-US" sz="2800" dirty="0"/>
              <a:t>goods</a:t>
            </a:r>
            <a:r>
              <a:rPr lang="en-US" sz="2800" dirty="0">
                <a:solidFill>
                  <a:srgbClr val="FFC000"/>
                </a:solidFill>
              </a:rPr>
              <a:t> </a:t>
            </a:r>
            <a:r>
              <a:rPr lang="en-US" sz="2800" dirty="0"/>
              <a:t>and services produced within the year</a:t>
            </a:r>
            <a:r>
              <a:rPr lang="en-US" sz="2800" dirty="0" smtClean="0"/>
              <a:t>.</a:t>
            </a:r>
          </a:p>
          <a:p>
            <a:pPr algn="just">
              <a:spcBef>
                <a:spcPts val="600"/>
              </a:spcBef>
            </a:pPr>
            <a:r>
              <a:rPr lang="en-US" sz="2800" dirty="0" smtClean="0"/>
              <a:t>GDP = P</a:t>
            </a:r>
            <a:r>
              <a:rPr lang="en-US" sz="2800" baseline="-25000" dirty="0" smtClean="0"/>
              <a:t>1</a:t>
            </a:r>
            <a:r>
              <a:rPr lang="en-US" sz="2800" dirty="0" smtClean="0"/>
              <a:t> x Q</a:t>
            </a:r>
            <a:r>
              <a:rPr lang="en-US" sz="2800" baseline="-25000" dirty="0" smtClean="0"/>
              <a:t>1</a:t>
            </a:r>
            <a:r>
              <a:rPr lang="en-US" sz="2800" dirty="0" smtClean="0"/>
              <a:t> + P</a:t>
            </a:r>
            <a:r>
              <a:rPr lang="en-US" sz="2800" baseline="-25000" dirty="0" smtClean="0"/>
              <a:t>2</a:t>
            </a:r>
            <a:r>
              <a:rPr lang="en-US" sz="2800" dirty="0" smtClean="0"/>
              <a:t> x Q</a:t>
            </a:r>
            <a:r>
              <a:rPr lang="en-US" sz="2800" baseline="-25000" dirty="0" smtClean="0"/>
              <a:t>2</a:t>
            </a:r>
            <a:r>
              <a:rPr lang="en-US" sz="2800" dirty="0" smtClean="0"/>
              <a:t> + P</a:t>
            </a:r>
            <a:r>
              <a:rPr lang="en-US" sz="2800" baseline="-25000" dirty="0" smtClean="0"/>
              <a:t>3</a:t>
            </a:r>
            <a:r>
              <a:rPr lang="en-US" sz="2800" dirty="0" smtClean="0"/>
              <a:t> x Q</a:t>
            </a:r>
            <a:r>
              <a:rPr lang="en-US" sz="2800" baseline="-25000" dirty="0" smtClean="0"/>
              <a:t>3</a:t>
            </a:r>
            <a:r>
              <a:rPr lang="en-US" sz="2800" dirty="0" smtClean="0"/>
              <a:t> + ….. + </a:t>
            </a:r>
            <a:r>
              <a:rPr lang="en-US" sz="2800" dirty="0" err="1" smtClean="0"/>
              <a:t>P</a:t>
            </a:r>
            <a:r>
              <a:rPr lang="en-US" sz="2800" baseline="-25000" dirty="0" err="1" smtClean="0"/>
              <a:t>n</a:t>
            </a:r>
            <a:r>
              <a:rPr lang="en-US" sz="2800" dirty="0" smtClean="0"/>
              <a:t> x </a:t>
            </a:r>
            <a:r>
              <a:rPr lang="en-US" sz="2800" dirty="0" err="1" smtClean="0"/>
              <a:t>Q</a:t>
            </a:r>
            <a:r>
              <a:rPr lang="en-US" sz="2800" baseline="-25000" dirty="0" err="1" smtClean="0"/>
              <a:t>n</a:t>
            </a:r>
            <a:r>
              <a:rPr lang="en-US" sz="2800" dirty="0" smtClean="0"/>
              <a:t> </a:t>
            </a:r>
            <a:endParaRPr lang="en-US" sz="2800" dirty="0"/>
          </a:p>
          <a:p>
            <a:pPr algn="just">
              <a:spcBef>
                <a:spcPts val="600"/>
              </a:spcBef>
            </a:pPr>
            <a:endParaRPr lang="en-US" b="1" dirty="0"/>
          </a:p>
          <a:p>
            <a:pPr>
              <a:buFont typeface="Wingdings" pitchFamily="2" charset="2"/>
              <a:buNone/>
            </a:pPr>
            <a:endParaRPr lang="en-US" dirty="0"/>
          </a:p>
        </p:txBody>
      </p:sp>
      <p:sp>
        <p:nvSpPr>
          <p:cNvPr id="25605" name="Rectangle 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25604" name="Object 4"/>
          <p:cNvGraphicFramePr>
            <a:graphicFrameLocks noChangeAspect="1"/>
          </p:cNvGraphicFramePr>
          <p:nvPr/>
        </p:nvGraphicFramePr>
        <p:xfrm>
          <a:off x="1981200" y="4343400"/>
          <a:ext cx="4424363" cy="1143000"/>
        </p:xfrm>
        <a:graphic>
          <a:graphicData uri="http://schemas.openxmlformats.org/presentationml/2006/ole">
            <p:oleObj spid="_x0000_s38914" name="Equation" r:id="rId4" imgW="1701720" imgH="431640" progId="">
              <p:embed/>
            </p:oleObj>
          </a:graphicData>
        </a:graphic>
      </p:graphicFrame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A555D1-1D33-4A4E-8C25-538D3A12DE2D}" type="slidenum">
              <a:rPr lang="en-US" smtClean="0"/>
              <a:pPr/>
              <a:t>3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2000"/>
                                        <p:tgtEl>
                                          <p:spTgt spid="256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800" decel="100000"/>
                                        <p:tgtEl>
                                          <p:spTgt spid="256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800" decel="100000" fill="hold"/>
                                        <p:tgtEl>
                                          <p:spTgt spid="256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800" decel="100000" fill="hold"/>
                                        <p:tgtEl>
                                          <p:spTgt spid="256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800" decel="100000" fill="hold"/>
                                        <p:tgtEl>
                                          <p:spTgt spid="256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800" decel="100000"/>
                                        <p:tgtEl>
                                          <p:spTgt spid="256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800" decel="100000" fill="hold"/>
                                        <p:tgtEl>
                                          <p:spTgt spid="256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800" decel="100000" fill="hold"/>
                                        <p:tgtEl>
                                          <p:spTgt spid="256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800" decel="100000" fill="hold"/>
                                        <p:tgtEl>
                                          <p:spTgt spid="256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800" decel="100000"/>
                                        <p:tgtEl>
                                          <p:spTgt spid="256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800" decel="100000" fill="hold"/>
                                        <p:tgtEl>
                                          <p:spTgt spid="256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800" decel="100000" fill="hold"/>
                                        <p:tgtEl>
                                          <p:spTgt spid="256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800" decel="100000" fill="hold"/>
                                        <p:tgtEl>
                                          <p:spTgt spid="256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800" decel="100000"/>
                                        <p:tgtEl>
                                          <p:spTgt spid="2560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800" decel="100000" fill="hold"/>
                                        <p:tgtEl>
                                          <p:spTgt spid="2560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800" decel="100000" fill="hold"/>
                                        <p:tgtEl>
                                          <p:spTgt spid="256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800" decel="100000" fill="hold"/>
                                        <p:tgtEl>
                                          <p:spTgt spid="256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256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256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602" grpId="0"/>
      <p:bldP spid="2560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b="0" dirty="0" smtClean="0">
                <a:effectLst/>
              </a:rPr>
              <a:t>(Cont.)</a:t>
            </a:r>
            <a:endParaRPr lang="en-US" b="0" dirty="0">
              <a:effectLst/>
            </a:endParaRPr>
          </a:p>
        </p:txBody>
      </p:sp>
      <p:sp>
        <p:nvSpPr>
          <p:cNvPr id="26627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>
                <a:effectLst/>
              </a:rPr>
              <a:t>Final </a:t>
            </a:r>
            <a:r>
              <a:rPr lang="en-US" dirty="0" smtClean="0">
                <a:effectLst/>
              </a:rPr>
              <a:t>goods and services </a:t>
            </a:r>
            <a:r>
              <a:rPr lang="en-US" dirty="0">
                <a:effectLst/>
              </a:rPr>
              <a:t>- goods and services that are </a:t>
            </a:r>
            <a:r>
              <a:rPr lang="en-US" i="1" u="sng" dirty="0">
                <a:effectLst/>
              </a:rPr>
              <a:t>not</a:t>
            </a:r>
            <a:r>
              <a:rPr lang="en-US" dirty="0">
                <a:effectLst/>
              </a:rPr>
              <a:t> purchased for the purpose of producing other goods and services or for </a:t>
            </a:r>
            <a:r>
              <a:rPr lang="en-US" dirty="0" smtClean="0">
                <a:effectLst/>
              </a:rPr>
              <a:t>resale, e.g. bread is a </a:t>
            </a:r>
            <a:r>
              <a:rPr lang="en-US" b="1" i="1" dirty="0" smtClean="0">
                <a:solidFill>
                  <a:srgbClr val="FFFF00"/>
                </a:solidFill>
                <a:effectLst/>
              </a:rPr>
              <a:t>final</a:t>
            </a:r>
            <a:r>
              <a:rPr lang="en-US" dirty="0" smtClean="0">
                <a:effectLst/>
              </a:rPr>
              <a:t> product but flour is an </a:t>
            </a:r>
            <a:r>
              <a:rPr lang="en-US" b="1" i="1" dirty="0" smtClean="0">
                <a:solidFill>
                  <a:srgbClr val="FFFF00"/>
                </a:solidFill>
                <a:effectLst/>
              </a:rPr>
              <a:t>intermediate</a:t>
            </a:r>
            <a:r>
              <a:rPr lang="en-US" dirty="0" smtClean="0">
                <a:effectLst/>
              </a:rPr>
              <a:t> product.</a:t>
            </a:r>
            <a:endParaRPr lang="en-US" dirty="0">
              <a:effectLst/>
            </a:endParaRPr>
          </a:p>
          <a:p>
            <a:r>
              <a:rPr lang="en-US" dirty="0">
                <a:effectLst/>
              </a:rPr>
              <a:t>Including </a:t>
            </a:r>
            <a:r>
              <a:rPr lang="en-US" dirty="0" smtClean="0">
                <a:effectLst/>
              </a:rPr>
              <a:t>both intermediate </a:t>
            </a:r>
            <a:r>
              <a:rPr lang="en-US" dirty="0">
                <a:effectLst/>
              </a:rPr>
              <a:t>goods and final goods </a:t>
            </a:r>
            <a:r>
              <a:rPr lang="en-US" dirty="0" smtClean="0">
                <a:effectLst/>
              </a:rPr>
              <a:t>in the calculation of GDP will </a:t>
            </a:r>
            <a:r>
              <a:rPr lang="en-US" dirty="0">
                <a:effectLst/>
              </a:rPr>
              <a:t>result in  “double counting”.</a:t>
            </a:r>
          </a:p>
          <a:p>
            <a:endParaRPr lang="en-US" sz="2800" dirty="0">
              <a:effectLst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FDDF116-4DF1-4A14-9DCD-24790FF55EB2}" type="slidenum">
              <a:rPr lang="en-US" smtClean="0"/>
              <a:pPr/>
              <a:t>4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800" decel="100000"/>
                                        <p:tgtEl>
                                          <p:spTgt spid="266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800" decel="100000" fill="hold"/>
                                        <p:tgtEl>
                                          <p:spTgt spid="266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800" decel="100000" fill="hold"/>
                                        <p:tgtEl>
                                          <p:spTgt spid="266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800" decel="100000" fill="hold"/>
                                        <p:tgtEl>
                                          <p:spTgt spid="266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800" decel="100000"/>
                                        <p:tgtEl>
                                          <p:spTgt spid="266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800" decel="100000" fill="hold"/>
                                        <p:tgtEl>
                                          <p:spTgt spid="266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800" decel="100000" fill="hold"/>
                                        <p:tgtEl>
                                          <p:spTgt spid="266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800" decel="100000" fill="hold"/>
                                        <p:tgtEl>
                                          <p:spTgt spid="266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627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b="0" dirty="0" smtClean="0">
                <a:effectLst/>
              </a:rPr>
              <a:t>(Cont.)</a:t>
            </a:r>
            <a:endParaRPr lang="en-US" b="0" dirty="0">
              <a:effectLst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effectLst/>
              </a:rPr>
              <a:t>Why is GDP (total production) an important number?</a:t>
            </a:r>
          </a:p>
          <a:p>
            <a:pPr lvl="1"/>
            <a:r>
              <a:rPr lang="en-US" dirty="0" smtClean="0">
                <a:effectLst/>
              </a:rPr>
              <a:t>The more goods and services a country produces, the more </a:t>
            </a:r>
            <a:r>
              <a:rPr lang="en-US" b="1" dirty="0" smtClean="0">
                <a:effectLst/>
              </a:rPr>
              <a:t>POTENTIAL</a:t>
            </a:r>
            <a:r>
              <a:rPr lang="en-US" dirty="0" smtClean="0">
                <a:effectLst/>
              </a:rPr>
              <a:t> ability it has to satisfy needs.</a:t>
            </a:r>
          </a:p>
          <a:p>
            <a:pPr lvl="1"/>
            <a:r>
              <a:rPr lang="en-US" dirty="0" smtClean="0">
                <a:effectLst/>
              </a:rPr>
              <a:t>The more goods and services a country produces, the more total income (</a:t>
            </a:r>
            <a:r>
              <a:rPr lang="en-US" b="1" dirty="0" smtClean="0">
                <a:solidFill>
                  <a:srgbClr val="FFFF00"/>
                </a:solidFill>
                <a:effectLst/>
              </a:rPr>
              <a:t>national income</a:t>
            </a:r>
            <a:r>
              <a:rPr lang="en-US" dirty="0" smtClean="0">
                <a:effectLst/>
              </a:rPr>
              <a:t>) it generates  and the better its </a:t>
            </a:r>
            <a:r>
              <a:rPr lang="en-US" b="1" dirty="0" smtClean="0">
                <a:effectLst/>
              </a:rPr>
              <a:t>POTENTIAL</a:t>
            </a:r>
            <a:r>
              <a:rPr lang="en-US" dirty="0" smtClean="0">
                <a:effectLst/>
              </a:rPr>
              <a:t> ability to satisfy needs. </a:t>
            </a:r>
          </a:p>
          <a:p>
            <a:pPr lvl="1"/>
            <a:endParaRPr lang="en-US" dirty="0" smtClean="0"/>
          </a:p>
          <a:p>
            <a:pPr lvl="1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FDDF116-4DF1-4A14-9DCD-24790FF55EB2}" type="slidenum">
              <a:rPr lang="en-US" smtClean="0"/>
              <a:pPr/>
              <a:t>5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800" decel="100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800" decel="100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800" decel="100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800" decel="100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800" decel="100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800" decel="100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800" decel="100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800" decel="100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800" decel="100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800" decel="100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800" decel="100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800" decel="100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eaLnBrk="1" hangingPunct="1"/>
            <a:r>
              <a:rPr lang="en-US" u="sng" dirty="0" smtClean="0">
                <a:effectLst/>
              </a:rPr>
              <a:t>Real vs. Nominal GDP: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Why is GDP measured in pounds (dollars, </a:t>
            </a:r>
            <a:r>
              <a:rPr lang="en-US" dirty="0" err="1" smtClean="0"/>
              <a:t>euros</a:t>
            </a:r>
            <a:r>
              <a:rPr lang="en-US" dirty="0" smtClean="0"/>
              <a:t>, … etc.)?</a:t>
            </a:r>
          </a:p>
          <a:p>
            <a:pPr lvl="1"/>
            <a:r>
              <a:rPr lang="en-US" dirty="0" smtClean="0"/>
              <a:t>We measure GDP in pounds because we must know the </a:t>
            </a:r>
            <a:r>
              <a:rPr lang="en-US" i="1" dirty="0" smtClean="0">
                <a:solidFill>
                  <a:srgbClr val="FFC000"/>
                </a:solidFill>
              </a:rPr>
              <a:t>value</a:t>
            </a:r>
            <a:r>
              <a:rPr lang="en-US" dirty="0" smtClean="0"/>
              <a:t> of  </a:t>
            </a:r>
            <a:r>
              <a:rPr lang="en-US" u="sng" dirty="0" smtClean="0"/>
              <a:t>how much </a:t>
            </a:r>
            <a:r>
              <a:rPr lang="en-US" dirty="0" smtClean="0"/>
              <a:t>we produced.</a:t>
            </a:r>
          </a:p>
          <a:p>
            <a:pPr lvl="1"/>
            <a:r>
              <a:rPr lang="en-US" dirty="0" smtClean="0"/>
              <a:t>We can not add up wheat, cattle, health care … etc.</a:t>
            </a:r>
          </a:p>
          <a:p>
            <a:pPr lvl="1"/>
            <a:r>
              <a:rPr lang="en-US" dirty="0" smtClean="0"/>
              <a:t>We must use pounds as a </a:t>
            </a:r>
            <a:r>
              <a:rPr lang="en-US" dirty="0" smtClean="0">
                <a:solidFill>
                  <a:srgbClr val="FFFF00"/>
                </a:solidFill>
              </a:rPr>
              <a:t>“common denominator” </a:t>
            </a:r>
            <a:r>
              <a:rPr lang="en-US" dirty="0" smtClean="0"/>
              <a:t>to be able to add values of different goods and services.</a:t>
            </a:r>
          </a:p>
          <a:p>
            <a:pPr lvl="1"/>
            <a:r>
              <a:rPr lang="en-US" dirty="0" smtClean="0"/>
              <a:t>We add </a:t>
            </a:r>
            <a:r>
              <a:rPr lang="en-US" dirty="0" smtClean="0">
                <a:solidFill>
                  <a:srgbClr val="FFFF00"/>
                </a:solidFill>
              </a:rPr>
              <a:t>pounds </a:t>
            </a:r>
            <a:r>
              <a:rPr lang="en-US" dirty="0" smtClean="0"/>
              <a:t>worth of wheat + </a:t>
            </a:r>
            <a:r>
              <a:rPr lang="en-US" dirty="0" smtClean="0">
                <a:solidFill>
                  <a:srgbClr val="FFFF00"/>
                </a:solidFill>
              </a:rPr>
              <a:t>pounds </a:t>
            </a:r>
            <a:r>
              <a:rPr lang="en-US" dirty="0" smtClean="0"/>
              <a:t>worth of cattle  + … etc.</a:t>
            </a:r>
          </a:p>
          <a:p>
            <a:pPr lvl="1"/>
            <a:endParaRPr lang="en-US" dirty="0"/>
          </a:p>
        </p:txBody>
      </p:sp>
      <p:sp>
        <p:nvSpPr>
          <p:cNvPr id="77826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5B917E5E-140D-4260-A65A-C265524DBDCF}" type="slidenum">
              <a:rPr lang="en-US" smtClean="0"/>
              <a:pPr/>
              <a:t>6</a:t>
            </a:fld>
            <a:endParaRPr lang="en-US" smtClean="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2000"/>
                                        <p:tgtEl>
                                          <p:spTgt spid="91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800" decel="100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800" decel="100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800" decel="100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800" decel="100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800" decel="100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800" decel="100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800" decel="100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800" decel="100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800" decel="100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800" decel="100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800" decel="100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800" decel="100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800" decel="100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800" decel="1000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800" decel="1000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800" decel="1000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800" decel="100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800" decel="1000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800" decel="1000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800" decel="1000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113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/>
          <p:cNvSpPr txBox="1">
            <a:spLocks noChangeArrowheads="1"/>
          </p:cNvSpPr>
          <p:nvPr/>
        </p:nvSpPr>
        <p:spPr bwMode="auto">
          <a:xfrm>
            <a:off x="381000" y="990600"/>
            <a:ext cx="4876800" cy="606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eaLnBrk="1" hangingPunct="1">
              <a:defRPr/>
            </a:pPr>
            <a:r>
              <a:rPr lang="en-US" sz="4400" kern="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Calculating GDP</a:t>
            </a:r>
          </a:p>
        </p:txBody>
      </p:sp>
      <p:sp>
        <p:nvSpPr>
          <p:cNvPr id="9728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838200"/>
            <a:ext cx="4038600" cy="758825"/>
          </a:xfrm>
          <a:solidFill>
            <a:schemeClr val="bg1"/>
          </a:solidFill>
        </p:spPr>
        <p:txBody>
          <a:bodyPr/>
          <a:lstStyle/>
          <a:p>
            <a:pPr eaLnBrk="1" hangingPunct="1"/>
            <a:r>
              <a:rPr lang="en-US" dirty="0" smtClean="0"/>
              <a:t>Nominal GDP</a:t>
            </a:r>
          </a:p>
        </p:txBody>
      </p:sp>
      <p:sp>
        <p:nvSpPr>
          <p:cNvPr id="972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z="3600" dirty="0" smtClean="0"/>
              <a:t>We multiply quantities purchased by the price at which they were sold on that year.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sz="3600" b="1" dirty="0" smtClean="0">
                <a:solidFill>
                  <a:srgbClr val="FFFF00"/>
                </a:solidFill>
              </a:rPr>
              <a:t>Example: For 2009 GDP, we use prices paid in 2009 .</a:t>
            </a:r>
          </a:p>
          <a:p>
            <a:pPr eaLnBrk="1" hangingPunct="1">
              <a:lnSpc>
                <a:spcPct val="90000"/>
              </a:lnSpc>
            </a:pPr>
            <a:r>
              <a:rPr lang="en-US" sz="3600" dirty="0" smtClean="0"/>
              <a:t>Because we use prices of </a:t>
            </a:r>
            <a:r>
              <a:rPr lang="en-US" sz="3600" b="1" dirty="0" smtClean="0">
                <a:solidFill>
                  <a:srgbClr val="FFFF00"/>
                </a:solidFill>
              </a:rPr>
              <a:t>2009</a:t>
            </a:r>
            <a:r>
              <a:rPr lang="en-US" sz="3600" b="1" dirty="0" smtClean="0">
                <a:solidFill>
                  <a:srgbClr val="336600"/>
                </a:solidFill>
              </a:rPr>
              <a:t> </a:t>
            </a:r>
            <a:r>
              <a:rPr lang="en-US" sz="3600" dirty="0" smtClean="0"/>
              <a:t>to compute GDP for </a:t>
            </a:r>
            <a:r>
              <a:rPr lang="en-US" sz="3600" b="1" dirty="0" smtClean="0">
                <a:solidFill>
                  <a:srgbClr val="FFFF00"/>
                </a:solidFill>
              </a:rPr>
              <a:t>2009</a:t>
            </a:r>
            <a:r>
              <a:rPr lang="en-US" sz="3600" b="1" dirty="0" smtClean="0">
                <a:solidFill>
                  <a:srgbClr val="336600"/>
                </a:solidFill>
              </a:rPr>
              <a:t> </a:t>
            </a:r>
            <a:r>
              <a:rPr lang="en-US" sz="3600" dirty="0" smtClean="0"/>
              <a:t>, we say that we used “</a:t>
            </a:r>
            <a:r>
              <a:rPr lang="en-US" sz="3600" b="1" dirty="0" smtClean="0">
                <a:solidFill>
                  <a:srgbClr val="FFFF00"/>
                </a:solidFill>
              </a:rPr>
              <a:t>current</a:t>
            </a:r>
            <a:r>
              <a:rPr lang="en-US" sz="3600" dirty="0" smtClean="0"/>
              <a:t>” prices.</a:t>
            </a:r>
          </a:p>
        </p:txBody>
      </p:sp>
      <p:sp>
        <p:nvSpPr>
          <p:cNvPr id="97284" name="AutoShape 4"/>
          <p:cNvSpPr>
            <a:spLocks noChangeArrowheads="1"/>
          </p:cNvSpPr>
          <p:nvPr/>
        </p:nvSpPr>
        <p:spPr bwMode="auto">
          <a:xfrm>
            <a:off x="5411788" y="277744"/>
            <a:ext cx="3346450" cy="1168539"/>
          </a:xfrm>
          <a:prstGeom prst="wedgeEllipseCallout">
            <a:avLst>
              <a:gd name="adj1" fmla="val -92083"/>
              <a:gd name="adj2" fmla="val 34356"/>
            </a:avLst>
          </a:prstGeom>
          <a:solidFill>
            <a:srgbClr val="CCECFF"/>
          </a:solidFill>
          <a:ln w="9525">
            <a:noFill/>
            <a:miter lim="800000"/>
            <a:headEnd/>
            <a:tailEnd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anchor="ctr">
            <a:spAutoFit/>
          </a:bodyPr>
          <a:lstStyle/>
          <a:p>
            <a:pPr algn="ctr">
              <a:defRPr/>
            </a:pPr>
            <a:r>
              <a:rPr lang="en-US" sz="2400" b="1" dirty="0">
                <a:solidFill>
                  <a:schemeClr val="bg2"/>
                </a:solidFill>
              </a:rPr>
              <a:t>GDP at current prices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FDDF116-4DF1-4A14-9DCD-24790FF55EB2}" type="slidenum">
              <a:rPr lang="en-US" smtClean="0"/>
              <a:pPr/>
              <a:t>7</a:t>
            </a:fld>
            <a:endParaRPr 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800" decel="100000"/>
                                        <p:tgtEl>
                                          <p:spTgt spid="972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800" decel="100000" fill="hold"/>
                                        <p:tgtEl>
                                          <p:spTgt spid="972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800" decel="100000" fill="hold"/>
                                        <p:tgtEl>
                                          <p:spTgt spid="972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800" decel="100000" fill="hold"/>
                                        <p:tgtEl>
                                          <p:spTgt spid="972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972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972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800" decel="100000"/>
                                        <p:tgtEl>
                                          <p:spTgt spid="972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800" decel="100000" fill="hold"/>
                                        <p:tgtEl>
                                          <p:spTgt spid="972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800" decel="100000" fill="hold"/>
                                        <p:tgtEl>
                                          <p:spTgt spid="972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800" decel="100000" fill="hold"/>
                                        <p:tgtEl>
                                          <p:spTgt spid="972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972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972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800" decel="100000"/>
                                        <p:tgtEl>
                                          <p:spTgt spid="972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800" decel="100000" fill="hold"/>
                                        <p:tgtEl>
                                          <p:spTgt spid="972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800" decel="100000" fill="hold"/>
                                        <p:tgtEl>
                                          <p:spTgt spid="972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800" decel="100000" fill="hold"/>
                                        <p:tgtEl>
                                          <p:spTgt spid="972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972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972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800" decel="100000"/>
                                        <p:tgtEl>
                                          <p:spTgt spid="9728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800" decel="100000" fill="hold"/>
                                        <p:tgtEl>
                                          <p:spTgt spid="9728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800" decel="100000" fill="hold"/>
                                        <p:tgtEl>
                                          <p:spTgt spid="972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800" decel="100000" fill="hold"/>
                                        <p:tgtEl>
                                          <p:spTgt spid="972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972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972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800" decel="100000"/>
                                        <p:tgtEl>
                                          <p:spTgt spid="9728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800" decel="100000" fill="hold"/>
                                        <p:tgtEl>
                                          <p:spTgt spid="9728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800" decel="100000" fill="hold"/>
                                        <p:tgtEl>
                                          <p:spTgt spid="972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800" decel="100000" fill="hold"/>
                                        <p:tgtEl>
                                          <p:spTgt spid="972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972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972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7282" grpId="0" animBg="1"/>
      <p:bldP spid="97283" grpId="0" uiExpand="1" build="p" autoUpdateAnimBg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2"/>
          <p:cNvSpPr>
            <a:spLocks noGrp="1" noChangeArrowheads="1"/>
          </p:cNvSpPr>
          <p:nvPr>
            <p:ph type="title"/>
          </p:nvPr>
        </p:nvSpPr>
        <p:spPr>
          <a:xfrm>
            <a:off x="1447800" y="228600"/>
            <a:ext cx="7467600" cy="1920875"/>
          </a:xfrm>
        </p:spPr>
        <p:txBody>
          <a:bodyPr/>
          <a:lstStyle/>
          <a:p>
            <a:pPr algn="l" eaLnBrk="1" hangingPunct="1"/>
            <a:r>
              <a:rPr lang="en-US" sz="4000" dirty="0" smtClean="0"/>
              <a:t>The sum of expenditures on all goods and services produced over the year</a:t>
            </a:r>
          </a:p>
        </p:txBody>
      </p:sp>
      <p:graphicFrame>
        <p:nvGraphicFramePr>
          <p:cNvPr id="93187" name="Object 3"/>
          <p:cNvGraphicFramePr>
            <a:graphicFrameLocks noChangeAspect="1"/>
          </p:cNvGraphicFramePr>
          <p:nvPr/>
        </p:nvGraphicFramePr>
        <p:xfrm>
          <a:off x="762000" y="2590800"/>
          <a:ext cx="7696200" cy="3048000"/>
        </p:xfrm>
        <a:graphic>
          <a:graphicData uri="http://schemas.openxmlformats.org/presentationml/2006/ole">
            <p:oleObj spid="_x0000_s1026" name="Worksheet" r:id="rId4" imgW="9582150" imgH="1638300" progId="Excel.Sheet.8">
              <p:embed/>
            </p:oleObj>
          </a:graphicData>
        </a:graphic>
      </p:graphicFrame>
      <p:sp>
        <p:nvSpPr>
          <p:cNvPr id="93189" name="WordArt 5"/>
          <p:cNvSpPr>
            <a:spLocks noChangeArrowheads="1" noChangeShapeType="1" noTextEdit="1"/>
          </p:cNvSpPr>
          <p:nvPr/>
        </p:nvSpPr>
        <p:spPr bwMode="auto">
          <a:xfrm rot="-1928305">
            <a:off x="90543" y="767526"/>
            <a:ext cx="1066800" cy="6477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 dirty="0">
                <a:ln w="12700">
                  <a:solidFill>
                    <a:srgbClr val="EAEAEA"/>
                  </a:solidFill>
                  <a:miter lim="800000"/>
                  <a:headEnd/>
                  <a:tailEnd/>
                </a:ln>
                <a:solidFill>
                  <a:srgbClr val="C00000"/>
                </a:solidFill>
                <a:effectLst>
                  <a:outerShdw dist="35921" dir="2700000" sy="50000" kx="2115830" algn="bl" rotWithShape="0">
                    <a:srgbClr val="C0C0C0"/>
                  </a:outerShdw>
                </a:effectLst>
                <a:latin typeface="Arial Black"/>
              </a:rPr>
              <a:t>GDP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FDDF116-4DF1-4A14-9DCD-24790FF55EB2}" type="slidenum">
              <a:rPr lang="en-US" smtClean="0"/>
              <a:pPr/>
              <a:t>8</a:t>
            </a:fld>
            <a:endParaRPr 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2000"/>
                                        <p:tgtEl>
                                          <p:spTgt spid="931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2000"/>
                                        <p:tgtEl>
                                          <p:spTgt spid="931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2000"/>
                                        <p:tgtEl>
                                          <p:spTgt spid="931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3186" grpId="0" build="p" autoUpdateAnimBg="0"/>
      <p:bldP spid="93189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0" y="457200"/>
            <a:ext cx="5105400" cy="762000"/>
          </a:xfrm>
        </p:spPr>
        <p:txBody>
          <a:bodyPr/>
          <a:lstStyle/>
          <a:p>
            <a:pPr eaLnBrk="1" hangingPunct="1"/>
            <a:r>
              <a:rPr lang="en-US" smtClean="0"/>
              <a:t>If prices rise…</a:t>
            </a:r>
          </a:p>
        </p:txBody>
      </p:sp>
      <p:graphicFrame>
        <p:nvGraphicFramePr>
          <p:cNvPr id="94211" name="Object 3"/>
          <p:cNvGraphicFramePr>
            <a:graphicFrameLocks noChangeAspect="1"/>
          </p:cNvGraphicFramePr>
          <p:nvPr/>
        </p:nvGraphicFramePr>
        <p:xfrm>
          <a:off x="233363" y="2133600"/>
          <a:ext cx="8677275" cy="3962400"/>
        </p:xfrm>
        <a:graphic>
          <a:graphicData uri="http://schemas.openxmlformats.org/presentationml/2006/ole">
            <p:oleObj spid="_x0000_s2050" name="Worksheet" r:id="rId4" imgW="8677275" imgH="2009775" progId="Excel.Sheet.8">
              <p:embed/>
            </p:oleObj>
          </a:graphicData>
        </a:graphic>
      </p:graphicFrame>
      <p:sp>
        <p:nvSpPr>
          <p:cNvPr id="94212" name="Oval 4"/>
          <p:cNvSpPr>
            <a:spLocks noChangeArrowheads="1"/>
          </p:cNvSpPr>
          <p:nvPr/>
        </p:nvSpPr>
        <p:spPr bwMode="auto">
          <a:xfrm>
            <a:off x="2438400" y="3657600"/>
            <a:ext cx="914400" cy="914400"/>
          </a:xfrm>
          <a:prstGeom prst="ellipse">
            <a:avLst/>
          </a:prstGeom>
          <a:noFill/>
          <a:ln w="57150">
            <a:solidFill>
              <a:schemeClr val="bg2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94213" name="Oval 5"/>
          <p:cNvSpPr>
            <a:spLocks noChangeArrowheads="1"/>
          </p:cNvSpPr>
          <p:nvPr/>
        </p:nvSpPr>
        <p:spPr bwMode="auto">
          <a:xfrm>
            <a:off x="2438400" y="5257800"/>
            <a:ext cx="914400" cy="914400"/>
          </a:xfrm>
          <a:prstGeom prst="ellipse">
            <a:avLst/>
          </a:prstGeom>
          <a:noFill/>
          <a:ln w="57150">
            <a:solidFill>
              <a:schemeClr val="bg2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94214" name="Oval 6"/>
          <p:cNvSpPr>
            <a:spLocks noChangeArrowheads="1"/>
          </p:cNvSpPr>
          <p:nvPr/>
        </p:nvSpPr>
        <p:spPr bwMode="auto">
          <a:xfrm>
            <a:off x="4191000" y="3657600"/>
            <a:ext cx="914400" cy="914400"/>
          </a:xfrm>
          <a:prstGeom prst="ellipse">
            <a:avLst/>
          </a:prstGeom>
          <a:noFill/>
          <a:ln w="57150">
            <a:solidFill>
              <a:schemeClr val="bg2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94215" name="Oval 7"/>
          <p:cNvSpPr>
            <a:spLocks noChangeArrowheads="1"/>
          </p:cNvSpPr>
          <p:nvPr/>
        </p:nvSpPr>
        <p:spPr bwMode="auto">
          <a:xfrm>
            <a:off x="4343400" y="5257800"/>
            <a:ext cx="914400" cy="914400"/>
          </a:xfrm>
          <a:prstGeom prst="ellipse">
            <a:avLst/>
          </a:prstGeom>
          <a:noFill/>
          <a:ln w="57150">
            <a:solidFill>
              <a:schemeClr val="bg2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94216" name="Oval 8"/>
          <p:cNvSpPr>
            <a:spLocks noChangeArrowheads="1"/>
          </p:cNvSpPr>
          <p:nvPr/>
        </p:nvSpPr>
        <p:spPr bwMode="auto">
          <a:xfrm>
            <a:off x="7772400" y="3657600"/>
            <a:ext cx="914400" cy="914400"/>
          </a:xfrm>
          <a:prstGeom prst="ellipse">
            <a:avLst/>
          </a:prstGeom>
          <a:noFill/>
          <a:ln w="57150">
            <a:solidFill>
              <a:schemeClr val="bg2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94217" name="Oval 9"/>
          <p:cNvSpPr>
            <a:spLocks noChangeArrowheads="1"/>
          </p:cNvSpPr>
          <p:nvPr/>
        </p:nvSpPr>
        <p:spPr bwMode="auto">
          <a:xfrm>
            <a:off x="7848600" y="5181600"/>
            <a:ext cx="914400" cy="914400"/>
          </a:xfrm>
          <a:prstGeom prst="ellipse">
            <a:avLst/>
          </a:prstGeom>
          <a:noFill/>
          <a:ln w="57150">
            <a:solidFill>
              <a:schemeClr val="bg2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94218" name="AutoShape 10"/>
          <p:cNvSpPr>
            <a:spLocks noChangeArrowheads="1"/>
          </p:cNvSpPr>
          <p:nvPr/>
        </p:nvSpPr>
        <p:spPr bwMode="auto">
          <a:xfrm>
            <a:off x="533400" y="685800"/>
            <a:ext cx="3657600" cy="1447800"/>
          </a:xfrm>
          <a:prstGeom prst="wedgeEllipseCallout">
            <a:avLst>
              <a:gd name="adj1" fmla="val 15190"/>
              <a:gd name="adj2" fmla="val 174125"/>
            </a:avLst>
          </a:prstGeom>
          <a:solidFill>
            <a:srgbClr val="A6C45A"/>
          </a:solidFill>
          <a:ln w="9525">
            <a:noFill/>
            <a:miter lim="800000"/>
            <a:headEnd/>
            <a:tailEnd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lIns="0" tIns="0" rIns="0" bIns="0"/>
          <a:lstStyle/>
          <a:p>
            <a:pPr algn="ctr" eaLnBrk="1" hangingPunct="1">
              <a:defRPr/>
            </a:pPr>
            <a:r>
              <a:rPr lang="en-US" sz="2000" b="1" dirty="0"/>
              <a:t>Quantities produced are the same in both years!</a:t>
            </a:r>
          </a:p>
        </p:txBody>
      </p:sp>
      <p:sp>
        <p:nvSpPr>
          <p:cNvPr id="94219" name="AutoShape 11"/>
          <p:cNvSpPr>
            <a:spLocks noChangeArrowheads="1"/>
          </p:cNvSpPr>
          <p:nvPr/>
        </p:nvSpPr>
        <p:spPr bwMode="auto">
          <a:xfrm rot="2625779">
            <a:off x="5105400" y="2133600"/>
            <a:ext cx="3276600" cy="990600"/>
          </a:xfrm>
          <a:prstGeom prst="rightArrow">
            <a:avLst>
              <a:gd name="adj1" fmla="val 50000"/>
              <a:gd name="adj2" fmla="val 82692"/>
            </a:avLst>
          </a:prstGeom>
          <a:solidFill>
            <a:srgbClr val="A6C45A"/>
          </a:solidFill>
          <a:ln w="9525">
            <a:noFill/>
            <a:miter lim="800000"/>
            <a:headEnd/>
            <a:tailEnd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none" anchor="ctr"/>
          <a:lstStyle/>
          <a:p>
            <a:pPr algn="ctr" eaLnBrk="1" hangingPunct="1">
              <a:defRPr/>
            </a:pPr>
            <a:r>
              <a:rPr lang="en-US" sz="2400" b="1" dirty="0"/>
              <a:t>But GDP Increased!</a:t>
            </a:r>
          </a:p>
        </p:txBody>
      </p:sp>
      <p:sp>
        <p:nvSpPr>
          <p:cNvPr id="12" name="10-Point Star 11"/>
          <p:cNvSpPr/>
          <p:nvPr/>
        </p:nvSpPr>
        <p:spPr bwMode="auto">
          <a:xfrm>
            <a:off x="-228600" y="1676400"/>
            <a:ext cx="4172243" cy="4096286"/>
          </a:xfrm>
          <a:prstGeom prst="star10">
            <a:avLst/>
          </a:prstGeom>
          <a:solidFill>
            <a:srgbClr val="FF000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anchor="ctr">
            <a:spAutoFit/>
          </a:bodyPr>
          <a:lstStyle/>
          <a:p>
            <a:pPr algn="ctr">
              <a:defRPr/>
            </a:pPr>
            <a:r>
              <a:rPr lang="en-US" sz="3200" dirty="0"/>
              <a:t>The use of prices distort our view of production </a:t>
            </a:r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FDDF116-4DF1-4A14-9DCD-24790FF55EB2}" type="slidenum">
              <a:rPr lang="en-US" smtClean="0"/>
              <a:pPr/>
              <a:t>9</a:t>
            </a:fld>
            <a:endParaRPr 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2000"/>
                                        <p:tgtEl>
                                          <p:spTgt spid="942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2000" fill="hold"/>
                                        <p:tgtEl>
                                          <p:spTgt spid="942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2000" fill="hold"/>
                                        <p:tgtEl>
                                          <p:spTgt spid="942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2000"/>
                            </p:stCondLst>
                            <p:childTnLst>
                              <p:par>
                                <p:cTn id="15" presetID="17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942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942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2000" fill="hold"/>
                                        <p:tgtEl>
                                          <p:spTgt spid="942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2000" fill="hold"/>
                                        <p:tgtEl>
                                          <p:spTgt spid="942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000"/>
                            </p:stCondLst>
                            <p:childTnLst>
                              <p:par>
                                <p:cTn id="26" presetID="17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942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942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2000"/>
                                        <p:tgtEl>
                                          <p:spTgt spid="94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2000"/>
                                        <p:tgtEl>
                                          <p:spTgt spid="942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2000"/>
                            </p:stCondLst>
                            <p:childTnLst>
                              <p:par>
                                <p:cTn id="41" presetID="17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942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942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2500"/>
                            </p:stCondLst>
                            <p:childTnLst>
                              <p:par>
                                <p:cTn id="46" presetID="17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942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942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4212" grpId="0" animBg="1"/>
      <p:bldP spid="94213" grpId="0" animBg="1"/>
      <p:bldP spid="94214" grpId="0" animBg="1"/>
      <p:bldP spid="94215" grpId="0" animBg="1"/>
      <p:bldP spid="94216" grpId="0" animBg="1"/>
      <p:bldP spid="94217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685800"/>
            <a:ext cx="8229600" cy="606425"/>
          </a:xfrm>
        </p:spPr>
        <p:txBody>
          <a:bodyPr/>
          <a:lstStyle/>
          <a:p>
            <a:pPr algn="l" eaLnBrk="1" hangingPunct="1"/>
            <a:r>
              <a:rPr lang="en-US" u="sng" dirty="0" smtClean="0"/>
              <a:t>Real GDP:</a:t>
            </a:r>
          </a:p>
        </p:txBody>
      </p:sp>
      <p:sp>
        <p:nvSpPr>
          <p:cNvPr id="993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sz="3600" dirty="0" smtClean="0"/>
              <a:t>We </a:t>
            </a:r>
            <a:r>
              <a:rPr lang="en-US" sz="3600" dirty="0" smtClean="0">
                <a:solidFill>
                  <a:srgbClr val="FFFF00"/>
                </a:solidFill>
              </a:rPr>
              <a:t>have</a:t>
            </a:r>
            <a:r>
              <a:rPr lang="en-US" sz="3600" dirty="0" smtClean="0"/>
              <a:t> to use prices to measure GDP.</a:t>
            </a:r>
          </a:p>
          <a:p>
            <a:pPr eaLnBrk="1" hangingPunct="1"/>
            <a:r>
              <a:rPr lang="en-US" sz="3600" dirty="0" smtClean="0"/>
              <a:t>But we must </a:t>
            </a:r>
            <a:r>
              <a:rPr lang="en-US" sz="3600" dirty="0" smtClean="0">
                <a:solidFill>
                  <a:srgbClr val="FFFF00"/>
                </a:solidFill>
              </a:rPr>
              <a:t>eliminate the effect </a:t>
            </a:r>
            <a:r>
              <a:rPr lang="en-US" sz="3600" dirty="0" smtClean="0"/>
              <a:t>of changing prices.</a:t>
            </a:r>
          </a:p>
          <a:p>
            <a:pPr eaLnBrk="1" hangingPunct="1"/>
            <a:r>
              <a:rPr lang="en-US" sz="3600" dirty="0" smtClean="0"/>
              <a:t>To eliminate the effect of changing prices, we </a:t>
            </a:r>
            <a:r>
              <a:rPr lang="en-US" sz="3600" dirty="0" smtClean="0">
                <a:solidFill>
                  <a:srgbClr val="FFFF00"/>
                </a:solidFill>
              </a:rPr>
              <a:t>pretend</a:t>
            </a:r>
            <a:r>
              <a:rPr lang="en-US" sz="3600" dirty="0" smtClean="0"/>
              <a:t> that prices did not change.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FDDF116-4DF1-4A14-9DCD-24790FF55EB2}" type="slidenum">
              <a:rPr lang="en-US" smtClean="0"/>
              <a:pPr/>
              <a:t>10</a:t>
            </a:fld>
            <a:endParaRPr 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2000"/>
                                        <p:tgtEl>
                                          <p:spTgt spid="993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800" decel="100000"/>
                                        <p:tgtEl>
                                          <p:spTgt spid="993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800" decel="100000" fill="hold"/>
                                        <p:tgtEl>
                                          <p:spTgt spid="993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800" decel="100000" fill="hold"/>
                                        <p:tgtEl>
                                          <p:spTgt spid="993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800" decel="100000" fill="hold"/>
                                        <p:tgtEl>
                                          <p:spTgt spid="993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993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993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800" decel="100000"/>
                                        <p:tgtEl>
                                          <p:spTgt spid="993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800" decel="100000" fill="hold"/>
                                        <p:tgtEl>
                                          <p:spTgt spid="993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800" decel="100000" fill="hold"/>
                                        <p:tgtEl>
                                          <p:spTgt spid="993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800" decel="100000" fill="hold"/>
                                        <p:tgtEl>
                                          <p:spTgt spid="993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993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993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800" decel="100000"/>
                                        <p:tgtEl>
                                          <p:spTgt spid="993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800" decel="100000" fill="hold"/>
                                        <p:tgtEl>
                                          <p:spTgt spid="993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800" decel="100000" fill="hold"/>
                                        <p:tgtEl>
                                          <p:spTgt spid="993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800" decel="100000" fill="hold"/>
                                        <p:tgtEl>
                                          <p:spTgt spid="993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993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993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9330" grpId="0"/>
      <p:bldP spid="99331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b="0" dirty="0" smtClean="0">
                <a:effectLst/>
              </a:rPr>
              <a:t>(Cont.)</a:t>
            </a:r>
            <a:endParaRPr lang="en-US" b="0" dirty="0">
              <a:effectLst/>
            </a:endParaRPr>
          </a:p>
        </p:txBody>
      </p:sp>
      <p:graphicFrame>
        <p:nvGraphicFramePr>
          <p:cNvPr id="3074" name="Object 3"/>
          <p:cNvGraphicFramePr>
            <a:graphicFrameLocks noChangeAspect="1"/>
          </p:cNvGraphicFramePr>
          <p:nvPr>
            <p:ph idx="1"/>
          </p:nvPr>
        </p:nvGraphicFramePr>
        <p:xfrm>
          <a:off x="533400" y="1295400"/>
          <a:ext cx="7924799" cy="5029200"/>
        </p:xfrm>
        <a:graphic>
          <a:graphicData uri="http://schemas.openxmlformats.org/presentationml/2006/ole">
            <p:oleObj spid="_x0000_s3074" name="Worksheet" r:id="rId4" imgW="7029450" imgH="1962150" progId="Excel.Sheet.8">
              <p:embed/>
            </p:oleObj>
          </a:graphicData>
        </a:graphic>
      </p:graphicFrame>
      <p:sp>
        <p:nvSpPr>
          <p:cNvPr id="3075" name="Slide Number Placeholder 5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7CCF7A88-2F72-4642-A4E9-03F454FDCF12}" type="slidenum">
              <a:rPr lang="en-US" smtClean="0"/>
              <a:pPr/>
              <a:t>11</a:t>
            </a:fld>
            <a:endParaRPr lang="en-US" smtClean="0"/>
          </a:p>
        </p:txBody>
      </p:sp>
      <p:sp>
        <p:nvSpPr>
          <p:cNvPr id="3076" name="Rectangle 4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5334000" y="2017713"/>
            <a:ext cx="3810000" cy="4114800"/>
          </a:xfrm>
        </p:spPr>
        <p:txBody>
          <a:bodyPr/>
          <a:lstStyle/>
          <a:p>
            <a:pPr marL="609600" indent="-609600" eaLnBrk="1" hangingPunct="1">
              <a:buFont typeface="Wingdings" pitchFamily="2" charset="2"/>
              <a:buNone/>
            </a:pPr>
            <a:endParaRPr lang="en-US" sz="2800" smtClean="0"/>
          </a:p>
          <a:p>
            <a:pPr marL="609600" indent="-609600" eaLnBrk="1" hangingPunct="1">
              <a:buFont typeface="Wingdings" pitchFamily="2" charset="2"/>
              <a:buNone/>
            </a:pPr>
            <a:endParaRPr lang="en-US" sz="2800" smtClean="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2000"/>
                                        <p:tgtEl>
                                          <p:spTgt spid="30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781800" y="6172200"/>
            <a:ext cx="1905000" cy="457200"/>
          </a:xfrm>
          <a:noFill/>
        </p:spPr>
        <p:txBody>
          <a:bodyPr/>
          <a:lstStyle/>
          <a:p>
            <a:fld id="{4C9B9DED-4761-4480-BE9E-B81B4AB37BD7}" type="slidenum">
              <a:rPr lang="en-US" sz="1200" b="1" smtClean="0"/>
              <a:pPr/>
              <a:t>12</a:t>
            </a:fld>
            <a:endParaRPr lang="en-US" sz="1200" b="1" smtClean="0"/>
          </a:p>
        </p:txBody>
      </p:sp>
      <p:graphicFrame>
        <p:nvGraphicFramePr>
          <p:cNvPr id="4098" name="Object 2"/>
          <p:cNvGraphicFramePr>
            <a:graphicFrameLocks noChangeAspect="1"/>
          </p:cNvGraphicFramePr>
          <p:nvPr>
            <p:ph type="chart" idx="1"/>
          </p:nvPr>
        </p:nvGraphicFramePr>
        <p:xfrm>
          <a:off x="381000" y="1752600"/>
          <a:ext cx="8534400" cy="4800600"/>
        </p:xfrm>
        <a:graphic>
          <a:graphicData uri="http://schemas.openxmlformats.org/presentationml/2006/ole">
            <p:oleObj spid="_x0000_s4098" name="Worksheet" r:id="rId4" imgW="7029450" imgH="1962150" progId="Excel.Sheet.8">
              <p:embed/>
            </p:oleObj>
          </a:graphicData>
        </a:graphic>
      </p:graphicFrame>
      <p:sp>
        <p:nvSpPr>
          <p:cNvPr id="4100" name="Rectangle 3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5334000" y="2017713"/>
            <a:ext cx="3810000" cy="4114800"/>
          </a:xfrm>
        </p:spPr>
        <p:txBody>
          <a:bodyPr/>
          <a:lstStyle/>
          <a:p>
            <a:pPr marL="609600" indent="-609600" eaLnBrk="1" hangingPunct="1">
              <a:buFont typeface="Wingdings" pitchFamily="2" charset="2"/>
              <a:buNone/>
            </a:pPr>
            <a:endParaRPr lang="en-US" sz="2800" smtClean="0"/>
          </a:p>
          <a:p>
            <a:pPr marL="609600" indent="-609600" eaLnBrk="1" hangingPunct="1">
              <a:buFont typeface="Wingdings" pitchFamily="2" charset="2"/>
              <a:buNone/>
            </a:pPr>
            <a:endParaRPr lang="en-US" sz="2800" smtClean="0"/>
          </a:p>
        </p:txBody>
      </p:sp>
      <p:sp>
        <p:nvSpPr>
          <p:cNvPr id="303112" name="Text Box 8"/>
          <p:cNvSpPr txBox="1">
            <a:spLocks noChangeArrowheads="1"/>
          </p:cNvSpPr>
          <p:nvPr/>
        </p:nvSpPr>
        <p:spPr bwMode="auto">
          <a:xfrm>
            <a:off x="1524000" y="4953000"/>
            <a:ext cx="528638" cy="769938"/>
          </a:xfrm>
          <a:prstGeom prst="rect">
            <a:avLst/>
          </a:prstGeom>
          <a:solidFill>
            <a:srgbClr val="FFFF66">
              <a:alpha val="0"/>
            </a:srgbClr>
          </a:solidFill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4400" b="1">
                <a:solidFill>
                  <a:srgbClr val="CC0000"/>
                </a:solidFill>
              </a:rPr>
              <a:t>1</a:t>
            </a:r>
          </a:p>
        </p:txBody>
      </p:sp>
      <p:sp>
        <p:nvSpPr>
          <p:cNvPr id="303113" name="Text Box 9"/>
          <p:cNvSpPr txBox="1">
            <a:spLocks noChangeArrowheads="1"/>
          </p:cNvSpPr>
          <p:nvPr/>
        </p:nvSpPr>
        <p:spPr bwMode="auto">
          <a:xfrm>
            <a:off x="1524000" y="5867400"/>
            <a:ext cx="528638" cy="769938"/>
          </a:xfrm>
          <a:prstGeom prst="rect">
            <a:avLst/>
          </a:prstGeom>
          <a:solidFill>
            <a:srgbClr val="FFFF66">
              <a:alpha val="0"/>
            </a:srgbClr>
          </a:solidFill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4400" b="1">
                <a:solidFill>
                  <a:srgbClr val="CC0000"/>
                </a:solidFill>
              </a:rPr>
              <a:t>1</a:t>
            </a:r>
          </a:p>
        </p:txBody>
      </p:sp>
      <p:sp>
        <p:nvSpPr>
          <p:cNvPr id="303114" name="Text Box 10"/>
          <p:cNvSpPr txBox="1">
            <a:spLocks noChangeArrowheads="1"/>
          </p:cNvSpPr>
          <p:nvPr/>
        </p:nvSpPr>
        <p:spPr bwMode="auto">
          <a:xfrm>
            <a:off x="5029200" y="4953000"/>
            <a:ext cx="528638" cy="769938"/>
          </a:xfrm>
          <a:prstGeom prst="rect">
            <a:avLst/>
          </a:prstGeom>
          <a:solidFill>
            <a:srgbClr val="FFFF66">
              <a:alpha val="0"/>
            </a:srgbClr>
          </a:solidFill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4400" b="1">
                <a:solidFill>
                  <a:srgbClr val="CC0000"/>
                </a:solidFill>
              </a:rPr>
              <a:t>1</a:t>
            </a:r>
          </a:p>
        </p:txBody>
      </p:sp>
      <p:sp>
        <p:nvSpPr>
          <p:cNvPr id="303115" name="Text Box 11"/>
          <p:cNvSpPr txBox="1">
            <a:spLocks noChangeArrowheads="1"/>
          </p:cNvSpPr>
          <p:nvPr/>
        </p:nvSpPr>
        <p:spPr bwMode="auto">
          <a:xfrm>
            <a:off x="5029200" y="5867400"/>
            <a:ext cx="528638" cy="769938"/>
          </a:xfrm>
          <a:prstGeom prst="rect">
            <a:avLst/>
          </a:prstGeom>
          <a:solidFill>
            <a:srgbClr val="FFFF66">
              <a:alpha val="0"/>
            </a:srgbClr>
          </a:solidFill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4400" b="1">
                <a:solidFill>
                  <a:srgbClr val="CC0000"/>
                </a:solidFill>
              </a:rPr>
              <a:t>1</a:t>
            </a:r>
          </a:p>
        </p:txBody>
      </p:sp>
      <p:sp>
        <p:nvSpPr>
          <p:cNvPr id="303116" name="Text Box 12"/>
          <p:cNvSpPr txBox="1">
            <a:spLocks noChangeArrowheads="1"/>
          </p:cNvSpPr>
          <p:nvPr/>
        </p:nvSpPr>
        <p:spPr bwMode="auto">
          <a:xfrm>
            <a:off x="3352800" y="4953000"/>
            <a:ext cx="528638" cy="769938"/>
          </a:xfrm>
          <a:prstGeom prst="rect">
            <a:avLst/>
          </a:prstGeom>
          <a:solidFill>
            <a:srgbClr val="FFFF66">
              <a:alpha val="0"/>
            </a:srgbClr>
          </a:solidFill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4400" b="1">
                <a:solidFill>
                  <a:srgbClr val="CC0000"/>
                </a:solidFill>
              </a:rPr>
              <a:t>2</a:t>
            </a:r>
          </a:p>
        </p:txBody>
      </p:sp>
      <p:sp>
        <p:nvSpPr>
          <p:cNvPr id="303117" name="Text Box 13"/>
          <p:cNvSpPr txBox="1">
            <a:spLocks noChangeArrowheads="1"/>
          </p:cNvSpPr>
          <p:nvPr/>
        </p:nvSpPr>
        <p:spPr bwMode="auto">
          <a:xfrm>
            <a:off x="3352800" y="5867400"/>
            <a:ext cx="528638" cy="769938"/>
          </a:xfrm>
          <a:prstGeom prst="rect">
            <a:avLst/>
          </a:prstGeom>
          <a:solidFill>
            <a:srgbClr val="FFFF66">
              <a:alpha val="0"/>
            </a:srgbClr>
          </a:solidFill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4400" b="1">
                <a:solidFill>
                  <a:srgbClr val="CC0000"/>
                </a:solidFill>
              </a:rPr>
              <a:t>2</a:t>
            </a:r>
          </a:p>
        </p:txBody>
      </p:sp>
      <p:sp>
        <p:nvSpPr>
          <p:cNvPr id="303118" name="Text Box 14"/>
          <p:cNvSpPr txBox="1">
            <a:spLocks noChangeArrowheads="1"/>
          </p:cNvSpPr>
          <p:nvPr/>
        </p:nvSpPr>
        <p:spPr bwMode="auto">
          <a:xfrm>
            <a:off x="6096000" y="4953000"/>
            <a:ext cx="528638" cy="769938"/>
          </a:xfrm>
          <a:prstGeom prst="rect">
            <a:avLst/>
          </a:prstGeom>
          <a:solidFill>
            <a:srgbClr val="FFFF66">
              <a:alpha val="0"/>
            </a:srgbClr>
          </a:solidFill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4400" b="1">
                <a:solidFill>
                  <a:srgbClr val="CC0000"/>
                </a:solidFill>
              </a:rPr>
              <a:t>2</a:t>
            </a:r>
          </a:p>
        </p:txBody>
      </p:sp>
      <p:sp>
        <p:nvSpPr>
          <p:cNvPr id="303119" name="Text Box 15"/>
          <p:cNvSpPr txBox="1">
            <a:spLocks noChangeArrowheads="1"/>
          </p:cNvSpPr>
          <p:nvPr/>
        </p:nvSpPr>
        <p:spPr bwMode="auto">
          <a:xfrm>
            <a:off x="6096000" y="5867400"/>
            <a:ext cx="528638" cy="769938"/>
          </a:xfrm>
          <a:prstGeom prst="rect">
            <a:avLst/>
          </a:prstGeom>
          <a:solidFill>
            <a:srgbClr val="FFFF66">
              <a:alpha val="0"/>
            </a:srgbClr>
          </a:solidFill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4400" b="1">
                <a:solidFill>
                  <a:srgbClr val="CC0000"/>
                </a:solidFill>
              </a:rPr>
              <a:t>2</a:t>
            </a:r>
          </a:p>
        </p:txBody>
      </p:sp>
      <p:sp>
        <p:nvSpPr>
          <p:cNvPr id="303120" name="Text Box 16"/>
          <p:cNvSpPr txBox="1">
            <a:spLocks noChangeArrowheads="1"/>
          </p:cNvSpPr>
          <p:nvPr/>
        </p:nvSpPr>
        <p:spPr bwMode="auto">
          <a:xfrm>
            <a:off x="7772400" y="4953000"/>
            <a:ext cx="1219200" cy="769938"/>
          </a:xfrm>
          <a:prstGeom prst="rect">
            <a:avLst/>
          </a:prstGeom>
          <a:solidFill>
            <a:srgbClr val="FFFF66">
              <a:alpha val="0"/>
            </a:srgbClr>
          </a:solidFill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4400" b="1">
                <a:solidFill>
                  <a:srgbClr val="CC0000"/>
                </a:solidFill>
              </a:rPr>
              <a:t>350</a:t>
            </a:r>
          </a:p>
        </p:txBody>
      </p:sp>
      <p:sp>
        <p:nvSpPr>
          <p:cNvPr id="303121" name="Text Box 17"/>
          <p:cNvSpPr txBox="1">
            <a:spLocks noChangeArrowheads="1"/>
          </p:cNvSpPr>
          <p:nvPr/>
        </p:nvSpPr>
        <p:spPr bwMode="auto">
          <a:xfrm>
            <a:off x="7772400" y="5867400"/>
            <a:ext cx="1219200" cy="769938"/>
          </a:xfrm>
          <a:prstGeom prst="rect">
            <a:avLst/>
          </a:prstGeom>
          <a:solidFill>
            <a:srgbClr val="FFFF66">
              <a:alpha val="0"/>
            </a:srgbClr>
          </a:solidFill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4400" b="1">
                <a:solidFill>
                  <a:srgbClr val="CC0000"/>
                </a:solidFill>
              </a:rPr>
              <a:t>500</a:t>
            </a:r>
          </a:p>
        </p:txBody>
      </p:sp>
      <p:sp>
        <p:nvSpPr>
          <p:cNvPr id="15" name="Text Box 17"/>
          <p:cNvSpPr txBox="1">
            <a:spLocks noChangeArrowheads="1"/>
          </p:cNvSpPr>
          <p:nvPr/>
        </p:nvSpPr>
        <p:spPr bwMode="auto">
          <a:xfrm>
            <a:off x="7162800" y="2286000"/>
            <a:ext cx="1752600" cy="523875"/>
          </a:xfrm>
          <a:prstGeom prst="rect">
            <a:avLst/>
          </a:prstGeom>
          <a:solidFill>
            <a:srgbClr val="FFFF66">
              <a:alpha val="0"/>
            </a:srgbClr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2800" b="1">
                <a:solidFill>
                  <a:srgbClr val="CC0000"/>
                </a:solidFill>
              </a:rPr>
              <a:t>Real GDP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03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303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303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303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303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303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303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303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303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" dur="500"/>
                                        <p:tgtEl>
                                          <p:spTgt spid="303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3112" grpId="0" animBg="1"/>
      <p:bldP spid="303113" grpId="0" animBg="1"/>
      <p:bldP spid="303114" grpId="0" animBg="1"/>
      <p:bldP spid="303115" grpId="0" animBg="1"/>
      <p:bldP spid="303116" grpId="0" animBg="1"/>
      <p:bldP spid="303117" grpId="0" animBg="1"/>
      <p:bldP spid="303118" grpId="0" animBg="1"/>
      <p:bldP spid="303119" grpId="0" animBg="1"/>
      <p:bldP spid="303120" grpId="0" animBg="1"/>
      <p:bldP spid="303121" grpId="0" animBg="1"/>
      <p:bldP spid="15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6E6C1A08-CCFB-4B56-8BC1-95B1442FA338}" type="slidenum">
              <a:rPr lang="en-US" smtClean="0"/>
              <a:pPr/>
              <a:t>13</a:t>
            </a:fld>
            <a:endParaRPr lang="en-US" smtClean="0"/>
          </a:p>
        </p:txBody>
      </p:sp>
      <p:sp>
        <p:nvSpPr>
          <p:cNvPr id="10035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069975"/>
            <a:ext cx="8229600" cy="606425"/>
          </a:xfrm>
        </p:spPr>
        <p:txBody>
          <a:bodyPr/>
          <a:lstStyle/>
          <a:p>
            <a:pPr eaLnBrk="1" hangingPunct="1"/>
            <a:r>
              <a:rPr lang="en-US" dirty="0" smtClean="0"/>
              <a:t>Real GDP: Use </a:t>
            </a:r>
            <a:r>
              <a:rPr lang="en-US" dirty="0" smtClean="0">
                <a:solidFill>
                  <a:srgbClr val="FFFF00"/>
                </a:solidFill>
              </a:rPr>
              <a:t>Constant</a:t>
            </a:r>
            <a:r>
              <a:rPr lang="en-US" dirty="0" smtClean="0"/>
              <a:t> Prices</a:t>
            </a:r>
          </a:p>
        </p:txBody>
      </p:sp>
      <p:sp>
        <p:nvSpPr>
          <p:cNvPr id="5125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0" y="1981200"/>
            <a:ext cx="7772400" cy="4114800"/>
          </a:xfrm>
        </p:spPr>
        <p:txBody>
          <a:bodyPr/>
          <a:lstStyle/>
          <a:p>
            <a:pPr eaLnBrk="1" hangingPunct="1">
              <a:buFont typeface="Wingdings" pitchFamily="2" charset="2"/>
              <a:buNone/>
            </a:pPr>
            <a:endParaRPr lang="en-US" smtClean="0"/>
          </a:p>
          <a:p>
            <a:pPr eaLnBrk="1" hangingPunct="1">
              <a:buFont typeface="Wingdings" pitchFamily="2" charset="2"/>
              <a:buNone/>
            </a:pPr>
            <a:endParaRPr lang="en-US" smtClean="0"/>
          </a:p>
        </p:txBody>
      </p:sp>
      <p:graphicFrame>
        <p:nvGraphicFramePr>
          <p:cNvPr id="5122" name="Object 4"/>
          <p:cNvGraphicFramePr>
            <a:graphicFrameLocks noChangeAspect="1"/>
          </p:cNvGraphicFramePr>
          <p:nvPr>
            <p:ph type="chart" idx="1"/>
          </p:nvPr>
        </p:nvGraphicFramePr>
        <p:xfrm>
          <a:off x="381000" y="1828800"/>
          <a:ext cx="8458200" cy="4648200"/>
        </p:xfrm>
        <a:graphic>
          <a:graphicData uri="http://schemas.openxmlformats.org/presentationml/2006/ole">
            <p:oleObj spid="_x0000_s5122" name="Worksheet" r:id="rId4" imgW="8153400" imgH="1962150" progId="Excel.Sheet.8">
              <p:embed/>
            </p:oleObj>
          </a:graphicData>
        </a:graphic>
      </p:graphicFrame>
      <p:sp>
        <p:nvSpPr>
          <p:cNvPr id="100360" name="Oval 8"/>
          <p:cNvSpPr>
            <a:spLocks noChangeArrowheads="1"/>
          </p:cNvSpPr>
          <p:nvPr/>
        </p:nvSpPr>
        <p:spPr bwMode="auto">
          <a:xfrm>
            <a:off x="1600200" y="3886200"/>
            <a:ext cx="762000" cy="762000"/>
          </a:xfrm>
          <a:prstGeom prst="ellipse">
            <a:avLst/>
          </a:prstGeom>
          <a:noFill/>
          <a:ln w="57150">
            <a:solidFill>
              <a:srgbClr val="CC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00361" name="Oval 9"/>
          <p:cNvSpPr>
            <a:spLocks noChangeArrowheads="1"/>
          </p:cNvSpPr>
          <p:nvPr/>
        </p:nvSpPr>
        <p:spPr bwMode="auto">
          <a:xfrm>
            <a:off x="3733800" y="3886200"/>
            <a:ext cx="762000" cy="762000"/>
          </a:xfrm>
          <a:prstGeom prst="ellipse">
            <a:avLst/>
          </a:prstGeom>
          <a:noFill/>
          <a:ln w="76200">
            <a:solidFill>
              <a:srgbClr val="CC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00364" name="Line 12"/>
          <p:cNvSpPr>
            <a:spLocks noChangeShapeType="1"/>
          </p:cNvSpPr>
          <p:nvPr/>
        </p:nvSpPr>
        <p:spPr bwMode="auto">
          <a:xfrm flipH="1">
            <a:off x="2209800" y="1600200"/>
            <a:ext cx="3200400" cy="2362200"/>
          </a:xfrm>
          <a:prstGeom prst="line">
            <a:avLst/>
          </a:prstGeom>
          <a:noFill/>
          <a:ln w="76200">
            <a:solidFill>
              <a:srgbClr val="CC0000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00365" name="Line 13"/>
          <p:cNvSpPr>
            <a:spLocks noChangeShapeType="1"/>
          </p:cNvSpPr>
          <p:nvPr/>
        </p:nvSpPr>
        <p:spPr bwMode="auto">
          <a:xfrm flipH="1">
            <a:off x="4267200" y="1600200"/>
            <a:ext cx="1143000" cy="2362200"/>
          </a:xfrm>
          <a:prstGeom prst="line">
            <a:avLst/>
          </a:prstGeom>
          <a:noFill/>
          <a:ln w="76200">
            <a:solidFill>
              <a:srgbClr val="CC0000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00359" name="Text Box 7"/>
          <p:cNvSpPr txBox="1">
            <a:spLocks noChangeArrowheads="1"/>
          </p:cNvSpPr>
          <p:nvPr/>
        </p:nvSpPr>
        <p:spPr bwMode="auto">
          <a:xfrm>
            <a:off x="914400" y="4572000"/>
            <a:ext cx="6992876" cy="523220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en-US" sz="2800" b="1" dirty="0">
                <a:solidFill>
                  <a:srgbClr val="00B050"/>
                </a:solidFill>
              </a:rPr>
              <a:t>Use base year prices to compute REAL GDP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000" fill="hold"/>
                                        <p:tgtEl>
                                          <p:spTgt spid="1003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000" fill="hold"/>
                                        <p:tgtEl>
                                          <p:spTgt spid="1003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2000"/>
                                        <p:tgtEl>
                                          <p:spTgt spid="1003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2000"/>
                                        <p:tgtEl>
                                          <p:spTgt spid="1003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0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00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2000" fill="hold"/>
                                        <p:tgtEl>
                                          <p:spTgt spid="10036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2000" fill="hold"/>
                                        <p:tgtEl>
                                          <p:spTgt spid="10036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2000" fill="hold"/>
                                        <p:tgtEl>
                                          <p:spTgt spid="10036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2000" fill="hold"/>
                                        <p:tgtEl>
                                          <p:spTgt spid="10036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0354" grpId="0" autoUpdateAnimBg="0"/>
      <p:bldP spid="100360" grpId="0" animBg="1"/>
      <p:bldP spid="100361" grpId="0" animBg="1"/>
      <p:bldP spid="100364" grpId="0" animBg="1"/>
      <p:bldP spid="100365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069975"/>
            <a:ext cx="8229600" cy="606425"/>
          </a:xfrm>
        </p:spPr>
        <p:txBody>
          <a:bodyPr/>
          <a:lstStyle/>
          <a:p>
            <a:pPr eaLnBrk="1" hangingPunct="1"/>
            <a:r>
              <a:rPr lang="en-US" u="sng" dirty="0" smtClean="0"/>
              <a:t>Real GDP</a:t>
            </a:r>
          </a:p>
        </p:txBody>
      </p:sp>
      <p:sp>
        <p:nvSpPr>
          <p:cNvPr id="972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828800"/>
            <a:ext cx="8458200" cy="4302125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z="3600" dirty="0" smtClean="0"/>
              <a:t>For </a:t>
            </a:r>
            <a:r>
              <a:rPr lang="en-US" sz="3600" dirty="0" smtClean="0">
                <a:solidFill>
                  <a:srgbClr val="FFFF00"/>
                </a:solidFill>
              </a:rPr>
              <a:t>Real</a:t>
            </a:r>
            <a:r>
              <a:rPr lang="en-US" sz="3600" dirty="0" smtClean="0"/>
              <a:t> GDP, we multiply quantities purchased by the price at which they were sold on </a:t>
            </a:r>
            <a:r>
              <a:rPr lang="en-US" sz="3600" dirty="0" smtClean="0">
                <a:solidFill>
                  <a:srgbClr val="FFFF00"/>
                </a:solidFill>
              </a:rPr>
              <a:t>the base year</a:t>
            </a:r>
            <a:r>
              <a:rPr lang="en-US" sz="3600" dirty="0" smtClean="0"/>
              <a:t>.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sz="3600" b="1" u="sng" dirty="0" smtClean="0">
                <a:solidFill>
                  <a:srgbClr val="FFFF00"/>
                </a:solidFill>
              </a:rPr>
              <a:t>Example</a:t>
            </a:r>
            <a:r>
              <a:rPr lang="en-US" sz="3600" b="1" dirty="0" smtClean="0">
                <a:solidFill>
                  <a:srgbClr val="FFFF00"/>
                </a:solidFill>
              </a:rPr>
              <a:t>: For 2009 GDP, we use prices prevailing in </a:t>
            </a:r>
            <a:r>
              <a:rPr lang="en-US" sz="3600" b="1" dirty="0" smtClean="0">
                <a:solidFill>
                  <a:srgbClr val="FF0000"/>
                </a:solidFill>
              </a:rPr>
              <a:t>base year.</a:t>
            </a:r>
            <a:endParaRPr lang="en-US" sz="3600" b="1" dirty="0" smtClean="0">
              <a:solidFill>
                <a:srgbClr val="336600"/>
              </a:solidFill>
            </a:endParaRPr>
          </a:p>
          <a:p>
            <a:pPr eaLnBrk="1" hangingPunct="1">
              <a:lnSpc>
                <a:spcPct val="90000"/>
              </a:lnSpc>
            </a:pPr>
            <a:r>
              <a:rPr lang="en-US" sz="3600" dirty="0" smtClean="0"/>
              <a:t>Because we use prices of </a:t>
            </a:r>
            <a:r>
              <a:rPr lang="en-US" sz="3600" b="1" dirty="0" smtClean="0">
                <a:solidFill>
                  <a:srgbClr val="FF0000"/>
                </a:solidFill>
              </a:rPr>
              <a:t>base year</a:t>
            </a:r>
            <a:r>
              <a:rPr lang="en-US" sz="3600" dirty="0" smtClean="0">
                <a:solidFill>
                  <a:srgbClr val="FF0000"/>
                </a:solidFill>
              </a:rPr>
              <a:t> </a:t>
            </a:r>
            <a:r>
              <a:rPr lang="en-US" sz="3600" dirty="0" smtClean="0"/>
              <a:t>to compute GDP for </a:t>
            </a:r>
            <a:r>
              <a:rPr lang="en-US" sz="3600" b="1" dirty="0" smtClean="0">
                <a:solidFill>
                  <a:srgbClr val="FFFF00"/>
                </a:solidFill>
              </a:rPr>
              <a:t>2009</a:t>
            </a:r>
            <a:r>
              <a:rPr lang="en-US" sz="3600" b="1" dirty="0" smtClean="0">
                <a:solidFill>
                  <a:srgbClr val="336600"/>
                </a:solidFill>
              </a:rPr>
              <a:t> </a:t>
            </a:r>
            <a:r>
              <a:rPr lang="en-US" sz="3600" dirty="0" smtClean="0"/>
              <a:t>, we say that we used “</a:t>
            </a:r>
            <a:r>
              <a:rPr lang="en-US" sz="3600" b="1" dirty="0" smtClean="0">
                <a:solidFill>
                  <a:srgbClr val="FF0000"/>
                </a:solidFill>
              </a:rPr>
              <a:t>constant</a:t>
            </a:r>
            <a:r>
              <a:rPr lang="en-US" sz="3600" dirty="0" smtClean="0"/>
              <a:t>” prices.</a:t>
            </a:r>
          </a:p>
        </p:txBody>
      </p:sp>
      <p:sp>
        <p:nvSpPr>
          <p:cNvPr id="97284" name="AutoShape 4"/>
          <p:cNvSpPr>
            <a:spLocks noChangeArrowheads="1"/>
          </p:cNvSpPr>
          <p:nvPr/>
        </p:nvSpPr>
        <p:spPr bwMode="auto">
          <a:xfrm>
            <a:off x="5411788" y="277744"/>
            <a:ext cx="3346450" cy="1168539"/>
          </a:xfrm>
          <a:prstGeom prst="wedgeEllipseCallout">
            <a:avLst>
              <a:gd name="adj1" fmla="val -92083"/>
              <a:gd name="adj2" fmla="val 34356"/>
            </a:avLst>
          </a:prstGeom>
          <a:solidFill>
            <a:schemeClr val="accent1">
              <a:lumMod val="20000"/>
              <a:lumOff val="80000"/>
            </a:schemeClr>
          </a:solidFill>
          <a:ln w="9525">
            <a:noFill/>
            <a:miter lim="800000"/>
            <a:headEnd/>
            <a:tailEnd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anchor="ctr">
            <a:spAutoFit/>
          </a:bodyPr>
          <a:lstStyle/>
          <a:p>
            <a:pPr algn="ctr">
              <a:defRPr/>
            </a:pPr>
            <a:r>
              <a:rPr lang="en-US" sz="2400" b="1" dirty="0">
                <a:solidFill>
                  <a:schemeClr val="bg2"/>
                </a:solidFill>
              </a:rPr>
              <a:t>GDP at constant prices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FDDF116-4DF1-4A14-9DCD-24790FF55EB2}" type="slidenum">
              <a:rPr lang="en-US" smtClean="0"/>
              <a:pPr/>
              <a:t>14</a:t>
            </a:fld>
            <a:endParaRPr 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800" decel="100000"/>
                                        <p:tgtEl>
                                          <p:spTgt spid="9728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800" decel="100000" fill="hold"/>
                                        <p:tgtEl>
                                          <p:spTgt spid="9728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800" decel="100000" fill="hold"/>
                                        <p:tgtEl>
                                          <p:spTgt spid="972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800" decel="100000" fill="hold"/>
                                        <p:tgtEl>
                                          <p:spTgt spid="972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972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972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800" decel="100000"/>
                                        <p:tgtEl>
                                          <p:spTgt spid="972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800" decel="100000" fill="hold"/>
                                        <p:tgtEl>
                                          <p:spTgt spid="972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800" decel="100000" fill="hold"/>
                                        <p:tgtEl>
                                          <p:spTgt spid="972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800" decel="100000" fill="hold"/>
                                        <p:tgtEl>
                                          <p:spTgt spid="972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972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972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800" decel="100000"/>
                                        <p:tgtEl>
                                          <p:spTgt spid="972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800" decel="100000" fill="hold"/>
                                        <p:tgtEl>
                                          <p:spTgt spid="972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800" decel="100000" fill="hold"/>
                                        <p:tgtEl>
                                          <p:spTgt spid="972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800" decel="100000" fill="hold"/>
                                        <p:tgtEl>
                                          <p:spTgt spid="972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972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972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800" decel="100000"/>
                                        <p:tgtEl>
                                          <p:spTgt spid="972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800" decel="100000" fill="hold"/>
                                        <p:tgtEl>
                                          <p:spTgt spid="972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800" decel="100000" fill="hold"/>
                                        <p:tgtEl>
                                          <p:spTgt spid="972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800" decel="100000" fill="hold"/>
                                        <p:tgtEl>
                                          <p:spTgt spid="972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972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972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2000"/>
                                        <p:tgtEl>
                                          <p:spTgt spid="972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7282" grpId="0" autoUpdateAnimBg="0"/>
      <p:bldP spid="97283" grpId="0" uiExpand="1" build="p" autoUpdateAnimBg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eaLnBrk="1" hangingPunct="1"/>
            <a:r>
              <a:rPr lang="en-US" u="sng" dirty="0" smtClean="0">
                <a:effectLst/>
              </a:rPr>
              <a:t>Potential GDP:</a:t>
            </a:r>
          </a:p>
        </p:txBody>
      </p:sp>
      <p:sp>
        <p:nvSpPr>
          <p:cNvPr id="82948" name="Rectangle 4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algn="l" eaLnBrk="1" hangingPunct="1"/>
            <a:r>
              <a:rPr lang="en-US" dirty="0" smtClean="0"/>
              <a:t>It is the real GDP that the economy produces when </a:t>
            </a:r>
            <a:r>
              <a:rPr lang="en-US" dirty="0" smtClean="0">
                <a:solidFill>
                  <a:srgbClr val="FFFF00"/>
                </a:solidFill>
              </a:rPr>
              <a:t>all</a:t>
            </a:r>
            <a:r>
              <a:rPr lang="en-US" dirty="0" smtClean="0"/>
              <a:t> workers and factories (all resources) are fully employed.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FDDF116-4DF1-4A14-9DCD-24790FF55EB2}" type="slidenum">
              <a:rPr lang="en-US" smtClean="0"/>
              <a:pPr/>
              <a:t>15</a:t>
            </a:fld>
            <a:endParaRPr 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2000"/>
                                        <p:tgtEl>
                                          <p:spTgt spid="829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800" decel="100000"/>
                                        <p:tgtEl>
                                          <p:spTgt spid="829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800" decel="100000" fill="hold"/>
                                        <p:tgtEl>
                                          <p:spTgt spid="829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800" decel="100000" fill="hold"/>
                                        <p:tgtEl>
                                          <p:spTgt spid="829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800" decel="100000" fill="hold"/>
                                        <p:tgtEl>
                                          <p:spTgt spid="829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829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829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2947" grpId="0"/>
      <p:bldP spid="82948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1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eaLnBrk="1" hangingPunct="1"/>
            <a:r>
              <a:rPr lang="en-US" u="sng" dirty="0" smtClean="0"/>
              <a:t>Economic Growth:</a:t>
            </a:r>
          </a:p>
        </p:txBody>
      </p:sp>
      <p:sp>
        <p:nvSpPr>
          <p:cNvPr id="223237" name="Rectangle 5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sz="3600" dirty="0" smtClean="0"/>
              <a:t>Increases in GDP come from:</a:t>
            </a:r>
          </a:p>
          <a:p>
            <a:pPr lvl="1"/>
            <a:r>
              <a:rPr lang="en-US" sz="3200" dirty="0" smtClean="0"/>
              <a:t>Increases in the number of workers (labor resources) and/or</a:t>
            </a:r>
          </a:p>
          <a:p>
            <a:pPr lvl="1"/>
            <a:r>
              <a:rPr lang="en-US" sz="3200" dirty="0" smtClean="0"/>
              <a:t>Increases in the number of factories (capital stock) and/or</a:t>
            </a:r>
          </a:p>
          <a:p>
            <a:pPr lvl="1"/>
            <a:r>
              <a:rPr lang="en-US" sz="3200" dirty="0" smtClean="0"/>
              <a:t>Improvements in technology</a:t>
            </a:r>
          </a:p>
        </p:txBody>
      </p:sp>
      <p:sp>
        <p:nvSpPr>
          <p:cNvPr id="83970" name="Rectangle 7"/>
          <p:cNvSpPr>
            <a:spLocks noGrp="1" noChangeArrowheads="1"/>
          </p:cNvSpPr>
          <p:nvPr>
            <p:ph type="sldNum" sz="quarter" idx="11"/>
          </p:nvPr>
        </p:nvSpPr>
        <p:spPr>
          <a:prstGeom prst="rect">
            <a:avLst/>
          </a:prstGeom>
          <a:noFill/>
        </p:spPr>
        <p:txBody>
          <a:bodyPr/>
          <a:lstStyle/>
          <a:p>
            <a:fld id="{C52559ED-1181-40F7-8941-250991C29E5C}" type="slidenum">
              <a:rPr lang="en-US" smtClean="0"/>
              <a:pPr/>
              <a:t>16</a:t>
            </a:fld>
            <a:endParaRPr lang="en-US" smtClean="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2000"/>
                                        <p:tgtEl>
                                          <p:spTgt spid="839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2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800" decel="100000"/>
                                        <p:tgtEl>
                                          <p:spTgt spid="2232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800" decel="100000" fill="hold"/>
                                        <p:tgtEl>
                                          <p:spTgt spid="2232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800" decel="100000" fill="hold"/>
                                        <p:tgtEl>
                                          <p:spTgt spid="2232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800" decel="100000" fill="hold"/>
                                        <p:tgtEl>
                                          <p:spTgt spid="2232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2232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2232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23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800" decel="100000"/>
                                        <p:tgtEl>
                                          <p:spTgt spid="22323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800" decel="100000" fill="hold"/>
                                        <p:tgtEl>
                                          <p:spTgt spid="22323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800" decel="100000" fill="hold"/>
                                        <p:tgtEl>
                                          <p:spTgt spid="22323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800" decel="100000" fill="hold"/>
                                        <p:tgtEl>
                                          <p:spTgt spid="22323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22323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22323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23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800" decel="100000"/>
                                        <p:tgtEl>
                                          <p:spTgt spid="22323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800" decel="100000" fill="hold"/>
                                        <p:tgtEl>
                                          <p:spTgt spid="22323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800" decel="100000" fill="hold"/>
                                        <p:tgtEl>
                                          <p:spTgt spid="22323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800" decel="100000" fill="hold"/>
                                        <p:tgtEl>
                                          <p:spTgt spid="22323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22323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22323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23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800" decel="100000"/>
                                        <p:tgtEl>
                                          <p:spTgt spid="22323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800" decel="100000" fill="hold"/>
                                        <p:tgtEl>
                                          <p:spTgt spid="22323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800" decel="100000" fill="hold"/>
                                        <p:tgtEl>
                                          <p:spTgt spid="22323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800" decel="100000" fill="hold"/>
                                        <p:tgtEl>
                                          <p:spTgt spid="22323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22323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22323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3971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Title 1"/>
          <p:cNvSpPr>
            <a:spLocks noGrp="1"/>
          </p:cNvSpPr>
          <p:nvPr>
            <p:ph type="title"/>
          </p:nvPr>
        </p:nvSpPr>
        <p:spPr>
          <a:xfrm>
            <a:off x="533400" y="685800"/>
            <a:ext cx="8229600" cy="1143000"/>
          </a:xfrm>
        </p:spPr>
        <p:txBody>
          <a:bodyPr/>
          <a:lstStyle/>
          <a:p>
            <a:pPr algn="l"/>
            <a:r>
              <a:rPr lang="en-US" b="0" dirty="0" smtClean="0">
                <a:effectLst/>
              </a:rPr>
              <a:t>(Cont.)</a:t>
            </a:r>
          </a:p>
        </p:txBody>
      </p:sp>
      <p:sp>
        <p:nvSpPr>
          <p:cNvPr id="78851" name="Content Placeholder 2"/>
          <p:cNvSpPr>
            <a:spLocks noGrp="1"/>
          </p:cNvSpPr>
          <p:nvPr>
            <p:ph idx="1"/>
          </p:nvPr>
        </p:nvSpPr>
        <p:spPr>
          <a:xfrm>
            <a:off x="609600" y="1905000"/>
            <a:ext cx="8229600" cy="2590800"/>
          </a:xfrm>
        </p:spPr>
        <p:txBody>
          <a:bodyPr/>
          <a:lstStyle/>
          <a:p>
            <a:pPr>
              <a:buNone/>
            </a:pPr>
            <a:r>
              <a:rPr lang="en-US" dirty="0" smtClean="0"/>
              <a:t>The growth rate of potential GDP depends on:</a:t>
            </a:r>
          </a:p>
          <a:p>
            <a:r>
              <a:rPr lang="en-US" dirty="0" smtClean="0"/>
              <a:t>The growth rate of the labor force</a:t>
            </a:r>
          </a:p>
          <a:p>
            <a:r>
              <a:rPr lang="en-US" dirty="0" smtClean="0"/>
              <a:t>The growth rate of the nation’s capital stock</a:t>
            </a:r>
          </a:p>
          <a:p>
            <a:r>
              <a:rPr lang="en-US" dirty="0" smtClean="0"/>
              <a:t>The rate of technical progress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FDDF116-4DF1-4A14-9DCD-24790FF55EB2}" type="slidenum">
              <a:rPr lang="en-US" smtClean="0"/>
              <a:pPr/>
              <a:t>17</a:t>
            </a:fld>
            <a:endParaRPr 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800" decel="100000"/>
                                        <p:tgtEl>
                                          <p:spTgt spid="788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800" decel="100000" fill="hold"/>
                                        <p:tgtEl>
                                          <p:spTgt spid="788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800" decel="100000" fill="hold"/>
                                        <p:tgtEl>
                                          <p:spTgt spid="788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800" decel="100000" fill="hold"/>
                                        <p:tgtEl>
                                          <p:spTgt spid="788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788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788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800" decel="100000"/>
                                        <p:tgtEl>
                                          <p:spTgt spid="788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800" decel="100000" fill="hold"/>
                                        <p:tgtEl>
                                          <p:spTgt spid="788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800" decel="100000" fill="hold"/>
                                        <p:tgtEl>
                                          <p:spTgt spid="788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800" decel="100000" fill="hold"/>
                                        <p:tgtEl>
                                          <p:spTgt spid="788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788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788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800" decel="100000"/>
                                        <p:tgtEl>
                                          <p:spTgt spid="788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800" decel="100000" fill="hold"/>
                                        <p:tgtEl>
                                          <p:spTgt spid="788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800" decel="100000" fill="hold"/>
                                        <p:tgtEl>
                                          <p:spTgt spid="788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800" decel="100000" fill="hold"/>
                                        <p:tgtEl>
                                          <p:spTgt spid="788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788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788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800" decel="100000"/>
                                        <p:tgtEl>
                                          <p:spTgt spid="788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800" decel="100000" fill="hold"/>
                                        <p:tgtEl>
                                          <p:spTgt spid="788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800" decel="100000" fill="hold"/>
                                        <p:tgtEl>
                                          <p:spTgt spid="788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800" decel="100000" fill="hold"/>
                                        <p:tgtEl>
                                          <p:spTgt spid="788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788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788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u="sng" dirty="0" smtClean="0">
                <a:latin typeface="+mn-lt"/>
              </a:rPr>
              <a:t>The Circular Flow of Income:</a:t>
            </a:r>
            <a:endParaRPr lang="en-US" u="sng" dirty="0">
              <a:latin typeface="+mn-lt"/>
            </a:endParaRPr>
          </a:p>
        </p:txBody>
      </p:sp>
      <p:pic>
        <p:nvPicPr>
          <p:cNvPr id="5" name="Content Placeholder 4" descr="http://1.bp.blogspot.com/-r_0ZB3Vxr_M/TmaGJ23sOCI/AAAAAAAAAMs/8kWFRUSadCU/s320/Circular_flow_of_goods_income.png">
            <a:hlinkClick r:id="rId2"/>
          </p:cNvPr>
          <p:cNvPicPr>
            <a:picLocks noGrp="1"/>
          </p:cNvPicPr>
          <p:nvPr>
            <p:ph idx="1"/>
          </p:nvPr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143000" y="2057400"/>
            <a:ext cx="6781800" cy="3886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FDDF116-4DF1-4A14-9DCD-24790FF55EB2}" type="slidenum">
              <a:rPr lang="en-US" smtClean="0"/>
              <a:pPr/>
              <a:t>18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u="sng" dirty="0" smtClean="0">
                <a:latin typeface="+mn-lt"/>
              </a:rPr>
              <a:t>(Cont.)</a:t>
            </a:r>
            <a:endParaRPr lang="en-US" dirty="0">
              <a:latin typeface="+mn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600200"/>
            <a:ext cx="8686800" cy="4525963"/>
          </a:xfrm>
        </p:spPr>
        <p:txBody>
          <a:bodyPr/>
          <a:lstStyle/>
          <a:p>
            <a:pPr lvl="0"/>
            <a:r>
              <a:rPr lang="en-US" dirty="0" smtClean="0"/>
              <a:t>Hypothetical two-sector economy (households and businesses – consumers and producers/investors).</a:t>
            </a:r>
          </a:p>
          <a:p>
            <a:pPr lvl="0"/>
            <a:r>
              <a:rPr lang="en-US" dirty="0" smtClean="0"/>
              <a:t>Only </a:t>
            </a:r>
            <a:r>
              <a:rPr lang="en-US" u="sng" dirty="0" smtClean="0">
                <a:solidFill>
                  <a:srgbClr val="FFFF00"/>
                </a:solidFill>
              </a:rPr>
              <a:t>final</a:t>
            </a:r>
            <a:r>
              <a:rPr lang="en-US" dirty="0" smtClean="0"/>
              <a:t> goods included.</a:t>
            </a:r>
          </a:p>
          <a:p>
            <a:pPr lvl="0"/>
            <a:r>
              <a:rPr lang="en-US" dirty="0" smtClean="0"/>
              <a:t>GDP = flow of final products (flow of product or expenditure approach) = flow of costs (earnings or cost or income or value-added approach).</a:t>
            </a:r>
          </a:p>
          <a:p>
            <a:pPr lvl="0"/>
            <a:r>
              <a:rPr lang="en-US" dirty="0" smtClean="0"/>
              <a:t>Profit is a residual cost. It enters the lower loop as factor payment.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FDDF116-4DF1-4A14-9DCD-24790FF55EB2}" type="slidenum">
              <a:rPr lang="en-US" smtClean="0"/>
              <a:pPr/>
              <a:t>19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3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800" decel="100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800" decel="100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800" decel="100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800" decel="100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800" decel="100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800" decel="100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800" decel="100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800" decel="100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3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800" decel="100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800" decel="100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800" decel="100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800" decel="100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800" decel="100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800" decel="100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800" decel="100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800" decel="100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>
                <a:latin typeface="+mn-lt"/>
              </a:rPr>
              <a:t>(Cont.)</a:t>
            </a:r>
            <a:endParaRPr lang="en-US" dirty="0">
              <a:latin typeface="+mn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sz="3600" u="sng" dirty="0" smtClean="0"/>
              <a:t>Expenditure (product) approach to GDP: </a:t>
            </a:r>
          </a:p>
          <a:p>
            <a:pPr>
              <a:buNone/>
            </a:pPr>
            <a:r>
              <a:rPr lang="en-US" dirty="0" smtClean="0"/>
              <a:t>GDP =  Consumption + Investment  (2 sectors)</a:t>
            </a:r>
          </a:p>
          <a:p>
            <a:pPr>
              <a:buNone/>
            </a:pPr>
            <a:r>
              <a:rPr lang="en-US" dirty="0" smtClean="0"/>
              <a:t>GDP = Consumption + Investment + Government exp. on goods and services (3 sectors)</a:t>
            </a:r>
          </a:p>
          <a:p>
            <a:pPr>
              <a:buNone/>
            </a:pPr>
            <a:r>
              <a:rPr lang="en-US" dirty="0" smtClean="0"/>
              <a:t>GDP = Consumption + Investment + Government exp. on goods and services + (Exports – Imports) (4 sectors)</a:t>
            </a:r>
          </a:p>
          <a:p>
            <a:pPr>
              <a:buNone/>
            </a:pPr>
            <a:r>
              <a:rPr lang="en-US" dirty="0" smtClean="0"/>
              <a:t>GDP = C + I + G + (X – M)</a:t>
            </a:r>
          </a:p>
          <a:p>
            <a:r>
              <a:rPr lang="en-US" sz="3600" u="sng" dirty="0" smtClean="0"/>
              <a:t>Earnings (income/value-added) approach to GDP:</a:t>
            </a:r>
          </a:p>
          <a:p>
            <a:pPr>
              <a:buNone/>
            </a:pPr>
            <a:r>
              <a:rPr lang="en-US" dirty="0" smtClean="0"/>
              <a:t>GDP = Wages + Interest + Rents + Profits + Indirect taxes</a:t>
            </a:r>
            <a:endParaRPr lang="en-US" sz="1100" dirty="0" smtClean="0"/>
          </a:p>
          <a:p>
            <a:r>
              <a:rPr lang="en-US" sz="3600" b="1" dirty="0" smtClean="0">
                <a:effectLst/>
              </a:rPr>
              <a:t>The expenditure approach and the earnings (value-added) approach give </a:t>
            </a:r>
            <a:r>
              <a:rPr lang="en-US" sz="3600" b="1" dirty="0" smtClean="0">
                <a:solidFill>
                  <a:srgbClr val="FFFF00"/>
                </a:solidFill>
                <a:effectLst/>
              </a:rPr>
              <a:t>identical</a:t>
            </a:r>
            <a:r>
              <a:rPr lang="en-US" sz="3600" b="1" dirty="0" smtClean="0">
                <a:effectLst/>
              </a:rPr>
              <a:t> results.</a:t>
            </a:r>
          </a:p>
          <a:p>
            <a:endParaRPr lang="en-US" sz="3600" b="1" dirty="0" smtClean="0">
              <a:effectLst/>
            </a:endParaRPr>
          </a:p>
          <a:p>
            <a:pPr>
              <a:buNone/>
            </a:pPr>
            <a:endParaRPr lang="en-US" sz="3600" b="1" dirty="0">
              <a:effectLst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FDDF116-4DF1-4A14-9DCD-24790FF55EB2}" type="slidenum">
              <a:rPr lang="en-US" smtClean="0"/>
              <a:pPr/>
              <a:t>20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800" decel="100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800" decel="100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800" decel="100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800" decel="100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800" decel="100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800" decel="100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800" decel="100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800" decel="100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800" decel="100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800" decel="100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800" decel="100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800" decel="100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800" decel="100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800" decel="100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800" decel="100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800" decel="100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800" decel="100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800" decel="100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800" decel="100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800" decel="100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800" decel="100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800" decel="100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800" decel="100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800" decel="100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3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800" decel="100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800" decel="100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800" decel="100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800" decel="100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3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800" decel="100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800" decel="100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800" decel="100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800" decel="100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lvl="1" indent="-342900">
              <a:buClr>
                <a:schemeClr val="hlink"/>
              </a:buClr>
              <a:buNone/>
            </a:pPr>
            <a:r>
              <a:rPr lang="en-US" b="1" u="sng" dirty="0" smtClean="0"/>
              <a:t>Readings:</a:t>
            </a:r>
            <a:r>
              <a:rPr lang="en-US" b="1" dirty="0" smtClean="0"/>
              <a:t> Samuelson &amp; </a:t>
            </a:r>
            <a:r>
              <a:rPr lang="en-US" b="1" dirty="0" err="1" smtClean="0"/>
              <a:t>Nordhaus</a:t>
            </a:r>
            <a:r>
              <a:rPr lang="en-US" b="1" dirty="0" smtClean="0"/>
              <a:t>, Ch. </a:t>
            </a:r>
            <a:r>
              <a:rPr lang="en-US" b="1" smtClean="0"/>
              <a:t>21</a:t>
            </a:r>
            <a:endParaRPr lang="en-US" b="1" u="sng" smtClean="0"/>
          </a:p>
          <a:p>
            <a:pPr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FDDF116-4DF1-4A14-9DCD-24790FF55EB2}" type="slidenum">
              <a:rPr lang="en-US" smtClean="0"/>
              <a:pPr/>
              <a:t>21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eme1">
  <a:themeElements>
    <a:clrScheme name="Stream 1">
      <a:dk1>
        <a:srgbClr val="000514"/>
      </a:dk1>
      <a:lt1>
        <a:srgbClr val="FFFFFF"/>
      </a:lt1>
      <a:dk2>
        <a:srgbClr val="003399"/>
      </a:dk2>
      <a:lt2>
        <a:srgbClr val="E5E5FF"/>
      </a:lt2>
      <a:accent1>
        <a:srgbClr val="0099CC"/>
      </a:accent1>
      <a:accent2>
        <a:srgbClr val="A886E0"/>
      </a:accent2>
      <a:accent3>
        <a:srgbClr val="AAADCA"/>
      </a:accent3>
      <a:accent4>
        <a:srgbClr val="DADADA"/>
      </a:accent4>
      <a:accent5>
        <a:srgbClr val="AACAE2"/>
      </a:accent5>
      <a:accent6>
        <a:srgbClr val="9879CB"/>
      </a:accent6>
      <a:hlink>
        <a:srgbClr val="FFCC00"/>
      </a:hlink>
      <a:folHlink>
        <a:srgbClr val="FFFFCC"/>
      </a:folHlink>
    </a:clrScheme>
    <a:fontScheme name="Stream">
      <a:majorFont>
        <a:latin typeface="Garamond"/>
        <a:ea typeface=""/>
        <a:cs typeface="Arial"/>
      </a:majorFont>
      <a:minorFont>
        <a:latin typeface="Garamond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cs typeface="Arial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cs typeface="Arial" pitchFamily="34" charset="0"/>
          </a:defRPr>
        </a:defPPr>
      </a:lstStyle>
    </a:lnDef>
  </a:objectDefaults>
  <a:extraClrSchemeLst>
    <a:extraClrScheme>
      <a:clrScheme name="Stream 1">
        <a:dk1>
          <a:srgbClr val="000514"/>
        </a:dk1>
        <a:lt1>
          <a:srgbClr val="FFFFFF"/>
        </a:lt1>
        <a:dk2>
          <a:srgbClr val="003399"/>
        </a:dk2>
        <a:lt2>
          <a:srgbClr val="E5E5FF"/>
        </a:lt2>
        <a:accent1>
          <a:srgbClr val="0099CC"/>
        </a:accent1>
        <a:accent2>
          <a:srgbClr val="A886E0"/>
        </a:accent2>
        <a:accent3>
          <a:srgbClr val="AAADCA"/>
        </a:accent3>
        <a:accent4>
          <a:srgbClr val="DADADA"/>
        </a:accent4>
        <a:accent5>
          <a:srgbClr val="AACAE2"/>
        </a:accent5>
        <a:accent6>
          <a:srgbClr val="9879CB"/>
        </a:accent6>
        <a:hlink>
          <a:srgbClr val="FFCC00"/>
        </a:hlink>
        <a:folHlink>
          <a:srgbClr val="FFFF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ream 2">
        <a:dk1>
          <a:srgbClr val="3E3E5C"/>
        </a:dk1>
        <a:lt1>
          <a:srgbClr val="FFFFFF"/>
        </a:lt1>
        <a:dk2>
          <a:srgbClr val="666699"/>
        </a:dk2>
        <a:lt2>
          <a:srgbClr val="DFDFE9"/>
        </a:lt2>
        <a:accent1>
          <a:srgbClr val="CC66FF"/>
        </a:accent1>
        <a:accent2>
          <a:srgbClr val="679ACD"/>
        </a:accent2>
        <a:accent3>
          <a:srgbClr val="B8B8CA"/>
        </a:accent3>
        <a:accent4>
          <a:srgbClr val="DADADA"/>
        </a:accent4>
        <a:accent5>
          <a:srgbClr val="E2B8FF"/>
        </a:accent5>
        <a:accent6>
          <a:srgbClr val="5D8BBA"/>
        </a:accent6>
        <a:hlink>
          <a:srgbClr val="CCECFF"/>
        </a:hlink>
        <a:folHlink>
          <a:srgbClr val="CCCC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ream 3">
        <a:dk1>
          <a:srgbClr val="2A5400"/>
        </a:dk1>
        <a:lt1>
          <a:srgbClr val="FFFFFF"/>
        </a:lt1>
        <a:dk2>
          <a:srgbClr val="4A9400"/>
        </a:dk2>
        <a:lt2>
          <a:srgbClr val="BAE8BA"/>
        </a:lt2>
        <a:accent1>
          <a:srgbClr val="33CC33"/>
        </a:accent1>
        <a:accent2>
          <a:srgbClr val="99CC00"/>
        </a:accent2>
        <a:accent3>
          <a:srgbClr val="B1C8AA"/>
        </a:accent3>
        <a:accent4>
          <a:srgbClr val="DADADA"/>
        </a:accent4>
        <a:accent5>
          <a:srgbClr val="ADE2AD"/>
        </a:accent5>
        <a:accent6>
          <a:srgbClr val="8AB900"/>
        </a:accent6>
        <a:hlink>
          <a:srgbClr val="99FF33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ream 4">
        <a:dk1>
          <a:srgbClr val="000000"/>
        </a:dk1>
        <a:lt1>
          <a:srgbClr val="FFFFFF"/>
        </a:lt1>
        <a:dk2>
          <a:srgbClr val="51596D"/>
        </a:dk2>
        <a:lt2>
          <a:srgbClr val="DDDDDD"/>
        </a:lt2>
        <a:accent1>
          <a:srgbClr val="787E8A"/>
        </a:accent1>
        <a:accent2>
          <a:srgbClr val="339966"/>
        </a:accent2>
        <a:accent3>
          <a:srgbClr val="B3B5BA"/>
        </a:accent3>
        <a:accent4>
          <a:srgbClr val="DADADA"/>
        </a:accent4>
        <a:accent5>
          <a:srgbClr val="BEC0C4"/>
        </a:accent5>
        <a:accent6>
          <a:srgbClr val="2D8A5C"/>
        </a:accent6>
        <a:hlink>
          <a:srgbClr val="00FFFF"/>
        </a:hlink>
        <a:folHlink>
          <a:srgbClr val="74B6D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ream 5">
        <a:dk1>
          <a:srgbClr val="5C1F00"/>
        </a:dk1>
        <a:lt1>
          <a:srgbClr val="FFFFFF"/>
        </a:lt1>
        <a:dk2>
          <a:srgbClr val="8C0000"/>
        </a:dk2>
        <a:lt2>
          <a:srgbClr val="DFD293"/>
        </a:lt2>
        <a:accent1>
          <a:srgbClr val="FF6845"/>
        </a:accent1>
        <a:accent2>
          <a:srgbClr val="BE7960"/>
        </a:accent2>
        <a:accent3>
          <a:srgbClr val="C5AAAA"/>
        </a:accent3>
        <a:accent4>
          <a:srgbClr val="DADADA"/>
        </a:accent4>
        <a:accent5>
          <a:srgbClr val="FFB9B0"/>
        </a:accent5>
        <a:accent6>
          <a:srgbClr val="AC6D56"/>
        </a:accent6>
        <a:hlink>
          <a:srgbClr val="FFFFCC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ream 6">
        <a:dk1>
          <a:srgbClr val="5E4444"/>
        </a:dk1>
        <a:lt1>
          <a:srgbClr val="F7F3F3"/>
        </a:lt1>
        <a:dk2>
          <a:srgbClr val="8A6362"/>
        </a:dk2>
        <a:lt2>
          <a:srgbClr val="D8C1BA"/>
        </a:lt2>
        <a:accent1>
          <a:srgbClr val="CC6600"/>
        </a:accent1>
        <a:accent2>
          <a:srgbClr val="C16059"/>
        </a:accent2>
        <a:accent3>
          <a:srgbClr val="C4B7B7"/>
        </a:accent3>
        <a:accent4>
          <a:srgbClr val="D3D0D0"/>
        </a:accent4>
        <a:accent5>
          <a:srgbClr val="E2B8AA"/>
        </a:accent5>
        <a:accent6>
          <a:srgbClr val="AF5650"/>
        </a:accent6>
        <a:hlink>
          <a:srgbClr val="FFCC00"/>
        </a:hlink>
        <a:folHlink>
          <a:srgbClr val="CBB55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ream 7">
        <a:dk1>
          <a:srgbClr val="7F6737"/>
        </a:dk1>
        <a:lt1>
          <a:srgbClr val="FFFFFF"/>
        </a:lt1>
        <a:dk2>
          <a:srgbClr val="BFA673"/>
        </a:dk2>
        <a:lt2>
          <a:srgbClr val="E6E3AA"/>
        </a:lt2>
        <a:accent1>
          <a:srgbClr val="FFCC00"/>
        </a:accent1>
        <a:accent2>
          <a:srgbClr val="808000"/>
        </a:accent2>
        <a:accent3>
          <a:srgbClr val="DCD0BC"/>
        </a:accent3>
        <a:accent4>
          <a:srgbClr val="DADADA"/>
        </a:accent4>
        <a:accent5>
          <a:srgbClr val="FFE2AA"/>
        </a:accent5>
        <a:accent6>
          <a:srgbClr val="737300"/>
        </a:accent6>
        <a:hlink>
          <a:srgbClr val="784700"/>
        </a:hlink>
        <a:folHlink>
          <a:srgbClr val="9A72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ream 8">
        <a:dk1>
          <a:srgbClr val="4B2500"/>
        </a:dk1>
        <a:lt1>
          <a:srgbClr val="F9F0D3"/>
        </a:lt1>
        <a:dk2>
          <a:srgbClr val="A69564"/>
        </a:dk2>
        <a:lt2>
          <a:srgbClr val="EFDEAF"/>
        </a:lt2>
        <a:accent1>
          <a:srgbClr val="FFFFE3"/>
        </a:accent1>
        <a:accent2>
          <a:srgbClr val="BFBFA7"/>
        </a:accent2>
        <a:accent3>
          <a:srgbClr val="FBF6E6"/>
        </a:accent3>
        <a:accent4>
          <a:srgbClr val="3F1E00"/>
        </a:accent4>
        <a:accent5>
          <a:srgbClr val="FFFFEF"/>
        </a:accent5>
        <a:accent6>
          <a:srgbClr val="ADAD97"/>
        </a:accent6>
        <a:hlink>
          <a:srgbClr val="7B6D47"/>
        </a:hlink>
        <a:folHlink>
          <a:srgbClr val="A99D2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ream 9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CECFF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E2F4FF"/>
        </a:accent5>
        <a:accent6>
          <a:srgbClr val="2D2D8A"/>
        </a:accent6>
        <a:hlink>
          <a:srgbClr val="6600FF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Theme1</Template>
  <TotalTime>907</TotalTime>
  <Words>883</Words>
  <Application>Microsoft Office PowerPoint</Application>
  <PresentationFormat>On-screen Show (4:3)</PresentationFormat>
  <Paragraphs>118</Paragraphs>
  <Slides>21</Slides>
  <Notes>14</Notes>
  <HiddenSlides>0</HiddenSlides>
  <MMClips>0</MMClips>
  <ScaleCrop>false</ScaleCrop>
  <HeadingPairs>
    <vt:vector size="6" baseType="variant">
      <vt:variant>
        <vt:lpstr>Theme</vt:lpstr>
      </vt:variant>
      <vt:variant>
        <vt:i4>1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Theme1</vt:lpstr>
      <vt:lpstr>Equation</vt:lpstr>
      <vt:lpstr>Worksheet</vt:lpstr>
      <vt:lpstr>NATIONAL  INCOME</vt:lpstr>
      <vt:lpstr>National Income Accounting (NIA) </vt:lpstr>
      <vt:lpstr>Definition of GDP:</vt:lpstr>
      <vt:lpstr>(Cont.)</vt:lpstr>
      <vt:lpstr>(Cont.)</vt:lpstr>
      <vt:lpstr>Real vs. Nominal GDP:</vt:lpstr>
      <vt:lpstr>Nominal GDP</vt:lpstr>
      <vt:lpstr>The sum of expenditures on all goods and services produced over the year</vt:lpstr>
      <vt:lpstr>If prices rise…</vt:lpstr>
      <vt:lpstr>Real GDP:</vt:lpstr>
      <vt:lpstr>(Cont.)</vt:lpstr>
      <vt:lpstr>Slide 12</vt:lpstr>
      <vt:lpstr>Real GDP: Use Constant Prices</vt:lpstr>
      <vt:lpstr>Real GDP</vt:lpstr>
      <vt:lpstr>Potential GDP:</vt:lpstr>
      <vt:lpstr>Economic Growth:</vt:lpstr>
      <vt:lpstr>(Cont.)</vt:lpstr>
      <vt:lpstr>The Circular Flow of Income:</vt:lpstr>
      <vt:lpstr>(Cont.)</vt:lpstr>
      <vt:lpstr>(Cont.)</vt:lpstr>
      <vt:lpstr>Slide 21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Determinants of the National Income</dc:title>
  <dc:creator>User</dc:creator>
  <cp:lastModifiedBy>ProBook</cp:lastModifiedBy>
  <cp:revision>96</cp:revision>
  <dcterms:created xsi:type="dcterms:W3CDTF">2012-02-28T11:15:31Z</dcterms:created>
  <dcterms:modified xsi:type="dcterms:W3CDTF">2016-06-11T10:27:23Z</dcterms:modified>
</cp:coreProperties>
</file>