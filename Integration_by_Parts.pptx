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 by Parts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u dv  =  uv  −  ∫ v du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 II  ·  MAT 128  ·  Student Seminar Presentation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Hiba Omer  ·  Faculty of Computer Science &amp; 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411480" cy="4572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28930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51790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 &amp; Calculus I review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92808"/>
            <a:ext cx="411480" cy="4572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9019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13055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∫u dv = uv − ∫v du come from?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505456"/>
            <a:ext cx="411480" cy="4572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514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LIATE Rule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74320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choose u and dv every time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118104"/>
            <a:ext cx="411480" cy="4572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1272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Log Rule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335584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ln x dx and its family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730752"/>
            <a:ext cx="411480" cy="4572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37398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Techniques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96849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inside IBP, recurrent integration,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hyperbolic functions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343400"/>
            <a:ext cx="411480" cy="4572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435254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Worked Examples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458114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warm-up to the I-trick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Algebra Essentials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4023360" cy="7315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258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before integrating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59105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+ b)²  =  a² + 2ab + b²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4023360" cy="7315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1945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denominators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245973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fractions into simpler terms first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4023360" cy="7315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0632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 laws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332841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xᵃ · xᵇ = xᵃ⁺ᵇ,   (xᵃ)ᵇ = xᵃᵇ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4023360" cy="7315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9319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/ frac exponents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419709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1/xⁿ = x⁻ⁿ,   ⁿ√x = x^(1/n)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280160"/>
            <a:ext cx="4023360" cy="7315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13258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identities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73168" y="159105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ln(ab) = ln a + ln 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ln(aⁿ) = n ln 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148840"/>
            <a:ext cx="4023360" cy="7315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1945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 identities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73168" y="245973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sin²x + cos²x 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2x = 2 sin x cos x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3017520"/>
            <a:ext cx="4023360" cy="7315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30632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Completing the square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73168" y="332841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x² + bx = (x + b/2)² − (b/2)²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886200"/>
            <a:ext cx="4023360" cy="7315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39319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fractions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73168" y="419709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denominator factors nicely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Calculus I Essentials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4023360" cy="274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468880" y="1234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274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234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75120" y="1234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508760"/>
            <a:ext cx="40233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5544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d/dx [xⁿ]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468880" y="15544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xⁿ⁻¹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1938528"/>
            <a:ext cx="4023360" cy="41148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9842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d/dx [eˣ]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468880" y="198424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eˣ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368296"/>
            <a:ext cx="40233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41401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d/dx [ln x]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468880" y="2414016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1/x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798064"/>
            <a:ext cx="4023360" cy="41148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84378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d/dx [sin x]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468880" y="2843784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 x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227832"/>
            <a:ext cx="40233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2735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d/dx [cos x]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468880" y="32735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−sin x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657600"/>
            <a:ext cx="4023360" cy="41148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703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d/dx [tan⁻¹x]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468880" y="37033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1/(x²+1)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087368"/>
            <a:ext cx="40233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13308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d/dx [sinh⁻¹x]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468880" y="413308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1/√(x²+a²)  (inverse hyp)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4517136"/>
            <a:ext cx="4023360" cy="41148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56285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Rule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468880" y="4562856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(uv)' = u'v + uv'  ← KEY!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1508760"/>
            <a:ext cx="40233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15544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xⁿ dx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675120" y="15544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xⁿ⁺¹/(n+1) + C,  n ≠ −1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1938528"/>
            <a:ext cx="4023360" cy="41148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19842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x⁻¹ dx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675120" y="198424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ln|x| + C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63440" y="2368296"/>
            <a:ext cx="40233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241401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eˣ dx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2414016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eˣ + C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63440" y="2798064"/>
            <a:ext cx="4023360" cy="41148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284378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eᵃˣ dx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675120" y="2843784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(1/a)eᵃˣ + C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63440" y="3227832"/>
            <a:ext cx="40233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09160" y="32735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sin x dx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675120" y="327355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−cos x + C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63440" y="3657600"/>
            <a:ext cx="4023360" cy="41148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09160" y="3703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cos x dx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675120" y="37033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x + C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63440" y="4087368"/>
            <a:ext cx="40233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09160" y="413308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1/(x²+a²) dx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675120" y="413308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(1/a) tan⁻¹(x/a) + C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663440" y="4517136"/>
            <a:ext cx="4023360" cy="411480"/>
          </a:xfrm>
          <a:prstGeom prst="rect">
            <a:avLst/>
          </a:prstGeom>
          <a:solidFill>
            <a:srgbClr val="F0F0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456285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1/√(x²+a²) dx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675120" y="4562856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sinh⁻¹(x/a) + C  or  ln|x+√(x²+a²)|+C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Does IBP Come From?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98448"/>
            <a:ext cx="347472" cy="347472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26187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Product Rule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5087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something we already know: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(uv)' = u'v + uv'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48256"/>
            <a:ext cx="347472" cy="347472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48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0116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Rearrange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25856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the term we want: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uv' = (uv)' − u'v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98064"/>
            <a:ext cx="347472" cy="347472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798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76148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Integrate both sides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3008376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uv' dx  =  ∫ (uv)' dx  −  ∫ u'v dx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47872"/>
            <a:ext cx="347472" cy="347472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547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351129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Apply FTC on the right term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758184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(uv)' dx  =  uv   (fundamental theorem)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347472" cy="347472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297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426110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Substitute differentials  dv = v'dx,  du = u'dx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450799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u dv  =  uv  −  ∫ v du   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0" y="4663440"/>
            <a:ext cx="4572000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2286000" y="46634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u dv  =  uv  −  ∫ v du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LIATE RULE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Choose  u  — LIATE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 as the first function type you see in this priority list — then dv = everything else.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411480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2763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68680" y="1627632"/>
            <a:ext cx="2194560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6276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63240" y="1627632"/>
            <a:ext cx="5303520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3063240" y="162763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411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6596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68680" y="1920240"/>
            <a:ext cx="21945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2011680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Logarithms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63240" y="1920240"/>
            <a:ext cx="5303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2011680"/>
            <a:ext cx="5166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 x,  log 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423160"/>
            <a:ext cx="411480" cy="475488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46888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68680" y="2423160"/>
            <a:ext cx="2194560" cy="475488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2514600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Trig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063240" y="2423160"/>
            <a:ext cx="5303520" cy="475488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54680" y="2514600"/>
            <a:ext cx="5166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tan⁻¹x,  sin⁻¹x,  cos⁻¹x,  sinh⁻¹x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926080"/>
            <a:ext cx="411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97180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68680" y="2926080"/>
            <a:ext cx="21945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1832" y="3017520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Algebraic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063240" y="2926080"/>
            <a:ext cx="5303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54680" y="3017520"/>
            <a:ext cx="5166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xⁿ,  polynomials,  √x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429000"/>
            <a:ext cx="411480" cy="475488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47472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68680" y="3429000"/>
            <a:ext cx="2194560" cy="475488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1832" y="3520440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Trigonometric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063240" y="3429000"/>
            <a:ext cx="5303520" cy="475488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54680" y="3520440"/>
            <a:ext cx="5166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x,  cos x,  tan x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3931920"/>
            <a:ext cx="411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97764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868680" y="3931920"/>
            <a:ext cx="21945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41832" y="4023360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063240" y="3931920"/>
            <a:ext cx="5303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54680" y="4023360"/>
            <a:ext cx="5166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eˣ,  aˣ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LIATE has exceptions — if in doubt, try both ways and see which remaining integral is simpler.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 — WARM-UP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1:  ∫ x eˣ dx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70432"/>
            <a:ext cx="3474720" cy="6858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0700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LIATE: A before 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= x  (Algebraic)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 = eˣ dx  (Exponential)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Identify:  u = x   ⟹   du = dx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dv = eˣ dx   ⟹   v = eˣ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IBP formula: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3375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x eˣ dx  =  x · eˣ  −  ∫ eˣ · dx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7947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=  x eˣ  −  eˣ  +  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251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=  eˣ(x − 1)  +  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617720"/>
            <a:ext cx="804672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6177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x eˣ dx  =  eˣ(x − 1)  +  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 — NATURAL LOG RULE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2:  ∫ ln x dx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704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ln x has no obvious dv partner — give it the full integrand role!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integrand as  ln x · 1 dx  so we can set  dv = dx.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84048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1051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= ln x   ⟹   du = (1/x) dx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 = dx      ⟹   v = 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IBP: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251460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ln x dx  =  x ln x  −  ∫ x · (1/x) dx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310896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=  x ln x  −  ∫ 1 dx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703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370332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=  x ln x  −  x  +  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315968"/>
            <a:ext cx="8046720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31596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ln x dx  =  x ln x  −  x  +  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4736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Generalisation:  ∫ xⁿ ln x dx — use u = ln x  for any n ≠ −1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 — LOG × POLYNOMIAL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3:  ∫ x² ln x dx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70432"/>
            <a:ext cx="402336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1615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LIATE: L before 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= ln x   ⟹   du = (1/x) dx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 = x² dx   ⟹   v = x³/3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x² ln x dx  =  (x³/3) · ln x  −  ∫ (x³/3) · (1/x) dx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43230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=  (x³/3) ln x  −  (1/3) ∫ x² dx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=  (x³/3) ln x  −  (1/3) · (x³/3)  +  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45643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=  (x³/3) ln x  −  x³/9  +  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968496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=  (x³/9)(3 ln x  −  1)  +  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553712"/>
            <a:ext cx="804672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55371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x² ln x dx  =  (x³/9)(3 ln x − 1)  +  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 — INVERSE TRIG WITH SUBSTITUTION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4:  ∫ tan⁻¹x dx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70432"/>
            <a:ext cx="5029200" cy="566928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16152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LIATE: I comes first!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= tan⁻¹x   ⟹   du = dx / (x²+1)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 = dx           ⟹   v = 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47088"/>
            <a:ext cx="8046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tan⁻¹x dx  =  x tan⁻¹x  −  ∫ x / (x²+1) dx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22576"/>
            <a:ext cx="8046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handle the remaining integral using substitution: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798064"/>
            <a:ext cx="8046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Let w = x²+1   ⟹   dw = 2x dx   ⟹   x dx = dw/2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273552"/>
            <a:ext cx="8046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∫ x/(x²+1) dx  =  (1/2) ∫ dw/w  =  (1/2) ln|w|  =  (1/2) ln(x²+1)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749040"/>
            <a:ext cx="8046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Substituting back: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224528"/>
            <a:ext cx="8046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tan⁻¹x dx  =  x tan⁻¹x  −  (1/2) ln(x²+1)  +  C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636008"/>
            <a:ext cx="8046720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63600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tan⁻¹x dx  =  x tan⁻¹x  −  ½ ln(x²+1)  +  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5 — FOCUS ON DU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5:  ∫ x sin x dx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0" y="1170432"/>
            <a:ext cx="3657600" cy="8229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0" y="12070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du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20640" y="14630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pick u = x so that du = dx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the polynomial factor 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∫ v du.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20700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= x     du = dx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75564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 = sin x dx     v = −cos 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85292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x sin x dx  =  x(−cos x)  −  ∫ (−cos x) dx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40156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=  −x cos x  +  ∫ cos x dx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95020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=  −x cos x  +  sin x  +  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590288"/>
            <a:ext cx="804672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59028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x sin x dx  =  −x cos x  +  sin x  +  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6 — RECURRENT INTEGRATION (CALLING I)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6:  ∫ e³ˣ cos 2x dx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1170432"/>
            <a:ext cx="3017520" cy="64008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0" y="118872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I-Trick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integral reappears — collect it on one side!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 I  =  ∫ e³ˣ cos 2x dx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2219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IBP:  u = e³ˣ, dv = cos 2x dx  ⟹  v = (1/2) sin 2x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569464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 =  (1/2) e³ˣ sin 2x  −  (3/2) ∫ e³ˣ sin 2x dx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916936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IBP on the new integral:  u = e³ˣ, dv = sin 2x dx  ⟹  v = −(1/2) cos 2x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26440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 =  (1/2) e³ˣ sin 2x  −  (3/2)[−(1/2) e³ˣ cos 2x + (3/2) ∫ e³ˣ cos 2x dx]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 =  (1/2) e³ˣ sin 2x  +  (3/4) e³ˣ cos 2x  −  (9/4) I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395935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+ 9/4) I  =  (1/2) e³ˣ sin 2x  +  (3/4) e³ˣ cos 2x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4306824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(13/4) I  =  (e³ˣ/4)(2 sin 2x + 3 cos 2x)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4654296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 =  e³ˣ/13 · (2 sin 2x + 3 cos 2x)  +  C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983480"/>
            <a:ext cx="8046720" cy="0"/>
          </a:xfrm>
          <a:prstGeom prst="rect">
            <a:avLst/>
          </a:prstGeom>
          <a:solidFill>
            <a:srgbClr val="CCCCC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7 — INVERSE HYPERBOLIC &amp; RECURRENT IBP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7:  ∫ √(x²+a²) dx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1170432"/>
            <a:ext cx="3017520" cy="658368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0" y="1207008"/>
            <a:ext cx="28346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dx/√(x²+a²)  =  sinh⁻¹(x/a)  +  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  ln|x + √(x²+a²)|  + C)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86537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 I  =  ∫ √(x²+a²) dx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0370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IBP:  u = √(x²+a²)   ⟹   du = x/√(x²+a²) dx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542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dv = dx             ⟹   v = x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 =  x√(x²+a²)  −  ∫ x²/√(x²+a²) dx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2186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x² = (x²+a²) − a²  inside the integral: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55701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 =  x√(x²+a²)  −  ∫ (x²+a²)/√(x²+a²) dx  +  a² ∫ dx/√(x²+a²)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89534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 =  x√(x²+a²)  −  I  +  a² sinh⁻¹(x/a)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4233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I on the left: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2I  =  x√(x²+a²)  +  a² sinh⁻¹(x/a)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9103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  =  (1/2) x√(x²+a²)  +  (a²/2) sinh⁻¹(x/a)  +  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645152"/>
            <a:ext cx="8046720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64515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√(x²+a²) dx  =  ½ x√(x²+a²)  +  (a²/2) sinh⁻¹(x/a)  +  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34440"/>
            <a:ext cx="4023360" cy="1170432"/>
          </a:xfrm>
          <a:prstGeom prst="rect">
            <a:avLst/>
          </a:prstGeom>
          <a:solidFill>
            <a:srgbClr val="2A2A2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441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IBP Formula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u dv  =  uv  −  ∫ v du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the Product Rule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00600" y="1234440"/>
            <a:ext cx="4023360" cy="1170432"/>
          </a:xfrm>
          <a:prstGeom prst="rect">
            <a:avLst/>
          </a:prstGeom>
          <a:solidFill>
            <a:srgbClr val="2A2A2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3441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 I  A  T  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 as the highest-priority type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4023360" cy="1170432"/>
          </a:xfrm>
          <a:prstGeom prst="rect">
            <a:avLst/>
          </a:prstGeom>
          <a:solidFill>
            <a:srgbClr val="2A2A2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6243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Log Rule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9718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ln x dx = x ln x − x + 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let u = ln x (L comes first)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2514600"/>
            <a:ext cx="4023360" cy="1170432"/>
          </a:xfrm>
          <a:prstGeom prst="rect">
            <a:avLst/>
          </a:prstGeom>
          <a:solidFill>
            <a:srgbClr val="2A2A2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6243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IBP + Substitution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9718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applying IBP, the ∫v du may need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u-substitution to finish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4023360" cy="1170432"/>
          </a:xfrm>
          <a:prstGeom prst="rect">
            <a:avLst/>
          </a:prstGeom>
          <a:solidFill>
            <a:srgbClr val="2A2A2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9044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/ I-trick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42519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original ∫ reappears, name it I,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solve algebraically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3794760"/>
            <a:ext cx="4023360" cy="1170432"/>
          </a:xfrm>
          <a:prstGeom prst="rect">
            <a:avLst/>
          </a:prstGeom>
          <a:solidFill>
            <a:srgbClr val="2A2A2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9044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Inv. Hyperbolic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42519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∫√(x²+a²)dx uses IBP twice + I-trick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 involves sinh⁻¹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by Parts  ·  MAT 128  ·  Student Seminar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Integration by Parts</dc:title>
  <dc:subject>PptxGenJS Presentation</dc:subject>
  <dc:creator>PptxGenJS</dc:creator>
  <cp:lastModifiedBy>PptxGenJS</cp:lastModifiedBy>
  <cp:revision>1</cp:revision>
  <dcterms:created xsi:type="dcterms:W3CDTF">2026-05-08T18:25:50Z</dcterms:created>
  <dcterms:modified xsi:type="dcterms:W3CDTF">2026-05-08T18:25:50Z</dcterms:modified>
</cp:coreProperties>
</file>