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61" r:id="rId5"/>
    <p:sldId id="260" r:id="rId6"/>
    <p:sldId id="259" r:id="rId7"/>
    <p:sldId id="258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>
        <p:scale>
          <a:sx n="81" d="100"/>
          <a:sy n="81" d="100"/>
        </p:scale>
        <p:origin x="-258" y="-36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5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8.GIF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32915"/>
            <a:ext cx="9189085" cy="2875915"/>
          </a:xfrm>
          <a:ln w="57150"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Lecture 3</a:t>
            </a:r>
            <a:br>
              <a:rPr lang="en-US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Coordinate Geometry</a:t>
            </a:r>
            <a:endParaRPr lang="en-US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830" y="519430"/>
            <a:ext cx="10622915" cy="1171575"/>
          </a:xfrm>
        </p:spPr>
        <p:txBody>
          <a:bodyPr/>
          <a:lstStyle/>
          <a:p>
            <a:r>
              <a:rPr lang="en-US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830" y="1690370"/>
            <a:ext cx="10510520" cy="419417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the coordinate system (x,y)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is the gradient of two points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What is the gradient of straight line</a:t>
            </a: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What are the equations of straight line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151110" cy="1109980"/>
          </a:xfrm>
          <a:ln w="57150">
            <a:noFill/>
          </a:ln>
        </p:spPr>
        <p:txBody>
          <a:bodyPr/>
          <a:lstStyle/>
          <a:p>
            <a:r>
              <a:rPr lang="en-US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Coordinate Systems</a:t>
            </a:r>
          </a:p>
        </p:txBody>
      </p:sp>
      <p:pic>
        <p:nvPicPr>
          <p:cNvPr id="7" name="Content Placeholder 6" descr="capture-20220301-11565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68770" y="1666875"/>
            <a:ext cx="4321175" cy="4251960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726440" y="1666875"/>
            <a:ext cx="5704840" cy="3986530"/>
          </a:xfrm>
          <a:ln w="57150">
            <a:solidFill>
              <a:schemeClr val="bg1"/>
            </a:solidFill>
          </a:ln>
        </p:spPr>
        <p:txBody>
          <a:bodyPr/>
          <a:lstStyle/>
          <a:p>
            <a:pPr>
              <a:lnSpc>
                <a:spcPct val="150000"/>
              </a:lnSpc>
              <a:buClr>
                <a:srgbClr val="FFFFFF"/>
              </a:buClr>
              <a:buFont typeface="Wingdings" panose="05000000000000000000" charset="0"/>
              <a:buChar char="v"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A fixed reference point O, called the origin.</a:t>
            </a:r>
          </a:p>
          <a:p>
            <a:pPr>
              <a:lnSpc>
                <a:spcPct val="150000"/>
              </a:lnSpc>
              <a:buClr>
                <a:srgbClr val="FFFFFF"/>
              </a:buClr>
              <a:buFont typeface="Wingdings" panose="05000000000000000000" charset="0"/>
              <a:buChar char="v"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A set of specified axes, or directions, with an appropriate scale and labels on the axes.</a:t>
            </a:r>
          </a:p>
          <a:p>
            <a:pPr marL="0" indent="0">
              <a:lnSpc>
                <a:spcPct val="150000"/>
              </a:lnSpc>
              <a:buClr>
                <a:srgbClr val="00B050"/>
              </a:buClr>
              <a:buFont typeface="Wingdings" panose="05000000000000000000" charset="0"/>
              <a:buNone/>
            </a:pPr>
            <a:endParaRPr 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What is the gradient of two points?</a:t>
            </a:r>
            <a:endParaRPr lang="en-US" u="sn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551940"/>
                <a:ext cx="5102225" cy="4213225"/>
              </a:xfrm>
              <a:ln w="57150">
                <a:solidFill>
                  <a:schemeClr val="bg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Consider the two points (x</a:t>
                </a:r>
                <a:r>
                  <a:rPr lang="en-US" b="1" baseline="-25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,y</a:t>
                </a:r>
                <a:r>
                  <a:rPr lang="en-US" b="1" baseline="-25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and 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(x</a:t>
                </a:r>
                <a:r>
                  <a:rPr lang="en-US" b="1" baseline="-25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,y</a:t>
                </a:r>
                <a:r>
                  <a:rPr lang="en-US" b="1" baseline="-25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on the line.</a:t>
                </a:r>
              </a:p>
              <a:p>
                <a:pPr marL="0" indent="0">
                  <a:buNone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slope of the nonvertical line passing through 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(x</a:t>
                </a:r>
                <a:r>
                  <a:rPr lang="en-US" b="1" baseline="-25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,y</a:t>
                </a:r>
                <a:r>
                  <a:rPr lang="en-US" b="1" baseline="-25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 and  (x</a:t>
                </a:r>
                <a:r>
                  <a:rPr lang="en-US" b="1" baseline="-25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,y</a:t>
                </a:r>
                <a:r>
                  <a:rPr lang="en-US" b="1" baseline="-25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 is </a:t>
                </a:r>
              </a:p>
              <a:p>
                <a:pPr marL="0" indent="0">
                  <a:buNone/>
                </a:pPr>
                <a:endParaRPr lang="en-US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b="1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Slope = 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𝟐</m:t>
                            </m:r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 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 −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−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endParaRPr lang="en-US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marL="0" indent="0">
                  <a:buNone/>
                </a:pPr>
                <a:endParaRPr lang="en-US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551940"/>
                <a:ext cx="5102225" cy="4213225"/>
              </a:xfrm>
              <a:blipFill rotWithShape="1">
                <a:blip r:embed="rId3"/>
                <a:stretch>
                  <a:fillRect l="-560" t="-678" r="-560" b="-678"/>
                </a:stretch>
              </a:blipFill>
              <a:ln w="5715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untitled-1622696083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092825" y="1551940"/>
            <a:ext cx="4944110" cy="4213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135" y="441960"/>
            <a:ext cx="10408285" cy="1249045"/>
          </a:xfrm>
        </p:spPr>
        <p:txBody>
          <a:bodyPr/>
          <a:lstStyle/>
          <a:p>
            <a:r>
              <a:rPr lang="en-US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1185" y="1556385"/>
                <a:ext cx="10515600" cy="4137025"/>
              </a:xfrm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the slope of line that path through two point (2,3), (1,-4)</a:t>
                </a:r>
              </a:p>
              <a:p>
                <a:pPr marL="0" indent="0">
                  <a:buNone/>
                </a:pPr>
                <a:r>
                  <a:rPr lang="en-US" b="1" u="sng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Solution:</a:t>
                </a:r>
              </a:p>
              <a:p>
                <a:pPr marL="0" indent="0" algn="ctr">
                  <a:buNone/>
                </a:pPr>
                <a:r>
                  <a:rPr lang="en-US" b="1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(x</a:t>
                </a:r>
                <a:r>
                  <a:rPr lang="en-US" b="1" baseline="-25000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</a:t>
                </a:r>
                <a:r>
                  <a:rPr lang="en-US" b="1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,y</a:t>
                </a:r>
                <a:r>
                  <a:rPr lang="en-US" b="1" baseline="-25000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</a:t>
                </a:r>
                <a:r>
                  <a:rPr lang="en-US" b="1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 =  (2,3), (x</a:t>
                </a:r>
                <a:r>
                  <a:rPr lang="en-US" b="1" baseline="-25000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</a:t>
                </a:r>
                <a:r>
                  <a:rPr lang="en-US" b="1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,y</a:t>
                </a:r>
                <a:r>
                  <a:rPr lang="en-US" b="1" baseline="-25000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</a:t>
                </a:r>
                <a:r>
                  <a:rPr lang="en-US" b="1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 = (1,-4)</a:t>
                </a:r>
              </a:p>
              <a:p>
                <a:pPr marL="0" indent="0">
                  <a:buNone/>
                </a:pPr>
                <a:endParaRPr lang="en-US" b="1">
                  <a:solidFill>
                    <a:srgbClr val="FFFF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marL="0" indent="0" algn="ctr">
                  <a:buNone/>
                </a:pPr>
                <a:r>
                  <a:rPr lang="en-US" b="1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Slope = 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FFFF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charset="0"/>
                                <a:cs typeface="Arial" panose="020B0604020202020204" pitchFamily="34" charset="0"/>
                                <a:sym typeface="+mn-ea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charset="0"/>
                                <a:cs typeface="Arial" panose="020B0604020202020204" pitchFamily="34" charset="0"/>
                                <a:sym typeface="+mn-ea"/>
                              </a:rPr>
                              <m:t>𝟐</m:t>
                            </m:r>
                            <m:r>
                              <a:rPr lang="en-US" b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charset="0"/>
                                <a:cs typeface="Arial" panose="020B0604020202020204" pitchFamily="34" charset="0"/>
                                <a:sym typeface="+mn-ea"/>
                              </a:rPr>
                              <m:t> 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FF00"/>
                            </a:solidFill>
                            <a:effectLst/>
                            <a:latin typeface="Cambria Math" panose="02040503050406030204" charset="0"/>
                            <a:cs typeface="Arial" panose="020B0604020202020204" pitchFamily="34" charset="0"/>
                            <a:sym typeface="+mn-ea"/>
                          </a:rPr>
                          <m:t> −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charset="0"/>
                                <a:cs typeface="Arial" panose="020B0604020202020204" pitchFamily="34" charset="0"/>
                                <a:sym typeface="+mn-ea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charset="0"/>
                                <a:cs typeface="Arial" panose="020B0604020202020204" pitchFamily="34" charset="0"/>
                                <a:sym typeface="+mn-ea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1" i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charset="0"/>
                                <a:cs typeface="Arial" panose="020B0604020202020204" pitchFamily="34" charset="0"/>
                                <a:sym typeface="+mn-ea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charset="0"/>
                                <a:cs typeface="Arial" panose="020B0604020202020204" pitchFamily="34" charset="0"/>
                                <a:sym typeface="+mn-ea"/>
                              </a:rPr>
                              <m:t>𝟐</m:t>
                            </m:r>
                          </m:sub>
                        </m:sSub>
                        <m:r>
                          <a:rPr lang="en-US" b="1">
                            <a:solidFill>
                              <a:srgbClr val="FFFF00"/>
                            </a:solidFill>
                            <a:effectLst/>
                            <a:latin typeface="Cambria Math" panose="02040503050406030204" charset="0"/>
                            <a:cs typeface="Arial" panose="020B0604020202020204" pitchFamily="34" charset="0"/>
                            <a:sym typeface="+mn-ea"/>
                          </a:rPr>
                          <m:t>−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charset="0"/>
                                <a:cs typeface="Arial" panose="020B0604020202020204" pitchFamily="34" charset="0"/>
                                <a:sym typeface="+mn-ea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FF00"/>
                                </a:solidFill>
                                <a:effectLst/>
                                <a:latin typeface="Cambria Math" panose="02040503050406030204" charset="0"/>
                                <a:cs typeface="Arial" panose="020B0604020202020204" pitchFamily="34" charset="0"/>
                                <a:sym typeface="+mn-ea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endParaRPr lang="en-US" b="1">
                  <a:solidFill>
                    <a:srgbClr val="FFFF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marL="0" indent="0" algn="ctr">
                  <a:buNone/>
                </a:pPr>
                <a:r>
                  <a:rPr lang="en-US" b="1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FFFF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b="1">
                            <a:solidFill>
                              <a:srgbClr val="FFFF00"/>
                            </a:solidFill>
                            <a:effectLst/>
                            <a:latin typeface="Cambria Math" panose="02040503050406030204" charset="0"/>
                            <a:cs typeface="Arial" panose="020B0604020202020204" pitchFamily="34" charset="0"/>
                            <a:sym typeface="+mn-ea"/>
                          </a:rPr>
                          <m:t>−</m:t>
                        </m:r>
                        <m:r>
                          <a:rPr lang="en-US" b="1">
                            <a:solidFill>
                              <a:srgbClr val="FFFF00"/>
                            </a:solidFill>
                            <a:effectLst/>
                            <a:latin typeface="Cambria Math" panose="02040503050406030204" charset="0"/>
                            <a:cs typeface="Arial" panose="020B0604020202020204" pitchFamily="34" charset="0"/>
                            <a:sym typeface="+mn-ea"/>
                          </a:rPr>
                          <m:t>𝟒</m:t>
                        </m:r>
                        <m:r>
                          <a:rPr lang="en-US" b="1">
                            <a:solidFill>
                              <a:srgbClr val="FFFF00"/>
                            </a:solidFill>
                            <a:effectLst/>
                            <a:latin typeface="Cambria Math" panose="02040503050406030204" charset="0"/>
                            <a:cs typeface="Arial" panose="020B0604020202020204" pitchFamily="34" charset="0"/>
                            <a:sym typeface="+mn-ea"/>
                          </a:rPr>
                          <m:t>−</m:t>
                        </m:r>
                        <m:r>
                          <a:rPr lang="en-US" b="1">
                            <a:solidFill>
                              <a:srgbClr val="FFFF00"/>
                            </a:solidFill>
                            <a:effectLst/>
                            <a:latin typeface="Cambria Math" panose="02040503050406030204" charset="0"/>
                            <a:cs typeface="Arial" panose="020B0604020202020204" pitchFamily="34" charset="0"/>
                            <a:sym typeface="+mn-ea"/>
                          </a:rPr>
                          <m:t>𝟑</m:t>
                        </m:r>
                      </m:num>
                      <m:den>
                        <m:r>
                          <a:rPr lang="en-US" b="1">
                            <a:solidFill>
                              <a:srgbClr val="FFFF00"/>
                            </a:solidFill>
                            <a:effectLst/>
                            <a:latin typeface="Cambria Math" panose="02040503050406030204" charset="0"/>
                            <a:cs typeface="Arial" panose="020B0604020202020204" pitchFamily="34" charset="0"/>
                            <a:sym typeface="+mn-ea"/>
                          </a:rPr>
                          <m:t>𝟏</m:t>
                        </m:r>
                        <m:r>
                          <a:rPr lang="en-US" b="1">
                            <a:solidFill>
                              <a:srgbClr val="FFFF00"/>
                            </a:solidFill>
                            <a:effectLst/>
                            <a:latin typeface="Cambria Math" panose="02040503050406030204" charset="0"/>
                            <a:cs typeface="Arial" panose="020B0604020202020204" pitchFamily="34" charset="0"/>
                            <a:sym typeface="+mn-ea"/>
                          </a:rPr>
                          <m:t>−</m:t>
                        </m:r>
                        <m:r>
                          <a:rPr lang="en-US" b="1">
                            <a:solidFill>
                              <a:srgbClr val="FFFF00"/>
                            </a:solidFill>
                            <a:effectLst/>
                            <a:latin typeface="Cambria Math" panose="02040503050406030204" charset="0"/>
                            <a:cs typeface="Arial" panose="020B0604020202020204" pitchFamily="34" charset="0"/>
                            <a:sym typeface="+mn-ea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>
                    <a:solidFill>
                      <a:srgbClr val="FFFF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  =    7</a:t>
                </a:r>
              </a:p>
              <a:p>
                <a:pPr marL="0" indent="0" algn="ctr">
                  <a:buNone/>
                </a:pPr>
                <a:endParaRPr lang="en-US" b="1" u="sng">
                  <a:solidFill>
                    <a:srgbClr val="FFFF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1185" y="1556385"/>
                <a:ext cx="10515600" cy="4137025"/>
              </a:xfrm>
              <a:blipFill rotWithShape="1">
                <a:blip r:embed="rId3"/>
                <a:stretch>
                  <a:fillRect l="-181" t="-460" r="-181" b="-460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570" y="365125"/>
            <a:ext cx="10467975" cy="1325880"/>
          </a:xfrm>
        </p:spPr>
        <p:txBody>
          <a:bodyPr/>
          <a:lstStyle/>
          <a:p>
            <a:r>
              <a:rPr lang="en-US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935" y="2730500"/>
            <a:ext cx="10467975" cy="2190115"/>
          </a:xfrm>
          <a:ln w="38100">
            <a:solidFill>
              <a:schemeClr val="bg1"/>
            </a:solidFill>
          </a:ln>
        </p:spPr>
        <p:txBody>
          <a:bodyPr/>
          <a:lstStyle/>
          <a:p>
            <a:pPr marL="0" indent="0" algn="ctr">
              <a:buNone/>
            </a:pP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slope of line that path through two point (-3.0), (-1,6)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SLOPE-INTERCEPT EQUATION OF A LINE</a:t>
            </a:r>
          </a:p>
        </p:txBody>
      </p:sp>
      <p:pic>
        <p:nvPicPr>
          <p:cNvPr id="6" name="Content Placeholder 5" descr="images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25640" y="4286250"/>
            <a:ext cx="3920490" cy="1604010"/>
          </a:xfrm>
          <a:prstGeom prst="rect">
            <a:avLst/>
          </a:prstGeom>
        </p:spPr>
      </p:pic>
      <p:pic>
        <p:nvPicPr>
          <p:cNvPr id="7" name="Content Placeholder 6" descr="LQFgraph1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7025640" y="1737360"/>
            <a:ext cx="3919855" cy="232791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680085" y="1737360"/>
            <a:ext cx="5915660" cy="3810000"/>
          </a:xfrm>
          <a:prstGeom prst="rect">
            <a:avLst/>
          </a:pr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chemeClr val="bg1"/>
                </a:solidFill>
              </a:rPr>
              <a:t>y = mx + b</a:t>
            </a:r>
          </a:p>
          <a:p>
            <a:pPr algn="ctr"/>
            <a:r>
              <a:rPr lang="en-US" sz="3600" b="1">
                <a:solidFill>
                  <a:schemeClr val="bg1"/>
                </a:solidFill>
              </a:rPr>
              <a:t>y = y axes</a:t>
            </a:r>
          </a:p>
          <a:p>
            <a:pPr algn="ctr"/>
            <a:r>
              <a:rPr lang="en-US" sz="3600" b="1">
                <a:solidFill>
                  <a:schemeClr val="bg1"/>
                </a:solidFill>
              </a:rPr>
              <a:t>x = x axes</a:t>
            </a:r>
          </a:p>
          <a:p>
            <a:pPr algn="ctr"/>
            <a:r>
              <a:rPr lang="en-US" sz="3600" b="1">
                <a:solidFill>
                  <a:schemeClr val="bg1"/>
                </a:solidFill>
              </a:rPr>
              <a:t>m = slope</a:t>
            </a:r>
          </a:p>
          <a:p>
            <a:pPr algn="ctr"/>
            <a:r>
              <a:rPr lang="en-US" sz="3600" b="1">
                <a:solidFill>
                  <a:schemeClr val="bg1"/>
                </a:solidFill>
              </a:rPr>
              <a:t>b= intercepted part of y axes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1135"/>
                <a:ext cx="10119360" cy="4113530"/>
              </a:xfrm>
              <a:ln w="38100">
                <a:solidFill>
                  <a:schemeClr val="bg1"/>
                </a:solidFill>
                <a:prstDash val="solid"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the slope of 2y = 3x-4</a:t>
                </a:r>
              </a:p>
              <a:p>
                <a:pPr marL="0" indent="0">
                  <a:buNone/>
                </a:pPr>
                <a:r>
                  <a:rPr lang="en-US" b="1" u="sng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Solution</a:t>
                </a:r>
              </a:p>
              <a:p>
                <a:pPr marL="0" indent="0"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Should be converted to the standard form</a:t>
                </a:r>
              </a:p>
              <a:p>
                <a:pPr marL="0" indent="0"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 = </m:t>
                    </m:r>
                    <m:f>
                      <m:f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𝟑</m:t>
                        </m:r>
                      </m:num>
                      <m:den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den>
                    </m:f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 − 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𝟐</m:t>
                    </m:r>
                  </m:oMath>
                </a14:m>
                <a:endParaRPr lang="en-US" b="1" i="1">
                  <a:solidFill>
                    <a:srgbClr val="FFFF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we compare it with </a:t>
                </a:r>
              </a:p>
              <a:p>
                <a:pPr marL="0" indent="0"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= mx + b</a:t>
                </a:r>
              </a:p>
              <a:p>
                <a:pPr marL="0" indent="0"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𝟑</m:t>
                        </m:r>
                      </m:num>
                      <m:den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den>
                    </m:f>
                  </m:oMath>
                </a14:m>
                <a:endParaRPr lang="en-US" b="1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ontent Placeholder 8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1135"/>
                <a:ext cx="10119360" cy="4113530"/>
              </a:xfrm>
              <a:blipFill rotWithShape="1">
                <a:blip r:embed="rId3"/>
                <a:stretch>
                  <a:fillRect l="-188" t="-463" r="-188" b="-463"/>
                </a:stretch>
              </a:blipFill>
              <a:ln w="38100">
                <a:solidFill>
                  <a:schemeClr val="bg1"/>
                </a:solidFill>
                <a:prstDash val="solid"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475615"/>
            <a:ext cx="10150475" cy="1215390"/>
          </a:xfrm>
        </p:spPr>
        <p:txBody>
          <a:bodyPr/>
          <a:lstStyle/>
          <a:p>
            <a:r>
              <a:rPr lang="en-US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work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539875"/>
            <a:ext cx="10150475" cy="4177665"/>
          </a:xfrm>
        </p:spPr>
        <p:txBody>
          <a:bodyPr/>
          <a:lstStyle/>
          <a:p>
            <a:pPr marL="0" indent="0">
              <a:buNone/>
            </a:pP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slope of 3y - 6x + 9 =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555625"/>
            <a:ext cx="10262235" cy="1135380"/>
          </a:xfrm>
        </p:spPr>
        <p:txBody>
          <a:bodyPr>
            <a:normAutofit/>
          </a:bodyPr>
          <a:lstStyle/>
          <a:p>
            <a:r>
              <a:rPr lang="en-US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point-slope equation of a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056495" cy="386016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equation, involving the two variables and can be rewritten in the form:</a:t>
                </a:r>
              </a:p>
              <a:p>
                <a:pPr marL="0" indent="0">
                  <a:buNone/>
                </a:pPr>
                <a:endParaRPr lang="en-US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 =    m(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US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ontent Placeholder 8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056495" cy="3860165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09225" cy="1325880"/>
          </a:xfrm>
        </p:spPr>
        <p:txBody>
          <a:bodyPr/>
          <a:lstStyle/>
          <a:p>
            <a:r>
              <a:rPr lang="en-US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4615"/>
                <a:ext cx="10166350" cy="4336415"/>
              </a:xfrm>
            </p:spPr>
            <p:txBody>
              <a:bodyPr>
                <a:normAutofit fontScale="90000" lnSpcReduction="20000"/>
              </a:bodyPr>
              <a:lstStyle/>
              <a:p>
                <a:pPr marL="0" indent="0">
                  <a:buNone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the equation of the line that has a slope of m = 3 and passes through the point (2,-1).</a:t>
                </a:r>
              </a:p>
              <a:p>
                <a:pPr marL="0" indent="0">
                  <a:buNone/>
                </a:pPr>
                <a:r>
                  <a:rPr lang="en-US" b="1" u="sng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Solution:</a:t>
                </a:r>
              </a:p>
              <a:p>
                <a:pPr marL="0" indent="0"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Since  m = 3 and (x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,y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= (2,-1)</a:t>
                </a:r>
              </a:p>
              <a:p>
                <a:pPr marL="0" indent="0"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  =    m(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</a:t>
                </a:r>
                <a:endParaRPr lang="en-US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(y+1) = 3(x-2) → y +1= 3x - 6</a:t>
                </a:r>
              </a:p>
              <a:p>
                <a:pPr marL="0" indent="0"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= 3x - 7</a:t>
                </a:r>
              </a:p>
              <a:p>
                <a:pPr marL="0" indent="0">
                  <a:buNone/>
                </a:pPr>
                <a:endParaRPr lang="en-US" b="1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*** Solve :</a:t>
                </a:r>
              </a:p>
              <a:p>
                <a:pPr marL="0" indent="0">
                  <a:buNone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Find the equation of the line that has a slope of m = 3 and passes through the point (-1,2).</a:t>
                </a:r>
                <a:endParaRPr lang="en-US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b="1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ontent Placeholder 8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4615"/>
                <a:ext cx="10166350" cy="4336415"/>
              </a:xfrm>
              <a:blipFill rotWithShape="1">
                <a:blip r:embed="rId3"/>
                <a:stretch>
                  <a:fillRect t="-835" b="-12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AND PERPENDICULAR 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35940" y="1508125"/>
                <a:ext cx="10119360" cy="4209415"/>
              </a:xfrm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Two distinct nonvertical lines are parallel if and only if their slopes are equal that is, if and only if</a:t>
                </a:r>
              </a:p>
              <a:p>
                <a:pPr marL="0" indent="0" algn="ctr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m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Two nonvertical lines are perpendicular if and only if their slopes are negative reciprocals of each other that is, if and only if</a:t>
                </a: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</a:p>
              <a:p>
                <a:pPr marL="0" indent="0" algn="ctr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 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 </m:t>
                    </m:r>
                    <m:f>
                      <m:f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endParaRPr lang="en-US" b="1" i="1">
                  <a:solidFill>
                    <a:srgbClr val="FFFF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35940" y="1508125"/>
                <a:ext cx="10119360" cy="4209415"/>
              </a:xfrm>
              <a:blipFill rotWithShape="1">
                <a:blip r:embed="rId3"/>
                <a:stretch>
                  <a:fillRect l="-188" t="-453" r="-188" b="-453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3565" y="476250"/>
                <a:ext cx="10310495" cy="570103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the general forms of the equations of the lines that Pass through the point (1,2)</a:t>
                </a:r>
              </a:p>
              <a:p>
                <a:pPr marL="514350" indent="-514350">
                  <a:buFont typeface="+mj-lt"/>
                  <a:buAutoNum type="alphaUcPeriod"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Parallel to the line y = 2x - 1</a:t>
                </a:r>
              </a:p>
              <a:p>
                <a:pPr marL="514350" indent="-514350">
                  <a:buFont typeface="+mj-lt"/>
                  <a:buAutoNum type="alphaUcPeriod"/>
                </a:pP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Perpendicular to the line 2y = 3x + 8</a:t>
                </a:r>
              </a:p>
              <a:p>
                <a:pPr marL="0" indent="0">
                  <a:buFont typeface="+mj-lt"/>
                  <a:buNone/>
                </a:pPr>
                <a:r>
                  <a:rPr lang="en-US" b="1" u="sng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Solution</a:t>
                </a:r>
              </a:p>
              <a:p>
                <a:pPr marL="514350" indent="-514350">
                  <a:buFont typeface="+mj-lt"/>
                  <a:buAutoNum type="alphaUcPeriod"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From 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y = 2x - 1 → m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= 2 </a:t>
                </a: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Then to find the equation the other line we have</a:t>
                </a: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m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= 2      and (x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,y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 = 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(1,2)</a:t>
                </a:r>
                <a:endParaRPr lang="en-US" b="1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  =    m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</a:t>
                </a:r>
                <a:endParaRPr lang="en-US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- 2 = 2(x- 1) → y = 2x </a:t>
                </a:r>
              </a:p>
              <a:p>
                <a:pPr marL="0" indent="0">
                  <a:buFont typeface="+mj-lt"/>
                  <a:buNone/>
                </a:pPr>
                <a:endParaRPr lang="en-US" b="1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3565" y="476250"/>
                <a:ext cx="10310495" cy="570103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90575" y="699770"/>
                <a:ext cx="9912985" cy="5033645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lphaUcPeriod" startAt="2"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Perpendicular to the line 2y = 3x + 8</a:t>
                </a: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We have the rule that  m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 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 </m:t>
                    </m:r>
                    <m:f>
                      <m:f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FF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endParaRPr lang="en-US" b="1" i="1">
                  <a:solidFill>
                    <a:srgbClr val="FFFF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𝟑</m:t>
                        </m:r>
                      </m:num>
                      <m:den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𝟐</m:t>
                        </m:r>
                      </m:den>
                    </m:f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𝒙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 + 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𝟒</m:t>
                    </m:r>
                  </m:oMath>
                </a14:m>
                <a:endParaRPr lang="en-US" b="1" i="1">
                  <a:solidFill>
                    <a:srgbClr val="FFFF00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Hence, m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 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=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FF00"/>
                        </a:solidFill>
                        <a:latin typeface="Cambria Math" panose="02040503050406030204" charset="0"/>
                        <a:cs typeface="Arial" panose="020B0604020202020204" pitchFamily="34" charset="0"/>
                        <a:sym typeface="+mn-ea"/>
                      </a:rPr>
                      <m:t>−</m:t>
                    </m:r>
                    <m:f>
                      <m:f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𝟐</m:t>
                        </m:r>
                      </m:num>
                      <m:den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𝟑</m:t>
                        </m:r>
                      </m:den>
                    </m:f>
                  </m:oMath>
                </a14:m>
                <a:endParaRPr lang="en-US" b="1" i="1">
                  <a:solidFill>
                    <a:srgbClr val="FFFF00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So the equation of the other line is </a:t>
                </a: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m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 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=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FF00"/>
                        </a:solidFill>
                        <a:latin typeface="Cambria Math" panose="02040503050406030204" charset="0"/>
                        <a:cs typeface="Arial" panose="020B0604020202020204" pitchFamily="34" charset="0"/>
                        <a:sym typeface="+mn-ea"/>
                      </a:rPr>
                      <m:t>−</m:t>
                    </m:r>
                    <m:f>
                      <m:f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𝟐</m:t>
                        </m:r>
                      </m:num>
                      <m:den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b="1" i="1">
                    <a:solidFill>
                      <a:srgbClr val="FFFF0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and (x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, y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1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 = </a:t>
                </a:r>
                <a:r>
                  <a:rPr lang="en-US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(1, 2)</a:t>
                </a: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  =    m</a:t>
                </a:r>
                <a:r>
                  <a:rPr lang="en-US" b="1" baseline="-2500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</a:t>
                </a: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FFFF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b="1" i="1">
                  <a:solidFill>
                    <a:srgbClr val="FFFF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Font typeface="+mj-lt"/>
                  <a:buNone/>
                </a:pPr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y - 2  =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FF00"/>
                        </a:solidFill>
                        <a:latin typeface="Cambria Math" panose="02040503050406030204" charset="0"/>
                        <a:cs typeface="Arial" panose="020B0604020202020204" pitchFamily="34" charset="0"/>
                        <a:sym typeface="+mn-ea"/>
                      </a:rPr>
                      <m:t>−</m:t>
                    </m:r>
                    <m:f>
                      <m:fPr>
                        <m:ctrlP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𝟐</m:t>
                        </m:r>
                      </m:num>
                      <m:den>
                        <m:r>
                          <a:rPr lang="en-US" b="1" i="1">
                            <a:solidFill>
                              <a:srgbClr val="FFFF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b="1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(x - 1) → 3y = -2x + 8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0575" y="699770"/>
                <a:ext cx="9912985" cy="5033645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2480</Words>
  <Application>Microsoft Office PowerPoint</Application>
  <PresentationFormat>شاشة عريضة</PresentationFormat>
  <Paragraphs>113</Paragraphs>
  <Slides>14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5" baseType="lpstr">
      <vt:lpstr>Office Theme</vt:lpstr>
      <vt:lpstr>Lecture 3 Coordinate Geometry</vt:lpstr>
      <vt:lpstr>Outlines</vt:lpstr>
      <vt:lpstr>Coordinate Systems</vt:lpstr>
      <vt:lpstr>What is the gradient of two points?</vt:lpstr>
      <vt:lpstr>Example</vt:lpstr>
      <vt:lpstr>Class work</vt:lpstr>
      <vt:lpstr>THE SLOPE-INTERCEPT EQUATION OF A LINE</vt:lpstr>
      <vt:lpstr>Example</vt:lpstr>
      <vt:lpstr>Class work</vt:lpstr>
      <vt:lpstr>The point-slope equation of a line</vt:lpstr>
      <vt:lpstr>Example:</vt:lpstr>
      <vt:lpstr>PARALLEL AND PERPENDICULAR LINES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 Newton’s laws of motion</dc:title>
  <dc:creator>Sara</dc:creator>
  <cp:lastModifiedBy>Aida Ali</cp:lastModifiedBy>
  <cp:revision>25</cp:revision>
  <dcterms:created xsi:type="dcterms:W3CDTF">2022-03-08T15:18:00Z</dcterms:created>
  <dcterms:modified xsi:type="dcterms:W3CDTF">2026-06-19T08:39:26Z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04FEC31EB5FF4D93B43097855C16DD26_13</vt:lpwstr>
  </property>
  <property fmtid="{D5CDD505-2E9C-101B-9397-08002B2CF9AE}" pid="3" name="KSOProductBuildVer">
    <vt:lpwstr>1033-12.2.0.23155</vt:lpwstr>
  </property>
</Properties>
</file>